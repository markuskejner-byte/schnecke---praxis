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Default Extension="fntdata" ContentType="application/x-fontdata"/>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0" autoCompressPictures="0" embedTrueTypeFonts="1">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Lst>
  <p:sldSz cx="12191999" cy="6858000" type="screen4x3"/>
  <p:notesSz cx="6858000" cy="9144000"/>
  <p:embeddedFontLst>
    <p:embeddedFont>
      <p:font typeface="Manrope"/>
      <p:regular r:id="rId95"/>
      <p:bold r:id="rId96"/>
    </p:embeddedFont>
    <p:embeddedFont>
      <p:font typeface="Inter"/>
      <p:regular r:id="rId97"/>
      <p:bold r:id="rId9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font" Target="fonts/Font_1_Manrope_regular.fntdata"/><Relationship Id="rId96" Type="http://schemas.openxmlformats.org/officeDocument/2006/relationships/font" Target="fonts/Font_2_Manrope_bold.fntdata"/><Relationship Id="rId97" Type="http://schemas.openxmlformats.org/officeDocument/2006/relationships/font" Target="fonts/Font_3_Inter_regular.fntdata"/><Relationship Id="rId98" Type="http://schemas.openxmlformats.org/officeDocument/2006/relationships/font" Target="fonts/Font_4_Inter_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Begrüßen und die eigene berufliche Rolle vorstellen. Die Zielgruppe arbeitet überwiegend im Elementarbereich. Der Tag umfasst 300 Minuten Inhalt und eine 30-minütige Pause. Die Fortbildung vermittelt pädagogische Orientierung und praktische Unterstützungsmöglichkeiten. Die konkreten Uhrzeiten können vor Ort ergänzt werden.</a:t>
            </a:r>
          </a:p>
          <a:p/>
          <a:p>
            <a:r>
              <a:t>Grundlage: Hochgeladenes Konzeptpapier 20261018, 5 Seiten. Übungen und Fallvignetten sind didaktische Ausarbeitungen.</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Ziele mit den Erwartungen der Teilnehmenden verbinden. Fortgeschrittene Personen können zusätzliche Erklärungen und Erfahrungswissen beisteuern. Einsteiger*innen erhalten die notwendigen Begriffe. Wohlbefinden und Teilhabe des Kindes sind die Bezugspunkte für die späteren Ideen. Fachbegriffe im Verlauf immer wieder an beobachtbare Kita-Situationen anbinden.</a:t>
            </a:r>
          </a:p>
          <a:p/>
          <a:p>
            <a:r>
              <a:t>Grundlage: Hochgeladenes Konzeptpapier 20261018, 5 Seiten. Übungen und Fallvignetten sind didaktische Ausarbeitungen.</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Zeiten entsprechen dem hochgeladenen Konzept. Der Vormittag umfasst 180 Minuten inklusive der kurzen Übungen. Der Nachmittag umfasst 120 Minuten. Die Quellenfolien am Ende dienen dem Nachlesen und benötigen keinen weiteren Zeitblock. Vor Ort aus den relativen Angaben die tatsächlichen Uhrzeiten ableiten.</a:t>
            </a:r>
          </a:p>
          <a:p/>
          <a:p>
            <a:r>
              <a:t>Grundlage: Hochgeladenes Konzeptpapier 20261018, 5 Seiten. Übungen und Fallvignetten sind didaktische Ausarbeitungen.</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zehn Minuten liegen innerhalb des 15-minütigen Einstiegs. Namen und identifizierende Angaben vermeiden. Jede Person kann passen. Fragen auf Karten oder dem Flipchart sammeln und für den Abschluss aufbewahren. Auf konkrete Situationen fokussieren: ein Wechsel, ein Spiel oder ein Gespräch. Nicht bereits im Einstieg einzelne Kinder diagnostisch einordnen.</a:t>
            </a:r>
          </a:p>
          <a:p/>
          <a:p>
            <a:r>
              <a:t>Grundlage: Hochgeladenes Konzeptpapier 20261018, 5 Seiten. Übungen und Fallvignetten sind didaktische Ausarbeitungen.</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Den Abschnitt kurz einordnen. Nach dem Vorwissen der Gruppe fragen und passende Beispiele aufnehmen.</a:t>
            </a:r>
          </a:p>
          <a:p/>
          <a:p>
            <a:r>
              <a:t>Grundlage: Hochgeladenes Konzeptpapier 20261018, 5 Seiten. Übungen und Fallvignetten sind didaktische Ausarbeitungen.</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Neurodiversität bezeichnet zunächst die Vielfalt menschlicher Nervensysteme und Denkweisen. Der Begriff neurodivergent ist im medizinischen Sinn nicht einheitlich abgegrenzt. Der Neurodiversitätsansatz hat auch eine gesellschaftliche und menschenrechtliche Dimension. Diagnostische Kategorien und die Anerkennung von Vielfalt können gleichzeitig sinnvoll sein. Kein Kind muss besondere Talente vorweisen, um respektiert zu werden.</a:t>
            </a:r>
          </a:p>
          <a:p/>
          <a:p>
            <a:r>
              <a:t>Grundlage: Hochgeladenes Konzeptpapier 20261018, 5 Seiten. Übungen und Fallvignetten sind didaktische Ausarbeitungen.</a:t>
            </a:r>
          </a:p>
          <a:p>
            <a:r>
              <a:t>Universität Hamburg (2025). Neurodiversität – anders, aber völlig richtig im Kopf. https://www.uni-hamburg.de/wissen-fuer-alle/vorlesung-fuer-alle/videos/andre-zimpel.html</a:t>
            </a:r>
          </a:p>
          <a:p>
            <a:r>
              <a:t>Universität Jena. Autismus – Gut zu wissen!. https://www.fsv.uni-jena.de/43571/ueber-autismus</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 Beispiel durchgehen: Ein Kind kommt beim Bauen gut zurecht, verliert aber beim Wechsel in eine volle Garderobe die Orientierung. Die Anforderung verändert sich, obwohl es dasselbe Kind ist. Fragen: Was kann das Kind bereits? Was verlangt die Situation? Welche Unterstützung fehlt gerade? Das Modell ist eine pädagogische Betrachtung und erklärt nicht jede Schwierigkeit allein durch das Umfeld.</a:t>
            </a:r>
          </a:p>
          <a:p/>
          <a:p>
            <a:r>
              <a:t>Grundlage: Hochgeladenes Konzeptpapier 20261018, 5 Seiten. Übungen und Fallvignetten sind didaktische Ausarbeitungen.</a:t>
            </a:r>
          </a:p>
          <a:p>
            <a:r>
              <a:t>Universität Jena. Autismus – Gut zu wissen!. https://www.fsv.uni-jena.de/43571/ueber-autismus</a:t>
            </a:r>
          </a:p>
          <a:p>
            <a:r>
              <a:t>autismus Deutschland e. V.. KiTa. https://www.autismus.de/index.php?L=1&amp;id=158</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Visueller Merksatz aus dem Gestaltungsauftrag. Verhalten entsteht im Zusammenspiel von Kind und Umgebung.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 Morgenkreis verdeutlichen: Ein Kind kann zunächst beim ersten Lied mitmachen und danach begleitet in einen ruhigeren Bereich gehen. Ein Randplatz ist nur dann hilfreich, wenn er Kontakt ermöglicht und nicht zur dauerhaften Ausgrenzung führt. Die Anpassung ist ein Angebot, keine neue starre Vorschrift. Eltern und Team nach gelingenden Bedingungen fragen. Hoher Unterstützungsbedarf gehört zur Vielfalt.</a:t>
            </a:r>
          </a:p>
          <a:p/>
          <a:p>
            <a:r>
              <a:t>Grundlage: Hochgeladenes Konzeptpapier 20261018, 5 Seiten. Übungen und Fallvignetten sind didaktische Ausarbeitungen.</a:t>
            </a:r>
          </a:p>
          <a:p>
            <a:r>
              <a:t>autismus Deutschland e. V.. KiTa. https://www.autismus.de/index.php?L=1&amp;id=158</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Visueller Merksatz aus dem Gestaltungsauftrag. Teilhabe bedeutet nicht, dass alle Kinder dasselbe tun müssen.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Übung ist freiwillig. Keine lauten Geräusche, grelles Licht oder unerwartete Berührung erzeugen. Die Teilnehmenden können schreiben, still nachdenken oder beobachten. Leitfragen: Welche Umgebung lässt mich gut zuhören? Wann brauche ich Abstand? Was unterstützt mich bei einem plötzlichen Wechsel? Die Übung zeigt individuelle Präferenzen. Sie bildet das Erleben von ADHS oder Autismus nicht nach.</a:t>
            </a:r>
          </a:p>
          <a:p/>
          <a:p>
            <a:r>
              <a:t>Grundlage: Hochgeladenes Konzeptpapier 20261018, 5 Seiten. Übungen und Fallvignetten sind didaktische Ausarbeitungen.</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Mehrere unterschiedliche Antworten würdigen. Eine Person mag Hintergrundgeräusche, eine andere braucht Ruhe. Daraus folgt keine Diagnose. Gemeinsam über Wahlmöglichkeiten nachdenken: ruhigere Plätze, klare Wechsel und die Möglichkeit, Nähe selbst mitzugestalten. Die Auswertung verbindet Selbsterfahrung mit dem Alltag. Ideen zunächst als Möglichkeiten notieren und ihre Passung später prüfen.</a:t>
            </a:r>
          </a:p>
          <a:p/>
          <a:p>
            <a:r>
              <a:t>Grundlage: Hochgeladenes Konzeptpapier 20261018, 5 Seiten. Übungen und Fallvignetten sind didaktische Ausarbeitungen.</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Mehrere unterschiedliche Antworten würdigen. Eine Person mag Hintergrundgeräusche, eine andere braucht Ruhe. Daraus folgt keine Diagnose. Gemeinsam über Wahlmöglichkeiten nachdenken: ruhigere Plätze, klare Wechsel und die Möglichkeit, Nähe selbst mitzugestalten. Die Auswertung verbindet Selbsterfahrung mit dem Alltag. Ideen zunächst als Möglichkeiten notieren und ihre Passung später prüfen.</a:t>
            </a:r>
          </a:p>
          <a:p/>
          <a:p>
            <a:r>
              <a:t>Grundlage: Hochgeladenes Konzeptpapier 20261018, 5 Seiten. Übungen und Fallvignetten sind didaktische Ausarbeitungen.</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Mehrere unterschiedliche Antworten würdigen. Eine Person mag Hintergrundgeräusche, eine andere braucht Ruhe. Daraus folgt keine Diagnose. Gemeinsam über Wahlmöglichkeiten nachdenken: ruhigere Plätze, klare Wechsel und die Möglichkeit, Nähe selbst mitzugestalten. Die Auswertung verbindet Selbsterfahrung mit dem Alltag. Ideen zunächst als Möglichkeiten notieren und ihre Passung später prüfen.</a:t>
            </a:r>
          </a:p>
          <a:p/>
          <a:p>
            <a:r>
              <a:t>Grundlage: Hochgeladenes Konzeptpapier 20261018, 5 Seiten. Übungen und Fallvignetten sind didaktische Ausarbeitungen.</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Mehrere unterschiedliche Antworten würdigen. Eine Person mag Hintergrundgeräusche, eine andere braucht Ruhe. Daraus folgt keine Diagnose. Gemeinsam über Wahlmöglichkeiten nachdenken: ruhigere Plätze, klare Wechsel und die Möglichkeit, Nähe selbst mitzugestalten. Die Auswertung verbindet Selbsterfahrung mit dem Alltag. Ideen zunächst als Möglichkeiten notieren und ihre Passung später prüfen.</a:t>
            </a:r>
          </a:p>
          <a:p/>
          <a:p>
            <a:r>
              <a:t>Grundlage: Hochgeladenes Konzeptpapier 20261018, 5 Seiten. Übungen und Fallvignetten sind didaktische Ausarbeitungen.</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Den Abschnitt kurz einordnen. Nach dem Vorwissen der Gruppe fragen und passende Beispiele aufnehmen.</a:t>
            </a:r>
          </a:p>
          <a:p/>
          <a:p>
            <a:r>
              <a:t>Grundlage: Hochgeladenes Konzeptpapier 20261018, 5 Seiten. Übungen und Fallvignetten sind didaktische Ausarbeitungen.</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ADHS bedeutet Aufmerksamkeitsdefizit- und Hyperaktivitätsstörung. Nicht alle Kernbereiche sind gleich stark ausgeprägt. Auch eine vorwiegend unaufmerksame Ausprägung ist möglich. ADS wird dafür umgangssprachlich verwendet. Die Beispiele sind didaktisch gewählt und ergeben keine Diagnosecheckliste. Entscheidend sind unter anderem Entwicklungsstand und Auswirkungen auf den Alltag.</a:t>
            </a:r>
          </a:p>
          <a:p/>
          <a:p>
            <a:r>
              <a:t>Grundlage: Hochgeladenes Konzeptpapier 20261018, 5 Seiten. Übungen und Fallvignetten sind didaktische Ausarbeitungen.</a:t>
            </a:r>
          </a:p>
          <a:p>
            <a:r>
              <a:t>IQWiG. Aufmerksamkeitsdefizit- und Hyperaktivitätsstörung (ADHS). https://www.gesundheitsinformation.de/aufmerksamkeitsdefizit-und-hyperaktivitaetsstoerung-adhs.html</a:t>
            </a:r>
          </a:p>
          <a:p>
            <a:r>
              <a:t>Zentrales adhs-netz, Universitätsklinikum Köln. ADHS im Vorschulalter. https://www.zentrales-adhs-netz.de/fuer-paedagogen/adhs-im-vorschulalter/</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Einzelne lebhafte, ungeduldige oder verträumte Situationen reichen für eine Diagnose nicht aus. Fachpersonen betrachten, wie dauerhaft die Schwierigkeiten sind und ob sie die Entwicklung und Teilhabe deutlich beeinträchtigen. Einbeziehen, was Eltern beobachten und unter welchen Bedingungen es in der Kita besser gelingt. Bei anhaltenden Sorgen eine kinderärztliche Abklärung anregen. Eine Beobachtung ist ein Beitrag, kein diagnostischer Beweis.</a:t>
            </a:r>
          </a:p>
          <a:p/>
          <a:p>
            <a:r>
              <a:t>Grundlage: Hochgeladenes Konzeptpapier 20261018, 5 Seiten. Übungen und Fallvignetten sind didaktische Ausarbeitungen.</a:t>
            </a:r>
          </a:p>
          <a:p>
            <a:r>
              <a:t>IQWiG. Aufmerksamkeitsdefizit- und Hyperaktivitätsstörung (ADHS). https://www.gesundheitsinformation.de/aufmerksamkeitsdefizit-und-hyperaktivitaetsstoerung-adhs.html</a:t>
            </a:r>
          </a:p>
          <a:p>
            <a:r>
              <a:t>Zentrales adhs-netz, Universitätsklinikum Köln. ADHS im Vorschulalter. https://www.zentrales-adhs-netz.de/fuer-paedagogen/adhs-im-vorschulalter/</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Visueller Merksatz aus dem Gestaltungsauftrag. Eine Beobachtung ist noch keine Erklärung.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 ist ein vereinfachtes pädagogisches Erklärmodell. Die Fähigkeiten sind bei jedem Kind unterschiedlich. Ein Kind kann den Auftrag kennen und ihn unter Ablenkung trotzdem nicht umsetzen. Beim Anziehen konkretisieren: zunächst ein Bild der Schuhe, dann den ersten Schuh gemeinsam greifen. Anschließend beobachten, ob das Angebot tatsächlich hilft. Äußere Hilfen lassen sich schrittweise an den Bedarf anpassen.</a:t>
            </a:r>
          </a:p>
          <a:p/>
          <a:p>
            <a:r>
              <a:t>Grundlage: Hochgeladenes Konzeptpapier 20261018, 5 Seiten. Übungen und Fallvignetten sind didaktische Ausarbeitungen.</a:t>
            </a:r>
          </a:p>
          <a:p>
            <a:r>
              <a:t>Zentrales adhs-netz, Universitätsklinikum Köln. ADHS im Vorschulalter. https://www.zentrales-adhs-netz.de/fuer-paedagogen/adhs-im-vorschulalter/</a:t>
            </a:r>
          </a:p>
          <a:p>
            <a:r>
              <a:t>Bundesinstitut für Öffentliche Gesundheit. ADHS – Symptome, Diagnose, Behandlung. https://shop.bioeg.de/pdf/11090100.pdf</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zentrale adhs-netz beschreibt, dass Symptome bei Lieblingsaktivitäten geringer auffallen können. Das erklärt, warum ein Kind beim Bauen konzentriert wirken und im Sitzkreis große Schwierigkeiten haben kann. Daraus weder Absicht noch einheitliche Leistungsfähigkeit ableiten. Die konkreten Bedingungen vergleichen. Die aufgeführten Kontexte sind mögliche Einflüsse, keine für jedes Kind gültigen Regeln.</a:t>
            </a:r>
          </a:p>
          <a:p/>
          <a:p>
            <a:r>
              <a:t>Grundlage: Hochgeladenes Konzeptpapier 20261018, 5 Seiten. Übungen und Fallvignetten sind didaktische Ausarbeitungen.</a:t>
            </a:r>
          </a:p>
          <a:p>
            <a:r>
              <a:t>Zentrales adhs-netz, Universitätsklinikum Köln. ADHS im Vorschulalter. https://www.zentrales-adhs-netz.de/fuer-paedagogen/adhs-im-vorschulalter/</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gesamte Übung einschließlich der nächsten zwei Folien dauert acht Minuten. Eine Minute Einführung. Dann die sechs Schritte ruhig einmal vorlesen: „Zeichnen Sie einen Kreis. Setzen Sie einen Punkt hinein. Zeichnen Sie eine Linie darunter. Zeichnen Sie rechts ein Dreieck. Zeichnen Sie über den Kreis einen Stern. Drehen Sie das Blatt um.“ Die Liste dieser Folie ist nur die Anleitung. Aussteigen ist jederzeit möglich. Für die Durchführung die nächste Folie erst danach anzeigen.</a:t>
            </a:r>
          </a:p>
          <a:p/>
          <a:p>
            <a:r>
              <a:t>Grundlage: Hochgeladenes Konzeptpapier 20261018, 5 Seiten. Übungen und Fallvignetten sind didaktische Ausarbeitungen.</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sichtbaren Schritte anbieten und für etwa eine Minute eine zweite Bearbeitung ermöglichen. Keine Rangfolge oder Bewertung herstellen. Beobachtende Personen können direkt mitreflektieren. Die wiederholte Aufgabe ist durch Übung bereits leichter. Das muss in der Auswertung benannt werden. Das Experiment ist eine Reflexionshilfe und kein kontrollierter Nachweis einer bestimmten Methode.</a:t>
            </a:r>
          </a:p>
          <a:p/>
          <a:p>
            <a:r>
              <a:t>Grundlage: Hochgeladenes Konzeptpapier 20261018, 5 Seiten. Übungen und Fallvignetten sind didaktische Ausarbeitungen.</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Für diese Auswertung bleiben zusammen mit kurzem Austausch etwa sechs Minuten der achtminütigen Übung. Ein bis zwei Beispiele sammeln. Lesefähigkeit der Erwachsenen nicht auf Vorschulkinder übertragen. Bilder oder Gegenstände müssen für das jeweilige Kind verständlich sein. Ziel ist, die Gestaltung einer Anforderung zu prüfen. Aus dem eigenen Erleben lässt sich kein Rückschluss auf das Erleben eines Kindes mit ADHS ziehen.</a:t>
            </a:r>
          </a:p>
          <a:p/>
          <a:p>
            <a:r>
              <a:t>Grundlage: Hochgeladenes Konzeptpapier 20261018, 5 Seiten. Übungen und Fallvignetten sind didaktische Ausarbeitungen.</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Für diese Auswertung bleiben zusammen mit kurzem Austausch etwa sechs Minuten der achtminütigen Übung. Ein bis zwei Beispiele sammeln. Lesefähigkeit der Erwachsenen nicht auf Vorschulkinder übertragen. Bilder oder Gegenstände müssen für das jeweilige Kind verständlich sein. Ziel ist, die Gestaltung einer Anforderung zu prüfen. Aus dem eigenen Erleben lässt sich kein Rückschluss auf das Erleben eines Kindes mit ADHS ziehen.</a:t>
            </a:r>
          </a:p>
          <a:p/>
          <a:p>
            <a:r>
              <a:t>Grundlage: Hochgeladenes Konzeptpapier 20261018, 5 Seiten. Übungen und Fallvignetten sind didaktische Ausarbeitungen.</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Für diese Auswertung bleiben zusammen mit kurzem Austausch etwa sechs Minuten der achtminütigen Übung. Ein bis zwei Beispiele sammeln. Lesefähigkeit der Erwachsenen nicht auf Vorschulkinder übertragen. Bilder oder Gegenstände müssen für das jeweilige Kind verständlich sein. Ziel ist, die Gestaltung einer Anforderung zu prüfen. Aus dem eigenen Erleben lässt sich kein Rückschluss auf das Erleben eines Kindes mit ADHS ziehen.</a:t>
            </a:r>
          </a:p>
          <a:p/>
          <a:p>
            <a:r>
              <a:t>Grundlage: Hochgeladenes Konzeptpapier 20261018, 5 Seiten. Übungen und Fallvignetten sind didaktische Ausarbeitungen.</a:t>
            </a:r>
          </a:p>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Für diese Auswertung bleiben zusammen mit kurzem Austausch etwa sechs Minuten der achtminütigen Übung. Ein bis zwei Beispiele sammeln. Lesefähigkeit der Erwachsenen nicht auf Vorschulkinder übertragen. Bilder oder Gegenstände müssen für das jeweilige Kind verständlich sein. Ziel ist, die Gestaltung einer Anforderung zu prüfen. Aus dem eigenen Erleben lässt sich kein Rückschluss auf das Erleben eines Kindes mit ADHS ziehen.</a:t>
            </a:r>
          </a:p>
          <a:p/>
          <a:p>
            <a:r>
              <a:t>Grundlage: Hochgeladenes Konzeptpapier 20261018, 5 Seiten. Übungen und Fallvignetten sind didaktische Ausarbeitungen.</a:t>
            </a:r>
          </a:p>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Beispiele sind pädagogische Übertragungen der Unterstützungsprinzipien. Bewegung dient dem Bedürfnis des Kindes und sollte nicht erst nach stiller Mitarbeit zugänglich sein. Bei der Rückmeldung kleine gelingende Handlungen konkret benennen. Die Maßnahme soll das Kind entlasten und die Beteiligung erleichtern. Sie ersetzt bei ausgeprägten Schwierigkeiten keine fachliche Unterstützung.</a:t>
            </a:r>
          </a:p>
          <a:p/>
          <a:p>
            <a:r>
              <a:t>Grundlage: Hochgeladenes Konzeptpapier 20261018, 5 Seiten. Übungen und Fallvignetten sind didaktische Ausarbeitungen.</a:t>
            </a:r>
          </a:p>
          <a:p>
            <a:r>
              <a:t>Zentrales adhs-netz, Universitätsklinikum Köln. ADHS im Vorschulalter. https://www.zentrales-adhs-netz.de/fuer-paedagogen/adhs-im-vorschulalter/</a:t>
            </a:r>
          </a:p>
          <a:p>
            <a:r>
              <a:t>Bundesinstitut für Öffentliche Gesundheit. ADHS – Symptome, Diagnose, Behandlung. https://shop.bioeg.de/pdf/11090100.pdf</a:t>
            </a:r>
          </a:p>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Beispiele gemeinsam vorlesen. Bei konkreter Rückmeldung kennt das Kind die gemeinte Handlung. Den Ton und die Beziehung mitbedenken. Die Beispiele sind eigene Formulierungen, keine Garantie für sofortige Veränderung. Rückmeldung möglichst zeitnah, respektvoll und ohne öffentliche Vergleiche geben. Fragen, welche Formulierungen das Team in seinem Alltag bereits erfolgreich nutzt.</a:t>
            </a:r>
          </a:p>
          <a:p/>
          <a:p>
            <a:r>
              <a:t>Grundlage: Hochgeladenes Konzeptpapier 20261018, 5 Seiten. Übungen und Fallvignetten sind didaktische Ausarbeitungen.</a:t>
            </a:r>
          </a:p>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Kita kann den Verlauf und Kontext anschaulich beschreiben. Diagnostik und medizinische Behandlung gehören in fachliche Hände. Kinderarztpraxis, Sozialpädiatrisches Zentrum oder Kinder- und Jugendpsychiatrie können je nach Anliegen Anlaufstellen sein. Eltern entlastend ansprechen und keine Schuldzuweisungen vornehmen. Medikamente werden nicht im Rahmen dieser Fortbildung für einzelne Kinder empfohlen. Bereits hilfreiche Bedingungen können vor Abschluss einer Abklärung gemeinsam gestaltet werden.</a:t>
            </a:r>
          </a:p>
          <a:p/>
          <a:p>
            <a:r>
              <a:t>Grundlage: Hochgeladenes Konzeptpapier 20261018, 5 Seiten. Übungen und Fallvignetten sind didaktische Ausarbeitungen.</a:t>
            </a:r>
          </a:p>
          <a:p>
            <a:r>
              <a:t>IQWiG. Aufmerksamkeitsdefizit- und Hyperaktivitätsstörung (ADHS). https://www.gesundheitsinformation.de/aufmerksamkeitsdefizit-und-hyperaktivitaetsstoerung-adhs.html</a:t>
            </a:r>
          </a:p>
          <a:p>
            <a:r>
              <a:t>Zentrales adhs-netz, Universitätsklinikum Köln. ADHS im Vorschulalter. https://www.zentrales-adhs-netz.de/fuer-paedagogen/adhs-im-vorschulalter/</a:t>
            </a:r>
          </a:p>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Den Abschnitt kurz einordnen. Nach dem Vorwissen der Gruppe fragen und passende Beispiele aufnehmen.</a:t>
            </a:r>
          </a:p>
          <a:p/>
          <a:p>
            <a:r>
              <a:t>Grundlage: Hochgeladenes Konzeptpapier 20261018, 5 Seiten. Übungen und Fallvignetten sind didaktische Ausarbeitungen.</a:t>
            </a:r>
          </a:p>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Autismus wird diagnostisch als Autismus-Spektrum-Störung bezeichnet und gehört zu den neuroentwicklungsbezogenen Diagnosen. Die zwei Bereiche dienen einer verständlichen Einführung. Einzelne Merkmale können auch andere Erklärungen haben. Diagnosekriterien ersetzen keine individuelle Betrachtung. Sprache, intellektuelle Fähigkeiten und Unterstützungsbedarf variieren deutlich. Autistische Menschen können Beziehungen wünschen und Gefühle unterschiedlich ausdrücken.</a:t>
            </a:r>
          </a:p>
          <a:p/>
          <a:p>
            <a:r>
              <a:t>Grundlage: Hochgeladenes Konzeptpapier 20261018, 5 Seiten. Übungen und Fallvignetten sind didaktische Ausarbeitungen.</a:t>
            </a:r>
          </a:p>
          <a:p>
            <a:r>
              <a:t>IQWiG. Autismus. https://www.gesundheitsinformation.de/autismus.html</a:t>
            </a:r>
          </a:p>
          <a:p>
            <a:r>
              <a:t>Universität Jena. Autismus – Gut zu wissen!. https://www.fsv.uni-jena.de/43571/ueber-autismus</a:t>
            </a:r>
          </a:p>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Autismus wird diagnostisch als Autismus-Spektrum-Störung bezeichnet und gehört zu den neuroentwicklungsbezogenen Diagnosen. Die zwei Bereiche dienen einer verständlichen Einführung. Einzelne Merkmale können auch andere Erklärungen haben. Diagnosekriterien ersetzen keine individuelle Betrachtung. Sprache, intellektuelle Fähigkeiten und Unterstützungsbedarf variieren deutlich. Autistische Menschen können Beziehungen wünschen und Gefühle unterschiedlich ausdrücken.</a:t>
            </a:r>
          </a:p>
          <a:p/>
          <a:p>
            <a:r>
              <a:t>Grundlage: Hochgeladenes Konzeptpapier 20261018, 5 Seiten. Übungen und Fallvignetten sind didaktische Ausarbeitungen.</a:t>
            </a:r>
          </a:p>
          <a:p>
            <a:r>
              <a:t>IQWiG. Autismus. https://www.gesundheitsinformation.de/autismus.html</a:t>
            </a:r>
          </a:p>
          <a:p>
            <a:r>
              <a:t>Universität Jena. Autismus – Gut zu wissen!. https://www.fsv.uni-jena.de/43571/ueber-autismus</a:t>
            </a:r>
          </a:p>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Sensorische Empfindlichkeit ist individuell und kann für verschiedene Sinne unterschiedlich ausfallen. Ein Kind kann einen Reiz suchen und einen anderen meiden. Belastung nicht allein an Lautstärke messen. Auch körperliche Beschwerden, Müdigkeit oder Hunger prüfen. Eine sensorische Erklärung bleibt eine Hypothese. Ungefährliche Wahrnehmungshilfen können individuell hilfreich sein. Bei anhaltenden Schmerzen oder plötzlicher Veränderung fachliche Abklärung anregen.</a:t>
            </a:r>
          </a:p>
          <a:p/>
          <a:p>
            <a:r>
              <a:t>Grundlage: Hochgeladenes Konzeptpapier 20261018, 5 Seiten. Übungen und Fallvignetten sind didaktische Ausarbeitungen.</a:t>
            </a:r>
          </a:p>
          <a:p>
            <a:r>
              <a:t>IQWiG. Autismus. https://www.gesundheitsinformation.de/autismus.html</a:t>
            </a:r>
          </a:p>
          <a:p>
            <a:r>
              <a:t>Universität Jena. Autismus – Gut zu wissen!. https://www.fsv.uni-jena.de/43571/ueber-autismus</a:t>
            </a:r>
          </a:p>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Pädagogisches Beispiel: „Jetzt Schuhe anziehen. Danach Garten.“ Dabei ein für das Kind verständliches Foto oder den Gegenstand zeigen. Sprachliche Fähigkeiten und Verständnis können auseinanderliegen. Blickkontakt nicht als Voraussetzung für Zuhören erzwingen. Wenn das Kind noch nicht reagiert, nicht sofort mehrere neue Formulierungen nachschieben. Zunächst Zeit lassen und prüfen, ob die Botschaft verständlich war.</a:t>
            </a:r>
          </a:p>
          <a:p/>
          <a:p>
            <a:r>
              <a:t>Grundlage: Hochgeladenes Konzeptpapier 20261018, 5 Seiten. Übungen und Fallvignetten sind didaktische Ausarbeitungen.</a:t>
            </a:r>
          </a:p>
          <a:p>
            <a:r>
              <a:t>autismus Deutschland e. V.. KiTa. https://www.autismus.de/index.php?L=1&amp;id=158</a:t>
            </a:r>
          </a:p>
          <a:p>
            <a:r>
              <a:t>autismus Deutschland e. V. (2026). Unterstützte Kommunikation bei Menschen mit Autismus. https://www.autismus.de/fileadmin/SERVICE_UND_MATERIALIEN/Flyer/Folder_UK_2026_Screenfassung.pdf</a:t>
            </a:r>
          </a:p>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UK steht für Unterstützte Kommunikation. Der deutschsprachige Flyer von autismus Deutschland bietet einen Einstieg und Anlaufstellen. Mögliche Beispiele sind ein vertrautes Pausenzeichen oder eine Bildauswahl zwischen zwei Tätigkeiten. Die Auswahl und Umsetzung mit entsprechend qualifizierten Fachpersonen abstimmen. Kommunikation soll dem Kind ermöglichen, eigene Anliegen mitzuteilen. Ein Bild ist nicht automatisch für jedes Kind verständlich.</a:t>
            </a:r>
          </a:p>
          <a:p/>
          <a:p>
            <a:r>
              <a:t>Grundlage: Hochgeladenes Konzeptpapier 20261018, 5 Seiten. Übungen und Fallvignetten sind didaktische Ausarbeitungen.</a:t>
            </a:r>
          </a:p>
          <a:p>
            <a:r>
              <a:t>autismus Deutschland e. V. (2026). Unterstützte Kommunikation bei Menschen mit Autismus. https://www.autismus.de/fileadmin/SERVICE_UND_MATERIALIEN/Flyer/Folder_UK_2026_Screenfassung.pdf</a:t>
            </a:r>
          </a:p>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Bauwerkfoto ist eine eigene Praxisidee. Auch ein angekündigter Wechsel kann schwerfallen. Deshalb prüfen, ob das Signal verstanden wird und ob der nächste Ort zu viel Belastung enthält. Einen Timer nur einsetzen, wenn er Orientierung gibt. Vorhersehbarkeit unterstützt, bedeutet aber nicht, jede Veränderung auf Dauer auszuschließen. Kleine Veränderungen begleitet und mit den vorhandenen Möglichkeiten gestalten.</a:t>
            </a:r>
          </a:p>
          <a:p/>
          <a:p>
            <a:r>
              <a:t>Grundlage: Hochgeladenes Konzeptpapier 20261018, 5 Seiten. Übungen und Fallvignetten sind didaktische Ausarbeitungen.</a:t>
            </a:r>
          </a:p>
          <a:p>
            <a:r>
              <a:t>autismus Deutschland e. V.. KiTa. https://www.autismus.de/index.php?L=1&amp;id=158</a:t>
            </a:r>
          </a:p>
          <a:p>
            <a:r>
              <a:t>ISB Bayern (2023). A4 Individuelle Unterstützungsmöglichkeiten für die pädagogische Praxis. https://www.isb.bayern.de/schularten/foerderschulen/autismus/infobriefe-autismus/</a:t>
            </a:r>
          </a:p>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Eigene Illustration: Ein Kind lässt Fahrzeuge eine Rampe herunterrollen. Eine Fachkraft setzt sich dazu, beobachtet und bietet ein zweites Fahrzeug an. Ob ein wechselseitiges Spiel entsteht, hängt von den Signalen des Kindes ab. Nähe muss nicht über sofortiges Nachahmen oder Blickkontakt entstehen. Beziehung auch über zuverlässige Unterstützung gestalten. Die Spielidee ist ein individuell zu prüfendes Angebot.</a:t>
            </a:r>
          </a:p>
          <a:p/>
          <a:p>
            <a:r>
              <a:t>Grundlage: Hochgeladenes Konzeptpapier 20261018, 5 Seiten. Übungen und Fallvignetten sind didaktische Ausarbeitungen.</a:t>
            </a:r>
          </a:p>
          <a:p>
            <a:r>
              <a:t>Universität Jena. Autismus – Gut zu wissen!. https://www.fsv.uni-jena.de/43571/ueber-autismus</a:t>
            </a:r>
          </a:p>
          <a:p>
            <a:r>
              <a:t>autismus Deutschland e. V.. KiTa. https://www.autismus.de/index.php?L=1&amp;id=158</a:t>
            </a:r>
          </a:p>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Beispiele können Wippen, Wedeln oder wiederkehrende Laute sein. Der Begriff ist eine gebräuchliche Beschreibung und keine eigenständige Diagnose. Nicht jedes repetitive Verhalten hat dieselbe Funktion. Ungefährliche Selbstregulation nicht allein wegen ihrer Auffälligkeit unterbinden. Falls das Kind oder andere gefährdet sind, ruhig schützen, weitere Hilfe einbeziehen und Ursachen sowie sichere Alternativen gemeinsam erkunden. Grundlage: Begriffseinordnung und pädagogische Ausarbeitung zum hochgeladenen Konzept.</a:t>
            </a:r>
          </a:p>
          <a:p/>
          <a:p>
            <a:r>
              <a:t>Grundlage: Hochgeladenes Konzeptpapier 20261018, 5 Seiten. Übungen und Fallvignetten sind didaktische Ausarbeitungen.</a:t>
            </a:r>
          </a:p>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Universität Jena weist darauf hin, dass Anstrengungen und Schwierigkeiten nicht immer offensichtlich sind. Daraus nicht schließen, dass ein bestimmtes Verhalten Masking beweist. Unterschiedliche Eindrücke ernst nehmen, beispielsweise Erschöpfung nach einem Gruppentag. Im Elterngespräch nach Schlaf, Veränderungen und hilfreichen Bedingungen fragen. Dieses Thema bereitet den späteren fiktiven Fall Leni vor.</a:t>
            </a:r>
          </a:p>
          <a:p/>
          <a:p>
            <a:r>
              <a:t>Grundlage: Hochgeladenes Konzeptpapier 20261018, 5 Seiten. Übungen und Fallvignetten sind didaktische Ausarbeitungen.</a:t>
            </a:r>
          </a:p>
          <a:p>
            <a:r>
              <a:t>Universität Jena. Autismus – Gut zu wissen!. https://www.fsv.uni-jena.de/43571/ueber-autismus</a:t>
            </a:r>
          </a:p>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Beispiele sind Hypothesen zur pädagogischen Reflexion. Keine Erklärung lässt sich allein durch ein Signal beweisen. Weitere mögliche Einflüsse sind Angst, Konflikte, Müdigkeit oder der Wunsch nach einer anderen Tätigkeit. Bei einer Untersuchung der Situation Veränderungen einzeln und nachvollziehbar planen. Das verhindert, dass das Team vorschnell eine Diagnose oder eine Absicht als vollständige Erklärung verwendet.</a:t>
            </a:r>
          </a:p>
          <a:p/>
          <a:p>
            <a:r>
              <a:t>Grundlage: Hochgeladenes Konzeptpapier 20261018, 5 Seiten. Übungen und Fallvignetten sind didaktische Ausarbeitungen.</a:t>
            </a:r>
          </a:p>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Kombination bedeutet nicht, dass Bedürfnisse widerspruchsfrei sind. Ein Kind kann Neues suchen und zugleich bei unvorhersehbaren Veränderungen stark belastet sein. Das sind mögliche individuelle Erfahrungen, keine zusätzliche Diagnose aus der Fortbildung. In der Kita anhand der konkreten Situation prüfen, welche Anforderungen zusammenkommen. Die Tabelle enthält eigene pädagogische Leitfragen.</a:t>
            </a:r>
          </a:p>
          <a:p/>
          <a:p>
            <a:r>
              <a:t>Grundlage: Hochgeladenes Konzeptpapier 20261018, 5 Seiten. Übungen und Fallvignetten sind didaktische Ausarbeitungen.</a:t>
            </a:r>
          </a:p>
          <a:p>
            <a:r>
              <a:t>IQWiG. Autismus. https://www.gesundheitsinformation.de/autismus.html</a:t>
            </a:r>
          </a:p>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Den Abschnitt kurz einordnen. Nach dem Vorwissen der Gruppe fragen und passende Beispiele aufnehmen.</a:t>
            </a:r>
          </a:p>
          <a:p/>
          <a:p>
            <a:r>
              <a:t>Grundlage: Hochgeladenes Konzeptpapier 20261018, 5 Seiten. Übungen und Fallvignetten sind didaktische Ausarbeitungen.</a:t>
            </a:r>
          </a:p>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Raster ist eine eigene pädagogische Reflexionshilfe und kein standardisiertes Diagnoseinstrument. Beispiel: Beim Liedbeginn hält das Kind die Ohren zu, weint und geht zur Tür. In einer kleineren Runde mit ruhigem Sprechen bleibt es. Die Beobachtung legt mögliche Erklärungen nahe, beweist aber keine sensorische Ursache. Für den Austausch kurze, sachliche Notizen verwenden und datensparsam dokumentieren.</a:t>
            </a:r>
          </a:p>
          <a:p/>
          <a:p>
            <a:r>
              <a:t>Grundlage: Hochgeladenes Konzeptpapier 20261018, 5 Seiten. Übungen und Fallvignetten sind didaktische Ausarbeitungen.</a:t>
            </a:r>
          </a:p>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Mit einem Beispiel starten. Aus „Sie macht nie mit“ könnte werden: „Sie steht beim Liedbeginn auf, hält sich die Ohren zu und geht zur Tür.“ Hypothesen: Lautstärke könnte belasten, oder der Ablauf könnte unverständlich sein. Weitere Möglichkeiten wie Schmerzen oder Müdigkeit offenhalten. Bewertungen nicht durch freundlich klingende Gewissheiten ersetzen. Beobachtung und Deutung getrennt notieren.</a:t>
            </a:r>
          </a:p>
          <a:p/>
          <a:p>
            <a:r>
              <a:t>Grundlage: Hochgeladenes Konzeptpapier 20261018, 5 Seiten. Übungen und Fallvignetten sind didaktische Ausarbeitungen.</a:t>
            </a:r>
          </a:p>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Planung soll im Alltag umsetzbar sein. Nicht fünf Maßnahmen gleichzeitig beginnen, wenn später unklar bleibt, was geholfen hat. Auch mögliche Nebenwirkungen beachten: Ein Randplatz schafft Ruhe, kann aber Kontakte verringern. Ein Ziel könnte lauten, einen Übergang mit weniger Belastung und mehr eigener Mitteilung zu gestalten. Das Team legt einen Zeitpunkt zum Nachbesprechen fest.</a:t>
            </a:r>
          </a:p>
          <a:p/>
          <a:p>
            <a:r>
              <a:t>Grundlage: Hochgeladenes Konzeptpapier 20261018, 5 Seiten. Übungen und Fallvignetten sind didaktische Ausarbeitungen.</a:t>
            </a:r>
          </a:p>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Eigene Praxisübertragung. Ein Kind kann den ersten Teil mitmachen und bei Bedarf mit einer vertrauten Person wechseln. Unterstützung so gestalten, dass Zugehörigkeit erhalten bleibt. Den Erfolg nicht nur am stillen Sitzen messen. Fragen: Hat das Kind etwas verstanden, Freude geteilt oder selbst einen Wunsch signalisiert? Aufsicht und Unterstützung der anderen Kinder ebenfalls sichern.</a:t>
            </a:r>
          </a:p>
          <a:p/>
          <a:p>
            <a:r>
              <a:t>Grundlage: Hochgeladenes Konzeptpapier 20261018, 5 Seiten. Übungen und Fallvignetten sind didaktische Ausarbeitungen.</a:t>
            </a:r>
          </a:p>
          <a:p>
            <a:r>
              <a:t>autismus Deutschland e. V.. KiTa. https://www.autismus.de/index.php?L=1&amp;id=158</a:t>
            </a:r>
          </a:p>
          <a:p>
            <a:r>
              <a:t>Zentrales adhs-netz, Universitätsklinikum Köln. ADHS im Vorschulalter. https://www.zentrales-adhs-netz.de/fuer-paedagogen/adhs-im-vorschulalter/</a:t>
            </a:r>
          </a:p>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Fotos oder Gegenstände sind nur hilfreich, wenn das Kind ihre Bedeutung kennt. Eine große Aufgabe wie „Alles aufräumen“ in einen überschaubaren Handlungsschritt aufteilen. Übergänge zeitlich staffeln, soweit personell möglich. Prüfen, ob das Kind motorische Hilfe beim Anziehen braucht. Wissen über die Reihenfolge und selbstständige Ausführung sind unterschiedliche Anforderungen. Die Beispiele sind Angebote zur individuellen Erprobung.</a:t>
            </a:r>
          </a:p>
          <a:p/>
          <a:p>
            <a:r>
              <a:t>Grundlage: Hochgeladenes Konzeptpapier 20261018, 5 Seiten. Übungen und Fallvignetten sind didaktische Ausarbeitungen.</a:t>
            </a:r>
          </a:p>
          <a:p>
            <a:r>
              <a:t>autismus Deutschland e. V.. KiTa. https://www.autismus.de/index.php?L=1&amp;id=158</a:t>
            </a:r>
          </a:p>
          <a:p>
            <a:r>
              <a:t>ISB Bayern (2023). A4 Individuelle Unterstützungsmöglichkeiten für die pädagogische Praxis. https://www.isb.bayern.de/schularten/foerderschulen/autismus/infobriefe-autismus/</a:t>
            </a:r>
          </a:p>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 Rückzugsort soll keine Strafe oder unbeaufsichtigte Absonderung sein. Zugang und Aufsicht im Team planen. Beim Essen können viele verschiedene Einflüsse zusammenkommen. Bei anhaltend stark eingeschränkter Nahrungsaufnahme, Gewichtsproblemen, Verschlucken oder Schmerzen medizinische beziehungsweise fachliche Abklärung anregen. Keine Ernährungstherapie aus allgemeinen Fortbildungsinhalten ableiten. Die aufgeführten Gestaltungsideen sind individuell zu prüfen.</a:t>
            </a:r>
          </a:p>
          <a:p/>
          <a:p>
            <a:r>
              <a:t>Grundlage: Hochgeladenes Konzeptpapier 20261018, 5 Seiten. Übungen und Fallvignetten sind didaktische Ausarbeitungen.</a:t>
            </a:r>
          </a:p>
          <a:p>
            <a:r>
              <a:t>autismus Deutschland e. V.. KiTa. https://www.autismus.de/index.php?L=1&amp;id=158</a:t>
            </a:r>
          </a:p>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Co-Regulation meint hier die unterstützende Begleitung durch eine regulierte, verlässliche Bezugsperson. Der Satz ist ein mögliches eigenes Sprachbeispiel. Das Kind muss in hoher Belastung weder Erklärungen liefern noch ein Atemtraining mitmachen. Welche Nähe hilft, ist individuell. Andere Kinder schützen und bei Bedarf Unterstützung holen. Nach der Entlastung gemeinsam prüfen, was vorausging und wie ähnliche Situationen früher aufgefangen werden können.</a:t>
            </a:r>
          </a:p>
          <a:p/>
          <a:p>
            <a:r>
              <a:t>Grundlage: Hochgeladenes Konzeptpapier 20261018, 5 Seiten. Übungen und Fallvignetten sind didaktische Ausarbeitungen.</a:t>
            </a:r>
          </a:p>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Belastung verstehen und Schutz gewährleisten gehören zusammen. Auch das verletzte oder erschrockene andere Kind braucht Aufmerksamkeit und Trost. Nicht beschämen oder in einer akuten Überlastung eine Entschuldigung erzwingen. Diese Fortbildung vermittelt keine körperlichen Eingriffstechniken. Einrichtungsbezogene Schutzverfahren und Zuständigkeiten gelten. Medizinische Notfälle benötigen entsprechende Hilfe.</a:t>
            </a:r>
          </a:p>
          <a:p/>
          <a:p>
            <a:r>
              <a:t>Grundlage: Hochgeladenes Konzeptpapier 20261018, 5 Seiten. Übungen und Fallvignetten sind didaktische Ausarbeitungen.</a:t>
            </a:r>
          </a:p>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Visueller Merksatz aus dem Gestaltungsauftrag. Verstehen bedeutet nicht, jedes Verhalten zuzulassen.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Formulierungen sind eigene Beispiele. Beobachtungen sachlich und konkret nennen. Eltern müssen das Kita-Bild nicht bestätigen, damit ihre Sicht ernst genommen wird. Unterschiedliche Bedingungen können unterschiedliche Reaktionen erklären. Keine Diagnose verkünden. Eine gemeinsame kleine Erprobung vereinbaren und festhalten, welche Information ausgetauscht werden soll. Bei Bedarf und mit entsprechender Abstimmung weitere Fachpersonen einbeziehen.</a:t>
            </a:r>
          </a:p>
          <a:p/>
          <a:p>
            <a:r>
              <a:t>Grundlage: Hochgeladenes Konzeptpapier 20261018, 5 Seiten. Übungen und Fallvignetten sind didaktische Ausarbeitungen.</a:t>
            </a:r>
          </a:p>
          <a:p>
            <a:r>
              <a:t>autismus Deutschland e. V.. KiTa. https://www.autismus.de/index.php?L=1&amp;id=158</a:t>
            </a:r>
          </a:p>
          <a:p>
            <a:r>
              <a:t>Zentrales adhs-netz, Universitätsklinikum Köln. ADHS im Vorschulalter. https://www.zentrales-adhs-netz.de/fuer-paedagogen/adhs-im-vorschulalter/</a:t>
            </a:r>
          </a:p>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nach regionalem Angebot können auch Sozialpädiatrische Zentren, Autismus-Fachstellen oder Kinder- und Jugendpsychiatrie beteiligt sein. Keine pauschale Zuständigkeit oder konkrete Leistungsbewilligung versprechen. Für den Übergang in die Schule sind Kommunikationswege, Belastungssignale und gelingende Routinen wertvoll. Der Austausch mit anderen Einrichtungen erfolgt abgestimmt und unter Beachtung des Datenschutzes. Regionale Kontakte können vor Ort ergänzt werden.</a:t>
            </a:r>
          </a:p>
          <a:p/>
          <a:p>
            <a:r>
              <a:t>Grundlage: Hochgeladenes Konzeptpapier 20261018, 5 Seiten. Übungen und Fallvignetten sind didaktische Ausarbeitungen.</a:t>
            </a:r>
          </a:p>
          <a:p>
            <a:r>
              <a:t>IQWiG. Autismus. https://www.gesundheitsinformation.de/autismus.html</a:t>
            </a:r>
          </a:p>
          <a:p>
            <a:r>
              <a:t>autismus Deutschland e. V.. KiTa. https://www.autismus.de/index.php?L=1&amp;id=158</a:t>
            </a:r>
          </a:p>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Visueller Merksatz aus dem Gestaltungsauftrag. Wir müssen nicht auf eine Diagnose warten, um Unterstützung anzubieten.</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zwölf Minuten liegen im 50-minütigen Unterstützungsblock. Jede Gruppe formuliert mindestens zwei Hypothesen. Fortgeschrittene Teilnehmende überlegen zusätzlich mögliche Nebenwirkungen. Beispiel: Eine entzerrte Garderobe könnte Gedränge reduzieren, erfordert aber eine umsetzbare Personalabsprache. Der Auftrag bereitet die ausführliche Fallbesprechung nach der Pause vor. Kurz erfragen, welche Veränderung die Gruppe testen würde.</a:t>
            </a:r>
          </a:p>
          <a:p/>
          <a:p>
            <a:r>
              <a:t>Grundlage: Hochgeladenes Konzeptpapier 20261018, 5 Seiten. Übungen und Fallvignetten sind didaktische Ausarbeitungen.</a:t>
            </a:r>
          </a:p>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Pause liegt drei Stunden nach dem Beginn und dauert 30 Minuten. Vor Ort eine tatsächliche Rückkehrzeit nennen. Gruppenräume vorbereiten, Fallblätter und Ergebnisbögen auslegen. Eigene Fälle ausschließlich ohne identifizierende Angaben besprechen. Auch in der Pause die Vertraulichkeit wahren.</a:t>
            </a:r>
          </a:p>
          <a:p/>
          <a:p>
            <a:r>
              <a:t>Grundlage: Hochgeladenes Konzeptpapier 20261018, 5 Seiten. Übungen und Fallvignetten sind didaktische Ausarbeitungen.</a:t>
            </a:r>
          </a:p>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Den Abschnitt kurz einordnen. Nach dem Vorwissen der Gruppe fragen und passende Beispiele aufnehmen.</a:t>
            </a:r>
          </a:p>
          <a:p/>
          <a:p>
            <a:r>
              <a:t>Grundlage: Hochgeladenes Konzeptpapier 20261018, 5 Seiten. Übungen und Fallvignetten sind didaktische Ausarbeitungen.</a:t>
            </a:r>
          </a:p>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vier Phasen ergeben 120 Minuten. Die folgenden Fall- und Arbeitsfolien dienen als Orientierung während der Fallrunde und erhalten keine zusätzlichen Zeitblöcke. Beim Wechsel zwischen Gruppen eine klare Zeitansage machen. Bei einer sehr großen Gruppe den Ergebnisaustausch zunächst zwischen jeweils zwei Gruppen durchführen und danach zentrale Erkenntnisse ins Plenum holen.</a:t>
            </a:r>
          </a:p>
          <a:p/>
          <a:p>
            <a:r>
              <a:t>Grundlage: Hochgeladenes Konzeptpapier 20261018, 5 Seiten. Übungen und Fallvignetten sind didaktische Ausarbeitungen.</a:t>
            </a:r>
          </a:p>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Einführung einschließlich der Rollenverteilung dauert zehn Minuten. Bei einem fiktiven Fall übernimmt eine Person das Vorlesen und die Fallvertretung. Rollen können kombiniert werden. Verständnisfragen sollen der Klärung dienen. In einer kollegialen Fallbesprechung werden mögliche Erklärungen und Hilfen entwickelt, keine Ferndiagnosen. Bei identifizierenden Angaben freundlich unterbrechen und die Beschreibung verallgemeinern.</a:t>
            </a:r>
          </a:p>
          <a:p/>
          <a:p>
            <a:r>
              <a:t>Grundlage: Hochgeladenes Konzeptpapier 20261018, 5 Seiten. Übungen und Fallvignetten sind didaktische Ausarbeitungen.</a:t>
            </a:r>
          </a:p>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Phasen ergeben genau 55 Minuten. Zunächst schildert die fallgebende Person die Situation. Danach folgen reine Verständnisfragen. In der Hypothesenphase ausdrücklich Formulierungen wie „Es könnte sein“ verwenden. Bei den Ideen zunächst sammeln, dann anhand der Passung und Umsetzbarkeit auswählen. Eine Person hält Ergebnisse fest. Diese Folie kann während der Arbeit als Zeitstruktur sichtbar bleiben.</a:t>
            </a:r>
          </a:p>
          <a:p/>
          <a:p>
            <a:r>
              <a:t>Grundlage: Hochgeladenes Konzeptpapier 20261018, 5 Seiten. Übungen und Fallvignetten sind didaktische Ausarbeitungen.</a:t>
            </a:r>
          </a:p>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Fragen sollen vorschnelle Festlegungen vermeiden. Unbekannte Informationen als offen markieren. Auch nach der Perspektive des Kindes fragen: Welche Zustimmung, Ablehnung oder Bitte um Hilfe ist beobachtbar? Eltern- und Teamressourcen einbeziehen. Die Gruppen brauchen keine abschließende Erklärung, um einen kleinen unterstützenden Versuch zu planen. Das Ziel bleibt eine überprüfbare pädagogische Vereinbarung.</a:t>
            </a:r>
          </a:p>
          <a:p/>
          <a:p>
            <a:r>
              <a:t>Grundlage: Hochgeladenes Konzeptpapier 20261018, 5 Seiten. Übungen und Fallvignetten sind didaktische Ausarbeitungen.</a:t>
            </a:r>
          </a:p>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Fragen sollen vorschnelle Festlegungen vermeiden. Unbekannte Informationen als offen markieren. Auch nach der Perspektive des Kindes fragen: Welche Zustimmung, Ablehnung oder Bitte um Hilfe ist beobachtbar? Eltern- und Teamressourcen einbeziehen. Die Gruppen brauchen keine abschließende Erklärung, um einen kleinen unterstützenden Versuch zu planen. Das Ziel bleibt eine überprüfbare pädagogische Vereinbarung.</a:t>
            </a:r>
          </a:p>
          <a:p/>
          <a:p>
            <a:r>
              <a:t>Grundlage: Hochgeladenes Konzeptpapier 20261018, 5 Seiten. Übungen und Fallvignetten sind didaktische Ausarbeitungen.</a:t>
            </a:r>
          </a:p>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Fragen sollen vorschnelle Festlegungen vermeiden. Unbekannte Informationen als offen markieren. Auch nach der Perspektive des Kindes fragen: Welche Zustimmung, Ablehnung oder Bitte um Hilfe ist beobachtbar? Eltern- und Teamressourcen einbeziehen. Die Gruppen brauchen keine abschließende Erklärung, um einen kleinen unterstützenden Versuch zu planen. Das Ziel bleibt eine überprüfbare pädagogische Vereinbarung.</a:t>
            </a:r>
          </a:p>
          <a:p/>
          <a:p>
            <a:r>
              <a:t>Grundlage: Hochgeladenes Konzeptpapier 20261018, 5 Seiten. Übungen und Fallvignetten sind didaktische Ausarbeitungen.</a:t>
            </a:r>
          </a:p>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Fragen sollen vorschnelle Festlegungen vermeiden. Unbekannte Informationen als offen markieren. Auch nach der Perspektive des Kindes fragen: Welche Zustimmung, Ablehnung oder Bitte um Hilfe ist beobachtbar? Eltern- und Teamressourcen einbeziehen. Die Gruppen brauchen keine abschließende Erklärung, um einen kleinen unterstützenden Versuch zu planen. Das Ziel bleibt eine überprüfbare pädagogische Vereinbarung.</a:t>
            </a:r>
          </a:p>
          <a:p/>
          <a:p>
            <a:r>
              <a:t>Grundlage: Hochgeladenes Konzeptpapier 20261018, 5 Seiten. Übungen und Fallvignetten sind didaktische Ausarbeitungen.</a:t>
            </a:r>
          </a:p>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Angaben stammen aus dem hochgeladenen Konzept. Emil wird nicht als Kind mit gesicherter ADHS dargestellt. Hypothesen können die Dauer, die Wartezeiten, die Reizlage und die Aufgabenverständlichkeit betreffen. Die Gruppe soll selbst überlegen. Eine kürzere Teilnahme oder aktive Aufgabe ist eine Möglichkeit, keine vorgegebene Musterlösung. Das gemeinsame Ziel und beobachtbare Kriterien für Entlastung festhalten.</a:t>
            </a:r>
          </a:p>
          <a:p/>
          <a:p>
            <a:r>
              <a:t>Grundlage: Hochgeladenes Konzeptpapier 20261018, 5 Seiten. Übungen und Fallvignetten sind didaktische Ausarbeitungen.</a:t>
            </a:r>
          </a:p>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Zusätzliche Information aus dem Konzept: angekündigte Wechsel mit vertrauter Begleitung gelingen leichter. Die Gruppe prüft mehrere Hypothesen statt ausschließlich Lärm als sichere Erklärung zu wählen. Mögliche Ansatzpunkte betreffen das Signal, den Abschluss des Bauens oder den folgenden Ort. Eine Maßnahme sollte zur verfügbaren Unterstützung passen. Entlastung und die eigene Kommunikation des Kindes gemeinsam beobachten.</a:t>
            </a:r>
          </a:p>
          <a:p/>
          <a:p>
            <a:r>
              <a:t>Grundlage: Hochgeladenes Konzeptpapier 20261018, 5 Seiten. Übungen und Fallvignetten sind didaktische Ausarbeitungen.</a:t>
            </a:r>
          </a:p>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Eine angepasste Erscheinung ist kein Beweis für Autismus oder Masking. Eingewöhnung, Schlaf, Unsicherheit, Gruppendynamik und Entwicklungsbesonderheiten gehören zu den möglichen Einflüssen. Die Gruppe plant weitere konkrete Beobachtungen und ein Elterngespräch. Auch gelingende Situationen gehören in die Darstellung. Unterstützung kann beginnen, ohne dass eine endgültige diagnostische Erklärung vorliegt.</a:t>
            </a:r>
          </a:p>
          <a:p/>
          <a:p>
            <a:r>
              <a:t>Grundlage: Hochgeladenes Konzeptpapier 20261018, 5 Seiten. Übungen und Fallvignetten sind didaktische Ausarbeitungen.</a:t>
            </a:r>
          </a:p>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ist ein ausgearbeitetes Beispiel und keine therapeutische Empfehlung für ein reales Kind. Ein Foto ist nur passend, wenn Mila seine Bedeutung versteht. Nicht allein weniger Weinen als Erfolg definieren. Auch darauf achten, ob sie Hilfe annehmen, einen Pausenwunsch zeigen oder den Übergang besser überblicken kann. Bleibt Belastung bestehen, die Hypothese und die Maßnahme anpassen. Mögliche Nebenwirkungen mitbeobachten.</a:t>
            </a:r>
          </a:p>
          <a:p/>
          <a:p>
            <a:r>
              <a:t>Grundlage: Hochgeladenes Konzeptpapier 20261018, 5 Seiten. Übungen und Fallvignetten sind didaktische Ausarbeitungen.</a:t>
            </a:r>
          </a:p>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Bei bis zu sechs Gruppen je drei Minuten Vorstellung, danach zwölf Minuten Diskussion. Bei mehr Gruppen zunächst zwölf Minuten Tandemaustausch, zwölf Minuten für zentrale Erkenntnisse und sechs Minuten offene Fragen. Die Zeitstruktur an die tatsächliche Gruppenzahl anpassen, den 30-minütigen Rahmen erhalten. Keine identifizierenden Details im Plenum nennen. Anforderungen an Ressourcen und Fachberatung offen benennen.</a:t>
            </a:r>
          </a:p>
          <a:p/>
          <a:p>
            <a:r>
              <a:t>Grundlage: Hochgeladenes Konzeptpapier 20261018, 5 Seiten. Übungen und Fallvignetten sind didaktische Ausarbeitungen.</a:t>
            </a:r>
          </a:p>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zehn Minuten sind der erste Teil des 25-minütigen Transferblocks. Fünf Minuten einzeln schreiben und fünf Minuten mit einer anderen Person konkretisieren. Ein eigener Schritt kann auch ein Teamgespräch sein, wenn die Person Veränderungen nicht allein entscheiden darf. Kleine realistische Vereinbarungen fördern die Umsetzbarkeit. Freiwillige weitere Absprachen treffen die Teilnehmenden selbst.</a:t>
            </a:r>
          </a:p>
          <a:p/>
          <a:p>
            <a:r>
              <a:t>Grundlage: Hochgeladenes Konzeptpapier 20261018, 5 Seiten. Übungen und Fallvignetten sind didaktische Ausarbeitungen.</a:t>
            </a:r>
          </a:p>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Zehn Minuten für offene Fragen und fünf Minuten für einen kurzen Abschluss. Die Karten vom Einstieg wieder aufgreifen. Grenzen des eigenen Wissens klar benennen und passende Quellen oder Fachstellen nennen. Niemand muss eine persönliche Erfahrung vor der Gruppe teilen. Ein Satz, eine Karte oder stilles schriftliches Feedback sind möglich. Den vereinbarten Zeitrahmen einhalten.</a:t>
            </a:r>
          </a:p>
          <a:p/>
          <a:p>
            <a:r>
              <a:t>Grundlage: Hochgeladenes Konzeptpapier 20261018, 5 Seiten. Übungen und Fallvignetten sind didaktische Ausarbeitungen.</a:t>
            </a:r>
          </a:p>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Zehn Minuten für offene Fragen und fünf Minuten für einen kurzen Abschluss. Die Karten vom Einstieg wieder aufgreifen. Grenzen des eigenen Wissens klar benennen und passende Quellen oder Fachstellen nennen. Niemand muss eine persönliche Erfahrung vor der Gruppe teilen. Ein Satz, eine Karte oder stilles schriftliches Feedback sind möglich. Den vereinbarten Zeitrahmen einhalten.</a:t>
            </a:r>
          </a:p>
          <a:p/>
          <a:p>
            <a:r>
              <a:t>Grundlage: Hochgeladenes Konzeptpapier 20261018, 5 Seiten. Übungen und Fallvignetten sind didaktische Ausarbeitungen.</a:t>
            </a:r>
          </a:p>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Zehn Minuten für offene Fragen und fünf Minuten für einen kurzen Abschluss. Die Karten vom Einstieg wieder aufgreifen. Grenzen des eigenen Wissens klar benennen und passende Quellen oder Fachstellen nennen. Niemand muss eine persönliche Erfahrung vor der Gruppe teilen. Ein Satz, eine Karte oder stilles schriftliches Feedback sind möglich. Den vereinbarten Zeitrahmen einhalten.</a:t>
            </a:r>
          </a:p>
          <a:p/>
          <a:p>
            <a:r>
              <a:t>Grundlage: Hochgeladenes Konzeptpapier 20261018, 5 Seiten. Übungen und Fallvignetten sind didaktische Ausarbeitungen.</a:t>
            </a:r>
          </a:p>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Zehn Minuten für offene Fragen und fünf Minuten für einen kurzen Abschluss. Die Karten vom Einstieg wieder aufgreifen. Grenzen des eigenen Wissens klar benennen und passende Quellen oder Fachstellen nennen. Niemand muss eine persönliche Erfahrung vor der Gruppe teilen. Ein Satz, eine Karte oder stilles schriftliches Feedback sind möglich. Den vereinbarten Zeitrahmen einhalten.</a:t>
            </a:r>
          </a:p>
          <a:p/>
          <a:p>
            <a:r>
              <a:t>Grundlage: Hochgeladenes Konzeptpapier 20261018, 5 Seiten. Übungen und Fallvignetten sind didaktische Ausarbeitungen.</a:t>
            </a:r>
          </a:p>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Quellen sind frei zugänglich und deutschsprachig. Die BIÖG-Broschüre umfasst 60 PDF-Seiten und nennt als inhaltlichen Stand August 2021. Die Bereitstellung durch das BIÖG macht daraus keine Leitlinienaktualisierung. Links geprüft am 18.10.2026. Das separate Quellenblatt aus der bisherigen Vorbereitung kann zusätzlich ausgegeben werden.</a:t>
            </a:r>
          </a:p>
          <a:p/>
          <a:p>
            <a:r>
              <a:t>Grundlage: Hochgeladenes Konzeptpapier 20261018, 5 Seiten. Übungen und Fallvignetten sind didaktische Ausarbeitungen.</a:t>
            </a:r>
          </a:p>
          <a:p>
            <a:r>
              <a:t>IQWiG. Aufmerksamkeitsdefizit- und Hyperaktivitätsstörung (ADHS). https://www.gesundheitsinformation.de/aufmerksamkeitsdefizit-und-hyperaktivitaetsstoerung-adhs.html</a:t>
            </a:r>
          </a:p>
          <a:p>
            <a:r>
              <a:t>Zentrales adhs-netz, Universitätsklinikum Köln. ADHS im Vorschulalter. https://www.zentrales-adhs-netz.de/fuer-paedagogen/adhs-im-vorschulalter/</a:t>
            </a:r>
          </a:p>
          <a:p>
            <a:r>
              <a:t>Bundesinstitut für Öffentliche Gesundheit. ADHS – Symptome, Diagnose, Behandlung. https://shop.bioeg.de/pdf/11090100.pdf</a:t>
            </a:r>
          </a:p>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Informationen von autismus Deutschland sind Verbandsinformationen. Kita-Vorschläge individuell prüfen. Aus der Beschreibung offener oder fester Konzepte keine für jedes Kind geltende Regel ableiten. Der UK-Flyer ist auf der Materialseite als Neufassung 2026 gekennzeichnet und umfasst zwei PDF-Seiten. Links geprüft am 18.10.2026.</a:t>
            </a:r>
          </a:p>
          <a:p/>
          <a:p>
            <a:r>
              <a:t>Grundlage: Hochgeladenes Konzeptpapier 20261018, 5 Seiten. Übungen und Fallvignetten sind didaktische Ausarbeitungen.</a:t>
            </a:r>
          </a:p>
          <a:p>
            <a:r>
              <a:t>IQWiG. Autismus. https://www.gesundheitsinformation.de/autismus.html</a:t>
            </a:r>
          </a:p>
          <a:p>
            <a:r>
              <a:t>autismus Deutschland e. V.. KiTa. https://www.autismus.de/index.php?L=1&amp;id=158</a:t>
            </a:r>
          </a:p>
          <a:p>
            <a:r>
              <a:t>autismus Deutschland e. V. (2026). Unterstützte Kommunikation bei Menschen mit Autismus. https://www.autismus.de/fileadmin/SERVICE_UND_MATERIALIEN/Flyer/Folder_UK_2026_Screenfassung.pdf</a:t>
            </a:r>
          </a:p>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Vortrag aus Hamburg und die ISB-Materialien haben einen Schwerpunkt im Schulbereich. Die Übertragung auf Kinder im Elementarbereich muss alters- und bedarfsgerecht erfolgen. Schulrechtliche Vorgaben gelten nicht automatisch für Kitas. Die Fälle, Übungen und Beispielpläne in dieser Präsentation sind eigene didaktische Ausarbeitungen auf Grundlage des hochgeladenen Konzepts. Links geprüft am 18.10.2026.</a:t>
            </a:r>
          </a:p>
          <a:p/>
          <a:p>
            <a:r>
              <a:t>Grundlage: Hochgeladenes Konzeptpapier 20261018, 5 Seiten. Übungen und Fallvignetten sind didaktische Ausarbeitungen.</a:t>
            </a:r>
          </a:p>
          <a:p>
            <a:r>
              <a:t>Universität Hamburg (2025). Neurodiversität – anders, aber völlig richtig im Kopf. https://www.uni-hamburg.de/wissen-fuer-alle/vorlesung-fuer-alle/videos/andre-zimpel.html</a:t>
            </a:r>
          </a:p>
          <a:p>
            <a:r>
              <a:t>Universität Jena. Autismus – Gut zu wissen!. https://www.fsv.uni-jena.de/43571/ueber-autismus</a:t>
            </a:r>
          </a:p>
          <a:p>
            <a:r>
              <a:t>ISB Bayern (2023). A4 Individuelle Unterstützungsmöglichkeiten für die pädagogische Praxis. https://www.isb.bayern.de/schularten/foerderschulen/autismus/infobriefe-autismus/</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2300">
                <a:solidFill>
                  <a:schemeClr val="tx1">
                    <a:tint val="75000"/>
                  </a:schemeClr>
                </a:solidFill>
                <a:latin typeface="Inter"/>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2300">
                <a:solidFill>
                  <a:schemeClr val="tx1">
                    <a:tint val="75000"/>
                  </a:schemeClr>
                </a:solidFill>
                <a:latin typeface="Inter"/>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2300">
                <a:solidFill>
                  <a:schemeClr val="tx1">
                    <a:tint val="75000"/>
                  </a:schemeClr>
                </a:solidFill>
                <a:latin typeface="Inter"/>
              </a:defRPr>
            </a:lvl1pPr>
          </a:lstStyle>
          <a:p>
            <a:fld id="{C1FF6DA9-008F-8B48-92A6-B652298478BF}" type="slidenum">
              <a:rPr lang="en-US" smtClean="0"/>
              <a:t>‹#›</a:t>
            </a:fld>
            <a:endParaRPr lang="en-US"/>
          </a:p>
        </p:txBody>
      </p:sp>
      <p:cxnSp>
        <p:nvCxnSpPr>
          <p:cNvPr id="105" name="Connector 1"/>
          <p:cNvCxnSpPr/>
          <p:nvPr/>
        </p:nvCxnSpPr>
        <p:spPr>
          <a:xfrm>
            <a:off x="594360" y="6400800"/>
            <a:ext cx="11000232" cy="0"/>
          </a:xfrm>
          <a:prstGeom prst="line">
            <a:avLst/>
          </a:prstGeom>
          <a:ln w="6985">
            <a:solidFill>
              <a:srgbClr val="D9DFD7"/>
            </a:solidFill>
          </a:ln>
        </p:spPr>
        <p:style>
          <a:lnRef idx="2">
            <a:schemeClr val="accent1"/>
          </a:lnRef>
          <a:fillRef idx="0">
            <a:schemeClr val="accent1"/>
          </a:fillRef>
          <a:effectRef idx="1">
            <a:schemeClr val="accent1"/>
          </a:effectRef>
          <a:fontRef idx="minor">
            <a:schemeClr val="tx1"/>
          </a:fontRef>
        </p:style>
      </p:cxnSp>
      <p:sp>
        <p:nvSpPr>
          <p:cNvPr id="106" name="Text 2"/>
          <p:cNvSpPr txBox="1"/>
          <p:nvPr/>
        </p:nvSpPr>
        <p:spPr>
          <a:xfrm>
            <a:off x="594360" y="6528816"/>
            <a:ext cx="9692640" cy="176974"/>
          </a:xfrm>
          <a:prstGeom prst="rect">
            <a:avLst/>
          </a:prstGeom>
          <a:noFill/>
        </p:spPr>
        <p:txBody>
          <a:bodyPr wrap="none" lIns="0" rIns="0" tIns="0" bIns="0" anchor="t">
            <a:spAutoFit/>
          </a:bodyPr>
          <a:lstStyle/>
          <a:p>
            <a:pPr>
              <a:lnSpc>
                <a:spcPts val="997"/>
              </a:lnSpc>
              <a:spcBef>
                <a:spcPts val="0"/>
              </a:spcBef>
              <a:spcAft>
                <a:spcPts val="0"/>
              </a:spcAft>
              <a:defRPr sz="950" b="0">
                <a:solidFill>
                  <a:srgbClr val="63736A"/>
                </a:solidFill>
                <a:latin typeface="Inter"/>
              </a:defRPr>
            </a:pPr>
            <a:r>
              <a:rPr lang="de-DE"/>
              <a:t>PRAXIS SCHNECKE / FORTBILDUNG · 02.11.2026</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2300" kern="1200">
          <a:solidFill>
            <a:schemeClr val="tx1"/>
          </a:solidFill>
          <a:latin typeface="Inter"/>
          <a:ea typeface="+mj-ea"/>
          <a:cs typeface="+mj-cs"/>
        </a:defRPr>
      </a:lvl1pPr>
    </p:titleStyle>
    <p:bodyStyle>
      <a:lvl1pPr marL="342900" indent="-342900" algn="l" defTabSz="457200" rtl="0" eaLnBrk="1" latinLnBrk="0" hangingPunct="1">
        <a:spcBef>
          <a:spcPct val="20000"/>
        </a:spcBef>
        <a:buFont typeface="Arial"/>
        <a:buChar char="•"/>
        <a:defRPr sz="2300" kern="1200">
          <a:solidFill>
            <a:schemeClr val="tx1"/>
          </a:solidFill>
          <a:latin typeface="Inter"/>
          <a:ea typeface="+mn-ea"/>
          <a:cs typeface="+mn-cs"/>
        </a:defRPr>
      </a:lvl1pPr>
      <a:lvl2pPr marL="742950" indent="-285750" algn="l" defTabSz="457200" rtl="0" eaLnBrk="1" latinLnBrk="0" hangingPunct="1">
        <a:spcBef>
          <a:spcPct val="20000"/>
        </a:spcBef>
        <a:buFont typeface="Arial"/>
        <a:buChar char="–"/>
        <a:defRPr sz="2300" kern="1200">
          <a:solidFill>
            <a:schemeClr val="tx1"/>
          </a:solidFill>
          <a:latin typeface="Inter"/>
          <a:ea typeface="+mn-ea"/>
          <a:cs typeface="+mn-cs"/>
        </a:defRPr>
      </a:lvl2pPr>
      <a:lvl3pPr marL="1143000" indent="-228600" algn="l" defTabSz="457200" rtl="0" eaLnBrk="1" latinLnBrk="0" hangingPunct="1">
        <a:spcBef>
          <a:spcPct val="20000"/>
        </a:spcBef>
        <a:buFont typeface="Arial"/>
        <a:buChar char="•"/>
        <a:defRPr sz="2300" kern="1200">
          <a:solidFill>
            <a:schemeClr val="tx1"/>
          </a:solidFill>
          <a:latin typeface="Inter"/>
          <a:ea typeface="+mn-ea"/>
          <a:cs typeface="+mn-cs"/>
        </a:defRPr>
      </a:lvl3pPr>
      <a:lvl4pPr marL="1600200" indent="-228600" algn="l" defTabSz="457200" rtl="0" eaLnBrk="1" latinLnBrk="0" hangingPunct="1">
        <a:spcBef>
          <a:spcPct val="20000"/>
        </a:spcBef>
        <a:buFont typeface="Arial"/>
        <a:buChar char="–"/>
        <a:defRPr sz="2300" kern="1200">
          <a:solidFill>
            <a:schemeClr val="tx1"/>
          </a:solidFill>
          <a:latin typeface="Inter"/>
          <a:ea typeface="+mn-ea"/>
          <a:cs typeface="+mn-cs"/>
        </a:defRPr>
      </a:lvl4pPr>
      <a:lvl5pPr marL="2057400" indent="-228600" algn="l" defTabSz="457200" rtl="0" eaLnBrk="1" latinLnBrk="0" hangingPunct="1">
        <a:spcBef>
          <a:spcPct val="20000"/>
        </a:spcBef>
        <a:buFont typeface="Arial"/>
        <a:buChar char="»"/>
        <a:defRPr sz="2300" kern="1200">
          <a:solidFill>
            <a:schemeClr val="tx1"/>
          </a:solidFill>
          <a:latin typeface="Inter"/>
          <a:ea typeface="+mn-ea"/>
          <a:cs typeface="+mn-cs"/>
        </a:defRPr>
      </a:lvl5pPr>
      <a:lvl6pPr marL="2514600" indent="-228600" algn="l" defTabSz="457200" rtl="0" eaLnBrk="1" latinLnBrk="0" hangingPunct="1">
        <a:spcBef>
          <a:spcPct val="20000"/>
        </a:spcBef>
        <a:buFont typeface="Arial"/>
        <a:buChar char="•"/>
        <a:defRPr sz="2300" kern="1200">
          <a:solidFill>
            <a:schemeClr val="tx1"/>
          </a:solidFill>
          <a:latin typeface="Inter"/>
          <a:ea typeface="+mn-ea"/>
          <a:cs typeface="+mn-cs"/>
        </a:defRPr>
      </a:lvl6pPr>
      <a:lvl7pPr marL="2971800" indent="-228600" algn="l" defTabSz="457200" rtl="0" eaLnBrk="1" latinLnBrk="0" hangingPunct="1">
        <a:spcBef>
          <a:spcPct val="20000"/>
        </a:spcBef>
        <a:buFont typeface="Arial"/>
        <a:buChar char="•"/>
        <a:defRPr sz="2300" kern="1200">
          <a:solidFill>
            <a:schemeClr val="tx1"/>
          </a:solidFill>
          <a:latin typeface="Inter"/>
          <a:ea typeface="+mn-ea"/>
          <a:cs typeface="+mn-cs"/>
        </a:defRPr>
      </a:lvl7pPr>
      <a:lvl8pPr marL="3429000" indent="-228600" algn="l" defTabSz="457200" rtl="0" eaLnBrk="1" latinLnBrk="0" hangingPunct="1">
        <a:spcBef>
          <a:spcPct val="20000"/>
        </a:spcBef>
        <a:buFont typeface="Arial"/>
        <a:buChar char="•"/>
        <a:defRPr sz="2300" kern="1200">
          <a:solidFill>
            <a:schemeClr val="tx1"/>
          </a:solidFill>
          <a:latin typeface="Inter"/>
          <a:ea typeface="+mn-ea"/>
          <a:cs typeface="+mn-cs"/>
        </a:defRPr>
      </a:lvl8pPr>
      <a:lvl9pPr marL="3886200" indent="-228600" algn="l" defTabSz="457200" rtl="0" eaLnBrk="1" latinLnBrk="0" hangingPunct="1">
        <a:spcBef>
          <a:spcPct val="20000"/>
        </a:spcBef>
        <a:buFont typeface="Arial"/>
        <a:buChar char="•"/>
        <a:defRPr sz="2300" kern="1200">
          <a:solidFill>
            <a:schemeClr val="tx1"/>
          </a:solidFill>
          <a:latin typeface="Inter"/>
          <a:ea typeface="+mn-ea"/>
          <a:cs typeface="+mn-cs"/>
        </a:defRPr>
      </a:lvl9pPr>
    </p:bodyStyle>
    <p:otherStyle>
      <a:defPPr>
        <a:defRPr lang="en-US" sz="2300">
          <a:latin typeface="Inter"/>
        </a:defRPr>
      </a:defPPr>
      <a:lvl1pPr marL="0" algn="l" defTabSz="457200" rtl="0" eaLnBrk="1" latinLnBrk="0" hangingPunct="1">
        <a:defRPr sz="2300" kern="1200">
          <a:solidFill>
            <a:schemeClr val="tx1"/>
          </a:solidFill>
          <a:latin typeface="Inter"/>
          <a:ea typeface="+mn-ea"/>
          <a:cs typeface="+mn-cs"/>
        </a:defRPr>
      </a:lvl1pPr>
      <a:lvl2pPr marL="457200" algn="l" defTabSz="457200" rtl="0" eaLnBrk="1" latinLnBrk="0" hangingPunct="1">
        <a:defRPr sz="2300" kern="1200">
          <a:solidFill>
            <a:schemeClr val="tx1"/>
          </a:solidFill>
          <a:latin typeface="Inter"/>
          <a:ea typeface="+mn-ea"/>
          <a:cs typeface="+mn-cs"/>
        </a:defRPr>
      </a:lvl2pPr>
      <a:lvl3pPr marL="914400" algn="l" defTabSz="457200" rtl="0" eaLnBrk="1" latinLnBrk="0" hangingPunct="1">
        <a:defRPr sz="2300" kern="1200">
          <a:solidFill>
            <a:schemeClr val="tx1"/>
          </a:solidFill>
          <a:latin typeface="Inter"/>
          <a:ea typeface="+mn-ea"/>
          <a:cs typeface="+mn-cs"/>
        </a:defRPr>
      </a:lvl3pPr>
      <a:lvl4pPr marL="1371600" algn="l" defTabSz="457200" rtl="0" eaLnBrk="1" latinLnBrk="0" hangingPunct="1">
        <a:defRPr sz="2300" kern="1200">
          <a:solidFill>
            <a:schemeClr val="tx1"/>
          </a:solidFill>
          <a:latin typeface="Inter"/>
          <a:ea typeface="+mn-ea"/>
          <a:cs typeface="+mn-cs"/>
        </a:defRPr>
      </a:lvl4pPr>
      <a:lvl5pPr marL="1828800" algn="l" defTabSz="457200" rtl="0" eaLnBrk="1" latinLnBrk="0" hangingPunct="1">
        <a:defRPr sz="2300" kern="1200">
          <a:solidFill>
            <a:schemeClr val="tx1"/>
          </a:solidFill>
          <a:latin typeface="Inter"/>
          <a:ea typeface="+mn-ea"/>
          <a:cs typeface="+mn-cs"/>
        </a:defRPr>
      </a:lvl5pPr>
      <a:lvl6pPr marL="2286000" algn="l" defTabSz="457200" rtl="0" eaLnBrk="1" latinLnBrk="0" hangingPunct="1">
        <a:defRPr sz="2300" kern="1200">
          <a:solidFill>
            <a:schemeClr val="tx1"/>
          </a:solidFill>
          <a:latin typeface="Inter"/>
          <a:ea typeface="+mn-ea"/>
          <a:cs typeface="+mn-cs"/>
        </a:defRPr>
      </a:lvl6pPr>
      <a:lvl7pPr marL="2743200" algn="l" defTabSz="457200" rtl="0" eaLnBrk="1" latinLnBrk="0" hangingPunct="1">
        <a:defRPr sz="2300" kern="1200">
          <a:solidFill>
            <a:schemeClr val="tx1"/>
          </a:solidFill>
          <a:latin typeface="Inter"/>
          <a:ea typeface="+mn-ea"/>
          <a:cs typeface="+mn-cs"/>
        </a:defRPr>
      </a:lvl7pPr>
      <a:lvl8pPr marL="3200400" algn="l" defTabSz="457200" rtl="0" eaLnBrk="1" latinLnBrk="0" hangingPunct="1">
        <a:defRPr sz="2300" kern="1200">
          <a:solidFill>
            <a:schemeClr val="tx1"/>
          </a:solidFill>
          <a:latin typeface="Inter"/>
          <a:ea typeface="+mn-ea"/>
          <a:cs typeface="+mn-cs"/>
        </a:defRPr>
      </a:lvl8pPr>
      <a:lvl9pPr marL="3657600" algn="l" defTabSz="457200" rtl="0" eaLnBrk="1" latinLnBrk="0" hangingPunct="1">
        <a:defRPr sz="2300" kern="1200">
          <a:solidFill>
            <a:schemeClr val="tx1"/>
          </a:solidFill>
          <a:latin typeface="Inter"/>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3.png"/><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6.png"/><Relationship Id="rId4" Type="http://schemas.openxmlformats.org/officeDocument/2006/relationships/image" Target="../media/image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image" Target="../media/image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 Id="rId3" Type="http://schemas.openxmlformats.org/officeDocument/2006/relationships/image" Target="../media/image7.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 Id="rId3" Type="http://schemas.openxmlformats.org/officeDocument/2006/relationships/image" Target="../media/image4.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 Id="rId3" Type="http://schemas.openxmlformats.org/officeDocument/2006/relationships/image" Target="../media/image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 Id="rId3" Type="http://schemas.openxmlformats.org/officeDocument/2006/relationships/image" Target="../media/image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 Id="rId3" Type="http://schemas.openxmlformats.org/officeDocument/2006/relationships/image" Target="../media/image5.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 Id="rId3" Type="http://schemas.openxmlformats.org/officeDocument/2006/relationships/image" Target="../media/image3.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 Id="rId3" Type="http://schemas.openxmlformats.org/officeDocument/2006/relationships/hyperlink" Target="https://www.gesundheitsinformation.de/aufmerksamkeitsdefizit-und-hyperaktivitaetsstoerung-adhs.html" TargetMode="External"/><Relationship Id="rId4" Type="http://schemas.openxmlformats.org/officeDocument/2006/relationships/hyperlink" Target="https://www.zentrales-adhs-netz.de/fuer-paedagogen/adhs-im-vorschulalter/" TargetMode="External"/><Relationship Id="rId5" Type="http://schemas.openxmlformats.org/officeDocument/2006/relationships/hyperlink" Target="https://shop.bioeg.de/pdf/11090100.pdf" TargetMode="Externa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 Id="rId3" Type="http://schemas.openxmlformats.org/officeDocument/2006/relationships/hyperlink" Target="https://www.gesundheitsinformation.de/autismus.html" TargetMode="External"/><Relationship Id="rId4" Type="http://schemas.openxmlformats.org/officeDocument/2006/relationships/hyperlink" Target="https://www.autismus.de/index.php?L=1&amp;id=158" TargetMode="External"/><Relationship Id="rId5" Type="http://schemas.openxmlformats.org/officeDocument/2006/relationships/hyperlink" Target="https://www.autismus.de/fileadmin/SERVICE_UND_MATERIALIEN/Flyer/Folder_UK_2026_Screenfassung.pdf" TargetMode="Externa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 Id="rId3" Type="http://schemas.openxmlformats.org/officeDocument/2006/relationships/hyperlink" Target="https://www.uni-hamburg.de/wissen-fuer-alle/vorlesung-fuer-alle/videos/andre-zimpel.html" TargetMode="External"/><Relationship Id="rId4" Type="http://schemas.openxmlformats.org/officeDocument/2006/relationships/hyperlink" Target="https://www.fsv.uni-jena.de/43571/ueber-autismus" TargetMode="External"/><Relationship Id="rId5" Type="http://schemas.openxmlformats.org/officeDocument/2006/relationships/hyperlink" Target="https://www.isb.bayern.de/schularten/foerderschulen/autismus/infobriefe-autismus/" TargetMode="External"/></Relationships>
</file>

<file path=ppt/slides/slide1.xml><?xml version="1.0" encoding="utf-8"?>
<p:sld xmlns:a="http://schemas.openxmlformats.org/drawingml/2006/main" xmlns:p="http://schemas.openxmlformats.org/presentationml/2006/main" xmlns:r="http://schemas.openxmlformats.org/officeDocument/2006/relationships" showMasterSp="1">
  <p:cSld>
    <p:bg>
      <p:bgPr>
        <a:solidFill>
          <a:srgbClr val="F7F5EF"/>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01</a:t>
            </a:r>
          </a:p>
        </p:txBody>
      </p:sp>
      <p:pic>
        <p:nvPicPr>
          <p:cNvPr id="3" name="Picture 2" descr="01_kita_cover.png"/>
          <p:cNvPicPr>
            <a:picLocks noChangeAspect="1"/>
          </p:cNvPicPr>
          <p:nvPr/>
        </p:nvPicPr>
        <p:blipFill>
          <a:blip r:embed="rId3"/>
          <a:srcRect l="24741" r="24741"/>
          <a:stretch>
            <a:fillRect/>
          </a:stretch>
        </p:blipFill>
        <p:spPr>
          <a:xfrm>
            <a:off x="6446520" y="0"/>
            <a:ext cx="5745479" cy="6400800"/>
          </a:xfrm>
          <a:prstGeom prst="rect">
            <a:avLst/>
          </a:prstGeom>
        </p:spPr>
      </p:pic>
      <p:sp>
        <p:nvSpPr>
          <p:cNvPr id="4" name="Text 3"/>
          <p:cNvSpPr txBox="1"/>
          <p:nvPr/>
        </p:nvSpPr>
        <p:spPr>
          <a:xfrm>
            <a:off x="594360" y="484632"/>
            <a:ext cx="5486400" cy="245110"/>
          </a:xfrm>
          <a:prstGeom prst="rect">
            <a:avLst/>
          </a:prstGeom>
          <a:noFill/>
        </p:spPr>
        <p:txBody>
          <a:bodyPr wrap="none" lIns="0" rIns="0" tIns="0" bIns="0" anchor="t">
            <a:spAutoFit/>
          </a:bodyPr>
          <a:lstStyle/>
          <a:p>
            <a:pPr>
              <a:lnSpc>
                <a:spcPts val="1534"/>
              </a:lnSpc>
              <a:spcBef>
                <a:spcPts val="0"/>
              </a:spcBef>
              <a:spcAft>
                <a:spcPts val="0"/>
              </a:spcAft>
              <a:defRPr sz="1300" b="1">
                <a:solidFill>
                  <a:srgbClr val="234B42"/>
                </a:solidFill>
                <a:latin typeface="Inter"/>
              </a:defRPr>
            </a:pPr>
            <a:r>
              <a:rPr lang="de-DE"/>
              <a:t>PRAXIS SCHNECKE</a:t>
            </a:r>
          </a:p>
        </p:txBody>
      </p:sp>
      <p:cxnSp>
        <p:nvCxnSpPr>
          <p:cNvPr id="5" name="Connector 4"/>
          <p:cNvCxnSpPr/>
          <p:nvPr/>
        </p:nvCxnSpPr>
        <p:spPr>
          <a:xfrm>
            <a:off x="594360" y="941832"/>
            <a:ext cx="713232" cy="0"/>
          </a:xfrm>
          <a:prstGeom prst="line">
            <a:avLst/>
          </a:prstGeom>
          <a:ln w="38100">
            <a:solidFill>
              <a:srgbClr val="D68B73"/>
            </a:solidFill>
          </a:ln>
        </p:spPr>
        <p:style>
          <a:lnRef idx="2">
            <a:schemeClr val="accent1"/>
          </a:lnRef>
          <a:fillRef idx="0">
            <a:schemeClr val="accent1"/>
          </a:fillRef>
          <a:effectRef idx="1">
            <a:schemeClr val="accent1"/>
          </a:effectRef>
          <a:fontRef idx="minor">
            <a:schemeClr val="tx1"/>
          </a:fontRef>
        </p:style>
      </p:cxnSp>
      <p:sp>
        <p:nvSpPr>
          <p:cNvPr id="6" name="Text 5"/>
          <p:cNvSpPr txBox="1"/>
          <p:nvPr/>
        </p:nvSpPr>
        <p:spPr>
          <a:xfrm>
            <a:off x="594360" y="1325880"/>
            <a:ext cx="5577840" cy="2423160"/>
          </a:xfrm>
          <a:prstGeom prst="rect">
            <a:avLst/>
          </a:prstGeom>
          <a:noFill/>
        </p:spPr>
        <p:txBody>
          <a:bodyPr wrap="none" lIns="0" rIns="0" tIns="0" bIns="0" anchor="t">
            <a:spAutoFit/>
          </a:bodyPr>
          <a:lstStyle/>
          <a:p>
            <a:pPr>
              <a:lnSpc>
                <a:spcPts val="5368"/>
              </a:lnSpc>
              <a:spcBef>
                <a:spcPts val="0"/>
              </a:spcBef>
              <a:spcAft>
                <a:spcPts val="0"/>
              </a:spcAft>
              <a:defRPr sz="4400" b="1">
                <a:solidFill>
                  <a:srgbClr val="234B42"/>
                </a:solidFill>
                <a:latin typeface="Manrope"/>
              </a:defRPr>
            </a:pPr>
            <a:r>
              <a:rPr lang="de-DE"/>
              <a:t>Neurodiversität</a:t>
            </a:r>
          </a:p>
          <a:p>
            <a:pPr>
              <a:lnSpc>
                <a:spcPts val="5368"/>
              </a:lnSpc>
              <a:spcBef>
                <a:spcPts val="0"/>
              </a:spcBef>
              <a:spcAft>
                <a:spcPts val="0"/>
              </a:spcAft>
              <a:defRPr sz="4400" b="1">
                <a:solidFill>
                  <a:srgbClr val="234B42"/>
                </a:solidFill>
                <a:latin typeface="Manrope"/>
              </a:defRPr>
            </a:pPr>
            <a:r>
              <a:rPr lang="de-DE"/>
              <a:t>ADHS</a:t>
            </a:r>
          </a:p>
          <a:p>
            <a:pPr>
              <a:lnSpc>
                <a:spcPts val="5368"/>
              </a:lnSpc>
              <a:spcBef>
                <a:spcPts val="0"/>
              </a:spcBef>
              <a:spcAft>
                <a:spcPts val="0"/>
              </a:spcAft>
              <a:defRPr sz="4400" b="1">
                <a:solidFill>
                  <a:srgbClr val="234B42"/>
                </a:solidFill>
                <a:latin typeface="Manrope"/>
              </a:defRPr>
            </a:pPr>
            <a:r>
              <a:rPr lang="de-DE"/>
              <a:t>Autismus-Spektrum</a:t>
            </a:r>
          </a:p>
        </p:txBody>
      </p:sp>
      <p:sp>
        <p:nvSpPr>
          <p:cNvPr id="7" name="Text 6"/>
          <p:cNvSpPr txBox="1"/>
          <p:nvPr/>
        </p:nvSpPr>
        <p:spPr>
          <a:xfrm>
            <a:off x="594360" y="4069080"/>
            <a:ext cx="5394960" cy="780542"/>
          </a:xfrm>
          <a:prstGeom prst="rect">
            <a:avLst/>
          </a:prstGeom>
          <a:noFill/>
        </p:spPr>
        <p:txBody>
          <a:bodyPr wrap="none" lIns="0" rIns="0" tIns="0" bIns="0" anchor="t">
            <a:spAutoFit/>
          </a:bodyPr>
          <a:lstStyle/>
          <a:p>
            <a:pPr>
              <a:lnSpc>
                <a:spcPts val="2875"/>
              </a:lnSpc>
              <a:spcBef>
                <a:spcPts val="0"/>
              </a:spcBef>
              <a:spcAft>
                <a:spcPts val="0"/>
              </a:spcAft>
              <a:defRPr sz="2300" b="0">
                <a:solidFill>
                  <a:srgbClr val="26332F"/>
                </a:solidFill>
                <a:latin typeface="Inter"/>
              </a:defRPr>
            </a:pPr>
            <a:r>
              <a:rPr lang="de-DE"/>
              <a:t>Fortbildung für Mitarbeitende</a:t>
            </a:r>
          </a:p>
          <a:p>
            <a:pPr>
              <a:lnSpc>
                <a:spcPts val="2875"/>
              </a:lnSpc>
              <a:spcBef>
                <a:spcPts val="0"/>
              </a:spcBef>
              <a:spcAft>
                <a:spcPts val="0"/>
              </a:spcAft>
              <a:defRPr sz="2300" b="0">
                <a:solidFill>
                  <a:srgbClr val="26332F"/>
                </a:solidFill>
                <a:latin typeface="Inter"/>
              </a:defRPr>
            </a:pPr>
            <a:r>
              <a:rPr lang="de-DE"/>
              <a:t>der DRK-Kitas</a:t>
            </a:r>
          </a:p>
        </p:txBody>
      </p:sp>
      <p:sp>
        <p:nvSpPr>
          <p:cNvPr id="8" name="Text 7"/>
          <p:cNvSpPr txBox="1"/>
          <p:nvPr/>
        </p:nvSpPr>
        <p:spPr>
          <a:xfrm>
            <a:off x="594360" y="5330952"/>
            <a:ext cx="5303520" cy="335026"/>
          </a:xfrm>
          <a:prstGeom prst="rect">
            <a:avLst/>
          </a:prstGeom>
          <a:noFill/>
        </p:spPr>
        <p:txBody>
          <a:bodyPr wrap="none" lIns="0" rIns="0" tIns="0" bIns="0" anchor="t">
            <a:spAutoFit/>
          </a:bodyPr>
          <a:lstStyle/>
          <a:p>
            <a:pPr>
              <a:lnSpc>
                <a:spcPts val="2242"/>
              </a:lnSpc>
              <a:spcBef>
                <a:spcPts val="0"/>
              </a:spcBef>
              <a:spcAft>
                <a:spcPts val="0"/>
              </a:spcAft>
              <a:defRPr sz="1900" b="1">
                <a:solidFill>
                  <a:srgbClr val="234B42"/>
                </a:solidFill>
                <a:latin typeface="Inter"/>
              </a:defRPr>
            </a:pPr>
            <a:r>
              <a:rPr lang="de-DE"/>
              <a:t>02.11.2026</a:t>
            </a:r>
          </a:p>
        </p:txBody>
      </p:sp>
      <p:sp>
        <p:nvSpPr>
          <p:cNvPr id="9" name="Text 8"/>
          <p:cNvSpPr txBox="1"/>
          <p:nvPr/>
        </p:nvSpPr>
        <p:spPr>
          <a:xfrm>
            <a:off x="594360" y="5742432"/>
            <a:ext cx="5394960" cy="267589"/>
          </a:xfrm>
          <a:prstGeom prst="rect">
            <a:avLst/>
          </a:prstGeom>
          <a:noFill/>
        </p:spPr>
        <p:txBody>
          <a:bodyPr wrap="none" lIns="0" rIns="0" tIns="0" bIns="0" anchor="t">
            <a:spAutoFit/>
          </a:bodyPr>
          <a:lstStyle/>
          <a:p>
            <a:pPr>
              <a:lnSpc>
                <a:spcPts val="1711"/>
              </a:lnSpc>
              <a:spcBef>
                <a:spcPts val="0"/>
              </a:spcBef>
              <a:spcAft>
                <a:spcPts val="0"/>
              </a:spcAft>
              <a:defRPr sz="1450" b="0">
                <a:solidFill>
                  <a:srgbClr val="63736A"/>
                </a:solidFill>
                <a:latin typeface="Inter"/>
              </a:defRPr>
            </a:pPr>
            <a:r>
              <a:rPr lang="de-DE"/>
              <a:t>5,5 Stunden inklusive 30 Minuten Pause</a:t>
            </a:r>
          </a:p>
        </p:txBody>
      </p:sp>
    </p:spTree>
  </p:cSld>
  <p:clrMapOvr>
    <a:masterClrMapping/>
  </p:clrMapOvr>
  <p:transition spd="fast" advClick="1">
    <p:fade/>
  </p:transition>
</p:sld>
</file>

<file path=ppt/slides/slide2.xml><?xml version="1.0" encoding="utf-8"?>
<p:sld xmlns:a="http://schemas.openxmlformats.org/drawingml/2006/main" xmlns:p="http://schemas.openxmlformats.org/presentationml/2006/main" xmlns:r="http://schemas.openxmlformats.org/officeDocument/2006/relationships" showMasterSp="1">
  <p:cSld>
    <p:bg>
      <p:bgPr>
        <a:solidFill>
          <a:srgbClr val="F7F5EF"/>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02</a:t>
            </a:r>
          </a:p>
        </p:txBody>
      </p:sp>
      <p:sp>
        <p:nvSpPr>
          <p:cNvPr id="3" name="Text 2"/>
          <p:cNvSpPr txBox="1"/>
          <p:nvPr/>
        </p:nvSpPr>
        <p:spPr>
          <a:xfrm>
            <a:off x="594360" y="393192"/>
            <a:ext cx="10881360" cy="203644"/>
          </a:xfrm>
          <a:prstGeom prst="rect">
            <a:avLst/>
          </a:prstGeom>
          <a:noFill/>
        </p:spPr>
        <p:txBody>
          <a:bodyPr wrap="none" lIns="0" rIns="0" tIns="0" bIns="0" anchor="t">
            <a:spAutoFit/>
          </a:bodyPr>
          <a:lstStyle/>
          <a:p>
            <a:pPr>
              <a:lnSpc>
                <a:spcPts val="1207"/>
              </a:lnSpc>
              <a:spcBef>
                <a:spcPts val="0"/>
              </a:spcBef>
              <a:spcAft>
                <a:spcPts val="0"/>
              </a:spcAft>
              <a:defRPr sz="1150" b="1">
                <a:solidFill>
                  <a:srgbClr val="234B42"/>
                </a:solidFill>
                <a:latin typeface="Inter"/>
              </a:defRPr>
            </a:pPr>
            <a:r>
              <a:rPr lang="de-DE"/>
              <a:t>PERSPEKTIVWECHSEL</a:t>
            </a:r>
          </a:p>
        </p:txBody>
      </p:sp>
      <p:sp>
        <p:nvSpPr>
          <p:cNvPr id="4" name="Text 3"/>
          <p:cNvSpPr txBox="1"/>
          <p:nvPr/>
        </p:nvSpPr>
        <p:spPr>
          <a:xfrm>
            <a:off x="594360" y="804672"/>
            <a:ext cx="10991088"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Eine andere Wahrnehmung der Welt</a:t>
            </a:r>
          </a:p>
        </p:txBody>
      </p:sp>
      <p:pic>
        <p:nvPicPr>
          <p:cNvPr id="5" name="Picture 4" descr="100000000000028F000003E8E66617BD.jpg"/>
          <p:cNvPicPr>
            <a:picLocks noChangeAspect="1"/>
          </p:cNvPicPr>
          <p:nvPr/>
        </p:nvPicPr>
        <p:blipFill>
          <a:blip r:embed="rId3"/>
          <a:stretch>
            <a:fillRect/>
          </a:stretch>
        </p:blipFill>
        <p:spPr>
          <a:xfrm>
            <a:off x="868680" y="1627632"/>
            <a:ext cx="2874874" cy="4389120"/>
          </a:xfrm>
          <a:prstGeom prst="rect">
            <a:avLst/>
          </a:prstGeom>
        </p:spPr>
      </p:pic>
      <p:sp>
        <p:nvSpPr>
          <p:cNvPr id="6" name="Text 5"/>
          <p:cNvSpPr txBox="1"/>
          <p:nvPr/>
        </p:nvSpPr>
        <p:spPr>
          <a:xfrm>
            <a:off x="4663440" y="1892807"/>
            <a:ext cx="6675120" cy="979423"/>
          </a:xfrm>
          <a:prstGeom prst="rect">
            <a:avLst/>
          </a:prstGeom>
          <a:noFill/>
        </p:spPr>
        <p:txBody>
          <a:bodyPr wrap="none" lIns="0" rIns="0" tIns="0" bIns="0" anchor="t">
            <a:spAutoFit/>
          </a:bodyPr>
          <a:lstStyle/>
          <a:p>
            <a:pPr>
              <a:lnSpc>
                <a:spcPts val="3658"/>
              </a:lnSpc>
              <a:spcBef>
                <a:spcPts val="0"/>
              </a:spcBef>
              <a:spcAft>
                <a:spcPts val="0"/>
              </a:spcAft>
              <a:defRPr sz="3100" b="1">
                <a:solidFill>
                  <a:srgbClr val="234B42"/>
                </a:solidFill>
                <a:latin typeface="Manrope"/>
              </a:defRPr>
            </a:pPr>
            <a:r>
              <a:rPr lang="de-DE"/>
              <a:t>DER JUNGE, DER</a:t>
            </a:r>
          </a:p>
          <a:p>
            <a:pPr>
              <a:lnSpc>
                <a:spcPts val="3658"/>
              </a:lnSpc>
              <a:spcBef>
                <a:spcPts val="0"/>
              </a:spcBef>
              <a:spcAft>
                <a:spcPts val="0"/>
              </a:spcAft>
              <a:defRPr sz="3100" b="1">
                <a:solidFill>
                  <a:srgbClr val="234B42"/>
                </a:solidFill>
                <a:latin typeface="Manrope"/>
              </a:defRPr>
            </a:pPr>
            <a:r>
              <a:rPr lang="de-DE"/>
              <a:t>ZU VIEL FÜHLTE</a:t>
            </a:r>
          </a:p>
        </p:txBody>
      </p:sp>
      <p:sp>
        <p:nvSpPr>
          <p:cNvPr id="7" name="Text 6"/>
          <p:cNvSpPr txBox="1"/>
          <p:nvPr/>
        </p:nvSpPr>
        <p:spPr>
          <a:xfrm>
            <a:off x="4663440" y="3429000"/>
            <a:ext cx="6492240" cy="739648"/>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26332F"/>
                </a:solidFill>
                <a:latin typeface="Inter"/>
              </a:defRPr>
            </a:pPr>
            <a:r>
              <a:rPr lang="de-DE"/>
              <a:t>Auszug aus Wagner, Lorenz (2018).</a:t>
            </a:r>
          </a:p>
          <a:p>
            <a:pPr>
              <a:lnSpc>
                <a:spcPts val="2713"/>
              </a:lnSpc>
              <a:spcBef>
                <a:spcPts val="0"/>
              </a:spcBef>
              <a:spcAft>
                <a:spcPts val="0"/>
              </a:spcAft>
              <a:defRPr sz="2300" b="0">
                <a:solidFill>
                  <a:srgbClr val="26332F"/>
                </a:solidFill>
                <a:latin typeface="Inter"/>
              </a:defRPr>
            </a:pPr>
            <a:r>
              <a:rPr lang="de-DE"/>
              <a:t>Der Junge, der zu viel fühlte.</a:t>
            </a:r>
          </a:p>
        </p:txBody>
      </p:sp>
      <p:sp>
        <p:nvSpPr>
          <p:cNvPr id="8" name="Text 7"/>
          <p:cNvSpPr txBox="1"/>
          <p:nvPr/>
        </p:nvSpPr>
        <p:spPr>
          <a:xfrm>
            <a:off x="4663440" y="4937760"/>
            <a:ext cx="6492240" cy="350011"/>
          </a:xfrm>
          <a:prstGeom prst="rect">
            <a:avLst/>
          </a:prstGeom>
          <a:noFill/>
        </p:spPr>
        <p:txBody>
          <a:bodyPr wrap="none" lIns="0" rIns="0" tIns="0" bIns="0" anchor="t">
            <a:spAutoFit/>
          </a:bodyPr>
          <a:lstStyle/>
          <a:p>
            <a:pPr>
              <a:lnSpc>
                <a:spcPts val="2360"/>
              </a:lnSpc>
              <a:spcBef>
                <a:spcPts val="0"/>
              </a:spcBef>
              <a:spcAft>
                <a:spcPts val="0"/>
              </a:spcAft>
              <a:defRPr sz="2000" b="0">
                <a:solidFill>
                  <a:srgbClr val="63736A"/>
                </a:solidFill>
                <a:latin typeface="Inter"/>
              </a:defRPr>
            </a:pPr>
            <a:r>
              <a:rPr lang="de-DE"/>
              <a:t>Europa Verlage. München, S. 133–134</a:t>
            </a:r>
          </a:p>
        </p:txBody>
      </p:sp>
    </p:spTree>
  </p:cSld>
  <p:clrMapOvr>
    <a:masterClrMapping/>
  </p:clrMapOvr>
  <p:transition spd="fast" advClick="1">
    <p:fade/>
  </p:transition>
</p:sld>
</file>

<file path=ppt/slides/slide3.xml><?xml version="1.0" encoding="utf-8"?>
<p:sld xmlns:a="http://schemas.openxmlformats.org/drawingml/2006/main" xmlns:p="http://schemas.openxmlformats.org/presentationml/2006/main" xmlns:r="http://schemas.openxmlformats.org/officeDocument/2006/relationships" showMasterSp="1">
  <p:cSld>
    <p:bg>
      <p:bgPr>
        <a:solidFill>
          <a:srgbClr val="F7F5EF"/>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03</a:t>
            </a:r>
          </a:p>
        </p:txBody>
      </p:sp>
      <p:sp>
        <p:nvSpPr>
          <p:cNvPr id="3" name="Text 2"/>
          <p:cNvSpPr txBox="1"/>
          <p:nvPr/>
        </p:nvSpPr>
        <p:spPr>
          <a:xfrm>
            <a:off x="594360" y="393192"/>
            <a:ext cx="10881360" cy="203644"/>
          </a:xfrm>
          <a:prstGeom prst="rect">
            <a:avLst/>
          </a:prstGeom>
          <a:noFill/>
        </p:spPr>
        <p:txBody>
          <a:bodyPr wrap="none" lIns="0" rIns="0" tIns="0" bIns="0" anchor="t">
            <a:spAutoFit/>
          </a:bodyPr>
          <a:lstStyle/>
          <a:p>
            <a:pPr>
              <a:lnSpc>
                <a:spcPts val="1207"/>
              </a:lnSpc>
              <a:spcBef>
                <a:spcPts val="0"/>
              </a:spcBef>
              <a:spcAft>
                <a:spcPts val="0"/>
              </a:spcAft>
              <a:defRPr sz="1150" b="1">
                <a:solidFill>
                  <a:srgbClr val="234B42"/>
                </a:solidFill>
                <a:latin typeface="Inter"/>
              </a:defRPr>
            </a:pPr>
            <a:r>
              <a:rPr lang="de-DE"/>
              <a:t>VORSTELLUNG · SEIT APRIL 2000</a:t>
            </a:r>
          </a:p>
        </p:txBody>
      </p:sp>
      <p:sp>
        <p:nvSpPr>
          <p:cNvPr id="4" name="Text 3"/>
          <p:cNvSpPr txBox="1"/>
          <p:nvPr/>
        </p:nvSpPr>
        <p:spPr>
          <a:xfrm>
            <a:off x="594360" y="804672"/>
            <a:ext cx="10991088"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Praxis Schnecke</a:t>
            </a:r>
          </a:p>
        </p:txBody>
      </p:sp>
      <p:sp>
        <p:nvSpPr>
          <p:cNvPr id="5" name="Rounded Rectangle 4"/>
          <p:cNvSpPr/>
          <p:nvPr/>
        </p:nvSpPr>
        <p:spPr>
          <a:xfrm>
            <a:off x="594360" y="1644396"/>
            <a:ext cx="5385816" cy="4390643"/>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644396"/>
            <a:ext cx="50292" cy="4390643"/>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6"/>
          <p:cNvSpPr txBox="1"/>
          <p:nvPr/>
        </p:nvSpPr>
        <p:spPr>
          <a:xfrm>
            <a:off x="850392" y="1909572"/>
            <a:ext cx="4873752" cy="373189"/>
          </a:xfrm>
          <a:prstGeom prst="rect">
            <a:avLst/>
          </a:prstGeom>
          <a:noFill/>
        </p:spPr>
        <p:txBody>
          <a:bodyPr wrap="none" lIns="0" rIns="0" tIns="0" bIns="0" anchor="t">
            <a:spAutoFit/>
          </a:bodyPr>
          <a:lstStyle/>
          <a:p>
            <a:pPr>
              <a:lnSpc>
                <a:spcPts val="2542"/>
              </a:lnSpc>
              <a:spcBef>
                <a:spcPts val="0"/>
              </a:spcBef>
              <a:spcAft>
                <a:spcPts val="0"/>
              </a:spcAft>
              <a:defRPr sz="2250" b="1">
                <a:solidFill>
                  <a:srgbClr val="234B42"/>
                </a:solidFill>
                <a:latin typeface="Manrope"/>
              </a:defRPr>
            </a:pPr>
            <a:r>
              <a:rPr lang="de-DE"/>
              <a:t>Einsatzort</a:t>
            </a:r>
          </a:p>
        </p:txBody>
      </p:sp>
      <p:sp>
        <p:nvSpPr>
          <p:cNvPr id="8" name="Text 7"/>
          <p:cNvSpPr txBox="1"/>
          <p:nvPr/>
        </p:nvSpPr>
        <p:spPr>
          <a:xfrm>
            <a:off x="850392" y="2483929"/>
            <a:ext cx="4873752" cy="3304222"/>
          </a:xfrm>
          <a:prstGeom prst="rect">
            <a:avLst/>
          </a:prstGeom>
          <a:noFill/>
        </p:spPr>
        <p:txBody>
          <a:bodyPr wrap="none" lIns="0" rIns="0" tIns="0" bIns="0" anchor="t">
            <a:spAutoFit/>
          </a:bodyPr>
          <a:lstStyle/>
          <a:p>
            <a:pPr>
              <a:lnSpc>
                <a:spcPts val="2595"/>
              </a:lnSpc>
              <a:spcBef>
                <a:spcPts val="0"/>
              </a:spcBef>
              <a:spcAft>
                <a:spcPts val="0"/>
              </a:spcAft>
              <a:defRPr sz="2200" b="0">
                <a:solidFill>
                  <a:srgbClr val="26332F"/>
                </a:solidFill>
                <a:latin typeface="Inter"/>
              </a:defRPr>
            </a:pPr>
            <a:r>
              <a:rPr lang="de-DE"/>
              <a:t>Kindertagesstätten, Schulen und</a:t>
            </a:r>
          </a:p>
          <a:p>
            <a:pPr>
              <a:lnSpc>
                <a:spcPts val="2595"/>
              </a:lnSpc>
              <a:spcBef>
                <a:spcPts val="0"/>
              </a:spcBef>
              <a:spcAft>
                <a:spcPts val="0"/>
              </a:spcAft>
              <a:defRPr sz="2200" b="0">
                <a:solidFill>
                  <a:srgbClr val="26332F"/>
                </a:solidFill>
                <a:latin typeface="Inter"/>
              </a:defRPr>
            </a:pPr>
            <a:r>
              <a:rPr lang="de-DE"/>
              <a:t>andere Institutionen, zu Hause</a:t>
            </a:r>
          </a:p>
          <a:p>
            <a:pPr>
              <a:lnSpc>
                <a:spcPts val="2595"/>
              </a:lnSpc>
              <a:spcBef>
                <a:spcPts val="0"/>
              </a:spcBef>
              <a:spcAft>
                <a:spcPts val="0"/>
              </a:spcAft>
              <a:defRPr sz="2200" b="0">
                <a:solidFill>
                  <a:srgbClr val="26332F"/>
                </a:solidFill>
                <a:latin typeface="Inter"/>
              </a:defRPr>
            </a:pPr>
            <a:r>
              <a:rPr lang="de-DE"/>
              <a:t>im Kreis Herzogtum Lauenburg und im</a:t>
            </a:r>
          </a:p>
          <a:p>
            <a:pPr>
              <a:lnSpc>
                <a:spcPts val="2595"/>
              </a:lnSpc>
              <a:spcBef>
                <a:spcPts val="0"/>
              </a:spcBef>
              <a:spcAft>
                <a:spcPts val="0"/>
              </a:spcAft>
              <a:defRPr sz="2200" b="0">
                <a:solidFill>
                  <a:srgbClr val="26332F"/>
                </a:solidFill>
                <a:latin typeface="Inter"/>
              </a:defRPr>
            </a:pPr>
            <a:r>
              <a:rPr lang="de-DE"/>
              <a:t>Kreis Stormarn</a:t>
            </a:r>
          </a:p>
        </p:txBody>
      </p:sp>
      <p:sp>
        <p:nvSpPr>
          <p:cNvPr id="9" name="Rounded Rectangle 8"/>
          <p:cNvSpPr/>
          <p:nvPr/>
        </p:nvSpPr>
        <p:spPr>
          <a:xfrm>
            <a:off x="6208776" y="1644396"/>
            <a:ext cx="5385816" cy="4390643"/>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08776" y="1644396"/>
            <a:ext cx="50292" cy="4390643"/>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10"/>
          <p:cNvSpPr txBox="1"/>
          <p:nvPr/>
        </p:nvSpPr>
        <p:spPr>
          <a:xfrm>
            <a:off x="6464808" y="1909572"/>
            <a:ext cx="4873752" cy="373189"/>
          </a:xfrm>
          <a:prstGeom prst="rect">
            <a:avLst/>
          </a:prstGeom>
          <a:noFill/>
        </p:spPr>
        <p:txBody>
          <a:bodyPr wrap="none" lIns="0" rIns="0" tIns="0" bIns="0" anchor="t">
            <a:spAutoFit/>
          </a:bodyPr>
          <a:lstStyle/>
          <a:p>
            <a:pPr>
              <a:lnSpc>
                <a:spcPts val="2542"/>
              </a:lnSpc>
              <a:spcBef>
                <a:spcPts val="0"/>
              </a:spcBef>
              <a:spcAft>
                <a:spcPts val="0"/>
              </a:spcAft>
              <a:defRPr sz="2250" b="1">
                <a:solidFill>
                  <a:srgbClr val="234B42"/>
                </a:solidFill>
                <a:latin typeface="Manrope"/>
              </a:defRPr>
            </a:pPr>
            <a:r>
              <a:rPr lang="de-DE"/>
              <a:t>Aufgaben</a:t>
            </a:r>
          </a:p>
        </p:txBody>
      </p:sp>
      <p:sp>
        <p:nvSpPr>
          <p:cNvPr id="12" name="Text 11"/>
          <p:cNvSpPr txBox="1"/>
          <p:nvPr/>
        </p:nvSpPr>
        <p:spPr>
          <a:xfrm>
            <a:off x="6464808" y="2483929"/>
            <a:ext cx="4873752" cy="3304222"/>
          </a:xfrm>
          <a:prstGeom prst="rect">
            <a:avLst/>
          </a:prstGeom>
          <a:noFill/>
        </p:spPr>
        <p:txBody>
          <a:bodyPr wrap="none" lIns="0" rIns="0" tIns="0" bIns="0" anchor="t">
            <a:spAutoFit/>
          </a:bodyPr>
          <a:lstStyle/>
          <a:p>
            <a:pPr>
              <a:lnSpc>
                <a:spcPts val="2595"/>
              </a:lnSpc>
              <a:spcBef>
                <a:spcPts val="0"/>
              </a:spcBef>
              <a:spcAft>
                <a:spcPts val="0"/>
              </a:spcAft>
              <a:defRPr sz="2200" b="0">
                <a:solidFill>
                  <a:srgbClr val="26332F"/>
                </a:solidFill>
                <a:latin typeface="Inter"/>
              </a:defRPr>
            </a:pPr>
            <a:r>
              <a:rPr lang="de-DE"/>
              <a:t>Aufklärung und Beratung</a:t>
            </a:r>
          </a:p>
          <a:p>
            <a:pPr>
              <a:lnSpc>
                <a:spcPts val="2595"/>
              </a:lnSpc>
              <a:spcBef>
                <a:spcPts val="0"/>
              </a:spcBef>
              <a:spcAft>
                <a:spcPts val="0"/>
              </a:spcAft>
              <a:defRPr sz="2200" b="0">
                <a:solidFill>
                  <a:srgbClr val="26332F"/>
                </a:solidFill>
                <a:latin typeface="Inter"/>
              </a:defRPr>
            </a:pPr>
            <a:r>
              <a:rPr lang="de-DE"/>
              <a:t>Netzwerkarbeit</a:t>
            </a:r>
          </a:p>
          <a:p>
            <a:pPr>
              <a:lnSpc>
                <a:spcPts val="2595"/>
              </a:lnSpc>
              <a:spcBef>
                <a:spcPts val="0"/>
              </a:spcBef>
              <a:spcAft>
                <a:spcPts val="0"/>
              </a:spcAft>
              <a:defRPr sz="2200" b="0">
                <a:solidFill>
                  <a:srgbClr val="26332F"/>
                </a:solidFill>
                <a:latin typeface="Inter"/>
              </a:defRPr>
            </a:pPr>
            <a:r>
              <a:rPr lang="de-DE"/>
              <a:t>individuelle, am Autismus orientierte</a:t>
            </a:r>
          </a:p>
          <a:p>
            <a:pPr>
              <a:lnSpc>
                <a:spcPts val="2595"/>
              </a:lnSpc>
              <a:spcBef>
                <a:spcPts val="0"/>
              </a:spcBef>
              <a:spcAft>
                <a:spcPts val="0"/>
              </a:spcAft>
              <a:defRPr sz="2200" b="0">
                <a:solidFill>
                  <a:srgbClr val="26332F"/>
                </a:solidFill>
                <a:latin typeface="Inter"/>
              </a:defRPr>
            </a:pPr>
            <a:r>
              <a:rPr lang="de-DE"/>
              <a:t>Persönlichkeitsarbeit</a:t>
            </a:r>
          </a:p>
          <a:p>
            <a:pPr>
              <a:lnSpc>
                <a:spcPts val="2595"/>
              </a:lnSpc>
              <a:spcBef>
                <a:spcPts val="0"/>
              </a:spcBef>
              <a:spcAft>
                <a:spcPts val="0"/>
              </a:spcAft>
              <a:defRPr sz="2200" b="0">
                <a:solidFill>
                  <a:srgbClr val="26332F"/>
                </a:solidFill>
                <a:latin typeface="Inter"/>
              </a:defRPr>
            </a:pPr>
            <a:r>
              <a:rPr lang="de-DE"/>
              <a:t>(hilfreiche Mechanismen,</a:t>
            </a:r>
          </a:p>
          <a:p>
            <a:pPr>
              <a:lnSpc>
                <a:spcPts val="2595"/>
              </a:lnSpc>
              <a:spcBef>
                <a:spcPts val="0"/>
              </a:spcBef>
              <a:spcAft>
                <a:spcPts val="0"/>
              </a:spcAft>
              <a:defRPr sz="2200" b="0">
                <a:solidFill>
                  <a:srgbClr val="26332F"/>
                </a:solidFill>
                <a:latin typeface="Inter"/>
              </a:defRPr>
            </a:pPr>
            <a:r>
              <a:rPr lang="de-DE"/>
              <a:t>alltagstaugliche Kompetenzen,</a:t>
            </a:r>
          </a:p>
          <a:p>
            <a:pPr>
              <a:lnSpc>
                <a:spcPts val="2595"/>
              </a:lnSpc>
              <a:spcBef>
                <a:spcPts val="0"/>
              </a:spcBef>
              <a:spcAft>
                <a:spcPts val="0"/>
              </a:spcAft>
              <a:defRPr sz="2200" b="0">
                <a:solidFill>
                  <a:srgbClr val="26332F"/>
                </a:solidFill>
                <a:latin typeface="Inter"/>
              </a:defRPr>
            </a:pPr>
            <a:r>
              <a:rPr lang="de-DE"/>
              <a:t>Handlungsplanung)</a:t>
            </a:r>
          </a:p>
          <a:p>
            <a:pPr>
              <a:lnSpc>
                <a:spcPts val="2595"/>
              </a:lnSpc>
              <a:spcBef>
                <a:spcPts val="0"/>
              </a:spcBef>
              <a:spcAft>
                <a:spcPts val="0"/>
              </a:spcAft>
              <a:defRPr sz="2200" b="0">
                <a:solidFill>
                  <a:srgbClr val="26332F"/>
                </a:solidFill>
                <a:latin typeface="Inter"/>
              </a:defRPr>
            </a:pPr>
            <a:r>
              <a:rPr lang="de-DE"/>
              <a:t>Platz in sozialen Gemeinschaften</a:t>
            </a:r>
          </a:p>
          <a:p>
            <a:pPr>
              <a:lnSpc>
                <a:spcPts val="2595"/>
              </a:lnSpc>
              <a:spcBef>
                <a:spcPts val="0"/>
              </a:spcBef>
              <a:spcAft>
                <a:spcPts val="0"/>
              </a:spcAft>
              <a:defRPr sz="2200" b="0">
                <a:solidFill>
                  <a:srgbClr val="26332F"/>
                </a:solidFill>
                <a:latin typeface="Inter"/>
              </a:defRPr>
            </a:pPr>
            <a:r>
              <a:rPr lang="de-DE"/>
              <a:t>finden und erobern</a:t>
            </a:r>
          </a:p>
        </p:txBody>
      </p:sp>
    </p:spTree>
  </p:cSld>
  <p:clrMapOvr>
    <a:masterClrMapping/>
  </p:clrMapOvr>
  <p:transition spd="fast" advClick="1">
    <p:fade/>
  </p:transition>
</p:sld>
</file>

<file path=ppt/slides/slide4.xml><?xml version="1.0" encoding="utf-8"?>
<p:sld xmlns:a="http://schemas.openxmlformats.org/drawingml/2006/main" xmlns:p="http://schemas.openxmlformats.org/presentationml/2006/main" xmlns:r="http://schemas.openxmlformats.org/officeDocument/2006/relationships" showMasterSp="1">
  <p:cSld>
    <p:bg>
      <p:bgPr>
        <a:solidFill>
          <a:srgbClr val="F7F5EF"/>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04</a:t>
            </a:r>
          </a:p>
        </p:txBody>
      </p:sp>
      <p:sp>
        <p:nvSpPr>
          <p:cNvPr id="3" name="Text 2"/>
          <p:cNvSpPr txBox="1"/>
          <p:nvPr/>
        </p:nvSpPr>
        <p:spPr>
          <a:xfrm>
            <a:off x="594360" y="393192"/>
            <a:ext cx="10881360" cy="203644"/>
          </a:xfrm>
          <a:prstGeom prst="rect">
            <a:avLst/>
          </a:prstGeom>
          <a:noFill/>
        </p:spPr>
        <p:txBody>
          <a:bodyPr wrap="none" lIns="0" rIns="0" tIns="0" bIns="0" anchor="t">
            <a:spAutoFit/>
          </a:bodyPr>
          <a:lstStyle/>
          <a:p>
            <a:pPr>
              <a:lnSpc>
                <a:spcPts val="1207"/>
              </a:lnSpc>
              <a:spcBef>
                <a:spcPts val="0"/>
              </a:spcBef>
              <a:spcAft>
                <a:spcPts val="0"/>
              </a:spcAft>
              <a:defRPr sz="1150" b="1">
                <a:solidFill>
                  <a:srgbClr val="234B42"/>
                </a:solidFill>
                <a:latin typeface="Inter"/>
              </a:defRPr>
            </a:pPr>
            <a:r>
              <a:rPr lang="de-DE"/>
              <a:t>ORIENTIERUNG</a:t>
            </a:r>
          </a:p>
        </p:txBody>
      </p:sp>
      <p:sp>
        <p:nvSpPr>
          <p:cNvPr id="4" name="Text 3"/>
          <p:cNvSpPr txBox="1"/>
          <p:nvPr/>
        </p:nvSpPr>
        <p:spPr>
          <a:xfrm>
            <a:off x="594360" y="804672"/>
            <a:ext cx="10991088"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Unser gemeinsamer Ablauf</a:t>
            </a:r>
          </a:p>
        </p:txBody>
      </p:sp>
      <p:sp>
        <p:nvSpPr>
          <p:cNvPr id="5" name="Text 4"/>
          <p:cNvSpPr txBox="1"/>
          <p:nvPr/>
        </p:nvSpPr>
        <p:spPr>
          <a:xfrm>
            <a:off x="777240" y="1644396"/>
            <a:ext cx="1828800" cy="245110"/>
          </a:xfrm>
          <a:prstGeom prst="rect">
            <a:avLst/>
          </a:prstGeom>
          <a:noFill/>
        </p:spPr>
        <p:txBody>
          <a:bodyPr wrap="none" lIns="0" rIns="0" tIns="0" bIns="0" anchor="t">
            <a:spAutoFit/>
          </a:bodyPr>
          <a:lstStyle/>
          <a:p>
            <a:pPr>
              <a:lnSpc>
                <a:spcPts val="1534"/>
              </a:lnSpc>
              <a:spcBef>
                <a:spcPts val="0"/>
              </a:spcBef>
              <a:spcAft>
                <a:spcPts val="0"/>
              </a:spcAft>
              <a:defRPr sz="1300" b="1">
                <a:solidFill>
                  <a:srgbClr val="63736A"/>
                </a:solidFill>
                <a:latin typeface="Inter"/>
              </a:defRPr>
            </a:pPr>
            <a:r>
              <a:rPr lang="de-DE"/>
              <a:t>Zeit ab Beginn</a:t>
            </a:r>
          </a:p>
        </p:txBody>
      </p:sp>
      <p:sp>
        <p:nvSpPr>
          <p:cNvPr id="6" name="Text 5"/>
          <p:cNvSpPr txBox="1"/>
          <p:nvPr/>
        </p:nvSpPr>
        <p:spPr>
          <a:xfrm>
            <a:off x="2788920" y="1644396"/>
            <a:ext cx="7086600" cy="245110"/>
          </a:xfrm>
          <a:prstGeom prst="rect">
            <a:avLst/>
          </a:prstGeom>
          <a:noFill/>
        </p:spPr>
        <p:txBody>
          <a:bodyPr wrap="none" lIns="0" rIns="0" tIns="0" bIns="0" anchor="t">
            <a:spAutoFit/>
          </a:bodyPr>
          <a:lstStyle/>
          <a:p>
            <a:pPr>
              <a:lnSpc>
                <a:spcPts val="1534"/>
              </a:lnSpc>
              <a:spcBef>
                <a:spcPts val="0"/>
              </a:spcBef>
              <a:spcAft>
                <a:spcPts val="0"/>
              </a:spcAft>
              <a:defRPr sz="1300" b="1">
                <a:solidFill>
                  <a:srgbClr val="63736A"/>
                </a:solidFill>
                <a:latin typeface="Inter"/>
              </a:defRPr>
            </a:pPr>
            <a:r>
              <a:rPr lang="de-DE"/>
              <a:t>Thema</a:t>
            </a:r>
          </a:p>
        </p:txBody>
      </p:sp>
      <p:sp>
        <p:nvSpPr>
          <p:cNvPr id="7" name="Text 6"/>
          <p:cNvSpPr txBox="1"/>
          <p:nvPr/>
        </p:nvSpPr>
        <p:spPr>
          <a:xfrm>
            <a:off x="10195560" y="1644396"/>
            <a:ext cx="1097280" cy="245110"/>
          </a:xfrm>
          <a:prstGeom prst="rect">
            <a:avLst/>
          </a:prstGeom>
          <a:noFill/>
        </p:spPr>
        <p:txBody>
          <a:bodyPr wrap="none" lIns="0" rIns="0" tIns="0" bIns="0" anchor="t">
            <a:spAutoFit/>
          </a:bodyPr>
          <a:lstStyle/>
          <a:p>
            <a:pPr>
              <a:lnSpc>
                <a:spcPts val="1534"/>
              </a:lnSpc>
              <a:spcBef>
                <a:spcPts val="0"/>
              </a:spcBef>
              <a:spcAft>
                <a:spcPts val="0"/>
              </a:spcAft>
              <a:defRPr sz="1300" b="1">
                <a:solidFill>
                  <a:srgbClr val="63736A"/>
                </a:solidFill>
                <a:latin typeface="Inter"/>
              </a:defRPr>
            </a:pPr>
            <a:r>
              <a:rPr lang="de-DE"/>
              <a:t>Dauer</a:t>
            </a:r>
          </a:p>
        </p:txBody>
      </p:sp>
      <p:sp>
        <p:nvSpPr>
          <p:cNvPr id="8" name="Rectangle 7"/>
          <p:cNvSpPr/>
          <p:nvPr/>
        </p:nvSpPr>
        <p:spPr>
          <a:xfrm>
            <a:off x="594360" y="2037588"/>
            <a:ext cx="11000232" cy="4800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8"/>
          <p:cNvSpPr txBox="1"/>
          <p:nvPr/>
        </p:nvSpPr>
        <p:spPr>
          <a:xfrm>
            <a:off x="777240" y="2156460"/>
            <a:ext cx="1828800" cy="327533"/>
          </a:xfrm>
          <a:prstGeom prst="rect">
            <a:avLst/>
          </a:prstGeom>
          <a:noFill/>
        </p:spPr>
        <p:txBody>
          <a:bodyPr wrap="none" lIns="0" rIns="0" tIns="0" bIns="0" anchor="t">
            <a:spAutoFit/>
          </a:bodyPr>
          <a:lstStyle/>
          <a:p>
            <a:pPr>
              <a:lnSpc>
                <a:spcPts val="2183"/>
              </a:lnSpc>
              <a:spcBef>
                <a:spcPts val="0"/>
              </a:spcBef>
              <a:spcAft>
                <a:spcPts val="0"/>
              </a:spcAft>
              <a:defRPr sz="1850" b="1">
                <a:solidFill>
                  <a:srgbClr val="234B42"/>
                </a:solidFill>
                <a:latin typeface="Inter"/>
              </a:defRPr>
            </a:pPr>
            <a:r>
              <a:rPr lang="de-DE"/>
              <a:t>9:30–9:45</a:t>
            </a:r>
          </a:p>
        </p:txBody>
      </p:sp>
      <p:sp>
        <p:nvSpPr>
          <p:cNvPr id="10" name="Text 9"/>
          <p:cNvSpPr txBox="1"/>
          <p:nvPr/>
        </p:nvSpPr>
        <p:spPr>
          <a:xfrm>
            <a:off x="2788920" y="2156460"/>
            <a:ext cx="7086600" cy="327533"/>
          </a:xfrm>
          <a:prstGeom prst="rect">
            <a:avLst/>
          </a:prstGeom>
          <a:noFill/>
        </p:spPr>
        <p:txBody>
          <a:bodyPr wrap="none" lIns="0" rIns="0" tIns="0" bIns="0" anchor="t">
            <a:spAutoFit/>
          </a:bodyPr>
          <a:lstStyle/>
          <a:p>
            <a:pPr>
              <a:lnSpc>
                <a:spcPts val="2183"/>
              </a:lnSpc>
              <a:spcBef>
                <a:spcPts val="0"/>
              </a:spcBef>
              <a:spcAft>
                <a:spcPts val="0"/>
              </a:spcAft>
              <a:defRPr sz="1850" b="0">
                <a:solidFill>
                  <a:srgbClr val="26332F"/>
                </a:solidFill>
                <a:latin typeface="Inter"/>
              </a:defRPr>
            </a:pPr>
            <a:r>
              <a:rPr lang="de-DE"/>
              <a:t>Einstieg und Erwartungen</a:t>
            </a:r>
          </a:p>
        </p:txBody>
      </p:sp>
      <p:sp>
        <p:nvSpPr>
          <p:cNvPr id="11" name="Text 10"/>
          <p:cNvSpPr txBox="1"/>
          <p:nvPr/>
        </p:nvSpPr>
        <p:spPr>
          <a:xfrm>
            <a:off x="10195560" y="2156460"/>
            <a:ext cx="1097280" cy="327533"/>
          </a:xfrm>
          <a:prstGeom prst="rect">
            <a:avLst/>
          </a:prstGeom>
          <a:noFill/>
        </p:spPr>
        <p:txBody>
          <a:bodyPr wrap="none" lIns="0" rIns="0" tIns="0" bIns="0" anchor="t">
            <a:spAutoFit/>
          </a:bodyPr>
          <a:lstStyle/>
          <a:p>
            <a:pPr>
              <a:lnSpc>
                <a:spcPts val="2183"/>
              </a:lnSpc>
              <a:spcBef>
                <a:spcPts val="0"/>
              </a:spcBef>
              <a:spcAft>
                <a:spcPts val="0"/>
              </a:spcAft>
              <a:defRPr sz="1850" b="0">
                <a:solidFill>
                  <a:srgbClr val="234B42"/>
                </a:solidFill>
                <a:latin typeface="Inter"/>
              </a:defRPr>
            </a:pPr>
            <a:r>
              <a:rPr lang="de-DE"/>
              <a:t>15 Min</a:t>
            </a:r>
          </a:p>
        </p:txBody>
      </p:sp>
      <p:sp>
        <p:nvSpPr>
          <p:cNvPr id="12" name="Rectangle 11"/>
          <p:cNvSpPr/>
          <p:nvPr/>
        </p:nvSpPr>
        <p:spPr>
          <a:xfrm>
            <a:off x="594360" y="2572512"/>
            <a:ext cx="11000232" cy="480060"/>
          </a:xfrm>
          <a:prstGeom prst="rect">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12"/>
          <p:cNvSpPr txBox="1"/>
          <p:nvPr/>
        </p:nvSpPr>
        <p:spPr>
          <a:xfrm>
            <a:off x="777240" y="2691384"/>
            <a:ext cx="1828800" cy="327533"/>
          </a:xfrm>
          <a:prstGeom prst="rect">
            <a:avLst/>
          </a:prstGeom>
          <a:noFill/>
        </p:spPr>
        <p:txBody>
          <a:bodyPr wrap="none" lIns="0" rIns="0" tIns="0" bIns="0" anchor="t">
            <a:spAutoFit/>
          </a:bodyPr>
          <a:lstStyle/>
          <a:p>
            <a:pPr>
              <a:lnSpc>
                <a:spcPts val="2183"/>
              </a:lnSpc>
              <a:spcBef>
                <a:spcPts val="0"/>
              </a:spcBef>
              <a:spcAft>
                <a:spcPts val="0"/>
              </a:spcAft>
              <a:defRPr sz="1850" b="1">
                <a:solidFill>
                  <a:srgbClr val="234B42"/>
                </a:solidFill>
                <a:latin typeface="Inter"/>
              </a:defRPr>
            </a:pPr>
            <a:r>
              <a:rPr lang="de-DE"/>
              <a:t>9:45–10:15</a:t>
            </a:r>
          </a:p>
        </p:txBody>
      </p:sp>
      <p:sp>
        <p:nvSpPr>
          <p:cNvPr id="14" name="Text 13"/>
          <p:cNvSpPr txBox="1"/>
          <p:nvPr/>
        </p:nvSpPr>
        <p:spPr>
          <a:xfrm>
            <a:off x="2788920" y="2691384"/>
            <a:ext cx="7086600" cy="327533"/>
          </a:xfrm>
          <a:prstGeom prst="rect">
            <a:avLst/>
          </a:prstGeom>
          <a:noFill/>
        </p:spPr>
        <p:txBody>
          <a:bodyPr wrap="none" lIns="0" rIns="0" tIns="0" bIns="0" anchor="t">
            <a:spAutoFit/>
          </a:bodyPr>
          <a:lstStyle/>
          <a:p>
            <a:pPr>
              <a:lnSpc>
                <a:spcPts val="2183"/>
              </a:lnSpc>
              <a:spcBef>
                <a:spcPts val="0"/>
              </a:spcBef>
              <a:spcAft>
                <a:spcPts val="0"/>
              </a:spcAft>
              <a:defRPr sz="1850" b="0">
                <a:solidFill>
                  <a:srgbClr val="26332F"/>
                </a:solidFill>
                <a:latin typeface="Inter"/>
              </a:defRPr>
            </a:pPr>
            <a:r>
              <a:rPr lang="de-DE"/>
              <a:t>Neurodiversität und Wahrnehmung</a:t>
            </a:r>
          </a:p>
        </p:txBody>
      </p:sp>
      <p:sp>
        <p:nvSpPr>
          <p:cNvPr id="15" name="Text 14"/>
          <p:cNvSpPr txBox="1"/>
          <p:nvPr/>
        </p:nvSpPr>
        <p:spPr>
          <a:xfrm>
            <a:off x="10195560" y="2691384"/>
            <a:ext cx="1097280" cy="327533"/>
          </a:xfrm>
          <a:prstGeom prst="rect">
            <a:avLst/>
          </a:prstGeom>
          <a:noFill/>
        </p:spPr>
        <p:txBody>
          <a:bodyPr wrap="none" lIns="0" rIns="0" tIns="0" bIns="0" anchor="t">
            <a:spAutoFit/>
          </a:bodyPr>
          <a:lstStyle/>
          <a:p>
            <a:pPr>
              <a:lnSpc>
                <a:spcPts val="2183"/>
              </a:lnSpc>
              <a:spcBef>
                <a:spcPts val="0"/>
              </a:spcBef>
              <a:spcAft>
                <a:spcPts val="0"/>
              </a:spcAft>
              <a:defRPr sz="1850" b="0">
                <a:solidFill>
                  <a:srgbClr val="234B42"/>
                </a:solidFill>
                <a:latin typeface="Inter"/>
              </a:defRPr>
            </a:pPr>
            <a:r>
              <a:rPr lang="de-DE"/>
              <a:t>30 Min</a:t>
            </a:r>
          </a:p>
        </p:txBody>
      </p:sp>
      <p:sp>
        <p:nvSpPr>
          <p:cNvPr id="16" name="Rectangle 15"/>
          <p:cNvSpPr/>
          <p:nvPr/>
        </p:nvSpPr>
        <p:spPr>
          <a:xfrm>
            <a:off x="594360" y="3107436"/>
            <a:ext cx="11000232" cy="4800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16"/>
          <p:cNvSpPr txBox="1"/>
          <p:nvPr/>
        </p:nvSpPr>
        <p:spPr>
          <a:xfrm>
            <a:off x="777240" y="3226308"/>
            <a:ext cx="1828800" cy="327533"/>
          </a:xfrm>
          <a:prstGeom prst="rect">
            <a:avLst/>
          </a:prstGeom>
          <a:noFill/>
        </p:spPr>
        <p:txBody>
          <a:bodyPr wrap="none" lIns="0" rIns="0" tIns="0" bIns="0" anchor="t">
            <a:spAutoFit/>
          </a:bodyPr>
          <a:lstStyle/>
          <a:p>
            <a:pPr>
              <a:lnSpc>
                <a:spcPts val="2183"/>
              </a:lnSpc>
              <a:spcBef>
                <a:spcPts val="0"/>
              </a:spcBef>
              <a:spcAft>
                <a:spcPts val="0"/>
              </a:spcAft>
              <a:defRPr sz="1850" b="1">
                <a:solidFill>
                  <a:srgbClr val="234B42"/>
                </a:solidFill>
                <a:latin typeface="Inter"/>
              </a:defRPr>
            </a:pPr>
            <a:r>
              <a:rPr lang="de-DE"/>
              <a:t>10:15–10:55</a:t>
            </a:r>
          </a:p>
        </p:txBody>
      </p:sp>
      <p:sp>
        <p:nvSpPr>
          <p:cNvPr id="18" name="Text 17"/>
          <p:cNvSpPr txBox="1"/>
          <p:nvPr/>
        </p:nvSpPr>
        <p:spPr>
          <a:xfrm>
            <a:off x="2788920" y="3226308"/>
            <a:ext cx="7086600" cy="327533"/>
          </a:xfrm>
          <a:prstGeom prst="rect">
            <a:avLst/>
          </a:prstGeom>
          <a:noFill/>
        </p:spPr>
        <p:txBody>
          <a:bodyPr wrap="none" lIns="0" rIns="0" tIns="0" bIns="0" anchor="t">
            <a:spAutoFit/>
          </a:bodyPr>
          <a:lstStyle/>
          <a:p>
            <a:pPr>
              <a:lnSpc>
                <a:spcPts val="2183"/>
              </a:lnSpc>
              <a:spcBef>
                <a:spcPts val="0"/>
              </a:spcBef>
              <a:spcAft>
                <a:spcPts val="0"/>
              </a:spcAft>
              <a:defRPr sz="1850" b="0">
                <a:solidFill>
                  <a:srgbClr val="26332F"/>
                </a:solidFill>
                <a:latin typeface="Inter"/>
              </a:defRPr>
            </a:pPr>
            <a:r>
              <a:rPr lang="de-DE"/>
              <a:t>ADHS und Selbststeuerung</a:t>
            </a:r>
          </a:p>
        </p:txBody>
      </p:sp>
      <p:sp>
        <p:nvSpPr>
          <p:cNvPr id="19" name="Text 18"/>
          <p:cNvSpPr txBox="1"/>
          <p:nvPr/>
        </p:nvSpPr>
        <p:spPr>
          <a:xfrm>
            <a:off x="10195560" y="3226308"/>
            <a:ext cx="1097280" cy="327533"/>
          </a:xfrm>
          <a:prstGeom prst="rect">
            <a:avLst/>
          </a:prstGeom>
          <a:noFill/>
        </p:spPr>
        <p:txBody>
          <a:bodyPr wrap="none" lIns="0" rIns="0" tIns="0" bIns="0" anchor="t">
            <a:spAutoFit/>
          </a:bodyPr>
          <a:lstStyle/>
          <a:p>
            <a:pPr>
              <a:lnSpc>
                <a:spcPts val="2183"/>
              </a:lnSpc>
              <a:spcBef>
                <a:spcPts val="0"/>
              </a:spcBef>
              <a:spcAft>
                <a:spcPts val="0"/>
              </a:spcAft>
              <a:defRPr sz="1850" b="0">
                <a:solidFill>
                  <a:srgbClr val="234B42"/>
                </a:solidFill>
                <a:latin typeface="Inter"/>
              </a:defRPr>
            </a:pPr>
            <a:r>
              <a:rPr lang="de-DE"/>
              <a:t>40 Min</a:t>
            </a:r>
          </a:p>
        </p:txBody>
      </p:sp>
      <p:sp>
        <p:nvSpPr>
          <p:cNvPr id="20" name="Rectangle 19"/>
          <p:cNvSpPr/>
          <p:nvPr/>
        </p:nvSpPr>
        <p:spPr>
          <a:xfrm>
            <a:off x="594360" y="3642360"/>
            <a:ext cx="11000232" cy="480060"/>
          </a:xfrm>
          <a:prstGeom prst="rect">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 20"/>
          <p:cNvSpPr txBox="1"/>
          <p:nvPr/>
        </p:nvSpPr>
        <p:spPr>
          <a:xfrm>
            <a:off x="777240" y="3761232"/>
            <a:ext cx="1828800" cy="327533"/>
          </a:xfrm>
          <a:prstGeom prst="rect">
            <a:avLst/>
          </a:prstGeom>
          <a:noFill/>
        </p:spPr>
        <p:txBody>
          <a:bodyPr wrap="none" lIns="0" rIns="0" tIns="0" bIns="0" anchor="t">
            <a:spAutoFit/>
          </a:bodyPr>
          <a:lstStyle/>
          <a:p>
            <a:pPr>
              <a:lnSpc>
                <a:spcPts val="2183"/>
              </a:lnSpc>
              <a:spcBef>
                <a:spcPts val="0"/>
              </a:spcBef>
              <a:spcAft>
                <a:spcPts val="0"/>
              </a:spcAft>
              <a:defRPr sz="1850" b="1">
                <a:solidFill>
                  <a:srgbClr val="234B42"/>
                </a:solidFill>
                <a:latin typeface="Inter"/>
              </a:defRPr>
            </a:pPr>
            <a:r>
              <a:rPr lang="de-DE"/>
              <a:t>10:55–11:40</a:t>
            </a:r>
          </a:p>
        </p:txBody>
      </p:sp>
      <p:sp>
        <p:nvSpPr>
          <p:cNvPr id="22" name="Text 21"/>
          <p:cNvSpPr txBox="1"/>
          <p:nvPr/>
        </p:nvSpPr>
        <p:spPr>
          <a:xfrm>
            <a:off x="2788920" y="3761232"/>
            <a:ext cx="7086600" cy="327533"/>
          </a:xfrm>
          <a:prstGeom prst="rect">
            <a:avLst/>
          </a:prstGeom>
          <a:noFill/>
        </p:spPr>
        <p:txBody>
          <a:bodyPr wrap="none" lIns="0" rIns="0" tIns="0" bIns="0" anchor="t">
            <a:spAutoFit/>
          </a:bodyPr>
          <a:lstStyle/>
          <a:p>
            <a:pPr>
              <a:lnSpc>
                <a:spcPts val="2183"/>
              </a:lnSpc>
              <a:spcBef>
                <a:spcPts val="0"/>
              </a:spcBef>
              <a:spcAft>
                <a:spcPts val="0"/>
              </a:spcAft>
              <a:defRPr sz="1850" b="0">
                <a:solidFill>
                  <a:srgbClr val="26332F"/>
                </a:solidFill>
                <a:latin typeface="Inter"/>
              </a:defRPr>
            </a:pPr>
            <a:r>
              <a:rPr lang="de-DE"/>
              <a:t>Autismus, Kommunikation und Sensorik</a:t>
            </a:r>
          </a:p>
        </p:txBody>
      </p:sp>
      <p:sp>
        <p:nvSpPr>
          <p:cNvPr id="23" name="Text 22"/>
          <p:cNvSpPr txBox="1"/>
          <p:nvPr/>
        </p:nvSpPr>
        <p:spPr>
          <a:xfrm>
            <a:off x="10195560" y="3761232"/>
            <a:ext cx="1097280" cy="327533"/>
          </a:xfrm>
          <a:prstGeom prst="rect">
            <a:avLst/>
          </a:prstGeom>
          <a:noFill/>
        </p:spPr>
        <p:txBody>
          <a:bodyPr wrap="none" lIns="0" rIns="0" tIns="0" bIns="0" anchor="t">
            <a:spAutoFit/>
          </a:bodyPr>
          <a:lstStyle/>
          <a:p>
            <a:pPr>
              <a:lnSpc>
                <a:spcPts val="2183"/>
              </a:lnSpc>
              <a:spcBef>
                <a:spcPts val="0"/>
              </a:spcBef>
              <a:spcAft>
                <a:spcPts val="0"/>
              </a:spcAft>
              <a:defRPr sz="1850" b="0">
                <a:solidFill>
                  <a:srgbClr val="234B42"/>
                </a:solidFill>
                <a:latin typeface="Inter"/>
              </a:defRPr>
            </a:pPr>
            <a:r>
              <a:rPr lang="de-DE"/>
              <a:t>45 Min</a:t>
            </a:r>
          </a:p>
        </p:txBody>
      </p:sp>
      <p:sp>
        <p:nvSpPr>
          <p:cNvPr id="24" name="Rectangle 23"/>
          <p:cNvSpPr/>
          <p:nvPr/>
        </p:nvSpPr>
        <p:spPr>
          <a:xfrm>
            <a:off x="594360" y="4177284"/>
            <a:ext cx="11000232" cy="4800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 24"/>
          <p:cNvSpPr txBox="1"/>
          <p:nvPr/>
        </p:nvSpPr>
        <p:spPr>
          <a:xfrm>
            <a:off x="777240" y="4296156"/>
            <a:ext cx="1828800" cy="327533"/>
          </a:xfrm>
          <a:prstGeom prst="rect">
            <a:avLst/>
          </a:prstGeom>
          <a:noFill/>
        </p:spPr>
        <p:txBody>
          <a:bodyPr wrap="none" lIns="0" rIns="0" tIns="0" bIns="0" anchor="t">
            <a:spAutoFit/>
          </a:bodyPr>
          <a:lstStyle/>
          <a:p>
            <a:pPr>
              <a:lnSpc>
                <a:spcPts val="2183"/>
              </a:lnSpc>
              <a:spcBef>
                <a:spcPts val="0"/>
              </a:spcBef>
              <a:spcAft>
                <a:spcPts val="0"/>
              </a:spcAft>
              <a:defRPr sz="1850" b="1">
                <a:solidFill>
                  <a:srgbClr val="234B42"/>
                </a:solidFill>
                <a:latin typeface="Inter"/>
              </a:defRPr>
            </a:pPr>
            <a:r>
              <a:rPr lang="de-DE"/>
              <a:t>11:40–12:30</a:t>
            </a:r>
          </a:p>
        </p:txBody>
      </p:sp>
      <p:sp>
        <p:nvSpPr>
          <p:cNvPr id="26" name="Text 25"/>
          <p:cNvSpPr txBox="1"/>
          <p:nvPr/>
        </p:nvSpPr>
        <p:spPr>
          <a:xfrm>
            <a:off x="2788920" y="4296156"/>
            <a:ext cx="7086600" cy="327533"/>
          </a:xfrm>
          <a:prstGeom prst="rect">
            <a:avLst/>
          </a:prstGeom>
          <a:noFill/>
        </p:spPr>
        <p:txBody>
          <a:bodyPr wrap="none" lIns="0" rIns="0" tIns="0" bIns="0" anchor="t">
            <a:spAutoFit/>
          </a:bodyPr>
          <a:lstStyle/>
          <a:p>
            <a:pPr>
              <a:lnSpc>
                <a:spcPts val="2183"/>
              </a:lnSpc>
              <a:spcBef>
                <a:spcPts val="0"/>
              </a:spcBef>
              <a:spcAft>
                <a:spcPts val="0"/>
              </a:spcAft>
              <a:defRPr sz="1850" b="0">
                <a:solidFill>
                  <a:srgbClr val="26332F"/>
                </a:solidFill>
                <a:latin typeface="Inter"/>
              </a:defRPr>
            </a:pPr>
            <a:r>
              <a:rPr lang="de-DE"/>
              <a:t>Pädagogische Unterstützung und Anwendung</a:t>
            </a:r>
          </a:p>
        </p:txBody>
      </p:sp>
      <p:sp>
        <p:nvSpPr>
          <p:cNvPr id="27" name="Text 26"/>
          <p:cNvSpPr txBox="1"/>
          <p:nvPr/>
        </p:nvSpPr>
        <p:spPr>
          <a:xfrm>
            <a:off x="10195560" y="4296156"/>
            <a:ext cx="1097280" cy="327533"/>
          </a:xfrm>
          <a:prstGeom prst="rect">
            <a:avLst/>
          </a:prstGeom>
          <a:noFill/>
        </p:spPr>
        <p:txBody>
          <a:bodyPr wrap="none" lIns="0" rIns="0" tIns="0" bIns="0" anchor="t">
            <a:spAutoFit/>
          </a:bodyPr>
          <a:lstStyle/>
          <a:p>
            <a:pPr>
              <a:lnSpc>
                <a:spcPts val="2183"/>
              </a:lnSpc>
              <a:spcBef>
                <a:spcPts val="0"/>
              </a:spcBef>
              <a:spcAft>
                <a:spcPts val="0"/>
              </a:spcAft>
              <a:defRPr sz="1850" b="0">
                <a:solidFill>
                  <a:srgbClr val="234B42"/>
                </a:solidFill>
                <a:latin typeface="Inter"/>
              </a:defRPr>
            </a:pPr>
            <a:r>
              <a:rPr lang="de-DE"/>
              <a:t>50 Min</a:t>
            </a:r>
          </a:p>
        </p:txBody>
      </p:sp>
      <p:sp>
        <p:nvSpPr>
          <p:cNvPr id="28" name="Rectangle 27"/>
          <p:cNvSpPr/>
          <p:nvPr/>
        </p:nvSpPr>
        <p:spPr>
          <a:xfrm>
            <a:off x="594360" y="4712208"/>
            <a:ext cx="11000232" cy="480060"/>
          </a:xfrm>
          <a:prstGeom prst="rect">
            <a:avLst/>
          </a:prstGeom>
          <a:solidFill>
            <a:srgbClr val="E9EE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 28"/>
          <p:cNvSpPr txBox="1"/>
          <p:nvPr/>
        </p:nvSpPr>
        <p:spPr>
          <a:xfrm>
            <a:off x="777240" y="4831080"/>
            <a:ext cx="1828800" cy="327533"/>
          </a:xfrm>
          <a:prstGeom prst="rect">
            <a:avLst/>
          </a:prstGeom>
          <a:noFill/>
        </p:spPr>
        <p:txBody>
          <a:bodyPr wrap="none" lIns="0" rIns="0" tIns="0" bIns="0" anchor="t">
            <a:spAutoFit/>
          </a:bodyPr>
          <a:lstStyle/>
          <a:p>
            <a:pPr>
              <a:lnSpc>
                <a:spcPts val="2183"/>
              </a:lnSpc>
              <a:spcBef>
                <a:spcPts val="0"/>
              </a:spcBef>
              <a:spcAft>
                <a:spcPts val="0"/>
              </a:spcAft>
              <a:defRPr sz="1850" b="1">
                <a:solidFill>
                  <a:srgbClr val="234B42"/>
                </a:solidFill>
                <a:latin typeface="Inter"/>
              </a:defRPr>
            </a:pPr>
            <a:r>
              <a:rPr lang="de-DE"/>
              <a:t>12:30–13:00</a:t>
            </a:r>
          </a:p>
        </p:txBody>
      </p:sp>
      <p:sp>
        <p:nvSpPr>
          <p:cNvPr id="30" name="Text 29"/>
          <p:cNvSpPr txBox="1"/>
          <p:nvPr/>
        </p:nvSpPr>
        <p:spPr>
          <a:xfrm>
            <a:off x="2788920" y="4831080"/>
            <a:ext cx="7086600" cy="327533"/>
          </a:xfrm>
          <a:prstGeom prst="rect">
            <a:avLst/>
          </a:prstGeom>
          <a:noFill/>
        </p:spPr>
        <p:txBody>
          <a:bodyPr wrap="none" lIns="0" rIns="0" tIns="0" bIns="0" anchor="t">
            <a:spAutoFit/>
          </a:bodyPr>
          <a:lstStyle/>
          <a:p>
            <a:pPr>
              <a:lnSpc>
                <a:spcPts val="2183"/>
              </a:lnSpc>
              <a:spcBef>
                <a:spcPts val="0"/>
              </a:spcBef>
              <a:spcAft>
                <a:spcPts val="0"/>
              </a:spcAft>
              <a:defRPr sz="1850" b="0">
                <a:solidFill>
                  <a:srgbClr val="26332F"/>
                </a:solidFill>
                <a:latin typeface="Inter"/>
              </a:defRPr>
            </a:pPr>
            <a:r>
              <a:rPr lang="de-DE"/>
              <a:t>Pause</a:t>
            </a:r>
          </a:p>
        </p:txBody>
      </p:sp>
      <p:sp>
        <p:nvSpPr>
          <p:cNvPr id="31" name="Text 30"/>
          <p:cNvSpPr txBox="1"/>
          <p:nvPr/>
        </p:nvSpPr>
        <p:spPr>
          <a:xfrm>
            <a:off x="10195560" y="4831080"/>
            <a:ext cx="1097280" cy="327533"/>
          </a:xfrm>
          <a:prstGeom prst="rect">
            <a:avLst/>
          </a:prstGeom>
          <a:noFill/>
        </p:spPr>
        <p:txBody>
          <a:bodyPr wrap="none" lIns="0" rIns="0" tIns="0" bIns="0" anchor="t">
            <a:spAutoFit/>
          </a:bodyPr>
          <a:lstStyle/>
          <a:p>
            <a:pPr>
              <a:lnSpc>
                <a:spcPts val="2183"/>
              </a:lnSpc>
              <a:spcBef>
                <a:spcPts val="0"/>
              </a:spcBef>
              <a:spcAft>
                <a:spcPts val="0"/>
              </a:spcAft>
              <a:defRPr sz="1850" b="0">
                <a:solidFill>
                  <a:srgbClr val="234B42"/>
                </a:solidFill>
                <a:latin typeface="Inter"/>
              </a:defRPr>
            </a:pPr>
            <a:r>
              <a:rPr lang="de-DE"/>
              <a:t>30 Min</a:t>
            </a:r>
          </a:p>
        </p:txBody>
      </p:sp>
      <p:sp>
        <p:nvSpPr>
          <p:cNvPr id="32" name="Rectangle 31"/>
          <p:cNvSpPr/>
          <p:nvPr/>
        </p:nvSpPr>
        <p:spPr>
          <a:xfrm>
            <a:off x="594360" y="5247132"/>
            <a:ext cx="11000232" cy="4800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 32"/>
          <p:cNvSpPr txBox="1"/>
          <p:nvPr/>
        </p:nvSpPr>
        <p:spPr>
          <a:xfrm>
            <a:off x="777240" y="5366004"/>
            <a:ext cx="1828800" cy="327533"/>
          </a:xfrm>
          <a:prstGeom prst="rect">
            <a:avLst/>
          </a:prstGeom>
          <a:noFill/>
        </p:spPr>
        <p:txBody>
          <a:bodyPr wrap="none" lIns="0" rIns="0" tIns="0" bIns="0" anchor="t">
            <a:spAutoFit/>
          </a:bodyPr>
          <a:lstStyle/>
          <a:p>
            <a:pPr>
              <a:lnSpc>
                <a:spcPts val="2183"/>
              </a:lnSpc>
              <a:spcBef>
                <a:spcPts val="0"/>
              </a:spcBef>
              <a:spcAft>
                <a:spcPts val="0"/>
              </a:spcAft>
              <a:defRPr sz="1850" b="1">
                <a:solidFill>
                  <a:srgbClr val="234B42"/>
                </a:solidFill>
                <a:latin typeface="Inter"/>
              </a:defRPr>
            </a:pPr>
            <a:r>
              <a:rPr lang="de-DE"/>
              <a:t>13:00–15:00</a:t>
            </a:r>
          </a:p>
        </p:txBody>
      </p:sp>
      <p:sp>
        <p:nvSpPr>
          <p:cNvPr id="34" name="Text 33"/>
          <p:cNvSpPr txBox="1"/>
          <p:nvPr/>
        </p:nvSpPr>
        <p:spPr>
          <a:xfrm>
            <a:off x="2788920" y="5366004"/>
            <a:ext cx="7086600" cy="327533"/>
          </a:xfrm>
          <a:prstGeom prst="rect">
            <a:avLst/>
          </a:prstGeom>
          <a:noFill/>
        </p:spPr>
        <p:txBody>
          <a:bodyPr wrap="none" lIns="0" rIns="0" tIns="0" bIns="0" anchor="t">
            <a:spAutoFit/>
          </a:bodyPr>
          <a:lstStyle/>
          <a:p>
            <a:pPr>
              <a:lnSpc>
                <a:spcPts val="2183"/>
              </a:lnSpc>
              <a:spcBef>
                <a:spcPts val="0"/>
              </a:spcBef>
              <a:spcAft>
                <a:spcPts val="0"/>
              </a:spcAft>
              <a:defRPr sz="1850" b="0">
                <a:solidFill>
                  <a:srgbClr val="26332F"/>
                </a:solidFill>
                <a:latin typeface="Inter"/>
              </a:defRPr>
            </a:pPr>
            <a:r>
              <a:rPr lang="de-DE"/>
              <a:t>Fallarbeit, Austausch und Transfer</a:t>
            </a:r>
          </a:p>
        </p:txBody>
      </p:sp>
      <p:sp>
        <p:nvSpPr>
          <p:cNvPr id="35" name="Text 34"/>
          <p:cNvSpPr txBox="1"/>
          <p:nvPr/>
        </p:nvSpPr>
        <p:spPr>
          <a:xfrm>
            <a:off x="10195560" y="5366004"/>
            <a:ext cx="1097280" cy="327533"/>
          </a:xfrm>
          <a:prstGeom prst="rect">
            <a:avLst/>
          </a:prstGeom>
          <a:noFill/>
        </p:spPr>
        <p:txBody>
          <a:bodyPr wrap="none" lIns="0" rIns="0" tIns="0" bIns="0" anchor="t">
            <a:spAutoFit/>
          </a:bodyPr>
          <a:lstStyle/>
          <a:p>
            <a:pPr>
              <a:lnSpc>
                <a:spcPts val="2183"/>
              </a:lnSpc>
              <a:spcBef>
                <a:spcPts val="0"/>
              </a:spcBef>
              <a:spcAft>
                <a:spcPts val="0"/>
              </a:spcAft>
              <a:defRPr sz="1850" b="0">
                <a:solidFill>
                  <a:srgbClr val="234B42"/>
                </a:solidFill>
                <a:latin typeface="Inter"/>
              </a:defRPr>
            </a:pPr>
            <a:r>
              <a:rPr lang="de-DE"/>
              <a:t>120 Min</a:t>
            </a:r>
          </a:p>
        </p:txBody>
      </p:sp>
    </p:spTree>
  </p:cSld>
  <p:clrMapOvr>
    <a:masterClrMapping/>
  </p:clrMapOvr>
  <p:transition spd="fast" advClick="1">
    <p:fade/>
  </p:transition>
</p:sld>
</file>

<file path=ppt/slides/slide5.xml><?xml version="1.0" encoding="utf-8"?>
<p:sld xmlns:a="http://schemas.openxmlformats.org/drawingml/2006/main" xmlns:p="http://schemas.openxmlformats.org/presentationml/2006/main" xmlns:r="http://schemas.openxmlformats.org/officeDocument/2006/relationships" showMasterSp="1">
  <p:cSld>
    <p:bg>
      <p:bgPr>
        <a:solidFill>
          <a:srgbClr val="E5BD70"/>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05</a:t>
            </a:r>
          </a:p>
        </p:txBody>
      </p:sp>
      <p:sp>
        <p:nvSpPr>
          <p:cNvPr id="3" name="Rounded Rectangle 2"/>
          <p:cNvSpPr/>
          <p:nvPr/>
        </p:nvSpPr>
        <p:spPr>
          <a:xfrm>
            <a:off x="9646920" y="384048"/>
            <a:ext cx="1947672" cy="1280160"/>
          </a:xfrm>
          <a:prstGeom prst="roundRect">
            <a:avLst>
              <a:gd name="adj" fmla="val 6500"/>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3"/>
          <p:cNvSpPr txBox="1"/>
          <p:nvPr/>
        </p:nvSpPr>
        <p:spPr>
          <a:xfrm>
            <a:off x="9829800" y="493776"/>
            <a:ext cx="1572768" cy="634746"/>
          </a:xfrm>
          <a:prstGeom prst="rect">
            <a:avLst/>
          </a:prstGeom>
          <a:noFill/>
        </p:spPr>
        <p:txBody>
          <a:bodyPr wrap="none" lIns="0" rIns="0" tIns="0" bIns="0" anchor="t">
            <a:spAutoFit/>
          </a:bodyPr>
          <a:lstStyle/>
          <a:p>
            <a:pPr algn="ctr">
              <a:lnSpc>
                <a:spcPts val="4602"/>
              </a:lnSpc>
              <a:spcBef>
                <a:spcPts val="0"/>
              </a:spcBef>
              <a:spcAft>
                <a:spcPts val="0"/>
              </a:spcAft>
              <a:defRPr sz="3900" b="1">
                <a:solidFill>
                  <a:srgbClr val="F7F5EF"/>
                </a:solidFill>
                <a:latin typeface="Manrope"/>
              </a:defRPr>
            </a:pPr>
            <a:r>
              <a:rPr lang="de-DE"/>
              <a:t>10</a:t>
            </a:r>
          </a:p>
        </p:txBody>
      </p:sp>
      <p:sp>
        <p:nvSpPr>
          <p:cNvPr id="5" name="Text 4"/>
          <p:cNvSpPr txBox="1"/>
          <p:nvPr/>
        </p:nvSpPr>
        <p:spPr>
          <a:xfrm>
            <a:off x="9829800" y="1161288"/>
            <a:ext cx="1572768" cy="215137"/>
          </a:xfrm>
          <a:prstGeom prst="rect">
            <a:avLst/>
          </a:prstGeom>
          <a:noFill/>
        </p:spPr>
        <p:txBody>
          <a:bodyPr wrap="none" lIns="0" rIns="0" tIns="0" bIns="0" anchor="t">
            <a:spAutoFit/>
          </a:bodyPr>
          <a:lstStyle/>
          <a:p>
            <a:pPr algn="ctr">
              <a:lnSpc>
                <a:spcPts val="1297"/>
              </a:lnSpc>
              <a:spcBef>
                <a:spcPts val="0"/>
              </a:spcBef>
              <a:spcAft>
                <a:spcPts val="0"/>
              </a:spcAft>
              <a:defRPr sz="1100" b="1">
                <a:solidFill>
                  <a:srgbClr val="F7F5EF"/>
                </a:solidFill>
                <a:latin typeface="Inter"/>
              </a:defRPr>
            </a:pPr>
            <a:r>
              <a:rPr lang="de-DE"/>
              <a:t>MINUTEN</a:t>
            </a:r>
          </a:p>
        </p:txBody>
      </p:sp>
      <p:sp>
        <p:nvSpPr>
          <p:cNvPr id="6" name="Text 5"/>
          <p:cNvSpPr txBox="1"/>
          <p:nvPr/>
        </p:nvSpPr>
        <p:spPr>
          <a:xfrm>
            <a:off x="594360" y="393192"/>
            <a:ext cx="8686800" cy="222630"/>
          </a:xfrm>
          <a:prstGeom prst="rect">
            <a:avLst/>
          </a:prstGeom>
          <a:noFill/>
        </p:spPr>
        <p:txBody>
          <a:bodyPr wrap="none" lIns="0" rIns="0" tIns="0" bIns="0" anchor="t">
            <a:spAutoFit/>
          </a:bodyPr>
          <a:lstStyle/>
          <a:p>
            <a:pPr>
              <a:lnSpc>
                <a:spcPts val="1356"/>
              </a:lnSpc>
              <a:spcBef>
                <a:spcPts val="0"/>
              </a:spcBef>
              <a:spcAft>
                <a:spcPts val="0"/>
              </a:spcAft>
              <a:defRPr sz="1150" b="1">
                <a:solidFill>
                  <a:srgbClr val="234B42"/>
                </a:solidFill>
                <a:latin typeface="Inter"/>
              </a:defRPr>
            </a:pPr>
            <a:r>
              <a:rPr lang="de-DE"/>
              <a:t>GEMEINSAM ANKOMMEN</a:t>
            </a:r>
          </a:p>
        </p:txBody>
      </p:sp>
      <p:sp>
        <p:nvSpPr>
          <p:cNvPr id="7" name="Text 6"/>
          <p:cNvSpPr txBox="1"/>
          <p:nvPr/>
        </p:nvSpPr>
        <p:spPr>
          <a:xfrm>
            <a:off x="594360" y="804672"/>
            <a:ext cx="8503920"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Einstieg: Erwartungen an uns!</a:t>
            </a:r>
          </a:p>
        </p:txBody>
      </p:sp>
      <p:sp>
        <p:nvSpPr>
          <p:cNvPr id="8" name="Text 7"/>
          <p:cNvSpPr txBox="1"/>
          <p:nvPr/>
        </p:nvSpPr>
        <p:spPr>
          <a:xfrm>
            <a:off x="594360" y="1470659"/>
            <a:ext cx="8458200" cy="282574"/>
          </a:xfrm>
          <a:prstGeom prst="rect">
            <a:avLst/>
          </a:prstGeom>
          <a:noFill/>
        </p:spPr>
        <p:txBody>
          <a:bodyPr wrap="none" lIns="0" rIns="0" tIns="0" bIns="0" anchor="t">
            <a:spAutoFit/>
          </a:bodyPr>
          <a:lstStyle/>
          <a:p>
            <a:pPr>
              <a:lnSpc>
                <a:spcPts val="1829"/>
              </a:lnSpc>
              <a:spcBef>
                <a:spcPts val="0"/>
              </a:spcBef>
              <a:spcAft>
                <a:spcPts val="0"/>
              </a:spcAft>
              <a:defRPr sz="1550" b="1">
                <a:solidFill>
                  <a:srgbClr val="234B42"/>
                </a:solidFill>
                <a:latin typeface="Inter"/>
              </a:defRPr>
            </a:pPr>
            <a:r>
              <a:rPr lang="de-DE"/>
              <a:t>Plenum</a:t>
            </a:r>
          </a:p>
        </p:txBody>
      </p:sp>
      <p:sp>
        <p:nvSpPr>
          <p:cNvPr id="9" name="Rounded Rectangle 8"/>
          <p:cNvSpPr/>
          <p:nvPr/>
        </p:nvSpPr>
        <p:spPr>
          <a:xfrm>
            <a:off x="594360" y="1965960"/>
            <a:ext cx="11000232" cy="3474720"/>
          </a:xfrm>
          <a:prstGeom prst="roundRect">
            <a:avLst>
              <a:gd name="adj" fmla="val 6500"/>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0" name="Icon · speech"/>
          <p:cNvGrpSpPr/>
          <p:nvPr/>
        </p:nvGrpSpPr>
        <p:grpSpPr>
          <a:xfrm>
            <a:off x="1075334" y="2605583"/>
            <a:ext cx="729691" cy="633679"/>
            <a:chOff x="1075334" y="2605583"/>
            <a:chExt cx="729691" cy="633679"/>
          </a:xfrm>
        </p:grpSpPr>
        <p:sp>
          <p:nvSpPr>
            <p:cNvPr id="11" name="Freeform 10"/>
            <p:cNvSpPr/>
            <p:nvPr/>
          </p:nvSpPr>
          <p:spPr>
            <a:xfrm>
              <a:off x="1075334" y="2605583"/>
              <a:ext cx="729691" cy="633679"/>
            </a:xfrm>
            <a:custGeom>
              <a:avLst/>
              <a:gdLst/>
              <a:ahLst/>
              <a:cxnLst/>
              <a:rect l="l" t="t" r="r" b="b"/>
              <a:pathLst>
                <a:path w="760" h="660">
                  <a:moveTo>
                    <a:pt x="110" y="0"/>
                  </a:moveTo>
                  <a:lnTo>
                    <a:pt x="97" y="0"/>
                  </a:lnTo>
                  <a:lnTo>
                    <a:pt x="85" y="2"/>
                  </a:lnTo>
                  <a:lnTo>
                    <a:pt x="74" y="4"/>
                  </a:lnTo>
                  <a:lnTo>
                    <a:pt x="63" y="8"/>
                  </a:lnTo>
                  <a:lnTo>
                    <a:pt x="53" y="12"/>
                  </a:lnTo>
                  <a:lnTo>
                    <a:pt x="44" y="17"/>
                  </a:lnTo>
                  <a:lnTo>
                    <a:pt x="36" y="23"/>
                  </a:lnTo>
                  <a:lnTo>
                    <a:pt x="29" y="30"/>
                  </a:lnTo>
                  <a:lnTo>
                    <a:pt x="22" y="38"/>
                  </a:lnTo>
                  <a:lnTo>
                    <a:pt x="16" y="47"/>
                  </a:lnTo>
                  <a:lnTo>
                    <a:pt x="11" y="57"/>
                  </a:lnTo>
                  <a:lnTo>
                    <a:pt x="7" y="68"/>
                  </a:lnTo>
                  <a:lnTo>
                    <a:pt x="4" y="79"/>
                  </a:lnTo>
                  <a:lnTo>
                    <a:pt x="2" y="92"/>
                  </a:lnTo>
                  <a:lnTo>
                    <a:pt x="0" y="105"/>
                  </a:lnTo>
                  <a:lnTo>
                    <a:pt x="0" y="120"/>
                  </a:lnTo>
                  <a:lnTo>
                    <a:pt x="0" y="135"/>
                  </a:lnTo>
                  <a:lnTo>
                    <a:pt x="0" y="152"/>
                  </a:lnTo>
                  <a:lnTo>
                    <a:pt x="0" y="169"/>
                  </a:lnTo>
                  <a:lnTo>
                    <a:pt x="0" y="186"/>
                  </a:lnTo>
                  <a:lnTo>
                    <a:pt x="0" y="204"/>
                  </a:lnTo>
                  <a:lnTo>
                    <a:pt x="0" y="222"/>
                  </a:lnTo>
                  <a:lnTo>
                    <a:pt x="0" y="240"/>
                  </a:lnTo>
                  <a:lnTo>
                    <a:pt x="0" y="259"/>
                  </a:lnTo>
                  <a:lnTo>
                    <a:pt x="0" y="277"/>
                  </a:lnTo>
                  <a:lnTo>
                    <a:pt x="0" y="295"/>
                  </a:lnTo>
                  <a:lnTo>
                    <a:pt x="0" y="312"/>
                  </a:lnTo>
                  <a:lnTo>
                    <a:pt x="0" y="330"/>
                  </a:lnTo>
                  <a:lnTo>
                    <a:pt x="0" y="346"/>
                  </a:lnTo>
                  <a:lnTo>
                    <a:pt x="0" y="362"/>
                  </a:lnTo>
                  <a:lnTo>
                    <a:pt x="0" y="376"/>
                  </a:lnTo>
                  <a:lnTo>
                    <a:pt x="0" y="390"/>
                  </a:lnTo>
                  <a:lnTo>
                    <a:pt x="1" y="406"/>
                  </a:lnTo>
                  <a:lnTo>
                    <a:pt x="2" y="421"/>
                  </a:lnTo>
                  <a:lnTo>
                    <a:pt x="5" y="435"/>
                  </a:lnTo>
                  <a:lnTo>
                    <a:pt x="9" y="448"/>
                  </a:lnTo>
                  <a:lnTo>
                    <a:pt x="14" y="460"/>
                  </a:lnTo>
                  <a:lnTo>
                    <a:pt x="20" y="471"/>
                  </a:lnTo>
                  <a:lnTo>
                    <a:pt x="27" y="480"/>
                  </a:lnTo>
                  <a:lnTo>
                    <a:pt x="35" y="489"/>
                  </a:lnTo>
                  <a:lnTo>
                    <a:pt x="44" y="496"/>
                  </a:lnTo>
                  <a:lnTo>
                    <a:pt x="54" y="503"/>
                  </a:lnTo>
                  <a:lnTo>
                    <a:pt x="64" y="508"/>
                  </a:lnTo>
                  <a:lnTo>
                    <a:pt x="76" y="512"/>
                  </a:lnTo>
                  <a:lnTo>
                    <a:pt x="88" y="516"/>
                  </a:lnTo>
                  <a:lnTo>
                    <a:pt x="101" y="518"/>
                  </a:lnTo>
                  <a:lnTo>
                    <a:pt x="115" y="520"/>
                  </a:lnTo>
                  <a:lnTo>
                    <a:pt x="130" y="520"/>
                  </a:lnTo>
                  <a:lnTo>
                    <a:pt x="130" y="660"/>
                  </a:lnTo>
                  <a:lnTo>
                    <a:pt x="310" y="520"/>
                  </a:lnTo>
                  <a:lnTo>
                    <a:pt x="630" y="520"/>
                  </a:lnTo>
                  <a:lnTo>
                    <a:pt x="646" y="519"/>
                  </a:lnTo>
                  <a:lnTo>
                    <a:pt x="661" y="518"/>
                  </a:lnTo>
                  <a:lnTo>
                    <a:pt x="675" y="515"/>
                  </a:lnTo>
                  <a:lnTo>
                    <a:pt x="688" y="511"/>
                  </a:lnTo>
                  <a:lnTo>
                    <a:pt x="700" y="506"/>
                  </a:lnTo>
                  <a:lnTo>
                    <a:pt x="711" y="500"/>
                  </a:lnTo>
                  <a:lnTo>
                    <a:pt x="720" y="493"/>
                  </a:lnTo>
                  <a:lnTo>
                    <a:pt x="729" y="485"/>
                  </a:lnTo>
                  <a:lnTo>
                    <a:pt x="736" y="476"/>
                  </a:lnTo>
                  <a:lnTo>
                    <a:pt x="743" y="466"/>
                  </a:lnTo>
                  <a:lnTo>
                    <a:pt x="748" y="456"/>
                  </a:lnTo>
                  <a:lnTo>
                    <a:pt x="752" y="444"/>
                  </a:lnTo>
                  <a:lnTo>
                    <a:pt x="756" y="432"/>
                  </a:lnTo>
                  <a:lnTo>
                    <a:pt x="758" y="419"/>
                  </a:lnTo>
                  <a:lnTo>
                    <a:pt x="760" y="405"/>
                  </a:lnTo>
                  <a:lnTo>
                    <a:pt x="760" y="390"/>
                  </a:lnTo>
                  <a:lnTo>
                    <a:pt x="760" y="373"/>
                  </a:lnTo>
                  <a:lnTo>
                    <a:pt x="760" y="356"/>
                  </a:lnTo>
                  <a:lnTo>
                    <a:pt x="760" y="339"/>
                  </a:lnTo>
                  <a:lnTo>
                    <a:pt x="760" y="321"/>
                  </a:lnTo>
                  <a:lnTo>
                    <a:pt x="760" y="304"/>
                  </a:lnTo>
                  <a:lnTo>
                    <a:pt x="760" y="286"/>
                  </a:lnTo>
                  <a:lnTo>
                    <a:pt x="760" y="269"/>
                  </a:lnTo>
                  <a:lnTo>
                    <a:pt x="760" y="251"/>
                  </a:lnTo>
                  <a:lnTo>
                    <a:pt x="760" y="234"/>
                  </a:lnTo>
                  <a:lnTo>
                    <a:pt x="760" y="217"/>
                  </a:lnTo>
                  <a:lnTo>
                    <a:pt x="760" y="200"/>
                  </a:lnTo>
                  <a:lnTo>
                    <a:pt x="760" y="183"/>
                  </a:lnTo>
                  <a:lnTo>
                    <a:pt x="760" y="167"/>
                  </a:lnTo>
                  <a:lnTo>
                    <a:pt x="760" y="151"/>
                  </a:lnTo>
                  <a:lnTo>
                    <a:pt x="760" y="135"/>
                  </a:lnTo>
                  <a:lnTo>
                    <a:pt x="760" y="120"/>
                  </a:lnTo>
                  <a:lnTo>
                    <a:pt x="760" y="105"/>
                  </a:lnTo>
                  <a:lnTo>
                    <a:pt x="758" y="92"/>
                  </a:lnTo>
                  <a:lnTo>
                    <a:pt x="756" y="79"/>
                  </a:lnTo>
                  <a:lnTo>
                    <a:pt x="752" y="68"/>
                  </a:lnTo>
                  <a:lnTo>
                    <a:pt x="748" y="57"/>
                  </a:lnTo>
                  <a:lnTo>
                    <a:pt x="743" y="47"/>
                  </a:lnTo>
                  <a:lnTo>
                    <a:pt x="736" y="38"/>
                  </a:lnTo>
                  <a:lnTo>
                    <a:pt x="729" y="30"/>
                  </a:lnTo>
                  <a:lnTo>
                    <a:pt x="720" y="23"/>
                  </a:lnTo>
                  <a:lnTo>
                    <a:pt x="711" y="17"/>
                  </a:lnTo>
                  <a:lnTo>
                    <a:pt x="700" y="12"/>
                  </a:lnTo>
                  <a:lnTo>
                    <a:pt x="688" y="8"/>
                  </a:lnTo>
                  <a:lnTo>
                    <a:pt x="675" y="4"/>
                  </a:lnTo>
                  <a:lnTo>
                    <a:pt x="661" y="2"/>
                  </a:lnTo>
                  <a:lnTo>
                    <a:pt x="646" y="0"/>
                  </a:lnTo>
                  <a:lnTo>
                    <a:pt x="630" y="0"/>
                  </a:lnTo>
                  <a:lnTo>
                    <a:pt x="110" y="0"/>
                  </a:lnTo>
                  <a:close/>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38554" y="2826410"/>
              <a:ext cx="57607" cy="57607"/>
            </a:xfrm>
            <a:prstGeom prst="ellipse">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411376" y="2826410"/>
              <a:ext cx="57607" cy="57607"/>
            </a:xfrm>
            <a:prstGeom prst="ellipse">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584198" y="2826410"/>
              <a:ext cx="57607" cy="57607"/>
            </a:xfrm>
            <a:prstGeom prst="ellipse">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15" name="Text 10"/>
          <p:cNvSpPr txBox="1"/>
          <p:nvPr/>
        </p:nvSpPr>
        <p:spPr>
          <a:xfrm>
            <a:off x="2240280" y="2331720"/>
            <a:ext cx="8942832" cy="335026"/>
          </a:xfrm>
          <a:prstGeom prst="rect">
            <a:avLst/>
          </a:prstGeom>
          <a:noFill/>
        </p:spPr>
        <p:txBody>
          <a:bodyPr wrap="none" lIns="0" rIns="0" tIns="0" bIns="0" anchor="t">
            <a:spAutoFit/>
          </a:bodyPr>
          <a:lstStyle/>
          <a:p>
            <a:pPr>
              <a:lnSpc>
                <a:spcPts val="2242"/>
              </a:lnSpc>
              <a:spcBef>
                <a:spcPts val="0"/>
              </a:spcBef>
              <a:spcAft>
                <a:spcPts val="0"/>
              </a:spcAft>
              <a:defRPr sz="1900" b="1">
                <a:solidFill>
                  <a:srgbClr val="234B42"/>
                </a:solidFill>
                <a:latin typeface="Inter"/>
              </a:defRPr>
            </a:pPr>
            <a:r>
              <a:rPr lang="de-DE"/>
              <a:t>Ihre Erwartungen</a:t>
            </a:r>
          </a:p>
        </p:txBody>
      </p:sp>
      <p:sp>
        <p:nvSpPr>
          <p:cNvPr id="16" name="Text 11"/>
          <p:cNvSpPr txBox="1"/>
          <p:nvPr/>
        </p:nvSpPr>
        <p:spPr>
          <a:xfrm>
            <a:off x="2240280" y="2926080"/>
            <a:ext cx="8942832" cy="2286000"/>
          </a:xfrm>
          <a:prstGeom prst="rect">
            <a:avLst/>
          </a:prstGeom>
          <a:noFill/>
        </p:spPr>
        <p:txBody>
          <a:bodyPr wrap="none" lIns="0" rIns="0" tIns="0" bIns="0" anchor="t">
            <a:spAutoFit/>
          </a:bodyPr>
          <a:lstStyle/>
          <a:p>
            <a:pPr>
              <a:lnSpc>
                <a:spcPts val="3658"/>
              </a:lnSpc>
              <a:spcBef>
                <a:spcPts val="0"/>
              </a:spcBef>
              <a:spcAft>
                <a:spcPts val="0"/>
              </a:spcAft>
              <a:defRPr sz="3100" b="1">
                <a:solidFill>
                  <a:srgbClr val="234B42"/>
                </a:solidFill>
                <a:latin typeface="Manrope"/>
              </a:defRPr>
            </a:pPr>
            <a:r>
              <a:rPr lang="de-DE"/>
              <a:t>Welche Frage oder konkrete Kita-Situation</a:t>
            </a:r>
          </a:p>
          <a:p>
            <a:pPr>
              <a:lnSpc>
                <a:spcPts val="3658"/>
              </a:lnSpc>
              <a:spcBef>
                <a:spcPts val="0"/>
              </a:spcBef>
              <a:spcAft>
                <a:spcPts val="0"/>
              </a:spcAft>
              <a:defRPr sz="3100" b="1">
                <a:solidFill>
                  <a:srgbClr val="234B42"/>
                </a:solidFill>
                <a:latin typeface="Manrope"/>
              </a:defRPr>
            </a:pPr>
            <a:r>
              <a:rPr lang="de-DE"/>
              <a:t>bringen Sie mit?</a:t>
            </a:r>
          </a:p>
        </p:txBody>
      </p:sp>
      <p:cxnSp>
        <p:nvCxnSpPr>
          <p:cNvPr id="17" name="Connector 16"/>
          <p:cNvCxnSpPr/>
          <p:nvPr/>
        </p:nvCxnSpPr>
        <p:spPr>
          <a:xfrm>
            <a:off x="594360" y="5495544"/>
            <a:ext cx="502920" cy="0"/>
          </a:xfrm>
          <a:prstGeom prst="line">
            <a:avLst/>
          </a:prstGeom>
          <a:ln w="27940">
            <a:solidFill>
              <a:srgbClr val="D68B73"/>
            </a:solidFill>
          </a:ln>
        </p:spPr>
        <p:style>
          <a:lnRef idx="2">
            <a:schemeClr val="accent1"/>
          </a:lnRef>
          <a:fillRef idx="0">
            <a:schemeClr val="accent1"/>
          </a:fillRef>
          <a:effectRef idx="1">
            <a:schemeClr val="accent1"/>
          </a:effectRef>
          <a:fontRef idx="minor">
            <a:schemeClr val="tx1"/>
          </a:fontRef>
        </p:style>
      </p:cxnSp>
      <p:sp>
        <p:nvSpPr>
          <p:cNvPr id="18" name="Text 13"/>
          <p:cNvSpPr txBox="1"/>
          <p:nvPr/>
        </p:nvSpPr>
        <p:spPr>
          <a:xfrm>
            <a:off x="594360" y="5623560"/>
            <a:ext cx="10972800" cy="694944"/>
          </a:xfrm>
          <a:prstGeom prst="rect">
            <a:avLst/>
          </a:prstGeom>
          <a:noFill/>
        </p:spPr>
        <p:txBody>
          <a:bodyPr wrap="none" lIns="0" rIns="0" tIns="0" bIns="0" anchor="t">
            <a:spAutoFit/>
          </a:bodyPr>
          <a:lstStyle/>
          <a:p>
            <a:pPr>
              <a:lnSpc>
                <a:spcPts val="2419"/>
              </a:lnSpc>
              <a:spcBef>
                <a:spcPts val="0"/>
              </a:spcBef>
              <a:spcAft>
                <a:spcPts val="0"/>
              </a:spcAft>
              <a:defRPr sz="2050" b="1">
                <a:solidFill>
                  <a:srgbClr val="234B42"/>
                </a:solidFill>
                <a:latin typeface="Manrope"/>
              </a:defRPr>
            </a:pPr>
            <a:r>
              <a:rPr lang="de-DE"/>
              <a:t>Fragen sammeln und für den Abschluss aufbewahren.</a:t>
            </a:r>
          </a:p>
        </p:txBody>
      </p:sp>
    </p:spTree>
  </p:cSld>
  <p:clrMapOvr>
    <a:masterClrMapping/>
  </p:clrMapOvr>
  <p:transition spd="fast" advClick="1">
    <p:fade/>
  </p:transition>
</p:sld>
</file>

<file path=ppt/slides/slide6.xml><?xml version="1.0" encoding="utf-8"?>
<p:sld xmlns:a="http://schemas.openxmlformats.org/drawingml/2006/main" xmlns:p="http://schemas.openxmlformats.org/presentationml/2006/main" xmlns:r="http://schemas.openxmlformats.org/officeDocument/2006/relationships" showMasterSp="0">
  <p:cSld>
    <p:bg>
      <p:bgPr>
        <a:solidFill>
          <a:srgbClr val="234B42"/>
        </a:solidFill>
        <a:effectLst/>
      </p:bgPr>
    </p:bg>
    <p:spTree>
      <p:nvGrpSpPr>
        <p:cNvPr id="1" name=""/>
        <p:cNvGrpSpPr/>
        <p:nvPr/>
      </p:nvGrpSpPr>
      <p:grpSpPr/>
      <p:cxnSp>
        <p:nvCxnSpPr>
          <p:cNvPr id="2" name="Connector 1"/>
          <p:cNvCxnSpPr/>
          <p:nvPr/>
        </p:nvCxnSpPr>
        <p:spPr>
          <a:xfrm>
            <a:off x="594360" y="6400800"/>
            <a:ext cx="11000232" cy="0"/>
          </a:xfrm>
          <a:prstGeom prst="line">
            <a:avLst/>
          </a:prstGeom>
          <a:ln w="6985">
            <a:solidFill>
              <a:srgbClr val="537568"/>
            </a:solidFill>
          </a:ln>
        </p:spPr>
        <p:style>
          <a:lnRef idx="2">
            <a:schemeClr val="accent1"/>
          </a:lnRef>
          <a:fillRef idx="0">
            <a:schemeClr val="accent1"/>
          </a:fillRef>
          <a:effectRef idx="1">
            <a:schemeClr val="accent1"/>
          </a:effectRef>
          <a:fontRef idx="minor">
            <a:schemeClr val="tx1"/>
          </a:fontRef>
        </p:style>
      </p:cxnSp>
      <p:sp>
        <p:nvSpPr>
          <p:cNvPr id="3" name="Text 2"/>
          <p:cNvSpPr txBox="1"/>
          <p:nvPr/>
        </p:nvSpPr>
        <p:spPr>
          <a:xfrm>
            <a:off x="594360" y="6528816"/>
            <a:ext cx="9692640" cy="176974"/>
          </a:xfrm>
          <a:prstGeom prst="rect">
            <a:avLst/>
          </a:prstGeom>
          <a:noFill/>
        </p:spPr>
        <p:txBody>
          <a:bodyPr wrap="none" lIns="0" rIns="0" tIns="0" bIns="0" anchor="t">
            <a:spAutoFit/>
          </a:bodyPr>
          <a:lstStyle/>
          <a:p>
            <a:pPr>
              <a:lnSpc>
                <a:spcPts val="997"/>
              </a:lnSpc>
              <a:spcBef>
                <a:spcPts val="0"/>
              </a:spcBef>
              <a:spcAft>
                <a:spcPts val="0"/>
              </a:spcAft>
              <a:defRPr sz="950" b="0">
                <a:solidFill>
                  <a:srgbClr val="A8BFA9"/>
                </a:solidFill>
                <a:latin typeface="Inter"/>
              </a:defRPr>
            </a:pPr>
            <a:r>
              <a:rPr lang="de-DE"/>
              <a:t>PRAXIS SCHNECKE / FORTBILDUNG · 02.11.2026</a:t>
            </a:r>
          </a:p>
        </p:txBody>
      </p:sp>
      <p:sp>
        <p:nvSpPr>
          <p:cNvPr id="4" name="Text 3"/>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A8BFA9"/>
                </a:solidFill>
                <a:latin typeface="Inter"/>
              </a:defRPr>
            </a:pPr>
            <a:r>
              <a:rPr lang="de-DE"/>
              <a:t>06</a:t>
            </a:r>
          </a:p>
        </p:txBody>
      </p:sp>
      <p:pic>
        <p:nvPicPr>
          <p:cNvPr id="5" name="Picture 4" descr="01_kita_cover.png"/>
          <p:cNvPicPr>
            <a:picLocks noChangeAspect="1"/>
          </p:cNvPicPr>
          <p:nvPr/>
        </p:nvPicPr>
        <p:blipFill>
          <a:blip r:embed="rId3"/>
          <a:srcRect l="30973" r="30973"/>
          <a:stretch>
            <a:fillRect/>
          </a:stretch>
        </p:blipFill>
        <p:spPr>
          <a:xfrm>
            <a:off x="7863840" y="0"/>
            <a:ext cx="4327855" cy="6400800"/>
          </a:xfrm>
          <a:prstGeom prst="rect">
            <a:avLst/>
          </a:prstGeom>
        </p:spPr>
      </p:pic>
      <p:sp>
        <p:nvSpPr>
          <p:cNvPr id="6" name="Text 5"/>
          <p:cNvSpPr txBox="1"/>
          <p:nvPr/>
        </p:nvSpPr>
        <p:spPr>
          <a:xfrm>
            <a:off x="594360" y="502920"/>
            <a:ext cx="6217920" cy="1320292"/>
          </a:xfrm>
          <a:prstGeom prst="rect">
            <a:avLst/>
          </a:prstGeom>
          <a:noFill/>
        </p:spPr>
        <p:txBody>
          <a:bodyPr wrap="none" lIns="0" rIns="0" tIns="0" bIns="0" anchor="t">
            <a:spAutoFit/>
          </a:bodyPr>
          <a:lstStyle/>
          <a:p>
            <a:pPr>
              <a:lnSpc>
                <a:spcPts val="10000"/>
              </a:lnSpc>
              <a:spcBef>
                <a:spcPts val="0"/>
              </a:spcBef>
              <a:spcAft>
                <a:spcPts val="0"/>
              </a:spcAft>
              <a:defRPr sz="10000" b="1">
                <a:solidFill>
                  <a:srgbClr val="A8BFA9"/>
                </a:solidFill>
                <a:latin typeface="Manrope"/>
              </a:defRPr>
            </a:pPr>
            <a:r>
              <a:rPr lang="de-DE"/>
              <a:t>01</a:t>
            </a:r>
          </a:p>
        </p:txBody>
      </p:sp>
      <p:sp>
        <p:nvSpPr>
          <p:cNvPr id="7" name="Text 6"/>
          <p:cNvSpPr txBox="1"/>
          <p:nvPr/>
        </p:nvSpPr>
        <p:spPr>
          <a:xfrm>
            <a:off x="594360" y="2514600"/>
            <a:ext cx="6949440" cy="1508760"/>
          </a:xfrm>
          <a:prstGeom prst="rect">
            <a:avLst/>
          </a:prstGeom>
          <a:noFill/>
        </p:spPr>
        <p:txBody>
          <a:bodyPr wrap="none" lIns="0" rIns="0" tIns="0" bIns="0" anchor="t">
            <a:spAutoFit/>
          </a:bodyPr>
          <a:lstStyle/>
          <a:p>
            <a:pPr>
              <a:lnSpc>
                <a:spcPts val="5073"/>
              </a:lnSpc>
              <a:spcBef>
                <a:spcPts val="0"/>
              </a:spcBef>
              <a:spcAft>
                <a:spcPts val="0"/>
              </a:spcAft>
              <a:defRPr sz="4300" b="1">
                <a:solidFill>
                  <a:srgbClr val="F7F5EF"/>
                </a:solidFill>
                <a:latin typeface="Manrope"/>
              </a:defRPr>
            </a:pPr>
            <a:r>
              <a:rPr lang="de-DE"/>
              <a:t>Neurodiversität</a:t>
            </a:r>
          </a:p>
        </p:txBody>
      </p:sp>
      <p:sp>
        <p:nvSpPr>
          <p:cNvPr id="8" name="Text 7"/>
          <p:cNvSpPr txBox="1"/>
          <p:nvPr/>
        </p:nvSpPr>
        <p:spPr>
          <a:xfrm>
            <a:off x="594360" y="4617720"/>
            <a:ext cx="6629400" cy="1097280"/>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F7F5EF"/>
                </a:solidFill>
                <a:latin typeface="Inter"/>
              </a:defRPr>
            </a:pPr>
            <a:r>
              <a:rPr lang="de-DE"/>
              <a:t>Wahrnehmung und Entwicklung unterscheiden</a:t>
            </a:r>
          </a:p>
          <a:p>
            <a:pPr>
              <a:lnSpc>
                <a:spcPts val="2713"/>
              </a:lnSpc>
              <a:spcBef>
                <a:spcPts val="0"/>
              </a:spcBef>
              <a:spcAft>
                <a:spcPts val="0"/>
              </a:spcAft>
              <a:defRPr sz="2300" b="0">
                <a:solidFill>
                  <a:srgbClr val="F7F5EF"/>
                </a:solidFill>
                <a:latin typeface="Inter"/>
              </a:defRPr>
            </a:pPr>
            <a:r>
              <a:rPr lang="de-DE"/>
              <a:t>sich</a:t>
            </a:r>
          </a:p>
        </p:txBody>
      </p:sp>
    </p:spTree>
  </p:cSld>
  <p:clrMapOvr>
    <a:masterClrMapping/>
  </p:clrMapOvr>
  <p:transition spd="fast" advClick="1">
    <p:fade/>
  </p:transition>
</p:sld>
</file>

<file path=ppt/slides/slide7.xml><?xml version="1.0" encoding="utf-8"?>
<p:sld xmlns:a="http://schemas.openxmlformats.org/drawingml/2006/main" xmlns:p="http://schemas.openxmlformats.org/presentationml/2006/main" xmlns:r="http://schemas.openxmlformats.org/officeDocument/2006/relationships" showMasterSp="1">
  <p:cSld>
    <p:bg>
      <p:bgPr>
        <a:solidFill>
          <a:srgbClr val="F7F5EF"/>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07</a:t>
            </a:r>
          </a:p>
        </p:txBody>
      </p:sp>
      <p:sp>
        <p:nvSpPr>
          <p:cNvPr id="3" name="Text 2"/>
          <p:cNvSpPr txBox="1"/>
          <p:nvPr/>
        </p:nvSpPr>
        <p:spPr>
          <a:xfrm>
            <a:off x="594360" y="393192"/>
            <a:ext cx="10881360" cy="203644"/>
          </a:xfrm>
          <a:prstGeom prst="rect">
            <a:avLst/>
          </a:prstGeom>
          <a:noFill/>
        </p:spPr>
        <p:txBody>
          <a:bodyPr wrap="none" lIns="0" rIns="0" tIns="0" bIns="0" anchor="t">
            <a:spAutoFit/>
          </a:bodyPr>
          <a:lstStyle/>
          <a:p>
            <a:pPr>
              <a:lnSpc>
                <a:spcPts val="1207"/>
              </a:lnSpc>
              <a:spcBef>
                <a:spcPts val="0"/>
              </a:spcBef>
              <a:spcAft>
                <a:spcPts val="0"/>
              </a:spcAft>
              <a:defRPr sz="1150" b="1">
                <a:solidFill>
                  <a:srgbClr val="234B42"/>
                </a:solidFill>
                <a:latin typeface="Inter"/>
              </a:defRPr>
            </a:pPr>
            <a:r>
              <a:rPr lang="de-DE"/>
              <a:t>NEURODIVERSITÄT</a:t>
            </a:r>
          </a:p>
        </p:txBody>
      </p:sp>
      <p:sp>
        <p:nvSpPr>
          <p:cNvPr id="4" name="Text 3"/>
          <p:cNvSpPr txBox="1"/>
          <p:nvPr/>
        </p:nvSpPr>
        <p:spPr>
          <a:xfrm>
            <a:off x="594360" y="804672"/>
            <a:ext cx="10991088"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Begriffe und ihre Bedeutung</a:t>
            </a:r>
          </a:p>
        </p:txBody>
      </p:sp>
      <p:sp>
        <p:nvSpPr>
          <p:cNvPr id="5" name="Rounded Rectangle 4"/>
          <p:cNvSpPr/>
          <p:nvPr/>
        </p:nvSpPr>
        <p:spPr>
          <a:xfrm>
            <a:off x="594360" y="1644396"/>
            <a:ext cx="3514344" cy="4390643"/>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644396"/>
            <a:ext cx="50292" cy="4390643"/>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6"/>
          <p:cNvSpPr txBox="1"/>
          <p:nvPr/>
        </p:nvSpPr>
        <p:spPr>
          <a:xfrm>
            <a:off x="850392" y="1909572"/>
            <a:ext cx="3002280" cy="366014"/>
          </a:xfrm>
          <a:prstGeom prst="rect">
            <a:avLst/>
          </a:prstGeom>
          <a:noFill/>
        </p:spPr>
        <p:txBody>
          <a:bodyPr wrap="none" lIns="0" rIns="0" tIns="0" bIns="0" anchor="t">
            <a:spAutoFit/>
          </a:bodyPr>
          <a:lstStyle/>
          <a:p>
            <a:pPr>
              <a:lnSpc>
                <a:spcPts val="2486"/>
              </a:lnSpc>
              <a:spcBef>
                <a:spcPts val="0"/>
              </a:spcBef>
              <a:spcAft>
                <a:spcPts val="0"/>
              </a:spcAft>
              <a:defRPr sz="2200" b="1">
                <a:solidFill>
                  <a:srgbClr val="234B42"/>
                </a:solidFill>
                <a:latin typeface="Manrope"/>
              </a:defRPr>
            </a:pPr>
            <a:r>
              <a:rPr lang="de-DE"/>
              <a:t>Neurodiversität</a:t>
            </a:r>
          </a:p>
        </p:txBody>
      </p:sp>
      <p:sp>
        <p:nvSpPr>
          <p:cNvPr id="8" name="Text 7"/>
          <p:cNvSpPr txBox="1"/>
          <p:nvPr/>
        </p:nvSpPr>
        <p:spPr>
          <a:xfrm>
            <a:off x="850392" y="2476754"/>
            <a:ext cx="3002280" cy="3311398"/>
          </a:xfrm>
          <a:prstGeom prst="rect">
            <a:avLst/>
          </a:prstGeom>
          <a:noFill/>
        </p:spPr>
        <p:txBody>
          <a:bodyPr wrap="none" lIns="0" rIns="0" tIns="0" bIns="0" anchor="t">
            <a:spAutoFit/>
          </a:bodyPr>
          <a:lstStyle/>
          <a:p>
            <a:pPr>
              <a:lnSpc>
                <a:spcPts val="2595"/>
              </a:lnSpc>
              <a:spcBef>
                <a:spcPts val="0"/>
              </a:spcBef>
              <a:spcAft>
                <a:spcPts val="0"/>
              </a:spcAft>
              <a:defRPr sz="2200" b="0">
                <a:solidFill>
                  <a:srgbClr val="26332F"/>
                </a:solidFill>
                <a:latin typeface="Inter"/>
              </a:defRPr>
            </a:pPr>
            <a:r>
              <a:rPr lang="de-DE"/>
              <a:t>Vielfalt menschlicher</a:t>
            </a:r>
          </a:p>
          <a:p>
            <a:pPr>
              <a:lnSpc>
                <a:spcPts val="2595"/>
              </a:lnSpc>
              <a:spcBef>
                <a:spcPts val="0"/>
              </a:spcBef>
              <a:spcAft>
                <a:spcPts val="0"/>
              </a:spcAft>
              <a:defRPr sz="2200" b="0">
                <a:solidFill>
                  <a:srgbClr val="26332F"/>
                </a:solidFill>
                <a:latin typeface="Inter"/>
              </a:defRPr>
            </a:pPr>
            <a:r>
              <a:rPr lang="de-DE"/>
              <a:t>Wahrnehmung und</a:t>
            </a:r>
          </a:p>
          <a:p>
            <a:pPr>
              <a:lnSpc>
                <a:spcPts val="2595"/>
              </a:lnSpc>
              <a:spcBef>
                <a:spcPts val="0"/>
              </a:spcBef>
              <a:spcAft>
                <a:spcPts val="0"/>
              </a:spcAft>
              <a:defRPr sz="2200" b="0">
                <a:solidFill>
                  <a:srgbClr val="26332F"/>
                </a:solidFill>
                <a:latin typeface="Inter"/>
              </a:defRPr>
            </a:pPr>
            <a:r>
              <a:rPr lang="de-DE"/>
              <a:t>Informations-</a:t>
            </a:r>
          </a:p>
          <a:p>
            <a:pPr>
              <a:lnSpc>
                <a:spcPts val="2595"/>
              </a:lnSpc>
              <a:spcBef>
                <a:spcPts val="0"/>
              </a:spcBef>
              <a:spcAft>
                <a:spcPts val="0"/>
              </a:spcAft>
              <a:defRPr sz="2200" b="0">
                <a:solidFill>
                  <a:srgbClr val="26332F"/>
                </a:solidFill>
                <a:latin typeface="Inter"/>
              </a:defRPr>
            </a:pPr>
            <a:r>
              <a:rPr lang="de-DE"/>
              <a:t>verarbeitung</a:t>
            </a:r>
          </a:p>
        </p:txBody>
      </p:sp>
      <p:sp>
        <p:nvSpPr>
          <p:cNvPr id="9" name="Rounded Rectangle 8"/>
          <p:cNvSpPr/>
          <p:nvPr/>
        </p:nvSpPr>
        <p:spPr>
          <a:xfrm>
            <a:off x="4337304" y="1644396"/>
            <a:ext cx="3514344" cy="4390643"/>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37304" y="1644396"/>
            <a:ext cx="50292" cy="4390643"/>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10"/>
          <p:cNvSpPr txBox="1"/>
          <p:nvPr/>
        </p:nvSpPr>
        <p:spPr>
          <a:xfrm>
            <a:off x="4593336" y="1909572"/>
            <a:ext cx="3002280" cy="366014"/>
          </a:xfrm>
          <a:prstGeom prst="rect">
            <a:avLst/>
          </a:prstGeom>
          <a:noFill/>
        </p:spPr>
        <p:txBody>
          <a:bodyPr wrap="none" lIns="0" rIns="0" tIns="0" bIns="0" anchor="t">
            <a:spAutoFit/>
          </a:bodyPr>
          <a:lstStyle/>
          <a:p>
            <a:pPr>
              <a:lnSpc>
                <a:spcPts val="2486"/>
              </a:lnSpc>
              <a:spcBef>
                <a:spcPts val="0"/>
              </a:spcBef>
              <a:spcAft>
                <a:spcPts val="0"/>
              </a:spcAft>
              <a:defRPr sz="2200" b="1">
                <a:solidFill>
                  <a:srgbClr val="234B42"/>
                </a:solidFill>
                <a:latin typeface="Manrope"/>
              </a:defRPr>
            </a:pPr>
            <a:r>
              <a:rPr lang="de-DE"/>
              <a:t>Neurodivergent</a:t>
            </a:r>
          </a:p>
        </p:txBody>
      </p:sp>
      <p:sp>
        <p:nvSpPr>
          <p:cNvPr id="12" name="Text 11"/>
          <p:cNvSpPr txBox="1"/>
          <p:nvPr/>
        </p:nvSpPr>
        <p:spPr>
          <a:xfrm>
            <a:off x="4593336" y="2476754"/>
            <a:ext cx="3002280" cy="3311398"/>
          </a:xfrm>
          <a:prstGeom prst="rect">
            <a:avLst/>
          </a:prstGeom>
          <a:noFill/>
        </p:spPr>
        <p:txBody>
          <a:bodyPr wrap="none" lIns="0" rIns="0" tIns="0" bIns="0" anchor="t">
            <a:spAutoFit/>
          </a:bodyPr>
          <a:lstStyle/>
          <a:p>
            <a:pPr>
              <a:lnSpc>
                <a:spcPts val="2595"/>
              </a:lnSpc>
              <a:spcBef>
                <a:spcPts val="0"/>
              </a:spcBef>
              <a:spcAft>
                <a:spcPts val="0"/>
              </a:spcAft>
              <a:defRPr sz="2200" b="0">
                <a:solidFill>
                  <a:srgbClr val="26332F"/>
                </a:solidFill>
                <a:latin typeface="Inter"/>
              </a:defRPr>
            </a:pPr>
            <a:r>
              <a:rPr lang="de-DE"/>
              <a:t>Abweichung von</a:t>
            </a:r>
          </a:p>
          <a:p>
            <a:pPr>
              <a:lnSpc>
                <a:spcPts val="2595"/>
              </a:lnSpc>
              <a:spcBef>
                <a:spcPts val="0"/>
              </a:spcBef>
              <a:spcAft>
                <a:spcPts val="0"/>
              </a:spcAft>
              <a:defRPr sz="2200" b="0">
                <a:solidFill>
                  <a:srgbClr val="26332F"/>
                </a:solidFill>
                <a:latin typeface="Inter"/>
              </a:defRPr>
            </a:pPr>
            <a:r>
              <a:rPr lang="de-DE"/>
              <a:t>verbreiteten</a:t>
            </a:r>
          </a:p>
          <a:p>
            <a:pPr>
              <a:lnSpc>
                <a:spcPts val="2595"/>
              </a:lnSpc>
              <a:spcBef>
                <a:spcPts val="0"/>
              </a:spcBef>
              <a:spcAft>
                <a:spcPts val="0"/>
              </a:spcAft>
              <a:defRPr sz="2200" b="0">
                <a:solidFill>
                  <a:srgbClr val="26332F"/>
                </a:solidFill>
                <a:latin typeface="Inter"/>
              </a:defRPr>
            </a:pPr>
            <a:r>
              <a:rPr lang="de-DE"/>
              <a:t>neurokognitiven</a:t>
            </a:r>
          </a:p>
          <a:p>
            <a:pPr>
              <a:lnSpc>
                <a:spcPts val="2595"/>
              </a:lnSpc>
              <a:spcBef>
                <a:spcPts val="0"/>
              </a:spcBef>
              <a:spcAft>
                <a:spcPts val="0"/>
              </a:spcAft>
              <a:defRPr sz="2200" b="0">
                <a:solidFill>
                  <a:srgbClr val="26332F"/>
                </a:solidFill>
                <a:latin typeface="Inter"/>
              </a:defRPr>
            </a:pPr>
            <a:r>
              <a:rPr lang="de-DE"/>
              <a:t>Normvorstellungen</a:t>
            </a:r>
          </a:p>
        </p:txBody>
      </p:sp>
      <p:sp>
        <p:nvSpPr>
          <p:cNvPr id="13" name="Rounded Rectangle 12"/>
          <p:cNvSpPr/>
          <p:nvPr/>
        </p:nvSpPr>
        <p:spPr>
          <a:xfrm>
            <a:off x="8080248" y="1644396"/>
            <a:ext cx="3514344" cy="4390643"/>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80248" y="1644396"/>
            <a:ext cx="50292" cy="4390643"/>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14"/>
          <p:cNvSpPr txBox="1"/>
          <p:nvPr/>
        </p:nvSpPr>
        <p:spPr>
          <a:xfrm>
            <a:off x="8336280" y="1909572"/>
            <a:ext cx="3002280" cy="366014"/>
          </a:xfrm>
          <a:prstGeom prst="rect">
            <a:avLst/>
          </a:prstGeom>
          <a:noFill/>
        </p:spPr>
        <p:txBody>
          <a:bodyPr wrap="none" lIns="0" rIns="0" tIns="0" bIns="0" anchor="t">
            <a:spAutoFit/>
          </a:bodyPr>
          <a:lstStyle/>
          <a:p>
            <a:pPr>
              <a:lnSpc>
                <a:spcPts val="2486"/>
              </a:lnSpc>
              <a:spcBef>
                <a:spcPts val="0"/>
              </a:spcBef>
              <a:spcAft>
                <a:spcPts val="0"/>
              </a:spcAft>
              <a:defRPr sz="2200" b="1">
                <a:solidFill>
                  <a:srgbClr val="234B42"/>
                </a:solidFill>
                <a:latin typeface="Manrope"/>
              </a:defRPr>
            </a:pPr>
            <a:r>
              <a:rPr lang="de-DE"/>
              <a:t>ADHS und Autismus</a:t>
            </a:r>
          </a:p>
        </p:txBody>
      </p:sp>
      <p:sp>
        <p:nvSpPr>
          <p:cNvPr id="16" name="Text 15"/>
          <p:cNvSpPr txBox="1"/>
          <p:nvPr/>
        </p:nvSpPr>
        <p:spPr>
          <a:xfrm>
            <a:off x="8336280" y="2476754"/>
            <a:ext cx="3002280" cy="3311398"/>
          </a:xfrm>
          <a:prstGeom prst="rect">
            <a:avLst/>
          </a:prstGeom>
          <a:noFill/>
        </p:spPr>
        <p:txBody>
          <a:bodyPr wrap="none" lIns="0" rIns="0" tIns="0" bIns="0" anchor="t">
            <a:spAutoFit/>
          </a:bodyPr>
          <a:lstStyle/>
          <a:p>
            <a:pPr>
              <a:lnSpc>
                <a:spcPts val="2595"/>
              </a:lnSpc>
              <a:spcBef>
                <a:spcPts val="0"/>
              </a:spcBef>
              <a:spcAft>
                <a:spcPts val="0"/>
              </a:spcAft>
              <a:defRPr sz="2200" b="0">
                <a:solidFill>
                  <a:srgbClr val="26332F"/>
                </a:solidFill>
                <a:latin typeface="Inter"/>
              </a:defRPr>
            </a:pPr>
            <a:r>
              <a:rPr lang="de-DE"/>
              <a:t>Eigenständige</a:t>
            </a:r>
          </a:p>
          <a:p>
            <a:pPr>
              <a:lnSpc>
                <a:spcPts val="2595"/>
              </a:lnSpc>
              <a:spcBef>
                <a:spcPts val="0"/>
              </a:spcBef>
              <a:spcAft>
                <a:spcPts val="0"/>
              </a:spcAft>
              <a:defRPr sz="2200" b="0">
                <a:solidFill>
                  <a:srgbClr val="26332F"/>
                </a:solidFill>
                <a:latin typeface="Inter"/>
              </a:defRPr>
            </a:pPr>
            <a:r>
              <a:rPr lang="de-DE"/>
              <a:t>neuroentwicklungs-</a:t>
            </a:r>
          </a:p>
          <a:p>
            <a:pPr>
              <a:lnSpc>
                <a:spcPts val="2595"/>
              </a:lnSpc>
              <a:spcBef>
                <a:spcPts val="0"/>
              </a:spcBef>
              <a:spcAft>
                <a:spcPts val="0"/>
              </a:spcAft>
              <a:defRPr sz="2200" b="0">
                <a:solidFill>
                  <a:srgbClr val="26332F"/>
                </a:solidFill>
                <a:latin typeface="Inter"/>
              </a:defRPr>
            </a:pPr>
            <a:r>
              <a:rPr lang="de-DE"/>
              <a:t>bezogene Diagnosen</a:t>
            </a:r>
          </a:p>
        </p:txBody>
      </p:sp>
    </p:spTree>
  </p:cSld>
  <p:clrMapOvr>
    <a:masterClrMapping/>
  </p:clrMapOvr>
  <p:transition spd="fast" advClick="1">
    <p:fade/>
  </p:transition>
</p:sld>
</file>

<file path=ppt/slides/slide8.xml><?xml version="1.0" encoding="utf-8"?>
<p:sld xmlns:a="http://schemas.openxmlformats.org/drawingml/2006/main" xmlns:p="http://schemas.openxmlformats.org/presentationml/2006/main" xmlns:r="http://schemas.openxmlformats.org/officeDocument/2006/relationships" showMasterSp="1">
  <p:cSld>
    <p:bg>
      <p:bgPr>
        <a:solidFill>
          <a:srgbClr val="F7F5EF"/>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08</a:t>
            </a:r>
          </a:p>
        </p:txBody>
      </p:sp>
      <p:sp>
        <p:nvSpPr>
          <p:cNvPr id="3" name="Text 2"/>
          <p:cNvSpPr txBox="1"/>
          <p:nvPr/>
        </p:nvSpPr>
        <p:spPr>
          <a:xfrm>
            <a:off x="594360" y="393192"/>
            <a:ext cx="10881360" cy="203644"/>
          </a:xfrm>
          <a:prstGeom prst="rect">
            <a:avLst/>
          </a:prstGeom>
          <a:noFill/>
        </p:spPr>
        <p:txBody>
          <a:bodyPr wrap="none" lIns="0" rIns="0" tIns="0" bIns="0" anchor="t">
            <a:spAutoFit/>
          </a:bodyPr>
          <a:lstStyle/>
          <a:p>
            <a:pPr>
              <a:lnSpc>
                <a:spcPts val="1207"/>
              </a:lnSpc>
              <a:spcBef>
                <a:spcPts val="0"/>
              </a:spcBef>
              <a:spcAft>
                <a:spcPts val="0"/>
              </a:spcAft>
              <a:defRPr sz="1150" b="1">
                <a:solidFill>
                  <a:srgbClr val="234B42"/>
                </a:solidFill>
                <a:latin typeface="Inter"/>
              </a:defRPr>
            </a:pPr>
            <a:r>
              <a:rPr lang="de-DE"/>
              <a:t>WAHRNEHMUNG</a:t>
            </a:r>
          </a:p>
        </p:txBody>
      </p:sp>
      <p:sp>
        <p:nvSpPr>
          <p:cNvPr id="4" name="Text 3"/>
          <p:cNvSpPr txBox="1"/>
          <p:nvPr/>
        </p:nvSpPr>
        <p:spPr>
          <a:xfrm>
            <a:off x="594360" y="804672"/>
            <a:ext cx="10991088"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Exkurs Sinneswahrnehmung</a:t>
            </a:r>
          </a:p>
        </p:txBody>
      </p:sp>
      <p:sp>
        <p:nvSpPr>
          <p:cNvPr id="5" name="Rounded Rectangle 4"/>
          <p:cNvSpPr/>
          <p:nvPr/>
        </p:nvSpPr>
        <p:spPr>
          <a:xfrm>
            <a:off x="594360" y="2176272"/>
            <a:ext cx="2377440" cy="2907792"/>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 5"/>
          <p:cNvSpPr txBox="1"/>
          <p:nvPr/>
        </p:nvSpPr>
        <p:spPr>
          <a:xfrm>
            <a:off x="850392" y="2450591"/>
            <a:ext cx="1865376" cy="484885"/>
          </a:xfrm>
          <a:prstGeom prst="rect">
            <a:avLst/>
          </a:prstGeom>
          <a:noFill/>
        </p:spPr>
        <p:txBody>
          <a:bodyPr wrap="none" lIns="0" rIns="0" tIns="0" bIns="0" anchor="t">
            <a:spAutoFit/>
          </a:bodyPr>
          <a:lstStyle/>
          <a:p>
            <a:pPr>
              <a:lnSpc>
                <a:spcPts val="3422"/>
              </a:lnSpc>
              <a:spcBef>
                <a:spcPts val="0"/>
              </a:spcBef>
              <a:spcAft>
                <a:spcPts val="0"/>
              </a:spcAft>
              <a:defRPr sz="2900" b="1">
                <a:solidFill>
                  <a:srgbClr val="234B42"/>
                </a:solidFill>
                <a:latin typeface="Manrope"/>
              </a:defRPr>
            </a:pPr>
            <a:r>
              <a:rPr lang="de-DE"/>
              <a:t>Sinne</a:t>
            </a:r>
          </a:p>
        </p:txBody>
      </p:sp>
      <p:sp>
        <p:nvSpPr>
          <p:cNvPr id="7" name="Rounded Rectangle 6"/>
          <p:cNvSpPr/>
          <p:nvPr/>
        </p:nvSpPr>
        <p:spPr>
          <a:xfrm>
            <a:off x="3657600" y="1755648"/>
            <a:ext cx="4828032" cy="3730752"/>
          </a:xfrm>
          <a:prstGeom prst="roundRect">
            <a:avLst>
              <a:gd name="adj" fmla="val 6500"/>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 7"/>
          <p:cNvSpPr txBox="1"/>
          <p:nvPr/>
        </p:nvSpPr>
        <p:spPr>
          <a:xfrm>
            <a:off x="3913632" y="2029967"/>
            <a:ext cx="4315968" cy="484885"/>
          </a:xfrm>
          <a:prstGeom prst="rect">
            <a:avLst/>
          </a:prstGeom>
          <a:noFill/>
        </p:spPr>
        <p:txBody>
          <a:bodyPr wrap="none" lIns="0" rIns="0" tIns="0" bIns="0" anchor="t">
            <a:spAutoFit/>
          </a:bodyPr>
          <a:lstStyle/>
          <a:p>
            <a:pPr>
              <a:lnSpc>
                <a:spcPts val="3422"/>
              </a:lnSpc>
              <a:spcBef>
                <a:spcPts val="0"/>
              </a:spcBef>
              <a:spcAft>
                <a:spcPts val="0"/>
              </a:spcAft>
              <a:defRPr sz="2900" b="1">
                <a:solidFill>
                  <a:srgbClr val="F7F5EF"/>
                </a:solidFill>
                <a:latin typeface="Manrope"/>
              </a:defRPr>
            </a:pPr>
            <a:r>
              <a:rPr lang="de-DE"/>
              <a:t>ZNS</a:t>
            </a:r>
          </a:p>
        </p:txBody>
      </p:sp>
      <p:sp>
        <p:nvSpPr>
          <p:cNvPr id="9" name="Rounded Rectangle 8"/>
          <p:cNvSpPr/>
          <p:nvPr/>
        </p:nvSpPr>
        <p:spPr>
          <a:xfrm>
            <a:off x="9171432" y="2176272"/>
            <a:ext cx="2423160" cy="2907792"/>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9"/>
          <p:cNvSpPr txBox="1"/>
          <p:nvPr/>
        </p:nvSpPr>
        <p:spPr>
          <a:xfrm>
            <a:off x="9427463" y="2450591"/>
            <a:ext cx="1911095" cy="484885"/>
          </a:xfrm>
          <a:prstGeom prst="rect">
            <a:avLst/>
          </a:prstGeom>
          <a:noFill/>
        </p:spPr>
        <p:txBody>
          <a:bodyPr wrap="none" lIns="0" rIns="0" tIns="0" bIns="0" anchor="t">
            <a:spAutoFit/>
          </a:bodyPr>
          <a:lstStyle/>
          <a:p>
            <a:pPr>
              <a:lnSpc>
                <a:spcPts val="3422"/>
              </a:lnSpc>
              <a:spcBef>
                <a:spcPts val="0"/>
              </a:spcBef>
              <a:spcAft>
                <a:spcPts val="0"/>
              </a:spcAft>
              <a:defRPr sz="2900" b="1">
                <a:solidFill>
                  <a:srgbClr val="234B42"/>
                </a:solidFill>
                <a:latin typeface="Manrope"/>
              </a:defRPr>
            </a:pPr>
            <a:r>
              <a:rPr lang="de-DE"/>
              <a:t>Reaktion</a:t>
            </a:r>
          </a:p>
        </p:txBody>
      </p:sp>
      <p:grpSp>
        <p:nvGrpSpPr>
          <p:cNvPr id="11" name="Icon · eye"/>
          <p:cNvGrpSpPr/>
          <p:nvPr/>
        </p:nvGrpSpPr>
        <p:grpSpPr>
          <a:xfrm>
            <a:off x="1376172" y="3454420"/>
            <a:ext cx="621792" cy="360639"/>
            <a:chOff x="1376172" y="3454420"/>
            <a:chExt cx="621792" cy="360639"/>
          </a:xfrm>
        </p:grpSpPr>
        <p:sp>
          <p:nvSpPr>
            <p:cNvPr id="12" name="Freeform 11"/>
            <p:cNvSpPr/>
            <p:nvPr/>
          </p:nvSpPr>
          <p:spPr>
            <a:xfrm>
              <a:off x="1376172" y="3454420"/>
              <a:ext cx="621792" cy="360639"/>
            </a:xfrm>
            <a:custGeom>
              <a:avLst/>
              <a:gdLst/>
              <a:ahLst/>
              <a:cxnLst/>
              <a:rect l="l" t="t" r="r" b="b"/>
              <a:pathLst>
                <a:path w="800" h="464">
                  <a:moveTo>
                    <a:pt x="0" y="232"/>
                  </a:moveTo>
                  <a:lnTo>
                    <a:pt x="38" y="178"/>
                  </a:lnTo>
                  <a:lnTo>
                    <a:pt x="79" y="130"/>
                  </a:lnTo>
                  <a:lnTo>
                    <a:pt x="125" y="90"/>
                  </a:lnTo>
                  <a:lnTo>
                    <a:pt x="173" y="58"/>
                  </a:lnTo>
                  <a:lnTo>
                    <a:pt x="223" y="32"/>
                  </a:lnTo>
                  <a:lnTo>
                    <a:pt x="276" y="14"/>
                  </a:lnTo>
                  <a:lnTo>
                    <a:pt x="330" y="3"/>
                  </a:lnTo>
                  <a:lnTo>
                    <a:pt x="385" y="0"/>
                  </a:lnTo>
                  <a:lnTo>
                    <a:pt x="440" y="3"/>
                  </a:lnTo>
                  <a:lnTo>
                    <a:pt x="496" y="14"/>
                  </a:lnTo>
                  <a:lnTo>
                    <a:pt x="551" y="32"/>
                  </a:lnTo>
                  <a:lnTo>
                    <a:pt x="605" y="58"/>
                  </a:lnTo>
                  <a:lnTo>
                    <a:pt x="657" y="90"/>
                  </a:lnTo>
                  <a:lnTo>
                    <a:pt x="707" y="130"/>
                  </a:lnTo>
                  <a:lnTo>
                    <a:pt x="755" y="178"/>
                  </a:lnTo>
                  <a:lnTo>
                    <a:pt x="800" y="232"/>
                  </a:lnTo>
                  <a:lnTo>
                    <a:pt x="757" y="286"/>
                  </a:lnTo>
                  <a:lnTo>
                    <a:pt x="710" y="334"/>
                  </a:lnTo>
                  <a:lnTo>
                    <a:pt x="661" y="374"/>
                  </a:lnTo>
                  <a:lnTo>
                    <a:pt x="609" y="406"/>
                  </a:lnTo>
                  <a:lnTo>
                    <a:pt x="555" y="432"/>
                  </a:lnTo>
                  <a:lnTo>
                    <a:pt x="500" y="450"/>
                  </a:lnTo>
                  <a:lnTo>
                    <a:pt x="445" y="461"/>
                  </a:lnTo>
                  <a:lnTo>
                    <a:pt x="389" y="464"/>
                  </a:lnTo>
                  <a:lnTo>
                    <a:pt x="333" y="461"/>
                  </a:lnTo>
                  <a:lnTo>
                    <a:pt x="279" y="450"/>
                  </a:lnTo>
                  <a:lnTo>
                    <a:pt x="225" y="432"/>
                  </a:lnTo>
                  <a:lnTo>
                    <a:pt x="174" y="406"/>
                  </a:lnTo>
                  <a:lnTo>
                    <a:pt x="126" y="374"/>
                  </a:lnTo>
                  <a:lnTo>
                    <a:pt x="80" y="334"/>
                  </a:lnTo>
                  <a:lnTo>
                    <a:pt x="38" y="286"/>
                  </a:lnTo>
                  <a:lnTo>
                    <a:pt x="0" y="232"/>
                  </a:lnTo>
                  <a:close/>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578254" y="3525926"/>
              <a:ext cx="217627" cy="217627"/>
            </a:xfrm>
            <a:prstGeom prst="ellipse">
              <a:avLst/>
            </a:pr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655978" y="3603650"/>
              <a:ext cx="62179" cy="62179"/>
            </a:xfrm>
            <a:prstGeom prst="ellipse">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15" name="Text 11"/>
          <p:cNvSpPr txBox="1"/>
          <p:nvPr/>
        </p:nvSpPr>
        <p:spPr>
          <a:xfrm>
            <a:off x="859536" y="4489704"/>
            <a:ext cx="1874519" cy="364997"/>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34B42"/>
                </a:solidFill>
                <a:latin typeface="Inter"/>
              </a:defRPr>
            </a:pPr>
            <a:r>
              <a:rPr lang="de-DE"/>
              <a:t>Empfang</a:t>
            </a:r>
          </a:p>
        </p:txBody>
      </p:sp>
      <p:sp>
        <p:nvSpPr>
          <p:cNvPr id="16" name="Text 12"/>
          <p:cNvSpPr txBox="1"/>
          <p:nvPr/>
        </p:nvSpPr>
        <p:spPr>
          <a:xfrm>
            <a:off x="3931920" y="2679192"/>
            <a:ext cx="4251960" cy="320040"/>
          </a:xfrm>
          <a:prstGeom prst="rect">
            <a:avLst/>
          </a:prstGeom>
          <a:noFill/>
        </p:spPr>
        <p:txBody>
          <a:bodyPr wrap="none" lIns="0" rIns="0" tIns="0" bIns="0" anchor="t">
            <a:spAutoFit/>
          </a:bodyPr>
          <a:lstStyle/>
          <a:p>
            <a:pPr>
              <a:lnSpc>
                <a:spcPts val="2124"/>
              </a:lnSpc>
              <a:spcBef>
                <a:spcPts val="0"/>
              </a:spcBef>
              <a:spcAft>
                <a:spcPts val="0"/>
              </a:spcAft>
              <a:defRPr sz="1800" b="1">
                <a:solidFill>
                  <a:srgbClr val="F7F5EF"/>
                </a:solidFill>
                <a:latin typeface="Inter"/>
              </a:defRPr>
            </a:pPr>
            <a:r>
              <a:rPr lang="de-DE"/>
              <a:t>Zentrales Nervensystem</a:t>
            </a:r>
          </a:p>
        </p:txBody>
      </p:sp>
      <p:sp>
        <p:nvSpPr>
          <p:cNvPr id="17" name="Text 13"/>
          <p:cNvSpPr txBox="1"/>
          <p:nvPr/>
        </p:nvSpPr>
        <p:spPr>
          <a:xfrm>
            <a:off x="3931920" y="3264408"/>
            <a:ext cx="4251960" cy="822960"/>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F7F5EF"/>
                </a:solidFill>
                <a:latin typeface="Inter"/>
              </a:defRPr>
            </a:pPr>
            <a:r>
              <a:rPr lang="de-DE"/>
              <a:t>Lokalisierung · Filterung · Ordnung</a:t>
            </a:r>
          </a:p>
        </p:txBody>
      </p:sp>
      <p:sp>
        <p:nvSpPr>
          <p:cNvPr id="18" name="Text 14"/>
          <p:cNvSpPr txBox="1"/>
          <p:nvPr/>
        </p:nvSpPr>
        <p:spPr>
          <a:xfrm>
            <a:off x="3931920" y="4261104"/>
            <a:ext cx="4251960" cy="914400"/>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F7F5EF"/>
                </a:solidFill>
                <a:latin typeface="Inter"/>
              </a:defRPr>
            </a:pPr>
            <a:r>
              <a:rPr lang="de-DE"/>
              <a:t>Integration und Abgleich</a:t>
            </a:r>
          </a:p>
          <a:p>
            <a:pPr>
              <a:lnSpc>
                <a:spcPts val="2477"/>
              </a:lnSpc>
              <a:spcBef>
                <a:spcPts val="0"/>
              </a:spcBef>
              <a:spcAft>
                <a:spcPts val="0"/>
              </a:spcAft>
              <a:defRPr sz="2100" b="0">
                <a:solidFill>
                  <a:srgbClr val="F7F5EF"/>
                </a:solidFill>
                <a:latin typeface="Inter"/>
              </a:defRPr>
            </a:pPr>
            <a:r>
              <a:rPr lang="de-DE"/>
              <a:t>vergangener Erfahrungen</a:t>
            </a:r>
          </a:p>
        </p:txBody>
      </p:sp>
      <p:grpSp>
        <p:nvGrpSpPr>
          <p:cNvPr id="19" name="Icon · movement"/>
          <p:cNvGrpSpPr/>
          <p:nvPr/>
        </p:nvGrpSpPr>
        <p:grpSpPr>
          <a:xfrm>
            <a:off x="0" y="0"/>
            <a:ext cx="0" cy="0"/>
            <a:chOff x="0" y="0"/>
            <a:chExt cx="0" cy="0"/>
          </a:xfrm>
        </p:grpSpPr>
        <p:sp>
          <p:nvSpPr>
            <p:cNvPr id="20" name="Freeform 19"/>
            <p:cNvSpPr/>
            <p:nvPr/>
          </p:nvSpPr>
          <p:spPr>
            <a:xfrm>
              <a:off x="10046970" y="3467908"/>
              <a:ext cx="544068" cy="103373"/>
            </a:xfrm>
            <a:custGeom>
              <a:avLst/>
              <a:gdLst/>
              <a:ahLst/>
              <a:cxnLst/>
              <a:rect l="l" t="t" r="r" b="b"/>
              <a:pathLst>
                <a:path w="700" h="133">
                  <a:moveTo>
                    <a:pt x="0" y="87"/>
                  </a:moveTo>
                  <a:lnTo>
                    <a:pt x="24" y="62"/>
                  </a:lnTo>
                  <a:lnTo>
                    <a:pt x="48" y="48"/>
                  </a:lnTo>
                  <a:lnTo>
                    <a:pt x="71" y="41"/>
                  </a:lnTo>
                  <a:lnTo>
                    <a:pt x="95" y="42"/>
                  </a:lnTo>
                  <a:lnTo>
                    <a:pt x="118" y="48"/>
                  </a:lnTo>
                  <a:lnTo>
                    <a:pt x="140" y="59"/>
                  </a:lnTo>
                  <a:lnTo>
                    <a:pt x="163" y="72"/>
                  </a:lnTo>
                  <a:lnTo>
                    <a:pt x="186" y="87"/>
                  </a:lnTo>
                  <a:lnTo>
                    <a:pt x="209" y="102"/>
                  </a:lnTo>
                  <a:lnTo>
                    <a:pt x="233" y="115"/>
                  </a:lnTo>
                  <a:lnTo>
                    <a:pt x="256" y="126"/>
                  </a:lnTo>
                  <a:lnTo>
                    <a:pt x="280" y="132"/>
                  </a:lnTo>
                  <a:lnTo>
                    <a:pt x="304" y="133"/>
                  </a:lnTo>
                  <a:lnTo>
                    <a:pt x="329" y="126"/>
                  </a:lnTo>
                  <a:lnTo>
                    <a:pt x="354" y="112"/>
                  </a:lnTo>
                  <a:lnTo>
                    <a:pt x="380" y="87"/>
                  </a:lnTo>
                  <a:lnTo>
                    <a:pt x="402" y="63"/>
                  </a:lnTo>
                  <a:lnTo>
                    <a:pt x="423" y="43"/>
                  </a:lnTo>
                  <a:lnTo>
                    <a:pt x="444" y="27"/>
                  </a:lnTo>
                  <a:lnTo>
                    <a:pt x="464" y="15"/>
                  </a:lnTo>
                  <a:lnTo>
                    <a:pt x="483" y="7"/>
                  </a:lnTo>
                  <a:lnTo>
                    <a:pt x="502" y="2"/>
                  </a:lnTo>
                  <a:lnTo>
                    <a:pt x="521" y="0"/>
                  </a:lnTo>
                  <a:lnTo>
                    <a:pt x="540" y="1"/>
                  </a:lnTo>
                  <a:lnTo>
                    <a:pt x="559" y="4"/>
                  </a:lnTo>
                  <a:lnTo>
                    <a:pt x="578" y="11"/>
                  </a:lnTo>
                  <a:lnTo>
                    <a:pt x="597" y="19"/>
                  </a:lnTo>
                  <a:lnTo>
                    <a:pt x="616" y="29"/>
                  </a:lnTo>
                  <a:lnTo>
                    <a:pt x="636" y="42"/>
                  </a:lnTo>
                  <a:lnTo>
                    <a:pt x="657" y="55"/>
                  </a:lnTo>
                  <a:lnTo>
                    <a:pt x="678" y="71"/>
                  </a:lnTo>
                  <a:lnTo>
                    <a:pt x="700" y="87"/>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9992563" y="3631128"/>
              <a:ext cx="544068" cy="103373"/>
            </a:xfrm>
            <a:custGeom>
              <a:avLst/>
              <a:gdLst/>
              <a:ahLst/>
              <a:cxnLst/>
              <a:rect l="l" t="t" r="r" b="b"/>
              <a:pathLst>
                <a:path w="700" h="133">
                  <a:moveTo>
                    <a:pt x="0" y="87"/>
                  </a:moveTo>
                  <a:lnTo>
                    <a:pt x="24" y="62"/>
                  </a:lnTo>
                  <a:lnTo>
                    <a:pt x="48" y="48"/>
                  </a:lnTo>
                  <a:lnTo>
                    <a:pt x="71" y="41"/>
                  </a:lnTo>
                  <a:lnTo>
                    <a:pt x="95" y="42"/>
                  </a:lnTo>
                  <a:lnTo>
                    <a:pt x="118" y="48"/>
                  </a:lnTo>
                  <a:lnTo>
                    <a:pt x="140" y="59"/>
                  </a:lnTo>
                  <a:lnTo>
                    <a:pt x="163" y="72"/>
                  </a:lnTo>
                  <a:lnTo>
                    <a:pt x="186" y="87"/>
                  </a:lnTo>
                  <a:lnTo>
                    <a:pt x="209" y="102"/>
                  </a:lnTo>
                  <a:lnTo>
                    <a:pt x="233" y="115"/>
                  </a:lnTo>
                  <a:lnTo>
                    <a:pt x="256" y="126"/>
                  </a:lnTo>
                  <a:lnTo>
                    <a:pt x="280" y="132"/>
                  </a:lnTo>
                  <a:lnTo>
                    <a:pt x="304" y="133"/>
                  </a:lnTo>
                  <a:lnTo>
                    <a:pt x="329" y="126"/>
                  </a:lnTo>
                  <a:lnTo>
                    <a:pt x="354" y="112"/>
                  </a:lnTo>
                  <a:lnTo>
                    <a:pt x="380" y="87"/>
                  </a:lnTo>
                  <a:lnTo>
                    <a:pt x="402" y="63"/>
                  </a:lnTo>
                  <a:lnTo>
                    <a:pt x="423" y="43"/>
                  </a:lnTo>
                  <a:lnTo>
                    <a:pt x="444" y="27"/>
                  </a:lnTo>
                  <a:lnTo>
                    <a:pt x="464" y="15"/>
                  </a:lnTo>
                  <a:lnTo>
                    <a:pt x="483" y="7"/>
                  </a:lnTo>
                  <a:lnTo>
                    <a:pt x="502" y="2"/>
                  </a:lnTo>
                  <a:lnTo>
                    <a:pt x="521" y="0"/>
                  </a:lnTo>
                  <a:lnTo>
                    <a:pt x="540" y="1"/>
                  </a:lnTo>
                  <a:lnTo>
                    <a:pt x="559" y="4"/>
                  </a:lnTo>
                  <a:lnTo>
                    <a:pt x="578" y="11"/>
                  </a:lnTo>
                  <a:lnTo>
                    <a:pt x="597" y="19"/>
                  </a:lnTo>
                  <a:lnTo>
                    <a:pt x="616" y="29"/>
                  </a:lnTo>
                  <a:lnTo>
                    <a:pt x="636" y="42"/>
                  </a:lnTo>
                  <a:lnTo>
                    <a:pt x="657" y="55"/>
                  </a:lnTo>
                  <a:lnTo>
                    <a:pt x="678" y="71"/>
                  </a:lnTo>
                  <a:lnTo>
                    <a:pt x="700" y="87"/>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10046970" y="3794349"/>
              <a:ext cx="544068" cy="103373"/>
            </a:xfrm>
            <a:custGeom>
              <a:avLst/>
              <a:gdLst/>
              <a:ahLst/>
              <a:cxnLst/>
              <a:rect l="l" t="t" r="r" b="b"/>
              <a:pathLst>
                <a:path w="700" h="133">
                  <a:moveTo>
                    <a:pt x="0" y="87"/>
                  </a:moveTo>
                  <a:lnTo>
                    <a:pt x="24" y="62"/>
                  </a:lnTo>
                  <a:lnTo>
                    <a:pt x="48" y="48"/>
                  </a:lnTo>
                  <a:lnTo>
                    <a:pt x="71" y="41"/>
                  </a:lnTo>
                  <a:lnTo>
                    <a:pt x="95" y="42"/>
                  </a:lnTo>
                  <a:lnTo>
                    <a:pt x="118" y="48"/>
                  </a:lnTo>
                  <a:lnTo>
                    <a:pt x="140" y="59"/>
                  </a:lnTo>
                  <a:lnTo>
                    <a:pt x="163" y="72"/>
                  </a:lnTo>
                  <a:lnTo>
                    <a:pt x="186" y="87"/>
                  </a:lnTo>
                  <a:lnTo>
                    <a:pt x="209" y="102"/>
                  </a:lnTo>
                  <a:lnTo>
                    <a:pt x="233" y="115"/>
                  </a:lnTo>
                  <a:lnTo>
                    <a:pt x="256" y="126"/>
                  </a:lnTo>
                  <a:lnTo>
                    <a:pt x="280" y="132"/>
                  </a:lnTo>
                  <a:lnTo>
                    <a:pt x="304" y="133"/>
                  </a:lnTo>
                  <a:lnTo>
                    <a:pt x="329" y="126"/>
                  </a:lnTo>
                  <a:lnTo>
                    <a:pt x="354" y="112"/>
                  </a:lnTo>
                  <a:lnTo>
                    <a:pt x="380" y="87"/>
                  </a:lnTo>
                  <a:lnTo>
                    <a:pt x="402" y="63"/>
                  </a:lnTo>
                  <a:lnTo>
                    <a:pt x="423" y="43"/>
                  </a:lnTo>
                  <a:lnTo>
                    <a:pt x="444" y="27"/>
                  </a:lnTo>
                  <a:lnTo>
                    <a:pt x="464" y="15"/>
                  </a:lnTo>
                  <a:lnTo>
                    <a:pt x="483" y="7"/>
                  </a:lnTo>
                  <a:lnTo>
                    <a:pt x="502" y="2"/>
                  </a:lnTo>
                  <a:lnTo>
                    <a:pt x="521" y="0"/>
                  </a:lnTo>
                  <a:lnTo>
                    <a:pt x="540" y="1"/>
                  </a:lnTo>
                  <a:lnTo>
                    <a:pt x="559" y="4"/>
                  </a:lnTo>
                  <a:lnTo>
                    <a:pt x="578" y="11"/>
                  </a:lnTo>
                  <a:lnTo>
                    <a:pt x="597" y="19"/>
                  </a:lnTo>
                  <a:lnTo>
                    <a:pt x="616" y="29"/>
                  </a:lnTo>
                  <a:lnTo>
                    <a:pt x="636" y="42"/>
                  </a:lnTo>
                  <a:lnTo>
                    <a:pt x="657" y="55"/>
                  </a:lnTo>
                  <a:lnTo>
                    <a:pt x="678" y="71"/>
                  </a:lnTo>
                  <a:lnTo>
                    <a:pt x="700" y="87"/>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10505542" y="3465576"/>
              <a:ext cx="85496" cy="147676"/>
            </a:xfrm>
            <a:custGeom>
              <a:avLst/>
              <a:gdLst/>
              <a:ahLst/>
              <a:cxnLst/>
              <a:rect l="l" t="t" r="r" b="b"/>
              <a:pathLst>
                <a:path w="110" h="190">
                  <a:moveTo>
                    <a:pt x="0" y="0"/>
                  </a:moveTo>
                  <a:lnTo>
                    <a:pt x="110" y="90"/>
                  </a:lnTo>
                  <a:lnTo>
                    <a:pt x="20" y="190"/>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10451135" y="3792017"/>
              <a:ext cx="85496" cy="147676"/>
            </a:xfrm>
            <a:custGeom>
              <a:avLst/>
              <a:gdLst/>
              <a:ahLst/>
              <a:cxnLst/>
              <a:rect l="l" t="t" r="r" b="b"/>
              <a:pathLst>
                <a:path w="110" h="190">
                  <a:moveTo>
                    <a:pt x="0" y="0"/>
                  </a:moveTo>
                  <a:lnTo>
                    <a:pt x="110" y="90"/>
                  </a:lnTo>
                  <a:lnTo>
                    <a:pt x="20" y="190"/>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25" name="Text 16"/>
          <p:cNvSpPr txBox="1"/>
          <p:nvPr/>
        </p:nvSpPr>
        <p:spPr>
          <a:xfrm>
            <a:off x="2404872" y="1417320"/>
            <a:ext cx="1965960" cy="290067"/>
          </a:xfrm>
          <a:prstGeom prst="rect">
            <a:avLst/>
          </a:prstGeom>
          <a:noFill/>
        </p:spPr>
        <p:txBody>
          <a:bodyPr wrap="none" lIns="0" rIns="0" tIns="0" bIns="0" anchor="t">
            <a:spAutoFit/>
          </a:bodyPr>
          <a:lstStyle/>
          <a:p>
            <a:pPr algn="ctr">
              <a:lnSpc>
                <a:spcPts val="1888"/>
              </a:lnSpc>
              <a:spcBef>
                <a:spcPts val="0"/>
              </a:spcBef>
              <a:spcAft>
                <a:spcPts val="0"/>
              </a:spcAft>
              <a:defRPr sz="1600" b="1">
                <a:solidFill>
                  <a:srgbClr val="234B42"/>
                </a:solidFill>
                <a:latin typeface="Inter"/>
              </a:defRPr>
            </a:pPr>
            <a:r>
              <a:rPr lang="de-DE"/>
              <a:t>Weiterleitung</a:t>
            </a:r>
          </a:p>
        </p:txBody>
      </p:sp>
      <p:sp>
        <p:nvSpPr>
          <p:cNvPr id="26" name="Text 17"/>
          <p:cNvSpPr txBox="1"/>
          <p:nvPr/>
        </p:nvSpPr>
        <p:spPr>
          <a:xfrm>
            <a:off x="8220456" y="1417320"/>
            <a:ext cx="1408176" cy="290067"/>
          </a:xfrm>
          <a:prstGeom prst="rect">
            <a:avLst/>
          </a:prstGeom>
          <a:noFill/>
        </p:spPr>
        <p:txBody>
          <a:bodyPr wrap="none" lIns="0" rIns="0" tIns="0" bIns="0" anchor="t">
            <a:spAutoFit/>
          </a:bodyPr>
          <a:lstStyle/>
          <a:p>
            <a:pPr algn="ctr">
              <a:lnSpc>
                <a:spcPts val="1888"/>
              </a:lnSpc>
              <a:spcBef>
                <a:spcPts val="0"/>
              </a:spcBef>
              <a:spcAft>
                <a:spcPts val="0"/>
              </a:spcAft>
              <a:defRPr sz="1600" b="1">
                <a:solidFill>
                  <a:srgbClr val="234B42"/>
                </a:solidFill>
                <a:latin typeface="Inter"/>
              </a:defRPr>
            </a:pPr>
            <a:r>
              <a:rPr lang="de-DE"/>
              <a:t>Senden</a:t>
            </a:r>
          </a:p>
        </p:txBody>
      </p:sp>
      <p:sp>
        <p:nvSpPr>
          <p:cNvPr id="27" name="Chevron 26"/>
          <p:cNvSpPr/>
          <p:nvPr/>
        </p:nvSpPr>
        <p:spPr>
          <a:xfrm>
            <a:off x="3118104" y="3456432"/>
            <a:ext cx="310896" cy="411480"/>
          </a:xfrm>
          <a:prstGeom prst="chevron">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Chevron 27"/>
          <p:cNvSpPr/>
          <p:nvPr/>
        </p:nvSpPr>
        <p:spPr>
          <a:xfrm>
            <a:off x="8659368" y="3456432"/>
            <a:ext cx="310896" cy="411480"/>
          </a:xfrm>
          <a:prstGeom prst="chevron">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594360" y="5495544"/>
            <a:ext cx="502920" cy="0"/>
          </a:xfrm>
          <a:prstGeom prst="line">
            <a:avLst/>
          </a:prstGeom>
          <a:ln w="27940">
            <a:solidFill>
              <a:srgbClr val="D68B73"/>
            </a:solidFill>
          </a:ln>
        </p:spPr>
        <p:style>
          <a:lnRef idx="2">
            <a:schemeClr val="accent1"/>
          </a:lnRef>
          <a:fillRef idx="0">
            <a:schemeClr val="accent1"/>
          </a:fillRef>
          <a:effectRef idx="1">
            <a:schemeClr val="accent1"/>
          </a:effectRef>
          <a:fontRef idx="minor">
            <a:schemeClr val="tx1"/>
          </a:fontRef>
        </p:style>
      </p:cxnSp>
      <p:sp>
        <p:nvSpPr>
          <p:cNvPr id="30" name="Text 21"/>
          <p:cNvSpPr txBox="1"/>
          <p:nvPr/>
        </p:nvSpPr>
        <p:spPr>
          <a:xfrm>
            <a:off x="594360" y="5623560"/>
            <a:ext cx="10972800" cy="694944"/>
          </a:xfrm>
          <a:prstGeom prst="rect">
            <a:avLst/>
          </a:prstGeom>
          <a:noFill/>
        </p:spPr>
        <p:txBody>
          <a:bodyPr wrap="none" lIns="0" rIns="0" tIns="0" bIns="0" anchor="t">
            <a:spAutoFit/>
          </a:bodyPr>
          <a:lstStyle/>
          <a:p>
            <a:pPr>
              <a:lnSpc>
                <a:spcPts val="2419"/>
              </a:lnSpc>
              <a:spcBef>
                <a:spcPts val="0"/>
              </a:spcBef>
              <a:spcAft>
                <a:spcPts val="0"/>
              </a:spcAft>
              <a:defRPr sz="2050" b="1">
                <a:solidFill>
                  <a:srgbClr val="234B42"/>
                </a:solidFill>
                <a:latin typeface="Manrope"/>
              </a:defRPr>
            </a:pPr>
            <a:r>
              <a:rPr lang="de-DE"/>
              <a:t>Interpretation der Sinneseindrücke ist bei jedem Menschen verschieden!</a:t>
            </a:r>
          </a:p>
        </p:txBody>
      </p:sp>
    </p:spTree>
  </p:cSld>
  <p:clrMapOvr>
    <a:masterClrMapping/>
  </p:clrMapOvr>
  <p:transition spd="fast" advClick="1">
    <p:fade/>
  </p:transition>
</p:sld>
</file>

<file path=ppt/slides/slide9.xml><?xml version="1.0" encoding="utf-8"?>
<p:sld xmlns:a="http://schemas.openxmlformats.org/drawingml/2006/main" xmlns:p="http://schemas.openxmlformats.org/presentationml/2006/main" xmlns:r="http://schemas.openxmlformats.org/officeDocument/2006/relationships" showMasterSp="1">
  <p:cSld>
    <p:bg>
      <p:bgPr>
        <a:solidFill>
          <a:srgbClr val="F7F5EF"/>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09</a:t>
            </a:r>
          </a:p>
        </p:txBody>
      </p:sp>
      <p:sp>
        <p:nvSpPr>
          <p:cNvPr id="3" name="Text 2"/>
          <p:cNvSpPr txBox="1"/>
          <p:nvPr/>
        </p:nvSpPr>
        <p:spPr>
          <a:xfrm>
            <a:off x="594360" y="393192"/>
            <a:ext cx="10881360" cy="203644"/>
          </a:xfrm>
          <a:prstGeom prst="rect">
            <a:avLst/>
          </a:prstGeom>
          <a:noFill/>
        </p:spPr>
        <p:txBody>
          <a:bodyPr wrap="none" lIns="0" rIns="0" tIns="0" bIns="0" anchor="t">
            <a:spAutoFit/>
          </a:bodyPr>
          <a:lstStyle/>
          <a:p>
            <a:pPr>
              <a:lnSpc>
                <a:spcPts val="1207"/>
              </a:lnSpc>
              <a:spcBef>
                <a:spcPts val="0"/>
              </a:spcBef>
              <a:spcAft>
                <a:spcPts val="0"/>
              </a:spcAft>
              <a:defRPr sz="1150" b="1">
                <a:solidFill>
                  <a:srgbClr val="234B42"/>
                </a:solidFill>
                <a:latin typeface="Inter"/>
              </a:defRPr>
            </a:pPr>
            <a:r>
              <a:rPr lang="de-DE"/>
              <a:t>VERSCHIEDENE ZUGÄNGE</a:t>
            </a:r>
          </a:p>
        </p:txBody>
      </p:sp>
      <p:sp>
        <p:nvSpPr>
          <p:cNvPr id="4" name="Text 3"/>
          <p:cNvSpPr txBox="1"/>
          <p:nvPr/>
        </p:nvSpPr>
        <p:spPr>
          <a:xfrm>
            <a:off x="594360" y="804672"/>
            <a:ext cx="10991088"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Sinneswahrnehmung</a:t>
            </a:r>
          </a:p>
        </p:txBody>
      </p:sp>
      <p:sp>
        <p:nvSpPr>
          <p:cNvPr id="5" name="Rounded Rectangle 4"/>
          <p:cNvSpPr/>
          <p:nvPr/>
        </p:nvSpPr>
        <p:spPr>
          <a:xfrm>
            <a:off x="594360" y="1644396"/>
            <a:ext cx="3657600" cy="4434840"/>
          </a:xfrm>
          <a:prstGeom prst="roundRect">
            <a:avLst>
              <a:gd name="adj" fmla="val 6500"/>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6" name="Icon · body"/>
          <p:cNvGrpSpPr/>
          <p:nvPr/>
        </p:nvGrpSpPr>
        <p:grpSpPr>
          <a:xfrm>
            <a:off x="1304665" y="2086965"/>
            <a:ext cx="152156" cy="152156"/>
            <a:chOff x="1304665" y="2086965"/>
            <a:chExt cx="152156" cy="152156"/>
          </a:xfrm>
        </p:grpSpPr>
        <p:sp>
          <p:nvSpPr>
            <p:cNvPr id="7" name="Oval 6"/>
            <p:cNvSpPr/>
            <p:nvPr/>
          </p:nvSpPr>
          <p:spPr>
            <a:xfrm>
              <a:off x="1304665" y="2086965"/>
              <a:ext cx="152156" cy="152156"/>
            </a:xfrm>
            <a:prstGeom prst="ellipse">
              <a:avLst/>
            </a:prstGeom>
            <a:noFill/>
            <a:ln w="25400" cap="rnd">
              <a:solidFill>
                <a:srgbClr val="A8BFA9"/>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133490" y="2315200"/>
              <a:ext cx="494508" cy="123627"/>
            </a:xfrm>
            <a:custGeom>
              <a:avLst/>
              <a:gdLst/>
              <a:ahLst/>
              <a:cxnLst/>
              <a:rect l="l" t="t" r="r" b="b"/>
              <a:pathLst>
                <a:path w="520" h="130">
                  <a:moveTo>
                    <a:pt x="0" y="130"/>
                  </a:moveTo>
                  <a:lnTo>
                    <a:pt x="18" y="115"/>
                  </a:lnTo>
                  <a:lnTo>
                    <a:pt x="36" y="101"/>
                  </a:lnTo>
                  <a:lnTo>
                    <a:pt x="53" y="88"/>
                  </a:lnTo>
                  <a:lnTo>
                    <a:pt x="69" y="76"/>
                  </a:lnTo>
                  <a:lnTo>
                    <a:pt x="84" y="64"/>
                  </a:lnTo>
                  <a:lnTo>
                    <a:pt x="100" y="54"/>
                  </a:lnTo>
                  <a:lnTo>
                    <a:pt x="115" y="44"/>
                  </a:lnTo>
                  <a:lnTo>
                    <a:pt x="130" y="35"/>
                  </a:lnTo>
                  <a:lnTo>
                    <a:pt x="145" y="27"/>
                  </a:lnTo>
                  <a:lnTo>
                    <a:pt x="160" y="20"/>
                  </a:lnTo>
                  <a:lnTo>
                    <a:pt x="176" y="14"/>
                  </a:lnTo>
                  <a:lnTo>
                    <a:pt x="191" y="9"/>
                  </a:lnTo>
                  <a:lnTo>
                    <a:pt x="207" y="5"/>
                  </a:lnTo>
                  <a:lnTo>
                    <a:pt x="224" y="2"/>
                  </a:lnTo>
                  <a:lnTo>
                    <a:pt x="242" y="1"/>
                  </a:lnTo>
                  <a:lnTo>
                    <a:pt x="260" y="0"/>
                  </a:lnTo>
                  <a:lnTo>
                    <a:pt x="278" y="1"/>
                  </a:lnTo>
                  <a:lnTo>
                    <a:pt x="296" y="2"/>
                  </a:lnTo>
                  <a:lnTo>
                    <a:pt x="313" y="5"/>
                  </a:lnTo>
                  <a:lnTo>
                    <a:pt x="329" y="9"/>
                  </a:lnTo>
                  <a:lnTo>
                    <a:pt x="344" y="14"/>
                  </a:lnTo>
                  <a:lnTo>
                    <a:pt x="360" y="20"/>
                  </a:lnTo>
                  <a:lnTo>
                    <a:pt x="375" y="27"/>
                  </a:lnTo>
                  <a:lnTo>
                    <a:pt x="390" y="35"/>
                  </a:lnTo>
                  <a:lnTo>
                    <a:pt x="405" y="44"/>
                  </a:lnTo>
                  <a:lnTo>
                    <a:pt x="420" y="54"/>
                  </a:lnTo>
                  <a:lnTo>
                    <a:pt x="436" y="64"/>
                  </a:lnTo>
                  <a:lnTo>
                    <a:pt x="451" y="76"/>
                  </a:lnTo>
                  <a:lnTo>
                    <a:pt x="467" y="88"/>
                  </a:lnTo>
                  <a:lnTo>
                    <a:pt x="484" y="101"/>
                  </a:lnTo>
                  <a:lnTo>
                    <a:pt x="502" y="115"/>
                  </a:lnTo>
                  <a:lnTo>
                    <a:pt x="520" y="130"/>
                  </a:lnTo>
                </a:path>
              </a:pathLst>
            </a:custGeom>
            <a:noFill/>
            <a:ln w="25400" cap="rnd">
              <a:solidFill>
                <a:srgbClr val="A8BFA9"/>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1190549" y="2372258"/>
              <a:ext cx="85588" cy="427939"/>
            </a:xfrm>
            <a:custGeom>
              <a:avLst/>
              <a:gdLst/>
              <a:ahLst/>
              <a:cxnLst/>
              <a:rect l="l" t="t" r="r" b="b"/>
              <a:pathLst>
                <a:path w="90" h="450">
                  <a:moveTo>
                    <a:pt x="90" y="0"/>
                  </a:moveTo>
                  <a:lnTo>
                    <a:pt x="90" y="200"/>
                  </a:lnTo>
                  <a:lnTo>
                    <a:pt x="0" y="450"/>
                  </a:lnTo>
                </a:path>
              </a:pathLst>
            </a:custGeom>
            <a:noFill/>
            <a:ln w="25400" cap="rnd">
              <a:solidFill>
                <a:srgbClr val="A8BFA9"/>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1485351" y="2372258"/>
              <a:ext cx="85588" cy="427939"/>
            </a:xfrm>
            <a:custGeom>
              <a:avLst/>
              <a:gdLst/>
              <a:ahLst/>
              <a:cxnLst/>
              <a:rect l="l" t="t" r="r" b="b"/>
              <a:pathLst>
                <a:path w="90" h="450">
                  <a:moveTo>
                    <a:pt x="0" y="0"/>
                  </a:moveTo>
                  <a:lnTo>
                    <a:pt x="0" y="200"/>
                  </a:lnTo>
                  <a:lnTo>
                    <a:pt x="90" y="450"/>
                  </a:lnTo>
                </a:path>
              </a:pathLst>
            </a:custGeom>
            <a:noFill/>
            <a:ln w="25400" cap="rnd">
              <a:solidFill>
                <a:srgbClr val="A8BFA9"/>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1276137" y="2562454"/>
              <a:ext cx="209215" cy="47549"/>
            </a:xfrm>
            <a:custGeom>
              <a:avLst/>
              <a:gdLst/>
              <a:ahLst/>
              <a:cxnLst/>
              <a:rect l="l" t="t" r="r" b="b"/>
              <a:pathLst>
                <a:path w="220" h="50">
                  <a:moveTo>
                    <a:pt x="0" y="0"/>
                  </a:moveTo>
                  <a:lnTo>
                    <a:pt x="110" y="50"/>
                  </a:lnTo>
                  <a:lnTo>
                    <a:pt x="220" y="0"/>
                  </a:lnTo>
                </a:path>
              </a:pathLst>
            </a:custGeom>
            <a:noFill/>
            <a:ln w="25400" cap="rnd">
              <a:solidFill>
                <a:srgbClr val="A8BFA9"/>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1380744" y="2610002"/>
              <a:ext cx="0" cy="123627"/>
            </a:xfrm>
            <a:custGeom>
              <a:avLst/>
              <a:gdLst/>
              <a:ahLst/>
              <a:cxnLst/>
              <a:rect l="l" t="t" r="r" b="b"/>
              <a:pathLst>
                <a:path w="0" h="130">
                  <a:moveTo>
                    <a:pt x="0" y="0"/>
                  </a:moveTo>
                  <a:lnTo>
                    <a:pt x="0" y="130"/>
                  </a:lnTo>
                </a:path>
              </a:pathLst>
            </a:custGeom>
            <a:noFill/>
            <a:ln w="25400" cap="rnd">
              <a:solidFill>
                <a:srgbClr val="A8BFA9"/>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1380744" y="2391278"/>
              <a:ext cx="0" cy="104607"/>
            </a:xfrm>
            <a:custGeom>
              <a:avLst/>
              <a:gdLst/>
              <a:ahLst/>
              <a:cxnLst/>
              <a:rect l="l" t="t" r="r" b="b"/>
              <a:pathLst>
                <a:path w="0" h="110">
                  <a:moveTo>
                    <a:pt x="0" y="0"/>
                  </a:moveTo>
                  <a:lnTo>
                    <a:pt x="0" y="110"/>
                  </a:lnTo>
                </a:path>
              </a:pathLst>
            </a:custGeom>
            <a:noFill/>
            <a:ln w="25400" cap="rnd">
              <a:solidFill>
                <a:srgbClr val="A8BFA9"/>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1047902" y="2610002"/>
              <a:ext cx="114117" cy="0"/>
            </a:xfrm>
            <a:custGeom>
              <a:avLst/>
              <a:gdLst/>
              <a:ahLst/>
              <a:cxnLst/>
              <a:rect l="l" t="t" r="r" b="b"/>
              <a:pathLst>
                <a:path w="120" h="0">
                  <a:moveTo>
                    <a:pt x="0" y="0"/>
                  </a:moveTo>
                  <a:lnTo>
                    <a:pt x="120" y="0"/>
                  </a:lnTo>
                </a:path>
              </a:pathLst>
            </a:custGeom>
            <a:noFill/>
            <a:ln w="25400" cap="rnd">
              <a:solidFill>
                <a:srgbClr val="A8BFA9"/>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1114471" y="2562454"/>
              <a:ext cx="47549" cy="95098"/>
            </a:xfrm>
            <a:custGeom>
              <a:avLst/>
              <a:gdLst/>
              <a:ahLst/>
              <a:cxnLst/>
              <a:rect l="l" t="t" r="r" b="b"/>
              <a:pathLst>
                <a:path w="50" h="100">
                  <a:moveTo>
                    <a:pt x="0" y="0"/>
                  </a:moveTo>
                  <a:lnTo>
                    <a:pt x="50" y="50"/>
                  </a:lnTo>
                  <a:lnTo>
                    <a:pt x="0" y="100"/>
                  </a:lnTo>
                </a:path>
              </a:pathLst>
            </a:custGeom>
            <a:noFill/>
            <a:ln w="25400" cap="rnd">
              <a:solidFill>
                <a:srgbClr val="A8BFA9"/>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1599468" y="2610002"/>
              <a:ext cx="114117" cy="0"/>
            </a:xfrm>
            <a:custGeom>
              <a:avLst/>
              <a:gdLst/>
              <a:ahLst/>
              <a:cxnLst/>
              <a:rect l="l" t="t" r="r" b="b"/>
              <a:pathLst>
                <a:path w="120" h="0">
                  <a:moveTo>
                    <a:pt x="120" y="0"/>
                  </a:moveTo>
                  <a:lnTo>
                    <a:pt x="0" y="0"/>
                  </a:lnTo>
                </a:path>
              </a:pathLst>
            </a:custGeom>
            <a:noFill/>
            <a:ln w="25400" cap="rnd">
              <a:solidFill>
                <a:srgbClr val="A8BFA9"/>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1599468" y="2562454"/>
              <a:ext cx="47549" cy="95098"/>
            </a:xfrm>
            <a:custGeom>
              <a:avLst/>
              <a:gdLst/>
              <a:ahLst/>
              <a:cxnLst/>
              <a:rect l="l" t="t" r="r" b="b"/>
              <a:pathLst>
                <a:path w="50" h="100">
                  <a:moveTo>
                    <a:pt x="50" y="0"/>
                  </a:moveTo>
                  <a:lnTo>
                    <a:pt x="0" y="50"/>
                  </a:lnTo>
                  <a:lnTo>
                    <a:pt x="50" y="100"/>
                  </a:lnTo>
                </a:path>
              </a:pathLst>
            </a:custGeom>
            <a:noFill/>
            <a:ln w="25400" cap="rnd">
              <a:solidFill>
                <a:srgbClr val="A8BFA9"/>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18" name="Text 6"/>
          <p:cNvSpPr txBox="1"/>
          <p:nvPr/>
        </p:nvSpPr>
        <p:spPr>
          <a:xfrm>
            <a:off x="905256" y="3153156"/>
            <a:ext cx="3035808" cy="769620"/>
          </a:xfrm>
          <a:prstGeom prst="rect">
            <a:avLst/>
          </a:prstGeom>
          <a:noFill/>
        </p:spPr>
        <p:txBody>
          <a:bodyPr wrap="none" lIns="0" rIns="0" tIns="0" bIns="0" anchor="t">
            <a:spAutoFit/>
          </a:bodyPr>
          <a:lstStyle/>
          <a:p>
            <a:pPr>
              <a:lnSpc>
                <a:spcPts val="2832"/>
              </a:lnSpc>
              <a:spcBef>
                <a:spcPts val="0"/>
              </a:spcBef>
              <a:spcAft>
                <a:spcPts val="0"/>
              </a:spcAft>
              <a:defRPr sz="2400" b="1">
                <a:solidFill>
                  <a:srgbClr val="F7F5EF"/>
                </a:solidFill>
                <a:latin typeface="Manrope"/>
              </a:defRPr>
            </a:pPr>
            <a:r>
              <a:rPr lang="de-DE"/>
              <a:t>Körpereigene</a:t>
            </a:r>
          </a:p>
          <a:p>
            <a:pPr>
              <a:lnSpc>
                <a:spcPts val="2832"/>
              </a:lnSpc>
              <a:spcBef>
                <a:spcPts val="0"/>
              </a:spcBef>
              <a:spcAft>
                <a:spcPts val="0"/>
              </a:spcAft>
              <a:defRPr sz="2400" b="1">
                <a:solidFill>
                  <a:srgbClr val="F7F5EF"/>
                </a:solidFill>
                <a:latin typeface="Manrope"/>
              </a:defRPr>
            </a:pPr>
            <a:r>
              <a:rPr lang="de-DE"/>
              <a:t>Wahrnehmung</a:t>
            </a:r>
          </a:p>
        </p:txBody>
      </p:sp>
      <p:sp>
        <p:nvSpPr>
          <p:cNvPr id="19" name="Text 7"/>
          <p:cNvSpPr txBox="1"/>
          <p:nvPr/>
        </p:nvSpPr>
        <p:spPr>
          <a:xfrm>
            <a:off x="905256" y="4323588"/>
            <a:ext cx="3035808" cy="1517904"/>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F7F5EF"/>
                </a:solidFill>
                <a:latin typeface="Inter"/>
              </a:defRPr>
            </a:pPr>
            <a:r>
              <a:rPr lang="de-DE"/>
              <a:t>propriozeptiv · aus dem</a:t>
            </a:r>
          </a:p>
          <a:p>
            <a:pPr>
              <a:lnSpc>
                <a:spcPts val="2477"/>
              </a:lnSpc>
              <a:spcBef>
                <a:spcPts val="0"/>
              </a:spcBef>
              <a:spcAft>
                <a:spcPts val="0"/>
              </a:spcAft>
              <a:defRPr sz="2100" b="0">
                <a:solidFill>
                  <a:srgbClr val="F7F5EF"/>
                </a:solidFill>
                <a:latin typeface="Inter"/>
              </a:defRPr>
            </a:pPr>
            <a:r>
              <a:rPr lang="de-DE"/>
              <a:t>Körper</a:t>
            </a:r>
          </a:p>
          <a:p>
            <a:pPr>
              <a:lnSpc>
                <a:spcPts val="2477"/>
              </a:lnSpc>
              <a:spcBef>
                <a:spcPts val="0"/>
              </a:spcBef>
              <a:spcAft>
                <a:spcPts val="0"/>
              </a:spcAft>
              <a:defRPr sz="2100" b="0">
                <a:solidFill>
                  <a:srgbClr val="F7F5EF"/>
                </a:solidFill>
                <a:latin typeface="Inter"/>
              </a:defRPr>
            </a:pPr>
            <a:r>
              <a:rPr lang="de-DE"/>
              <a:t>kinästhetisch ·</a:t>
            </a:r>
          </a:p>
          <a:p>
            <a:pPr>
              <a:lnSpc>
                <a:spcPts val="2477"/>
              </a:lnSpc>
              <a:spcBef>
                <a:spcPts val="0"/>
              </a:spcBef>
              <a:spcAft>
                <a:spcPts val="0"/>
              </a:spcAft>
              <a:defRPr sz="2100" b="0">
                <a:solidFill>
                  <a:srgbClr val="F7F5EF"/>
                </a:solidFill>
                <a:latin typeface="Inter"/>
              </a:defRPr>
            </a:pPr>
            <a:r>
              <a:rPr lang="de-DE"/>
              <a:t>Bewegungsempfindung</a:t>
            </a:r>
          </a:p>
        </p:txBody>
      </p:sp>
      <p:sp>
        <p:nvSpPr>
          <p:cNvPr id="20" name="Rounded Rectangle 19"/>
          <p:cNvSpPr/>
          <p:nvPr/>
        </p:nvSpPr>
        <p:spPr>
          <a:xfrm>
            <a:off x="4517136" y="1644396"/>
            <a:ext cx="3419856" cy="1399032"/>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1" name="Icon · touch"/>
          <p:cNvGrpSpPr/>
          <p:nvPr/>
        </p:nvGrpSpPr>
        <p:grpSpPr>
          <a:xfrm>
            <a:off x="0" y="0"/>
            <a:ext cx="0" cy="0"/>
            <a:chOff x="0" y="0"/>
            <a:chExt cx="0" cy="0"/>
          </a:xfrm>
        </p:grpSpPr>
        <p:sp>
          <p:nvSpPr>
            <p:cNvPr id="22" name="Freeform 21"/>
            <p:cNvSpPr/>
            <p:nvPr/>
          </p:nvSpPr>
          <p:spPr>
            <a:xfrm>
              <a:off x="4837359" y="2071238"/>
              <a:ext cx="341803" cy="363200"/>
            </a:xfrm>
            <a:custGeom>
              <a:avLst/>
              <a:gdLst/>
              <a:ahLst/>
              <a:cxnLst/>
              <a:rect l="l" t="t" r="r" b="b"/>
              <a:pathLst>
                <a:path w="623" h="662">
                  <a:moveTo>
                    <a:pt x="93" y="542"/>
                  </a:moveTo>
                  <a:lnTo>
                    <a:pt x="82" y="525"/>
                  </a:lnTo>
                  <a:lnTo>
                    <a:pt x="71" y="509"/>
                  </a:lnTo>
                  <a:lnTo>
                    <a:pt x="60" y="493"/>
                  </a:lnTo>
                  <a:lnTo>
                    <a:pt x="50" y="478"/>
                  </a:lnTo>
                  <a:lnTo>
                    <a:pt x="40" y="463"/>
                  </a:lnTo>
                  <a:lnTo>
                    <a:pt x="31" y="449"/>
                  </a:lnTo>
                  <a:lnTo>
                    <a:pt x="23" y="435"/>
                  </a:lnTo>
                  <a:lnTo>
                    <a:pt x="15" y="422"/>
                  </a:lnTo>
                  <a:lnTo>
                    <a:pt x="10" y="409"/>
                  </a:lnTo>
                  <a:lnTo>
                    <a:pt x="5" y="397"/>
                  </a:lnTo>
                  <a:lnTo>
                    <a:pt x="2" y="385"/>
                  </a:lnTo>
                  <a:lnTo>
                    <a:pt x="0" y="373"/>
                  </a:lnTo>
                  <a:lnTo>
                    <a:pt x="0" y="362"/>
                  </a:lnTo>
                  <a:lnTo>
                    <a:pt x="2" y="352"/>
                  </a:lnTo>
                  <a:lnTo>
                    <a:pt x="7" y="342"/>
                  </a:lnTo>
                  <a:lnTo>
                    <a:pt x="13" y="332"/>
                  </a:lnTo>
                  <a:lnTo>
                    <a:pt x="21" y="322"/>
                  </a:lnTo>
                  <a:lnTo>
                    <a:pt x="28" y="315"/>
                  </a:lnTo>
                  <a:lnTo>
                    <a:pt x="37" y="311"/>
                  </a:lnTo>
                  <a:lnTo>
                    <a:pt x="45" y="309"/>
                  </a:lnTo>
                  <a:lnTo>
                    <a:pt x="54" y="310"/>
                  </a:lnTo>
                  <a:lnTo>
                    <a:pt x="63" y="312"/>
                  </a:lnTo>
                  <a:lnTo>
                    <a:pt x="72" y="316"/>
                  </a:lnTo>
                  <a:lnTo>
                    <a:pt x="82" y="322"/>
                  </a:lnTo>
                  <a:lnTo>
                    <a:pt x="92" y="329"/>
                  </a:lnTo>
                  <a:lnTo>
                    <a:pt x="102" y="338"/>
                  </a:lnTo>
                  <a:lnTo>
                    <a:pt x="113" y="347"/>
                  </a:lnTo>
                  <a:lnTo>
                    <a:pt x="124" y="357"/>
                  </a:lnTo>
                  <a:lnTo>
                    <a:pt x="136" y="368"/>
                  </a:lnTo>
                  <a:lnTo>
                    <a:pt x="148" y="379"/>
                  </a:lnTo>
                  <a:lnTo>
                    <a:pt x="160" y="391"/>
                  </a:lnTo>
                  <a:lnTo>
                    <a:pt x="173" y="402"/>
                  </a:lnTo>
                  <a:lnTo>
                    <a:pt x="173" y="380"/>
                  </a:lnTo>
                  <a:lnTo>
                    <a:pt x="173" y="357"/>
                  </a:lnTo>
                  <a:lnTo>
                    <a:pt x="173" y="335"/>
                  </a:lnTo>
                  <a:lnTo>
                    <a:pt x="173" y="313"/>
                  </a:lnTo>
                  <a:lnTo>
                    <a:pt x="173" y="291"/>
                  </a:lnTo>
                  <a:lnTo>
                    <a:pt x="173" y="269"/>
                  </a:lnTo>
                  <a:lnTo>
                    <a:pt x="173" y="248"/>
                  </a:lnTo>
                  <a:lnTo>
                    <a:pt x="173" y="227"/>
                  </a:lnTo>
                  <a:lnTo>
                    <a:pt x="173" y="207"/>
                  </a:lnTo>
                  <a:lnTo>
                    <a:pt x="173" y="187"/>
                  </a:lnTo>
                  <a:lnTo>
                    <a:pt x="173" y="167"/>
                  </a:lnTo>
                  <a:lnTo>
                    <a:pt x="173" y="149"/>
                  </a:lnTo>
                  <a:lnTo>
                    <a:pt x="173" y="131"/>
                  </a:lnTo>
                  <a:lnTo>
                    <a:pt x="173" y="114"/>
                  </a:lnTo>
                  <a:lnTo>
                    <a:pt x="173" y="97"/>
                  </a:lnTo>
                  <a:lnTo>
                    <a:pt x="173" y="82"/>
                  </a:lnTo>
                  <a:lnTo>
                    <a:pt x="174" y="63"/>
                  </a:lnTo>
                  <a:lnTo>
                    <a:pt x="179" y="46"/>
                  </a:lnTo>
                  <a:lnTo>
                    <a:pt x="185" y="32"/>
                  </a:lnTo>
                  <a:lnTo>
                    <a:pt x="193" y="20"/>
                  </a:lnTo>
                  <a:lnTo>
                    <a:pt x="203" y="11"/>
                  </a:lnTo>
                  <a:lnTo>
                    <a:pt x="214" y="5"/>
                  </a:lnTo>
                  <a:lnTo>
                    <a:pt x="226" y="1"/>
                  </a:lnTo>
                  <a:lnTo>
                    <a:pt x="238" y="0"/>
                  </a:lnTo>
                  <a:lnTo>
                    <a:pt x="250" y="1"/>
                  </a:lnTo>
                  <a:lnTo>
                    <a:pt x="262" y="5"/>
                  </a:lnTo>
                  <a:lnTo>
                    <a:pt x="273" y="11"/>
                  </a:lnTo>
                  <a:lnTo>
                    <a:pt x="283" y="20"/>
                  </a:lnTo>
                  <a:lnTo>
                    <a:pt x="291" y="32"/>
                  </a:lnTo>
                  <a:lnTo>
                    <a:pt x="297" y="46"/>
                  </a:lnTo>
                  <a:lnTo>
                    <a:pt x="302" y="63"/>
                  </a:lnTo>
                  <a:lnTo>
                    <a:pt x="303" y="82"/>
                  </a:lnTo>
                  <a:lnTo>
                    <a:pt x="303" y="97"/>
                  </a:lnTo>
                  <a:lnTo>
                    <a:pt x="303" y="111"/>
                  </a:lnTo>
                  <a:lnTo>
                    <a:pt x="303" y="125"/>
                  </a:lnTo>
                  <a:lnTo>
                    <a:pt x="303" y="138"/>
                  </a:lnTo>
                  <a:lnTo>
                    <a:pt x="303" y="151"/>
                  </a:lnTo>
                  <a:lnTo>
                    <a:pt x="303" y="164"/>
                  </a:lnTo>
                  <a:lnTo>
                    <a:pt x="303" y="176"/>
                  </a:lnTo>
                  <a:lnTo>
                    <a:pt x="303" y="187"/>
                  </a:lnTo>
                  <a:lnTo>
                    <a:pt x="303" y="198"/>
                  </a:lnTo>
                  <a:lnTo>
                    <a:pt x="303" y="209"/>
                  </a:lnTo>
                  <a:lnTo>
                    <a:pt x="303" y="219"/>
                  </a:lnTo>
                  <a:lnTo>
                    <a:pt x="303" y="228"/>
                  </a:lnTo>
                  <a:lnTo>
                    <a:pt x="303" y="237"/>
                  </a:lnTo>
                  <a:lnTo>
                    <a:pt x="303" y="246"/>
                  </a:lnTo>
                  <a:lnTo>
                    <a:pt x="303" y="254"/>
                  </a:lnTo>
                  <a:lnTo>
                    <a:pt x="303" y="262"/>
                  </a:lnTo>
                  <a:lnTo>
                    <a:pt x="308" y="250"/>
                  </a:lnTo>
                  <a:lnTo>
                    <a:pt x="314" y="240"/>
                  </a:lnTo>
                  <a:lnTo>
                    <a:pt x="322" y="232"/>
                  </a:lnTo>
                  <a:lnTo>
                    <a:pt x="330" y="226"/>
                  </a:lnTo>
                  <a:lnTo>
                    <a:pt x="340" y="222"/>
                  </a:lnTo>
                  <a:lnTo>
                    <a:pt x="350" y="219"/>
                  </a:lnTo>
                  <a:lnTo>
                    <a:pt x="360" y="218"/>
                  </a:lnTo>
                  <a:lnTo>
                    <a:pt x="371" y="220"/>
                  </a:lnTo>
                  <a:lnTo>
                    <a:pt x="381" y="222"/>
                  </a:lnTo>
                  <a:lnTo>
                    <a:pt x="390" y="226"/>
                  </a:lnTo>
                  <a:lnTo>
                    <a:pt x="399" y="232"/>
                  </a:lnTo>
                  <a:lnTo>
                    <a:pt x="407" y="240"/>
                  </a:lnTo>
                  <a:lnTo>
                    <a:pt x="414" y="248"/>
                  </a:lnTo>
                  <a:lnTo>
                    <a:pt x="419" y="258"/>
                  </a:lnTo>
                  <a:lnTo>
                    <a:pt x="422" y="269"/>
                  </a:lnTo>
                  <a:lnTo>
                    <a:pt x="423" y="282"/>
                  </a:lnTo>
                  <a:lnTo>
                    <a:pt x="431" y="272"/>
                  </a:lnTo>
                  <a:lnTo>
                    <a:pt x="440" y="264"/>
                  </a:lnTo>
                  <a:lnTo>
                    <a:pt x="450" y="258"/>
                  </a:lnTo>
                  <a:lnTo>
                    <a:pt x="460" y="255"/>
                  </a:lnTo>
                  <a:lnTo>
                    <a:pt x="471" y="254"/>
                  </a:lnTo>
                  <a:lnTo>
                    <a:pt x="481" y="254"/>
                  </a:lnTo>
                  <a:lnTo>
                    <a:pt x="492" y="256"/>
                  </a:lnTo>
                  <a:lnTo>
                    <a:pt x="502" y="261"/>
                  </a:lnTo>
                  <a:lnTo>
                    <a:pt x="511" y="267"/>
                  </a:lnTo>
                  <a:lnTo>
                    <a:pt x="520" y="274"/>
                  </a:lnTo>
                  <a:lnTo>
                    <a:pt x="528" y="284"/>
                  </a:lnTo>
                  <a:lnTo>
                    <a:pt x="534" y="295"/>
                  </a:lnTo>
                  <a:lnTo>
                    <a:pt x="539" y="307"/>
                  </a:lnTo>
                  <a:lnTo>
                    <a:pt x="542" y="321"/>
                  </a:lnTo>
                  <a:lnTo>
                    <a:pt x="544" y="336"/>
                  </a:lnTo>
                  <a:lnTo>
                    <a:pt x="543" y="352"/>
                  </a:lnTo>
                  <a:lnTo>
                    <a:pt x="559" y="343"/>
                  </a:lnTo>
                  <a:lnTo>
                    <a:pt x="573" y="338"/>
                  </a:lnTo>
                  <a:lnTo>
                    <a:pt x="585" y="338"/>
                  </a:lnTo>
                  <a:lnTo>
                    <a:pt x="596" y="341"/>
                  </a:lnTo>
                  <a:lnTo>
                    <a:pt x="605" y="347"/>
                  </a:lnTo>
                  <a:lnTo>
                    <a:pt x="612" y="357"/>
                  </a:lnTo>
                  <a:lnTo>
                    <a:pt x="617" y="369"/>
                  </a:lnTo>
                  <a:lnTo>
                    <a:pt x="621" y="383"/>
                  </a:lnTo>
                  <a:lnTo>
                    <a:pt x="622" y="400"/>
                  </a:lnTo>
                  <a:lnTo>
                    <a:pt x="623" y="418"/>
                  </a:lnTo>
                  <a:lnTo>
                    <a:pt x="622" y="437"/>
                  </a:lnTo>
                  <a:lnTo>
                    <a:pt x="619" y="457"/>
                  </a:lnTo>
                  <a:lnTo>
                    <a:pt x="615" y="478"/>
                  </a:lnTo>
                  <a:lnTo>
                    <a:pt x="609" y="500"/>
                  </a:lnTo>
                  <a:lnTo>
                    <a:pt x="602" y="521"/>
                  </a:lnTo>
                  <a:lnTo>
                    <a:pt x="593" y="542"/>
                  </a:lnTo>
                  <a:lnTo>
                    <a:pt x="587" y="557"/>
                  </a:lnTo>
                  <a:lnTo>
                    <a:pt x="580" y="570"/>
                  </a:lnTo>
                  <a:lnTo>
                    <a:pt x="573" y="583"/>
                  </a:lnTo>
                  <a:lnTo>
                    <a:pt x="565" y="594"/>
                  </a:lnTo>
                  <a:lnTo>
                    <a:pt x="556" y="605"/>
                  </a:lnTo>
                  <a:lnTo>
                    <a:pt x="547" y="615"/>
                  </a:lnTo>
                  <a:lnTo>
                    <a:pt x="536" y="624"/>
                  </a:lnTo>
                  <a:lnTo>
                    <a:pt x="525" y="632"/>
                  </a:lnTo>
                  <a:lnTo>
                    <a:pt x="514" y="639"/>
                  </a:lnTo>
                  <a:lnTo>
                    <a:pt x="502" y="645"/>
                  </a:lnTo>
                  <a:lnTo>
                    <a:pt x="489" y="650"/>
                  </a:lnTo>
                  <a:lnTo>
                    <a:pt x="475" y="654"/>
                  </a:lnTo>
                  <a:lnTo>
                    <a:pt x="460" y="658"/>
                  </a:lnTo>
                  <a:lnTo>
                    <a:pt x="445" y="660"/>
                  </a:lnTo>
                  <a:lnTo>
                    <a:pt x="430" y="662"/>
                  </a:lnTo>
                  <a:lnTo>
                    <a:pt x="413" y="662"/>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4888382" y="2368601"/>
              <a:ext cx="175565" cy="65837"/>
            </a:xfrm>
            <a:custGeom>
              <a:avLst/>
              <a:gdLst/>
              <a:ahLst/>
              <a:cxnLst/>
              <a:rect l="l" t="t" r="r" b="b"/>
              <a:pathLst>
                <a:path w="320" h="120">
                  <a:moveTo>
                    <a:pt x="0" y="0"/>
                  </a:moveTo>
                  <a:lnTo>
                    <a:pt x="70" y="110"/>
                  </a:lnTo>
                  <a:lnTo>
                    <a:pt x="320" y="120"/>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4860950" y="1995526"/>
              <a:ext cx="208483" cy="66385"/>
            </a:xfrm>
            <a:custGeom>
              <a:avLst/>
              <a:gdLst/>
              <a:ahLst/>
              <a:cxnLst/>
              <a:rect l="l" t="t" r="r" b="b"/>
              <a:pathLst>
                <a:path w="380" h="121">
                  <a:moveTo>
                    <a:pt x="0" y="121"/>
                  </a:moveTo>
                  <a:lnTo>
                    <a:pt x="12" y="98"/>
                  </a:lnTo>
                  <a:lnTo>
                    <a:pt x="28" y="77"/>
                  </a:lnTo>
                  <a:lnTo>
                    <a:pt x="46" y="57"/>
                  </a:lnTo>
                  <a:lnTo>
                    <a:pt x="66" y="40"/>
                  </a:lnTo>
                  <a:lnTo>
                    <a:pt x="89" y="26"/>
                  </a:lnTo>
                  <a:lnTo>
                    <a:pt x="112" y="15"/>
                  </a:lnTo>
                  <a:lnTo>
                    <a:pt x="138" y="7"/>
                  </a:lnTo>
                  <a:lnTo>
                    <a:pt x="164" y="2"/>
                  </a:lnTo>
                  <a:lnTo>
                    <a:pt x="190" y="0"/>
                  </a:lnTo>
                  <a:lnTo>
                    <a:pt x="216" y="2"/>
                  </a:lnTo>
                  <a:lnTo>
                    <a:pt x="242" y="7"/>
                  </a:lnTo>
                  <a:lnTo>
                    <a:pt x="268" y="15"/>
                  </a:lnTo>
                  <a:lnTo>
                    <a:pt x="291" y="26"/>
                  </a:lnTo>
                  <a:lnTo>
                    <a:pt x="314" y="40"/>
                  </a:lnTo>
                  <a:lnTo>
                    <a:pt x="334" y="57"/>
                  </a:lnTo>
                  <a:lnTo>
                    <a:pt x="352" y="77"/>
                  </a:lnTo>
                  <a:lnTo>
                    <a:pt x="368" y="98"/>
                  </a:lnTo>
                  <a:lnTo>
                    <a:pt x="380" y="121"/>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4965192" y="1995526"/>
              <a:ext cx="0" cy="21946"/>
            </a:xfrm>
            <a:custGeom>
              <a:avLst/>
              <a:gdLst/>
              <a:ahLst/>
              <a:cxnLst/>
              <a:rect l="l" t="t" r="r" b="b"/>
              <a:pathLst>
                <a:path w="0" h="40">
                  <a:moveTo>
                    <a:pt x="0" y="0"/>
                  </a:moveTo>
                  <a:lnTo>
                    <a:pt x="0" y="40"/>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26" name="Text 10"/>
          <p:cNvSpPr txBox="1"/>
          <p:nvPr/>
        </p:nvSpPr>
        <p:spPr>
          <a:xfrm>
            <a:off x="5413248" y="1845564"/>
            <a:ext cx="2313432" cy="320040"/>
          </a:xfrm>
          <a:prstGeom prst="rect">
            <a:avLst/>
          </a:prstGeom>
          <a:noFill/>
        </p:spPr>
        <p:txBody>
          <a:bodyPr wrap="none" lIns="0" rIns="0" tIns="0" bIns="0" anchor="t">
            <a:spAutoFit/>
          </a:bodyPr>
          <a:lstStyle/>
          <a:p>
            <a:pPr>
              <a:lnSpc>
                <a:spcPts val="2124"/>
              </a:lnSpc>
              <a:spcBef>
                <a:spcPts val="0"/>
              </a:spcBef>
              <a:spcAft>
                <a:spcPts val="0"/>
              </a:spcAft>
              <a:defRPr sz="1800" b="1">
                <a:solidFill>
                  <a:srgbClr val="234B42"/>
                </a:solidFill>
                <a:latin typeface="Manrope"/>
              </a:defRPr>
            </a:pPr>
            <a:r>
              <a:rPr lang="de-DE"/>
              <a:t>Tastsinn</a:t>
            </a:r>
          </a:p>
        </p:txBody>
      </p:sp>
      <p:sp>
        <p:nvSpPr>
          <p:cNvPr id="27" name="Text 11"/>
          <p:cNvSpPr txBox="1"/>
          <p:nvPr/>
        </p:nvSpPr>
        <p:spPr>
          <a:xfrm>
            <a:off x="5413248" y="2339340"/>
            <a:ext cx="2313432" cy="594360"/>
          </a:xfrm>
          <a:prstGeom prst="rect">
            <a:avLst/>
          </a:prstGeom>
          <a:noFill/>
        </p:spPr>
        <p:txBody>
          <a:bodyPr wrap="none" lIns="0" rIns="0" tIns="0" bIns="0" anchor="t">
            <a:spAutoFit/>
          </a:bodyPr>
          <a:lstStyle/>
          <a:p>
            <a:pPr>
              <a:lnSpc>
                <a:spcPts val="2005"/>
              </a:lnSpc>
              <a:spcBef>
                <a:spcPts val="0"/>
              </a:spcBef>
              <a:spcAft>
                <a:spcPts val="0"/>
              </a:spcAft>
              <a:defRPr sz="1700" b="0">
                <a:solidFill>
                  <a:srgbClr val="26332F"/>
                </a:solidFill>
                <a:latin typeface="Inter"/>
              </a:defRPr>
            </a:pPr>
            <a:r>
              <a:rPr lang="de-DE"/>
              <a:t>taktil · Berühren</a:t>
            </a:r>
          </a:p>
        </p:txBody>
      </p:sp>
      <p:sp>
        <p:nvSpPr>
          <p:cNvPr id="28" name="Rounded Rectangle 27"/>
          <p:cNvSpPr/>
          <p:nvPr/>
        </p:nvSpPr>
        <p:spPr>
          <a:xfrm>
            <a:off x="8165592" y="1644396"/>
            <a:ext cx="3419856" cy="1399032"/>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9" name="Icon · taste"/>
          <p:cNvGrpSpPr/>
          <p:nvPr/>
        </p:nvGrpSpPr>
        <p:grpSpPr>
          <a:xfrm>
            <a:off x="0" y="0"/>
            <a:ext cx="0" cy="0"/>
            <a:chOff x="0" y="0"/>
            <a:chExt cx="0" cy="0"/>
          </a:xfrm>
        </p:grpSpPr>
        <p:sp>
          <p:nvSpPr>
            <p:cNvPr id="30" name="Freeform 29"/>
            <p:cNvSpPr/>
            <p:nvPr/>
          </p:nvSpPr>
          <p:spPr>
            <a:xfrm>
              <a:off x="8427109" y="2128845"/>
              <a:ext cx="373075" cy="150876"/>
            </a:xfrm>
            <a:custGeom>
              <a:avLst/>
              <a:gdLst/>
              <a:ahLst/>
              <a:cxnLst/>
              <a:rect l="l" t="t" r="r" b="b"/>
              <a:pathLst>
                <a:path w="680" h="275">
                  <a:moveTo>
                    <a:pt x="0" y="117"/>
                  </a:moveTo>
                  <a:lnTo>
                    <a:pt x="27" y="103"/>
                  </a:lnTo>
                  <a:lnTo>
                    <a:pt x="53" y="89"/>
                  </a:lnTo>
                  <a:lnTo>
                    <a:pt x="77" y="75"/>
                  </a:lnTo>
                  <a:lnTo>
                    <a:pt x="100" y="61"/>
                  </a:lnTo>
                  <a:lnTo>
                    <a:pt x="121" y="48"/>
                  </a:lnTo>
                  <a:lnTo>
                    <a:pt x="142" y="35"/>
                  </a:lnTo>
                  <a:lnTo>
                    <a:pt x="162" y="24"/>
                  </a:lnTo>
                  <a:lnTo>
                    <a:pt x="181" y="15"/>
                  </a:lnTo>
                  <a:lnTo>
                    <a:pt x="200" y="7"/>
                  </a:lnTo>
                  <a:lnTo>
                    <a:pt x="219" y="2"/>
                  </a:lnTo>
                  <a:lnTo>
                    <a:pt x="238" y="0"/>
                  </a:lnTo>
                  <a:lnTo>
                    <a:pt x="257" y="2"/>
                  </a:lnTo>
                  <a:lnTo>
                    <a:pt x="277" y="7"/>
                  </a:lnTo>
                  <a:lnTo>
                    <a:pt x="297" y="16"/>
                  </a:lnTo>
                  <a:lnTo>
                    <a:pt x="318" y="29"/>
                  </a:lnTo>
                  <a:lnTo>
                    <a:pt x="340" y="47"/>
                  </a:lnTo>
                  <a:lnTo>
                    <a:pt x="362" y="29"/>
                  </a:lnTo>
                  <a:lnTo>
                    <a:pt x="383" y="16"/>
                  </a:lnTo>
                  <a:lnTo>
                    <a:pt x="404" y="7"/>
                  </a:lnTo>
                  <a:lnTo>
                    <a:pt x="424" y="2"/>
                  </a:lnTo>
                  <a:lnTo>
                    <a:pt x="444" y="0"/>
                  </a:lnTo>
                  <a:lnTo>
                    <a:pt x="463" y="2"/>
                  </a:lnTo>
                  <a:lnTo>
                    <a:pt x="483" y="7"/>
                  </a:lnTo>
                  <a:lnTo>
                    <a:pt x="502" y="15"/>
                  </a:lnTo>
                  <a:lnTo>
                    <a:pt x="522" y="24"/>
                  </a:lnTo>
                  <a:lnTo>
                    <a:pt x="543" y="35"/>
                  </a:lnTo>
                  <a:lnTo>
                    <a:pt x="563" y="48"/>
                  </a:lnTo>
                  <a:lnTo>
                    <a:pt x="585" y="61"/>
                  </a:lnTo>
                  <a:lnTo>
                    <a:pt x="607" y="75"/>
                  </a:lnTo>
                  <a:lnTo>
                    <a:pt x="630" y="89"/>
                  </a:lnTo>
                  <a:lnTo>
                    <a:pt x="654" y="103"/>
                  </a:lnTo>
                  <a:lnTo>
                    <a:pt x="680" y="117"/>
                  </a:lnTo>
                  <a:lnTo>
                    <a:pt x="653" y="154"/>
                  </a:lnTo>
                  <a:lnTo>
                    <a:pt x="620" y="186"/>
                  </a:lnTo>
                  <a:lnTo>
                    <a:pt x="582" y="213"/>
                  </a:lnTo>
                  <a:lnTo>
                    <a:pt x="540" y="235"/>
                  </a:lnTo>
                  <a:lnTo>
                    <a:pt x="495" y="252"/>
                  </a:lnTo>
                  <a:lnTo>
                    <a:pt x="447" y="265"/>
                  </a:lnTo>
                  <a:lnTo>
                    <a:pt x="398" y="272"/>
                  </a:lnTo>
                  <a:lnTo>
                    <a:pt x="348" y="275"/>
                  </a:lnTo>
                  <a:lnTo>
                    <a:pt x="297" y="272"/>
                  </a:lnTo>
                  <a:lnTo>
                    <a:pt x="247" y="265"/>
                  </a:lnTo>
                  <a:lnTo>
                    <a:pt x="198" y="252"/>
                  </a:lnTo>
                  <a:lnTo>
                    <a:pt x="151" y="235"/>
                  </a:lnTo>
                  <a:lnTo>
                    <a:pt x="107" y="213"/>
                  </a:lnTo>
                  <a:lnTo>
                    <a:pt x="67" y="186"/>
                  </a:lnTo>
                  <a:lnTo>
                    <a:pt x="31" y="154"/>
                  </a:lnTo>
                  <a:lnTo>
                    <a:pt x="0" y="117"/>
                  </a:lnTo>
                  <a:close/>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8438082" y="2198522"/>
              <a:ext cx="351130" cy="20848"/>
            </a:xfrm>
            <a:custGeom>
              <a:avLst/>
              <a:gdLst/>
              <a:ahLst/>
              <a:cxnLst/>
              <a:rect l="l" t="t" r="r" b="b"/>
              <a:pathLst>
                <a:path w="640" h="38">
                  <a:moveTo>
                    <a:pt x="0" y="0"/>
                  </a:moveTo>
                  <a:lnTo>
                    <a:pt x="33" y="9"/>
                  </a:lnTo>
                  <a:lnTo>
                    <a:pt x="69" y="16"/>
                  </a:lnTo>
                  <a:lnTo>
                    <a:pt x="107" y="23"/>
                  </a:lnTo>
                  <a:lnTo>
                    <a:pt x="146" y="28"/>
                  </a:lnTo>
                  <a:lnTo>
                    <a:pt x="188" y="32"/>
                  </a:lnTo>
                  <a:lnTo>
                    <a:pt x="230" y="35"/>
                  </a:lnTo>
                  <a:lnTo>
                    <a:pt x="273" y="37"/>
                  </a:lnTo>
                  <a:lnTo>
                    <a:pt x="316" y="38"/>
                  </a:lnTo>
                  <a:lnTo>
                    <a:pt x="360" y="37"/>
                  </a:lnTo>
                  <a:lnTo>
                    <a:pt x="403" y="35"/>
                  </a:lnTo>
                  <a:lnTo>
                    <a:pt x="446" y="32"/>
                  </a:lnTo>
                  <a:lnTo>
                    <a:pt x="488" y="28"/>
                  </a:lnTo>
                  <a:lnTo>
                    <a:pt x="529" y="23"/>
                  </a:lnTo>
                  <a:lnTo>
                    <a:pt x="568" y="16"/>
                  </a:lnTo>
                  <a:lnTo>
                    <a:pt x="605" y="9"/>
                  </a:lnTo>
                  <a:lnTo>
                    <a:pt x="640" y="0"/>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8556588" y="2236927"/>
              <a:ext cx="126187" cy="175565"/>
            </a:xfrm>
            <a:custGeom>
              <a:avLst/>
              <a:gdLst/>
              <a:ahLst/>
              <a:cxnLst/>
              <a:rect l="l" t="t" r="r" b="b"/>
              <a:pathLst>
                <a:path w="230" h="320">
                  <a:moveTo>
                    <a:pt x="14" y="0"/>
                  </a:moveTo>
                  <a:lnTo>
                    <a:pt x="12" y="23"/>
                  </a:lnTo>
                  <a:lnTo>
                    <a:pt x="9" y="47"/>
                  </a:lnTo>
                  <a:lnTo>
                    <a:pt x="7" y="72"/>
                  </a:lnTo>
                  <a:lnTo>
                    <a:pt x="4" y="96"/>
                  </a:lnTo>
                  <a:lnTo>
                    <a:pt x="2" y="121"/>
                  </a:lnTo>
                  <a:lnTo>
                    <a:pt x="1" y="146"/>
                  </a:lnTo>
                  <a:lnTo>
                    <a:pt x="0" y="170"/>
                  </a:lnTo>
                  <a:lnTo>
                    <a:pt x="2" y="194"/>
                  </a:lnTo>
                  <a:lnTo>
                    <a:pt x="4" y="216"/>
                  </a:lnTo>
                  <a:lnTo>
                    <a:pt x="9" y="237"/>
                  </a:lnTo>
                  <a:lnTo>
                    <a:pt x="16" y="257"/>
                  </a:lnTo>
                  <a:lnTo>
                    <a:pt x="25" y="274"/>
                  </a:lnTo>
                  <a:lnTo>
                    <a:pt x="37" y="290"/>
                  </a:lnTo>
                  <a:lnTo>
                    <a:pt x="53" y="303"/>
                  </a:lnTo>
                  <a:lnTo>
                    <a:pt x="72" y="313"/>
                  </a:lnTo>
                  <a:lnTo>
                    <a:pt x="94" y="320"/>
                  </a:lnTo>
                  <a:lnTo>
                    <a:pt x="120" y="320"/>
                  </a:lnTo>
                  <a:lnTo>
                    <a:pt x="143" y="316"/>
                  </a:lnTo>
                  <a:lnTo>
                    <a:pt x="163" y="308"/>
                  </a:lnTo>
                  <a:lnTo>
                    <a:pt x="180" y="297"/>
                  </a:lnTo>
                  <a:lnTo>
                    <a:pt x="194" y="283"/>
                  </a:lnTo>
                  <a:lnTo>
                    <a:pt x="206" y="266"/>
                  </a:lnTo>
                  <a:lnTo>
                    <a:pt x="215" y="247"/>
                  </a:lnTo>
                  <a:lnTo>
                    <a:pt x="222" y="226"/>
                  </a:lnTo>
                  <a:lnTo>
                    <a:pt x="226" y="203"/>
                  </a:lnTo>
                  <a:lnTo>
                    <a:pt x="229" y="179"/>
                  </a:lnTo>
                  <a:lnTo>
                    <a:pt x="230" y="154"/>
                  </a:lnTo>
                  <a:lnTo>
                    <a:pt x="229" y="127"/>
                  </a:lnTo>
                  <a:lnTo>
                    <a:pt x="227" y="101"/>
                  </a:lnTo>
                  <a:lnTo>
                    <a:pt x="224" y="73"/>
                  </a:lnTo>
                  <a:lnTo>
                    <a:pt x="219" y="47"/>
                  </a:lnTo>
                  <a:lnTo>
                    <a:pt x="214" y="20"/>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8619133" y="2297278"/>
              <a:ext cx="0" cy="54864"/>
            </a:xfrm>
            <a:custGeom>
              <a:avLst/>
              <a:gdLst/>
              <a:ahLst/>
              <a:cxnLst/>
              <a:rect l="l" t="t" r="r" b="b"/>
              <a:pathLst>
                <a:path w="0" h="100">
                  <a:moveTo>
                    <a:pt x="0" y="0"/>
                  </a:moveTo>
                  <a:lnTo>
                    <a:pt x="0" y="100"/>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34" name="Text 14"/>
          <p:cNvSpPr txBox="1"/>
          <p:nvPr/>
        </p:nvSpPr>
        <p:spPr>
          <a:xfrm>
            <a:off x="9061704" y="1845564"/>
            <a:ext cx="2313432" cy="320040"/>
          </a:xfrm>
          <a:prstGeom prst="rect">
            <a:avLst/>
          </a:prstGeom>
          <a:noFill/>
        </p:spPr>
        <p:txBody>
          <a:bodyPr wrap="none" lIns="0" rIns="0" tIns="0" bIns="0" anchor="t">
            <a:spAutoFit/>
          </a:bodyPr>
          <a:lstStyle/>
          <a:p>
            <a:pPr>
              <a:lnSpc>
                <a:spcPts val="2124"/>
              </a:lnSpc>
              <a:spcBef>
                <a:spcPts val="0"/>
              </a:spcBef>
              <a:spcAft>
                <a:spcPts val="0"/>
              </a:spcAft>
              <a:defRPr sz="1800" b="1">
                <a:solidFill>
                  <a:srgbClr val="234B42"/>
                </a:solidFill>
                <a:latin typeface="Manrope"/>
              </a:defRPr>
            </a:pPr>
            <a:r>
              <a:rPr lang="de-DE"/>
              <a:t>Geschmackssinn</a:t>
            </a:r>
          </a:p>
        </p:txBody>
      </p:sp>
      <p:sp>
        <p:nvSpPr>
          <p:cNvPr id="35" name="Text 15"/>
          <p:cNvSpPr txBox="1"/>
          <p:nvPr/>
        </p:nvSpPr>
        <p:spPr>
          <a:xfrm>
            <a:off x="9061704" y="2339340"/>
            <a:ext cx="2313432" cy="594360"/>
          </a:xfrm>
          <a:prstGeom prst="rect">
            <a:avLst/>
          </a:prstGeom>
          <a:noFill/>
        </p:spPr>
        <p:txBody>
          <a:bodyPr wrap="none" lIns="0" rIns="0" tIns="0" bIns="0" anchor="t">
            <a:spAutoFit/>
          </a:bodyPr>
          <a:lstStyle/>
          <a:p>
            <a:pPr>
              <a:lnSpc>
                <a:spcPts val="2005"/>
              </a:lnSpc>
              <a:spcBef>
                <a:spcPts val="0"/>
              </a:spcBef>
              <a:spcAft>
                <a:spcPts val="0"/>
              </a:spcAft>
              <a:defRPr sz="1700" b="0">
                <a:solidFill>
                  <a:srgbClr val="26332F"/>
                </a:solidFill>
                <a:latin typeface="Inter"/>
              </a:defRPr>
            </a:pPr>
            <a:r>
              <a:rPr lang="de-DE"/>
              <a:t>gustatorisch ·</a:t>
            </a:r>
          </a:p>
          <a:p>
            <a:pPr>
              <a:lnSpc>
                <a:spcPts val="2005"/>
              </a:lnSpc>
              <a:spcBef>
                <a:spcPts val="0"/>
              </a:spcBef>
              <a:spcAft>
                <a:spcPts val="0"/>
              </a:spcAft>
              <a:defRPr sz="1700" b="0">
                <a:solidFill>
                  <a:srgbClr val="26332F"/>
                </a:solidFill>
                <a:latin typeface="Inter"/>
              </a:defRPr>
            </a:pPr>
            <a:r>
              <a:rPr lang="de-DE"/>
              <a:t>Schmecken</a:t>
            </a:r>
          </a:p>
        </p:txBody>
      </p:sp>
      <p:sp>
        <p:nvSpPr>
          <p:cNvPr id="36" name="Rounded Rectangle 35"/>
          <p:cNvSpPr/>
          <p:nvPr/>
        </p:nvSpPr>
        <p:spPr>
          <a:xfrm>
            <a:off x="4517136" y="3162299"/>
            <a:ext cx="3419856" cy="1399032"/>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7" name="Icon · smell"/>
          <p:cNvGrpSpPr/>
          <p:nvPr/>
        </p:nvGrpSpPr>
        <p:grpSpPr>
          <a:xfrm>
            <a:off x="0" y="0"/>
            <a:ext cx="0" cy="0"/>
            <a:chOff x="0" y="0"/>
            <a:chExt cx="0" cy="0"/>
          </a:xfrm>
        </p:grpSpPr>
        <p:sp>
          <p:nvSpPr>
            <p:cNvPr id="38" name="Freeform 37"/>
            <p:cNvSpPr/>
            <p:nvPr/>
          </p:nvSpPr>
          <p:spPr>
            <a:xfrm>
              <a:off x="4859853" y="3551834"/>
              <a:ext cx="131674" cy="312725"/>
            </a:xfrm>
            <a:custGeom>
              <a:avLst/>
              <a:gdLst/>
              <a:ahLst/>
              <a:cxnLst/>
              <a:rect l="l" t="t" r="r" b="b"/>
              <a:pathLst>
                <a:path w="240" h="570">
                  <a:moveTo>
                    <a:pt x="142" y="0"/>
                  </a:moveTo>
                  <a:lnTo>
                    <a:pt x="143" y="33"/>
                  </a:lnTo>
                  <a:lnTo>
                    <a:pt x="142" y="64"/>
                  </a:lnTo>
                  <a:lnTo>
                    <a:pt x="139" y="93"/>
                  </a:lnTo>
                  <a:lnTo>
                    <a:pt x="134" y="121"/>
                  </a:lnTo>
                  <a:lnTo>
                    <a:pt x="128" y="148"/>
                  </a:lnTo>
                  <a:lnTo>
                    <a:pt x="121" y="173"/>
                  </a:lnTo>
                  <a:lnTo>
                    <a:pt x="113" y="197"/>
                  </a:lnTo>
                  <a:lnTo>
                    <a:pt x="103" y="220"/>
                  </a:lnTo>
                  <a:lnTo>
                    <a:pt x="93" y="242"/>
                  </a:lnTo>
                  <a:lnTo>
                    <a:pt x="82" y="263"/>
                  </a:lnTo>
                  <a:lnTo>
                    <a:pt x="71" y="284"/>
                  </a:lnTo>
                  <a:lnTo>
                    <a:pt x="59" y="304"/>
                  </a:lnTo>
                  <a:lnTo>
                    <a:pt x="47" y="323"/>
                  </a:lnTo>
                  <a:lnTo>
                    <a:pt x="35" y="342"/>
                  </a:lnTo>
                  <a:lnTo>
                    <a:pt x="23" y="361"/>
                  </a:lnTo>
                  <a:lnTo>
                    <a:pt x="12" y="380"/>
                  </a:lnTo>
                  <a:lnTo>
                    <a:pt x="5" y="394"/>
                  </a:lnTo>
                  <a:lnTo>
                    <a:pt x="1" y="408"/>
                  </a:lnTo>
                  <a:lnTo>
                    <a:pt x="0" y="420"/>
                  </a:lnTo>
                  <a:lnTo>
                    <a:pt x="3" y="430"/>
                  </a:lnTo>
                  <a:lnTo>
                    <a:pt x="9" y="440"/>
                  </a:lnTo>
                  <a:lnTo>
                    <a:pt x="17" y="448"/>
                  </a:lnTo>
                  <a:lnTo>
                    <a:pt x="27" y="455"/>
                  </a:lnTo>
                  <a:lnTo>
                    <a:pt x="40" y="461"/>
                  </a:lnTo>
                  <a:lnTo>
                    <a:pt x="53" y="466"/>
                  </a:lnTo>
                  <a:lnTo>
                    <a:pt x="69" y="469"/>
                  </a:lnTo>
                  <a:lnTo>
                    <a:pt x="85" y="471"/>
                  </a:lnTo>
                  <a:lnTo>
                    <a:pt x="102" y="471"/>
                  </a:lnTo>
                  <a:lnTo>
                    <a:pt x="120" y="471"/>
                  </a:lnTo>
                  <a:lnTo>
                    <a:pt x="137" y="468"/>
                  </a:lnTo>
                  <a:lnTo>
                    <a:pt x="155" y="465"/>
                  </a:lnTo>
                  <a:lnTo>
                    <a:pt x="172" y="460"/>
                  </a:lnTo>
                  <a:lnTo>
                    <a:pt x="185" y="457"/>
                  </a:lnTo>
                  <a:lnTo>
                    <a:pt x="196" y="457"/>
                  </a:lnTo>
                  <a:lnTo>
                    <a:pt x="206" y="458"/>
                  </a:lnTo>
                  <a:lnTo>
                    <a:pt x="215" y="462"/>
                  </a:lnTo>
                  <a:lnTo>
                    <a:pt x="222" y="467"/>
                  </a:lnTo>
                  <a:lnTo>
                    <a:pt x="229" y="473"/>
                  </a:lnTo>
                  <a:lnTo>
                    <a:pt x="233" y="480"/>
                  </a:lnTo>
                  <a:lnTo>
                    <a:pt x="237" y="489"/>
                  </a:lnTo>
                  <a:lnTo>
                    <a:pt x="239" y="498"/>
                  </a:lnTo>
                  <a:lnTo>
                    <a:pt x="240" y="508"/>
                  </a:lnTo>
                  <a:lnTo>
                    <a:pt x="239" y="518"/>
                  </a:lnTo>
                  <a:lnTo>
                    <a:pt x="237" y="529"/>
                  </a:lnTo>
                  <a:lnTo>
                    <a:pt x="233" y="540"/>
                  </a:lnTo>
                  <a:lnTo>
                    <a:pt x="228" y="550"/>
                  </a:lnTo>
                  <a:lnTo>
                    <a:pt x="221" y="560"/>
                  </a:lnTo>
                  <a:lnTo>
                    <a:pt x="212" y="570"/>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4888382" y="3897478"/>
              <a:ext cx="137160" cy="31821"/>
            </a:xfrm>
            <a:custGeom>
              <a:avLst/>
              <a:gdLst/>
              <a:ahLst/>
              <a:cxnLst/>
              <a:rect l="l" t="t" r="r" b="b"/>
              <a:pathLst>
                <a:path w="250" h="58">
                  <a:moveTo>
                    <a:pt x="0" y="10"/>
                  </a:moveTo>
                  <a:lnTo>
                    <a:pt x="14" y="22"/>
                  </a:lnTo>
                  <a:lnTo>
                    <a:pt x="28" y="33"/>
                  </a:lnTo>
                  <a:lnTo>
                    <a:pt x="43" y="41"/>
                  </a:lnTo>
                  <a:lnTo>
                    <a:pt x="59" y="48"/>
                  </a:lnTo>
                  <a:lnTo>
                    <a:pt x="75" y="53"/>
                  </a:lnTo>
                  <a:lnTo>
                    <a:pt x="91" y="56"/>
                  </a:lnTo>
                  <a:lnTo>
                    <a:pt x="108" y="58"/>
                  </a:lnTo>
                  <a:lnTo>
                    <a:pt x="125" y="58"/>
                  </a:lnTo>
                  <a:lnTo>
                    <a:pt x="142" y="56"/>
                  </a:lnTo>
                  <a:lnTo>
                    <a:pt x="159" y="52"/>
                  </a:lnTo>
                  <a:lnTo>
                    <a:pt x="175" y="47"/>
                  </a:lnTo>
                  <a:lnTo>
                    <a:pt x="191" y="41"/>
                  </a:lnTo>
                  <a:lnTo>
                    <a:pt x="207" y="33"/>
                  </a:lnTo>
                  <a:lnTo>
                    <a:pt x="222" y="23"/>
                  </a:lnTo>
                  <a:lnTo>
                    <a:pt x="236" y="12"/>
                  </a:lnTo>
                  <a:lnTo>
                    <a:pt x="250" y="0"/>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5048585" y="3634130"/>
              <a:ext cx="25237" cy="109728"/>
            </a:xfrm>
            <a:custGeom>
              <a:avLst/>
              <a:gdLst/>
              <a:ahLst/>
              <a:cxnLst/>
              <a:rect l="l" t="t" r="r" b="b"/>
              <a:pathLst>
                <a:path w="46" h="200">
                  <a:moveTo>
                    <a:pt x="28" y="200"/>
                  </a:moveTo>
                  <a:lnTo>
                    <a:pt x="14" y="185"/>
                  </a:lnTo>
                  <a:lnTo>
                    <a:pt x="5" y="172"/>
                  </a:lnTo>
                  <a:lnTo>
                    <a:pt x="1" y="159"/>
                  </a:lnTo>
                  <a:lnTo>
                    <a:pt x="0" y="146"/>
                  </a:lnTo>
                  <a:lnTo>
                    <a:pt x="2" y="134"/>
                  </a:lnTo>
                  <a:lnTo>
                    <a:pt x="7" y="123"/>
                  </a:lnTo>
                  <a:lnTo>
                    <a:pt x="13" y="111"/>
                  </a:lnTo>
                  <a:lnTo>
                    <a:pt x="20" y="100"/>
                  </a:lnTo>
                  <a:lnTo>
                    <a:pt x="28" y="89"/>
                  </a:lnTo>
                  <a:lnTo>
                    <a:pt x="35" y="77"/>
                  </a:lnTo>
                  <a:lnTo>
                    <a:pt x="41" y="66"/>
                  </a:lnTo>
                  <a:lnTo>
                    <a:pt x="45" y="54"/>
                  </a:lnTo>
                  <a:lnTo>
                    <a:pt x="46" y="41"/>
                  </a:lnTo>
                  <a:lnTo>
                    <a:pt x="44" y="28"/>
                  </a:lnTo>
                  <a:lnTo>
                    <a:pt x="39" y="15"/>
                  </a:lnTo>
                  <a:lnTo>
                    <a:pt x="28" y="0"/>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5114422" y="3710940"/>
              <a:ext cx="25237" cy="109728"/>
            </a:xfrm>
            <a:custGeom>
              <a:avLst/>
              <a:gdLst/>
              <a:ahLst/>
              <a:cxnLst/>
              <a:rect l="l" t="t" r="r" b="b"/>
              <a:pathLst>
                <a:path w="46" h="200">
                  <a:moveTo>
                    <a:pt x="28" y="200"/>
                  </a:moveTo>
                  <a:lnTo>
                    <a:pt x="14" y="185"/>
                  </a:lnTo>
                  <a:lnTo>
                    <a:pt x="5" y="172"/>
                  </a:lnTo>
                  <a:lnTo>
                    <a:pt x="1" y="159"/>
                  </a:lnTo>
                  <a:lnTo>
                    <a:pt x="0" y="146"/>
                  </a:lnTo>
                  <a:lnTo>
                    <a:pt x="2" y="134"/>
                  </a:lnTo>
                  <a:lnTo>
                    <a:pt x="7" y="123"/>
                  </a:lnTo>
                  <a:lnTo>
                    <a:pt x="13" y="111"/>
                  </a:lnTo>
                  <a:lnTo>
                    <a:pt x="20" y="100"/>
                  </a:lnTo>
                  <a:lnTo>
                    <a:pt x="28" y="89"/>
                  </a:lnTo>
                  <a:lnTo>
                    <a:pt x="35" y="77"/>
                  </a:lnTo>
                  <a:lnTo>
                    <a:pt x="41" y="66"/>
                  </a:lnTo>
                  <a:lnTo>
                    <a:pt x="45" y="54"/>
                  </a:lnTo>
                  <a:lnTo>
                    <a:pt x="46" y="41"/>
                  </a:lnTo>
                  <a:lnTo>
                    <a:pt x="44" y="28"/>
                  </a:lnTo>
                  <a:lnTo>
                    <a:pt x="39" y="15"/>
                  </a:lnTo>
                  <a:lnTo>
                    <a:pt x="28" y="0"/>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42" name="Text 18"/>
          <p:cNvSpPr txBox="1"/>
          <p:nvPr/>
        </p:nvSpPr>
        <p:spPr>
          <a:xfrm>
            <a:off x="5413248" y="3363468"/>
            <a:ext cx="2313432" cy="320040"/>
          </a:xfrm>
          <a:prstGeom prst="rect">
            <a:avLst/>
          </a:prstGeom>
          <a:noFill/>
        </p:spPr>
        <p:txBody>
          <a:bodyPr wrap="none" lIns="0" rIns="0" tIns="0" bIns="0" anchor="t">
            <a:spAutoFit/>
          </a:bodyPr>
          <a:lstStyle/>
          <a:p>
            <a:pPr>
              <a:lnSpc>
                <a:spcPts val="2124"/>
              </a:lnSpc>
              <a:spcBef>
                <a:spcPts val="0"/>
              </a:spcBef>
              <a:spcAft>
                <a:spcPts val="0"/>
              </a:spcAft>
              <a:defRPr sz="1800" b="1">
                <a:solidFill>
                  <a:srgbClr val="234B42"/>
                </a:solidFill>
                <a:latin typeface="Manrope"/>
              </a:defRPr>
            </a:pPr>
            <a:r>
              <a:rPr lang="de-DE"/>
              <a:t>Geruchssinn</a:t>
            </a:r>
          </a:p>
        </p:txBody>
      </p:sp>
      <p:sp>
        <p:nvSpPr>
          <p:cNvPr id="43" name="Text 19"/>
          <p:cNvSpPr txBox="1"/>
          <p:nvPr/>
        </p:nvSpPr>
        <p:spPr>
          <a:xfrm>
            <a:off x="5413248" y="3857243"/>
            <a:ext cx="2313432" cy="594360"/>
          </a:xfrm>
          <a:prstGeom prst="rect">
            <a:avLst/>
          </a:prstGeom>
          <a:noFill/>
        </p:spPr>
        <p:txBody>
          <a:bodyPr wrap="none" lIns="0" rIns="0" tIns="0" bIns="0" anchor="t">
            <a:spAutoFit/>
          </a:bodyPr>
          <a:lstStyle/>
          <a:p>
            <a:pPr>
              <a:lnSpc>
                <a:spcPts val="2005"/>
              </a:lnSpc>
              <a:spcBef>
                <a:spcPts val="0"/>
              </a:spcBef>
              <a:spcAft>
                <a:spcPts val="0"/>
              </a:spcAft>
              <a:defRPr sz="1700" b="0">
                <a:solidFill>
                  <a:srgbClr val="26332F"/>
                </a:solidFill>
                <a:latin typeface="Inter"/>
              </a:defRPr>
            </a:pPr>
            <a:r>
              <a:rPr lang="de-DE"/>
              <a:t>olfaktorisch · Riechen</a:t>
            </a:r>
          </a:p>
        </p:txBody>
      </p:sp>
      <p:sp>
        <p:nvSpPr>
          <p:cNvPr id="44" name="Rounded Rectangle 43"/>
          <p:cNvSpPr/>
          <p:nvPr/>
        </p:nvSpPr>
        <p:spPr>
          <a:xfrm>
            <a:off x="8165592" y="3162299"/>
            <a:ext cx="3419856" cy="1399032"/>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45" name="Icon · ear"/>
          <p:cNvGrpSpPr/>
          <p:nvPr/>
        </p:nvGrpSpPr>
        <p:grpSpPr>
          <a:xfrm>
            <a:off x="0" y="0"/>
            <a:ext cx="0" cy="0"/>
            <a:chOff x="0" y="0"/>
            <a:chExt cx="0" cy="0"/>
          </a:xfrm>
        </p:grpSpPr>
        <p:sp>
          <p:nvSpPr>
            <p:cNvPr id="46" name="Freeform 45"/>
            <p:cNvSpPr/>
            <p:nvPr/>
          </p:nvSpPr>
          <p:spPr>
            <a:xfrm>
              <a:off x="8509405" y="3548543"/>
              <a:ext cx="257861" cy="390083"/>
            </a:xfrm>
            <a:custGeom>
              <a:avLst/>
              <a:gdLst/>
              <a:ahLst/>
              <a:cxnLst/>
              <a:rect l="l" t="t" r="r" b="b"/>
              <a:pathLst>
                <a:path w="470" h="711">
                  <a:moveTo>
                    <a:pt x="0" y="236"/>
                  </a:moveTo>
                  <a:lnTo>
                    <a:pt x="2" y="180"/>
                  </a:lnTo>
                  <a:lnTo>
                    <a:pt x="14" y="131"/>
                  </a:lnTo>
                  <a:lnTo>
                    <a:pt x="36" y="91"/>
                  </a:lnTo>
                  <a:lnTo>
                    <a:pt x="65" y="57"/>
                  </a:lnTo>
                  <a:lnTo>
                    <a:pt x="100" y="32"/>
                  </a:lnTo>
                  <a:lnTo>
                    <a:pt x="140" y="14"/>
                  </a:lnTo>
                  <a:lnTo>
                    <a:pt x="183" y="3"/>
                  </a:lnTo>
                  <a:lnTo>
                    <a:pt x="228" y="0"/>
                  </a:lnTo>
                  <a:lnTo>
                    <a:pt x="272" y="4"/>
                  </a:lnTo>
                  <a:lnTo>
                    <a:pt x="316" y="15"/>
                  </a:lnTo>
                  <a:lnTo>
                    <a:pt x="357" y="34"/>
                  </a:lnTo>
                  <a:lnTo>
                    <a:pt x="394" y="60"/>
                  </a:lnTo>
                  <a:lnTo>
                    <a:pt x="425" y="93"/>
                  </a:lnTo>
                  <a:lnTo>
                    <a:pt x="449" y="134"/>
                  </a:lnTo>
                  <a:lnTo>
                    <a:pt x="465" y="181"/>
                  </a:lnTo>
                  <a:lnTo>
                    <a:pt x="470" y="236"/>
                  </a:lnTo>
                  <a:lnTo>
                    <a:pt x="468" y="273"/>
                  </a:lnTo>
                  <a:lnTo>
                    <a:pt x="461" y="306"/>
                  </a:lnTo>
                  <a:lnTo>
                    <a:pt x="451" y="334"/>
                  </a:lnTo>
                  <a:lnTo>
                    <a:pt x="439" y="360"/>
                  </a:lnTo>
                  <a:lnTo>
                    <a:pt x="423" y="383"/>
                  </a:lnTo>
                  <a:lnTo>
                    <a:pt x="406" y="403"/>
                  </a:lnTo>
                  <a:lnTo>
                    <a:pt x="388" y="422"/>
                  </a:lnTo>
                  <a:lnTo>
                    <a:pt x="369" y="440"/>
                  </a:lnTo>
                  <a:lnTo>
                    <a:pt x="350" y="457"/>
                  </a:lnTo>
                  <a:lnTo>
                    <a:pt x="331" y="474"/>
                  </a:lnTo>
                  <a:lnTo>
                    <a:pt x="313" y="492"/>
                  </a:lnTo>
                  <a:lnTo>
                    <a:pt x="297" y="510"/>
                  </a:lnTo>
                  <a:lnTo>
                    <a:pt x="283" y="530"/>
                  </a:lnTo>
                  <a:lnTo>
                    <a:pt x="272" y="553"/>
                  </a:lnTo>
                  <a:lnTo>
                    <a:pt x="264" y="578"/>
                  </a:lnTo>
                  <a:lnTo>
                    <a:pt x="260" y="606"/>
                  </a:lnTo>
                  <a:lnTo>
                    <a:pt x="256" y="629"/>
                  </a:lnTo>
                  <a:lnTo>
                    <a:pt x="248" y="649"/>
                  </a:lnTo>
                  <a:lnTo>
                    <a:pt x="237" y="667"/>
                  </a:lnTo>
                  <a:lnTo>
                    <a:pt x="222" y="682"/>
                  </a:lnTo>
                  <a:lnTo>
                    <a:pt x="206" y="694"/>
                  </a:lnTo>
                  <a:lnTo>
                    <a:pt x="188" y="703"/>
                  </a:lnTo>
                  <a:lnTo>
                    <a:pt x="168" y="708"/>
                  </a:lnTo>
                  <a:lnTo>
                    <a:pt x="148" y="711"/>
                  </a:lnTo>
                  <a:lnTo>
                    <a:pt x="127" y="710"/>
                  </a:lnTo>
                  <a:lnTo>
                    <a:pt x="106" y="706"/>
                  </a:lnTo>
                  <a:lnTo>
                    <a:pt x="87" y="699"/>
                  </a:lnTo>
                  <a:lnTo>
                    <a:pt x="69" y="688"/>
                  </a:lnTo>
                  <a:lnTo>
                    <a:pt x="52" y="673"/>
                  </a:lnTo>
                  <a:lnTo>
                    <a:pt x="39" y="654"/>
                  </a:lnTo>
                  <a:lnTo>
                    <a:pt x="28" y="632"/>
                  </a:lnTo>
                  <a:lnTo>
                    <a:pt x="20" y="606"/>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8575242" y="3607247"/>
              <a:ext cx="120701" cy="224394"/>
            </a:xfrm>
            <a:custGeom>
              <a:avLst/>
              <a:gdLst/>
              <a:ahLst/>
              <a:cxnLst/>
              <a:rect l="l" t="t" r="r" b="b"/>
              <a:pathLst>
                <a:path w="220" h="409">
                  <a:moveTo>
                    <a:pt x="0" y="119"/>
                  </a:moveTo>
                  <a:lnTo>
                    <a:pt x="1" y="91"/>
                  </a:lnTo>
                  <a:lnTo>
                    <a:pt x="7" y="67"/>
                  </a:lnTo>
                  <a:lnTo>
                    <a:pt x="17" y="46"/>
                  </a:lnTo>
                  <a:lnTo>
                    <a:pt x="30" y="29"/>
                  </a:lnTo>
                  <a:lnTo>
                    <a:pt x="47" y="16"/>
                  </a:lnTo>
                  <a:lnTo>
                    <a:pt x="65" y="7"/>
                  </a:lnTo>
                  <a:lnTo>
                    <a:pt x="85" y="2"/>
                  </a:lnTo>
                  <a:lnTo>
                    <a:pt x="106" y="0"/>
                  </a:lnTo>
                  <a:lnTo>
                    <a:pt x="127" y="3"/>
                  </a:lnTo>
                  <a:lnTo>
                    <a:pt x="148" y="9"/>
                  </a:lnTo>
                  <a:lnTo>
                    <a:pt x="167" y="19"/>
                  </a:lnTo>
                  <a:lnTo>
                    <a:pt x="184" y="33"/>
                  </a:lnTo>
                  <a:lnTo>
                    <a:pt x="199" y="51"/>
                  </a:lnTo>
                  <a:lnTo>
                    <a:pt x="210" y="73"/>
                  </a:lnTo>
                  <a:lnTo>
                    <a:pt x="217" y="99"/>
                  </a:lnTo>
                  <a:lnTo>
                    <a:pt x="220" y="129"/>
                  </a:lnTo>
                  <a:lnTo>
                    <a:pt x="219" y="147"/>
                  </a:lnTo>
                  <a:lnTo>
                    <a:pt x="215" y="163"/>
                  </a:lnTo>
                  <a:lnTo>
                    <a:pt x="209" y="177"/>
                  </a:lnTo>
                  <a:lnTo>
                    <a:pt x="200" y="189"/>
                  </a:lnTo>
                  <a:lnTo>
                    <a:pt x="190" y="200"/>
                  </a:lnTo>
                  <a:lnTo>
                    <a:pt x="179" y="210"/>
                  </a:lnTo>
                  <a:lnTo>
                    <a:pt x="166" y="219"/>
                  </a:lnTo>
                  <a:lnTo>
                    <a:pt x="152" y="228"/>
                  </a:lnTo>
                  <a:lnTo>
                    <a:pt x="138" y="235"/>
                  </a:lnTo>
                  <a:lnTo>
                    <a:pt x="123" y="243"/>
                  </a:lnTo>
                  <a:lnTo>
                    <a:pt x="108" y="250"/>
                  </a:lnTo>
                  <a:lnTo>
                    <a:pt x="93" y="257"/>
                  </a:lnTo>
                  <a:lnTo>
                    <a:pt x="79" y="264"/>
                  </a:lnTo>
                  <a:lnTo>
                    <a:pt x="65" y="272"/>
                  </a:lnTo>
                  <a:lnTo>
                    <a:pt x="52" y="280"/>
                  </a:lnTo>
                  <a:lnTo>
                    <a:pt x="40" y="289"/>
                  </a:lnTo>
                  <a:lnTo>
                    <a:pt x="31" y="297"/>
                  </a:lnTo>
                  <a:lnTo>
                    <a:pt x="24" y="305"/>
                  </a:lnTo>
                  <a:lnTo>
                    <a:pt x="19" y="314"/>
                  </a:lnTo>
                  <a:lnTo>
                    <a:pt x="15" y="323"/>
                  </a:lnTo>
                  <a:lnTo>
                    <a:pt x="13" y="333"/>
                  </a:lnTo>
                  <a:lnTo>
                    <a:pt x="12" y="342"/>
                  </a:lnTo>
                  <a:lnTo>
                    <a:pt x="12" y="351"/>
                  </a:lnTo>
                  <a:lnTo>
                    <a:pt x="14" y="360"/>
                  </a:lnTo>
                  <a:lnTo>
                    <a:pt x="17" y="369"/>
                  </a:lnTo>
                  <a:lnTo>
                    <a:pt x="21" y="377"/>
                  </a:lnTo>
                  <a:lnTo>
                    <a:pt x="26" y="385"/>
                  </a:lnTo>
                  <a:lnTo>
                    <a:pt x="33" y="392"/>
                  </a:lnTo>
                  <a:lnTo>
                    <a:pt x="41" y="398"/>
                  </a:lnTo>
                  <a:lnTo>
                    <a:pt x="49" y="403"/>
                  </a:lnTo>
                  <a:lnTo>
                    <a:pt x="59" y="406"/>
                  </a:lnTo>
                  <a:lnTo>
                    <a:pt x="70" y="409"/>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reeform 47"/>
            <p:cNvSpPr/>
            <p:nvPr/>
          </p:nvSpPr>
          <p:spPr>
            <a:xfrm>
              <a:off x="8416137" y="3678022"/>
              <a:ext cx="21946" cy="32918"/>
            </a:xfrm>
            <a:custGeom>
              <a:avLst/>
              <a:gdLst/>
              <a:ahLst/>
              <a:cxnLst/>
              <a:rect l="l" t="t" r="r" b="b"/>
              <a:pathLst>
                <a:path w="40" h="60">
                  <a:moveTo>
                    <a:pt x="40" y="0"/>
                  </a:moveTo>
                  <a:lnTo>
                    <a:pt x="0" y="60"/>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8399677" y="3659916"/>
              <a:ext cx="19751" cy="117409"/>
            </a:xfrm>
            <a:custGeom>
              <a:avLst/>
              <a:gdLst/>
              <a:ahLst/>
              <a:cxnLst/>
              <a:rect l="l" t="t" r="r" b="b"/>
              <a:pathLst>
                <a:path w="36" h="214">
                  <a:moveTo>
                    <a:pt x="36" y="214"/>
                  </a:moveTo>
                  <a:lnTo>
                    <a:pt x="26" y="198"/>
                  </a:lnTo>
                  <a:lnTo>
                    <a:pt x="17" y="181"/>
                  </a:lnTo>
                  <a:lnTo>
                    <a:pt x="10" y="164"/>
                  </a:lnTo>
                  <a:lnTo>
                    <a:pt x="5" y="146"/>
                  </a:lnTo>
                  <a:lnTo>
                    <a:pt x="1" y="127"/>
                  </a:lnTo>
                  <a:lnTo>
                    <a:pt x="0" y="108"/>
                  </a:lnTo>
                  <a:lnTo>
                    <a:pt x="1" y="89"/>
                  </a:lnTo>
                  <a:lnTo>
                    <a:pt x="3" y="70"/>
                  </a:lnTo>
                  <a:lnTo>
                    <a:pt x="7" y="51"/>
                  </a:lnTo>
                  <a:lnTo>
                    <a:pt x="13" y="33"/>
                  </a:lnTo>
                  <a:lnTo>
                    <a:pt x="21" y="16"/>
                  </a:lnTo>
                  <a:lnTo>
                    <a:pt x="31" y="0"/>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50" name="Text 22"/>
          <p:cNvSpPr txBox="1"/>
          <p:nvPr/>
        </p:nvSpPr>
        <p:spPr>
          <a:xfrm>
            <a:off x="9061704" y="3363468"/>
            <a:ext cx="2313432" cy="320040"/>
          </a:xfrm>
          <a:prstGeom prst="rect">
            <a:avLst/>
          </a:prstGeom>
          <a:noFill/>
        </p:spPr>
        <p:txBody>
          <a:bodyPr wrap="none" lIns="0" rIns="0" tIns="0" bIns="0" anchor="t">
            <a:spAutoFit/>
          </a:bodyPr>
          <a:lstStyle/>
          <a:p>
            <a:pPr>
              <a:lnSpc>
                <a:spcPts val="2124"/>
              </a:lnSpc>
              <a:spcBef>
                <a:spcPts val="0"/>
              </a:spcBef>
              <a:spcAft>
                <a:spcPts val="0"/>
              </a:spcAft>
              <a:defRPr sz="1800" b="1">
                <a:solidFill>
                  <a:srgbClr val="234B42"/>
                </a:solidFill>
                <a:latin typeface="Manrope"/>
              </a:defRPr>
            </a:pPr>
            <a:r>
              <a:rPr lang="de-DE"/>
              <a:t>Gehörsinn</a:t>
            </a:r>
          </a:p>
        </p:txBody>
      </p:sp>
      <p:sp>
        <p:nvSpPr>
          <p:cNvPr id="51" name="Text 23"/>
          <p:cNvSpPr txBox="1"/>
          <p:nvPr/>
        </p:nvSpPr>
        <p:spPr>
          <a:xfrm>
            <a:off x="9061704" y="3857243"/>
            <a:ext cx="2313432" cy="594360"/>
          </a:xfrm>
          <a:prstGeom prst="rect">
            <a:avLst/>
          </a:prstGeom>
          <a:noFill/>
        </p:spPr>
        <p:txBody>
          <a:bodyPr wrap="none" lIns="0" rIns="0" tIns="0" bIns="0" anchor="t">
            <a:spAutoFit/>
          </a:bodyPr>
          <a:lstStyle/>
          <a:p>
            <a:pPr>
              <a:lnSpc>
                <a:spcPts val="2005"/>
              </a:lnSpc>
              <a:spcBef>
                <a:spcPts val="0"/>
              </a:spcBef>
              <a:spcAft>
                <a:spcPts val="0"/>
              </a:spcAft>
              <a:defRPr sz="1700" b="0">
                <a:solidFill>
                  <a:srgbClr val="26332F"/>
                </a:solidFill>
                <a:latin typeface="Inter"/>
              </a:defRPr>
            </a:pPr>
            <a:r>
              <a:rPr lang="de-DE"/>
              <a:t>auditiv · Hören</a:t>
            </a:r>
          </a:p>
        </p:txBody>
      </p:sp>
      <p:sp>
        <p:nvSpPr>
          <p:cNvPr id="52" name="Rounded Rectangle 51"/>
          <p:cNvSpPr/>
          <p:nvPr/>
        </p:nvSpPr>
        <p:spPr>
          <a:xfrm>
            <a:off x="4517136" y="4680204"/>
            <a:ext cx="3419856" cy="1399032"/>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53" name="Icon · eye"/>
          <p:cNvGrpSpPr/>
          <p:nvPr/>
        </p:nvGrpSpPr>
        <p:grpSpPr>
          <a:xfrm>
            <a:off x="4745736" y="5128992"/>
            <a:ext cx="438912" cy="254569"/>
            <a:chOff x="4745736" y="5128992"/>
            <a:chExt cx="438912" cy="254569"/>
          </a:xfrm>
        </p:grpSpPr>
        <p:sp>
          <p:nvSpPr>
            <p:cNvPr id="54" name="Freeform 53"/>
            <p:cNvSpPr/>
            <p:nvPr/>
          </p:nvSpPr>
          <p:spPr>
            <a:xfrm>
              <a:off x="4745736" y="5128992"/>
              <a:ext cx="438912" cy="254569"/>
            </a:xfrm>
            <a:custGeom>
              <a:avLst/>
              <a:gdLst/>
              <a:ahLst/>
              <a:cxnLst/>
              <a:rect l="l" t="t" r="r" b="b"/>
              <a:pathLst>
                <a:path w="800" h="464">
                  <a:moveTo>
                    <a:pt x="0" y="232"/>
                  </a:moveTo>
                  <a:lnTo>
                    <a:pt x="38" y="178"/>
                  </a:lnTo>
                  <a:lnTo>
                    <a:pt x="79" y="130"/>
                  </a:lnTo>
                  <a:lnTo>
                    <a:pt x="125" y="90"/>
                  </a:lnTo>
                  <a:lnTo>
                    <a:pt x="173" y="58"/>
                  </a:lnTo>
                  <a:lnTo>
                    <a:pt x="223" y="32"/>
                  </a:lnTo>
                  <a:lnTo>
                    <a:pt x="276" y="14"/>
                  </a:lnTo>
                  <a:lnTo>
                    <a:pt x="330" y="3"/>
                  </a:lnTo>
                  <a:lnTo>
                    <a:pt x="385" y="0"/>
                  </a:lnTo>
                  <a:lnTo>
                    <a:pt x="440" y="3"/>
                  </a:lnTo>
                  <a:lnTo>
                    <a:pt x="496" y="14"/>
                  </a:lnTo>
                  <a:lnTo>
                    <a:pt x="551" y="32"/>
                  </a:lnTo>
                  <a:lnTo>
                    <a:pt x="605" y="58"/>
                  </a:lnTo>
                  <a:lnTo>
                    <a:pt x="657" y="90"/>
                  </a:lnTo>
                  <a:lnTo>
                    <a:pt x="707" y="130"/>
                  </a:lnTo>
                  <a:lnTo>
                    <a:pt x="755" y="178"/>
                  </a:lnTo>
                  <a:lnTo>
                    <a:pt x="800" y="232"/>
                  </a:lnTo>
                  <a:lnTo>
                    <a:pt x="757" y="286"/>
                  </a:lnTo>
                  <a:lnTo>
                    <a:pt x="710" y="334"/>
                  </a:lnTo>
                  <a:lnTo>
                    <a:pt x="661" y="374"/>
                  </a:lnTo>
                  <a:lnTo>
                    <a:pt x="609" y="406"/>
                  </a:lnTo>
                  <a:lnTo>
                    <a:pt x="555" y="432"/>
                  </a:lnTo>
                  <a:lnTo>
                    <a:pt x="500" y="450"/>
                  </a:lnTo>
                  <a:lnTo>
                    <a:pt x="445" y="461"/>
                  </a:lnTo>
                  <a:lnTo>
                    <a:pt x="389" y="464"/>
                  </a:lnTo>
                  <a:lnTo>
                    <a:pt x="333" y="461"/>
                  </a:lnTo>
                  <a:lnTo>
                    <a:pt x="279" y="450"/>
                  </a:lnTo>
                  <a:lnTo>
                    <a:pt x="225" y="432"/>
                  </a:lnTo>
                  <a:lnTo>
                    <a:pt x="174" y="406"/>
                  </a:lnTo>
                  <a:lnTo>
                    <a:pt x="126" y="374"/>
                  </a:lnTo>
                  <a:lnTo>
                    <a:pt x="80" y="334"/>
                  </a:lnTo>
                  <a:lnTo>
                    <a:pt x="38" y="286"/>
                  </a:lnTo>
                  <a:lnTo>
                    <a:pt x="0" y="232"/>
                  </a:lnTo>
                  <a:close/>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4888382" y="5179466"/>
              <a:ext cx="153619" cy="153619"/>
            </a:xfrm>
            <a:prstGeom prst="ellipse">
              <a:avLst/>
            </a:pr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4943246" y="5234330"/>
              <a:ext cx="43891" cy="43891"/>
            </a:xfrm>
            <a:prstGeom prst="ellipse">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57" name="Text 26"/>
          <p:cNvSpPr txBox="1"/>
          <p:nvPr/>
        </p:nvSpPr>
        <p:spPr>
          <a:xfrm>
            <a:off x="5413248" y="4881372"/>
            <a:ext cx="2313432" cy="320040"/>
          </a:xfrm>
          <a:prstGeom prst="rect">
            <a:avLst/>
          </a:prstGeom>
          <a:noFill/>
        </p:spPr>
        <p:txBody>
          <a:bodyPr wrap="none" lIns="0" rIns="0" tIns="0" bIns="0" anchor="t">
            <a:spAutoFit/>
          </a:bodyPr>
          <a:lstStyle/>
          <a:p>
            <a:pPr>
              <a:lnSpc>
                <a:spcPts val="2124"/>
              </a:lnSpc>
              <a:spcBef>
                <a:spcPts val="0"/>
              </a:spcBef>
              <a:spcAft>
                <a:spcPts val="0"/>
              </a:spcAft>
              <a:defRPr sz="1800" b="1">
                <a:solidFill>
                  <a:srgbClr val="234B42"/>
                </a:solidFill>
                <a:latin typeface="Manrope"/>
              </a:defRPr>
            </a:pPr>
            <a:r>
              <a:rPr lang="de-DE"/>
              <a:t>Gesichtssinn</a:t>
            </a:r>
          </a:p>
        </p:txBody>
      </p:sp>
      <p:sp>
        <p:nvSpPr>
          <p:cNvPr id="58" name="Text 27"/>
          <p:cNvSpPr txBox="1"/>
          <p:nvPr/>
        </p:nvSpPr>
        <p:spPr>
          <a:xfrm>
            <a:off x="5413248" y="5375148"/>
            <a:ext cx="2313432" cy="594360"/>
          </a:xfrm>
          <a:prstGeom prst="rect">
            <a:avLst/>
          </a:prstGeom>
          <a:noFill/>
        </p:spPr>
        <p:txBody>
          <a:bodyPr wrap="none" lIns="0" rIns="0" tIns="0" bIns="0" anchor="t">
            <a:spAutoFit/>
          </a:bodyPr>
          <a:lstStyle/>
          <a:p>
            <a:pPr>
              <a:lnSpc>
                <a:spcPts val="2005"/>
              </a:lnSpc>
              <a:spcBef>
                <a:spcPts val="0"/>
              </a:spcBef>
              <a:spcAft>
                <a:spcPts val="0"/>
              </a:spcAft>
              <a:defRPr sz="1700" b="0">
                <a:solidFill>
                  <a:srgbClr val="26332F"/>
                </a:solidFill>
                <a:latin typeface="Inter"/>
              </a:defRPr>
            </a:pPr>
            <a:r>
              <a:rPr lang="de-DE"/>
              <a:t>visuell · Sehen</a:t>
            </a:r>
          </a:p>
        </p:txBody>
      </p:sp>
      <p:sp>
        <p:nvSpPr>
          <p:cNvPr id="59" name="Rounded Rectangle 58"/>
          <p:cNvSpPr/>
          <p:nvPr/>
        </p:nvSpPr>
        <p:spPr>
          <a:xfrm>
            <a:off x="8165592" y="4680204"/>
            <a:ext cx="3419856" cy="1399032"/>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60" name="Icon · balance"/>
          <p:cNvGrpSpPr/>
          <p:nvPr/>
        </p:nvGrpSpPr>
        <p:grpSpPr>
          <a:xfrm>
            <a:off x="8427109" y="5042306"/>
            <a:ext cx="373075" cy="175565"/>
            <a:chOff x="8427109" y="5042306"/>
            <a:chExt cx="373075" cy="175565"/>
          </a:xfrm>
        </p:grpSpPr>
        <p:sp>
          <p:nvSpPr>
            <p:cNvPr id="61" name="Freeform 60"/>
            <p:cNvSpPr/>
            <p:nvPr/>
          </p:nvSpPr>
          <p:spPr>
            <a:xfrm>
              <a:off x="8427109" y="5217871"/>
              <a:ext cx="373075" cy="0"/>
            </a:xfrm>
            <a:custGeom>
              <a:avLst/>
              <a:gdLst/>
              <a:ahLst/>
              <a:cxnLst/>
              <a:rect l="l" t="t" r="r" b="b"/>
              <a:pathLst>
                <a:path w="680" h="0">
                  <a:moveTo>
                    <a:pt x="0" y="0"/>
                  </a:moveTo>
                  <a:lnTo>
                    <a:pt x="680" y="0"/>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Freeform 61"/>
            <p:cNvSpPr/>
            <p:nvPr/>
          </p:nvSpPr>
          <p:spPr>
            <a:xfrm>
              <a:off x="8613647" y="5108143"/>
              <a:ext cx="0" cy="109728"/>
            </a:xfrm>
            <a:custGeom>
              <a:avLst/>
              <a:gdLst/>
              <a:ahLst/>
              <a:cxnLst/>
              <a:rect l="l" t="t" r="r" b="b"/>
              <a:pathLst>
                <a:path w="0" h="200">
                  <a:moveTo>
                    <a:pt x="0" y="200"/>
                  </a:moveTo>
                  <a:lnTo>
                    <a:pt x="0" y="0"/>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8586215" y="5042306"/>
              <a:ext cx="54864" cy="54864"/>
            </a:xfrm>
            <a:prstGeom prst="ellipse">
              <a:avLst/>
            </a:pr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Freeform 63"/>
            <p:cNvSpPr/>
            <p:nvPr/>
          </p:nvSpPr>
          <p:spPr>
            <a:xfrm>
              <a:off x="8553297" y="5305654"/>
              <a:ext cx="120701" cy="109728"/>
            </a:xfrm>
            <a:custGeom>
              <a:avLst/>
              <a:gdLst/>
              <a:ahLst/>
              <a:cxnLst/>
              <a:rect l="l" t="t" r="r" b="b"/>
              <a:pathLst>
                <a:path w="220" h="200">
                  <a:moveTo>
                    <a:pt x="0" y="200"/>
                  </a:moveTo>
                  <a:lnTo>
                    <a:pt x="110" y="0"/>
                  </a:lnTo>
                  <a:lnTo>
                    <a:pt x="220" y="200"/>
                  </a:lnTo>
                  <a:close/>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Freeform 64"/>
            <p:cNvSpPr/>
            <p:nvPr/>
          </p:nvSpPr>
          <p:spPr>
            <a:xfrm>
              <a:off x="8487460" y="5217871"/>
              <a:ext cx="0" cy="109728"/>
            </a:xfrm>
            <a:custGeom>
              <a:avLst/>
              <a:gdLst/>
              <a:ahLst/>
              <a:cxnLst/>
              <a:rect l="l" t="t" r="r" b="b"/>
              <a:pathLst>
                <a:path w="0" h="200">
                  <a:moveTo>
                    <a:pt x="0" y="0"/>
                  </a:moveTo>
                  <a:lnTo>
                    <a:pt x="0" y="200"/>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Freeform 65"/>
            <p:cNvSpPr/>
            <p:nvPr/>
          </p:nvSpPr>
          <p:spPr>
            <a:xfrm>
              <a:off x="8739834" y="5217871"/>
              <a:ext cx="0" cy="109728"/>
            </a:xfrm>
            <a:custGeom>
              <a:avLst/>
              <a:gdLst/>
              <a:ahLst/>
              <a:cxnLst/>
              <a:rect l="l" t="t" r="r" b="b"/>
              <a:pathLst>
                <a:path w="0" h="200">
                  <a:moveTo>
                    <a:pt x="0" y="0"/>
                  </a:moveTo>
                  <a:lnTo>
                    <a:pt x="0" y="200"/>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Freeform 66"/>
            <p:cNvSpPr/>
            <p:nvPr/>
          </p:nvSpPr>
          <p:spPr>
            <a:xfrm>
              <a:off x="8421623" y="5327599"/>
              <a:ext cx="131674" cy="57607"/>
            </a:xfrm>
            <a:custGeom>
              <a:avLst/>
              <a:gdLst/>
              <a:ahLst/>
              <a:cxnLst/>
              <a:rect l="l" t="t" r="r" b="b"/>
              <a:pathLst>
                <a:path w="240" h="105">
                  <a:moveTo>
                    <a:pt x="0" y="0"/>
                  </a:moveTo>
                  <a:lnTo>
                    <a:pt x="7" y="25"/>
                  </a:lnTo>
                  <a:lnTo>
                    <a:pt x="18" y="46"/>
                  </a:lnTo>
                  <a:lnTo>
                    <a:pt x="31" y="64"/>
                  </a:lnTo>
                  <a:lnTo>
                    <a:pt x="46" y="79"/>
                  </a:lnTo>
                  <a:lnTo>
                    <a:pt x="63" y="90"/>
                  </a:lnTo>
                  <a:lnTo>
                    <a:pt x="81" y="98"/>
                  </a:lnTo>
                  <a:lnTo>
                    <a:pt x="100" y="103"/>
                  </a:lnTo>
                  <a:lnTo>
                    <a:pt x="120" y="105"/>
                  </a:lnTo>
                  <a:lnTo>
                    <a:pt x="140" y="103"/>
                  </a:lnTo>
                  <a:lnTo>
                    <a:pt x="159" y="98"/>
                  </a:lnTo>
                  <a:lnTo>
                    <a:pt x="177" y="90"/>
                  </a:lnTo>
                  <a:lnTo>
                    <a:pt x="194" y="79"/>
                  </a:lnTo>
                  <a:lnTo>
                    <a:pt x="209" y="64"/>
                  </a:lnTo>
                  <a:lnTo>
                    <a:pt x="222" y="46"/>
                  </a:lnTo>
                  <a:lnTo>
                    <a:pt x="233" y="25"/>
                  </a:lnTo>
                  <a:lnTo>
                    <a:pt x="240" y="0"/>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Freeform 67"/>
            <p:cNvSpPr/>
            <p:nvPr/>
          </p:nvSpPr>
          <p:spPr>
            <a:xfrm>
              <a:off x="8421623" y="5327599"/>
              <a:ext cx="131674" cy="0"/>
            </a:xfrm>
            <a:custGeom>
              <a:avLst/>
              <a:gdLst/>
              <a:ahLst/>
              <a:cxnLst/>
              <a:rect l="l" t="t" r="r" b="b"/>
              <a:pathLst>
                <a:path w="240" h="0">
                  <a:moveTo>
                    <a:pt x="0" y="0"/>
                  </a:moveTo>
                  <a:lnTo>
                    <a:pt x="240" y="0"/>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Freeform 68"/>
            <p:cNvSpPr/>
            <p:nvPr/>
          </p:nvSpPr>
          <p:spPr>
            <a:xfrm>
              <a:off x="8673997" y="5327599"/>
              <a:ext cx="131674" cy="57607"/>
            </a:xfrm>
            <a:custGeom>
              <a:avLst/>
              <a:gdLst/>
              <a:ahLst/>
              <a:cxnLst/>
              <a:rect l="l" t="t" r="r" b="b"/>
              <a:pathLst>
                <a:path w="240" h="105">
                  <a:moveTo>
                    <a:pt x="0" y="0"/>
                  </a:moveTo>
                  <a:lnTo>
                    <a:pt x="7" y="25"/>
                  </a:lnTo>
                  <a:lnTo>
                    <a:pt x="18" y="46"/>
                  </a:lnTo>
                  <a:lnTo>
                    <a:pt x="31" y="64"/>
                  </a:lnTo>
                  <a:lnTo>
                    <a:pt x="46" y="79"/>
                  </a:lnTo>
                  <a:lnTo>
                    <a:pt x="63" y="90"/>
                  </a:lnTo>
                  <a:lnTo>
                    <a:pt x="81" y="98"/>
                  </a:lnTo>
                  <a:lnTo>
                    <a:pt x="100" y="103"/>
                  </a:lnTo>
                  <a:lnTo>
                    <a:pt x="120" y="105"/>
                  </a:lnTo>
                  <a:lnTo>
                    <a:pt x="140" y="103"/>
                  </a:lnTo>
                  <a:lnTo>
                    <a:pt x="159" y="98"/>
                  </a:lnTo>
                  <a:lnTo>
                    <a:pt x="177" y="90"/>
                  </a:lnTo>
                  <a:lnTo>
                    <a:pt x="194" y="79"/>
                  </a:lnTo>
                  <a:lnTo>
                    <a:pt x="209" y="64"/>
                  </a:lnTo>
                  <a:lnTo>
                    <a:pt x="222" y="46"/>
                  </a:lnTo>
                  <a:lnTo>
                    <a:pt x="233" y="25"/>
                  </a:lnTo>
                  <a:lnTo>
                    <a:pt x="240" y="0"/>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Freeform 69"/>
            <p:cNvSpPr/>
            <p:nvPr/>
          </p:nvSpPr>
          <p:spPr>
            <a:xfrm>
              <a:off x="8673997" y="5327599"/>
              <a:ext cx="131674" cy="0"/>
            </a:xfrm>
            <a:custGeom>
              <a:avLst/>
              <a:gdLst/>
              <a:ahLst/>
              <a:cxnLst/>
              <a:rect l="l" t="t" r="r" b="b"/>
              <a:pathLst>
                <a:path w="240" h="0">
                  <a:moveTo>
                    <a:pt x="0" y="0"/>
                  </a:moveTo>
                  <a:lnTo>
                    <a:pt x="240" y="0"/>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71" name="Text 30"/>
          <p:cNvSpPr txBox="1"/>
          <p:nvPr/>
        </p:nvSpPr>
        <p:spPr>
          <a:xfrm>
            <a:off x="9061704" y="4881372"/>
            <a:ext cx="2313432" cy="320040"/>
          </a:xfrm>
          <a:prstGeom prst="rect">
            <a:avLst/>
          </a:prstGeom>
          <a:noFill/>
        </p:spPr>
        <p:txBody>
          <a:bodyPr wrap="none" lIns="0" rIns="0" tIns="0" bIns="0" anchor="t">
            <a:spAutoFit/>
          </a:bodyPr>
          <a:lstStyle/>
          <a:p>
            <a:pPr>
              <a:lnSpc>
                <a:spcPts val="2124"/>
              </a:lnSpc>
              <a:spcBef>
                <a:spcPts val="0"/>
              </a:spcBef>
              <a:spcAft>
                <a:spcPts val="0"/>
              </a:spcAft>
              <a:defRPr sz="1800" b="1">
                <a:solidFill>
                  <a:srgbClr val="234B42"/>
                </a:solidFill>
                <a:latin typeface="Manrope"/>
              </a:defRPr>
            </a:pPr>
            <a:r>
              <a:rPr lang="de-DE"/>
              <a:t>Gleichgewichtssinn</a:t>
            </a:r>
          </a:p>
        </p:txBody>
      </p:sp>
      <p:sp>
        <p:nvSpPr>
          <p:cNvPr id="72" name="Text 31"/>
          <p:cNvSpPr txBox="1"/>
          <p:nvPr/>
        </p:nvSpPr>
        <p:spPr>
          <a:xfrm>
            <a:off x="9061704" y="5375148"/>
            <a:ext cx="2313432" cy="594360"/>
          </a:xfrm>
          <a:prstGeom prst="rect">
            <a:avLst/>
          </a:prstGeom>
          <a:noFill/>
        </p:spPr>
        <p:txBody>
          <a:bodyPr wrap="none" lIns="0" rIns="0" tIns="0" bIns="0" anchor="t">
            <a:spAutoFit/>
          </a:bodyPr>
          <a:lstStyle/>
          <a:p>
            <a:pPr>
              <a:lnSpc>
                <a:spcPts val="2005"/>
              </a:lnSpc>
              <a:spcBef>
                <a:spcPts val="0"/>
              </a:spcBef>
              <a:spcAft>
                <a:spcPts val="0"/>
              </a:spcAft>
              <a:defRPr sz="1700" b="0">
                <a:solidFill>
                  <a:srgbClr val="26332F"/>
                </a:solidFill>
                <a:latin typeface="Inter"/>
              </a:defRPr>
            </a:pPr>
            <a:r>
              <a:rPr lang="de-DE"/>
              <a:t>vestibulär · Bewegung</a:t>
            </a:r>
          </a:p>
        </p:txBody>
      </p:sp>
    </p:spTree>
  </p:cSld>
  <p:clrMapOvr>
    <a:masterClrMapping/>
  </p:clrMapOvr>
  <p:transition spd="fast" advClick="1">
    <p:fade/>
  </p:transition>
</p:sld>
</file>

<file path=ppt/slides/slide10.xml><?xml version="1.0" encoding="utf-8"?>
<p:sld xmlns:a="http://schemas.openxmlformats.org/drawingml/2006/main" xmlns:p="http://schemas.openxmlformats.org/presentationml/2006/main" xmlns:r="http://schemas.openxmlformats.org/officeDocument/2006/relationships" showMasterSp="1">
  <p:cSld>
    <p:bg>
      <p:bgPr>
        <a:solidFill>
          <a:srgbClr val="F7F5EF"/>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10</a:t>
            </a:r>
          </a:p>
        </p:txBody>
      </p:sp>
      <p:sp>
        <p:nvSpPr>
          <p:cNvPr id="3" name="Text 2"/>
          <p:cNvSpPr txBox="1"/>
          <p:nvPr/>
        </p:nvSpPr>
        <p:spPr>
          <a:xfrm>
            <a:off x="594360" y="393192"/>
            <a:ext cx="10881360" cy="203644"/>
          </a:xfrm>
          <a:prstGeom prst="rect">
            <a:avLst/>
          </a:prstGeom>
          <a:noFill/>
        </p:spPr>
        <p:txBody>
          <a:bodyPr wrap="none" lIns="0" rIns="0" tIns="0" bIns="0" anchor="t">
            <a:spAutoFit/>
          </a:bodyPr>
          <a:lstStyle/>
          <a:p>
            <a:pPr>
              <a:lnSpc>
                <a:spcPts val="1207"/>
              </a:lnSpc>
              <a:spcBef>
                <a:spcPts val="0"/>
              </a:spcBef>
              <a:spcAft>
                <a:spcPts val="0"/>
              </a:spcAft>
              <a:defRPr sz="1150" b="1">
                <a:solidFill>
                  <a:srgbClr val="234B42"/>
                </a:solidFill>
                <a:latin typeface="Inter"/>
              </a:defRPr>
            </a:pPr>
            <a:r>
              <a:rPr lang="de-DE"/>
              <a:t>SINNESWAHRNEHMUNG · REIZEMPFINDLICHKEIT</a:t>
            </a:r>
          </a:p>
        </p:txBody>
      </p:sp>
      <p:sp>
        <p:nvSpPr>
          <p:cNvPr id="4" name="Text 3"/>
          <p:cNvSpPr txBox="1"/>
          <p:nvPr/>
        </p:nvSpPr>
        <p:spPr>
          <a:xfrm>
            <a:off x="594360" y="804672"/>
            <a:ext cx="10991088"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Hyposensibilität</a:t>
            </a:r>
          </a:p>
        </p:txBody>
      </p:sp>
      <p:sp>
        <p:nvSpPr>
          <p:cNvPr id="5" name="Rounded Rectangle 4"/>
          <p:cNvSpPr/>
          <p:nvPr/>
        </p:nvSpPr>
        <p:spPr>
          <a:xfrm>
            <a:off x="594360" y="1644396"/>
            <a:ext cx="3703320" cy="4370832"/>
          </a:xfrm>
          <a:prstGeom prst="roundRect">
            <a:avLst>
              <a:gd name="adj" fmla="val 6500"/>
            </a:avLst>
          </a:prstGeom>
          <a:solidFill>
            <a:srgbClr val="B6D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6" name="Icon · ear"/>
          <p:cNvGrpSpPr/>
          <p:nvPr/>
        </p:nvGrpSpPr>
        <p:grpSpPr>
          <a:xfrm>
            <a:off x="0" y="0"/>
            <a:ext cx="0" cy="0"/>
            <a:chOff x="0" y="0"/>
            <a:chExt cx="0" cy="0"/>
          </a:xfrm>
        </p:grpSpPr>
        <p:sp>
          <p:nvSpPr>
            <p:cNvPr id="7" name="Freeform 6"/>
            <p:cNvSpPr/>
            <p:nvPr/>
          </p:nvSpPr>
          <p:spPr>
            <a:xfrm>
              <a:off x="1189360" y="2110173"/>
              <a:ext cx="416875" cy="630634"/>
            </a:xfrm>
            <a:custGeom>
              <a:avLst/>
              <a:gdLst/>
              <a:ahLst/>
              <a:cxnLst/>
              <a:rect l="l" t="t" r="r" b="b"/>
              <a:pathLst>
                <a:path w="470" h="711">
                  <a:moveTo>
                    <a:pt x="0" y="236"/>
                  </a:moveTo>
                  <a:lnTo>
                    <a:pt x="2" y="180"/>
                  </a:lnTo>
                  <a:lnTo>
                    <a:pt x="14" y="131"/>
                  </a:lnTo>
                  <a:lnTo>
                    <a:pt x="36" y="91"/>
                  </a:lnTo>
                  <a:lnTo>
                    <a:pt x="65" y="57"/>
                  </a:lnTo>
                  <a:lnTo>
                    <a:pt x="100" y="32"/>
                  </a:lnTo>
                  <a:lnTo>
                    <a:pt x="140" y="14"/>
                  </a:lnTo>
                  <a:lnTo>
                    <a:pt x="183" y="3"/>
                  </a:lnTo>
                  <a:lnTo>
                    <a:pt x="228" y="0"/>
                  </a:lnTo>
                  <a:lnTo>
                    <a:pt x="272" y="4"/>
                  </a:lnTo>
                  <a:lnTo>
                    <a:pt x="316" y="15"/>
                  </a:lnTo>
                  <a:lnTo>
                    <a:pt x="357" y="34"/>
                  </a:lnTo>
                  <a:lnTo>
                    <a:pt x="394" y="60"/>
                  </a:lnTo>
                  <a:lnTo>
                    <a:pt x="425" y="93"/>
                  </a:lnTo>
                  <a:lnTo>
                    <a:pt x="449" y="134"/>
                  </a:lnTo>
                  <a:lnTo>
                    <a:pt x="465" y="181"/>
                  </a:lnTo>
                  <a:lnTo>
                    <a:pt x="470" y="236"/>
                  </a:lnTo>
                  <a:lnTo>
                    <a:pt x="468" y="273"/>
                  </a:lnTo>
                  <a:lnTo>
                    <a:pt x="461" y="306"/>
                  </a:lnTo>
                  <a:lnTo>
                    <a:pt x="451" y="334"/>
                  </a:lnTo>
                  <a:lnTo>
                    <a:pt x="439" y="360"/>
                  </a:lnTo>
                  <a:lnTo>
                    <a:pt x="423" y="383"/>
                  </a:lnTo>
                  <a:lnTo>
                    <a:pt x="406" y="403"/>
                  </a:lnTo>
                  <a:lnTo>
                    <a:pt x="388" y="422"/>
                  </a:lnTo>
                  <a:lnTo>
                    <a:pt x="369" y="440"/>
                  </a:lnTo>
                  <a:lnTo>
                    <a:pt x="350" y="457"/>
                  </a:lnTo>
                  <a:lnTo>
                    <a:pt x="331" y="474"/>
                  </a:lnTo>
                  <a:lnTo>
                    <a:pt x="313" y="492"/>
                  </a:lnTo>
                  <a:lnTo>
                    <a:pt x="297" y="510"/>
                  </a:lnTo>
                  <a:lnTo>
                    <a:pt x="283" y="530"/>
                  </a:lnTo>
                  <a:lnTo>
                    <a:pt x="272" y="553"/>
                  </a:lnTo>
                  <a:lnTo>
                    <a:pt x="264" y="578"/>
                  </a:lnTo>
                  <a:lnTo>
                    <a:pt x="260" y="606"/>
                  </a:lnTo>
                  <a:lnTo>
                    <a:pt x="256" y="629"/>
                  </a:lnTo>
                  <a:lnTo>
                    <a:pt x="248" y="649"/>
                  </a:lnTo>
                  <a:lnTo>
                    <a:pt x="237" y="667"/>
                  </a:lnTo>
                  <a:lnTo>
                    <a:pt x="222" y="682"/>
                  </a:lnTo>
                  <a:lnTo>
                    <a:pt x="206" y="694"/>
                  </a:lnTo>
                  <a:lnTo>
                    <a:pt x="188" y="703"/>
                  </a:lnTo>
                  <a:lnTo>
                    <a:pt x="168" y="708"/>
                  </a:lnTo>
                  <a:lnTo>
                    <a:pt x="148" y="711"/>
                  </a:lnTo>
                  <a:lnTo>
                    <a:pt x="127" y="710"/>
                  </a:lnTo>
                  <a:lnTo>
                    <a:pt x="106" y="706"/>
                  </a:lnTo>
                  <a:lnTo>
                    <a:pt x="87" y="699"/>
                  </a:lnTo>
                  <a:lnTo>
                    <a:pt x="69" y="688"/>
                  </a:lnTo>
                  <a:lnTo>
                    <a:pt x="52" y="673"/>
                  </a:lnTo>
                  <a:lnTo>
                    <a:pt x="39" y="654"/>
                  </a:lnTo>
                  <a:lnTo>
                    <a:pt x="28" y="632"/>
                  </a:lnTo>
                  <a:lnTo>
                    <a:pt x="20" y="606"/>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295796" y="2205079"/>
              <a:ext cx="195133" cy="362770"/>
            </a:xfrm>
            <a:custGeom>
              <a:avLst/>
              <a:gdLst/>
              <a:ahLst/>
              <a:cxnLst/>
              <a:rect l="l" t="t" r="r" b="b"/>
              <a:pathLst>
                <a:path w="220" h="409">
                  <a:moveTo>
                    <a:pt x="0" y="119"/>
                  </a:moveTo>
                  <a:lnTo>
                    <a:pt x="1" y="91"/>
                  </a:lnTo>
                  <a:lnTo>
                    <a:pt x="7" y="67"/>
                  </a:lnTo>
                  <a:lnTo>
                    <a:pt x="17" y="46"/>
                  </a:lnTo>
                  <a:lnTo>
                    <a:pt x="30" y="29"/>
                  </a:lnTo>
                  <a:lnTo>
                    <a:pt x="47" y="16"/>
                  </a:lnTo>
                  <a:lnTo>
                    <a:pt x="65" y="7"/>
                  </a:lnTo>
                  <a:lnTo>
                    <a:pt x="85" y="2"/>
                  </a:lnTo>
                  <a:lnTo>
                    <a:pt x="106" y="0"/>
                  </a:lnTo>
                  <a:lnTo>
                    <a:pt x="127" y="3"/>
                  </a:lnTo>
                  <a:lnTo>
                    <a:pt x="148" y="9"/>
                  </a:lnTo>
                  <a:lnTo>
                    <a:pt x="167" y="19"/>
                  </a:lnTo>
                  <a:lnTo>
                    <a:pt x="184" y="33"/>
                  </a:lnTo>
                  <a:lnTo>
                    <a:pt x="199" y="51"/>
                  </a:lnTo>
                  <a:lnTo>
                    <a:pt x="210" y="73"/>
                  </a:lnTo>
                  <a:lnTo>
                    <a:pt x="217" y="99"/>
                  </a:lnTo>
                  <a:lnTo>
                    <a:pt x="220" y="129"/>
                  </a:lnTo>
                  <a:lnTo>
                    <a:pt x="219" y="147"/>
                  </a:lnTo>
                  <a:lnTo>
                    <a:pt x="215" y="163"/>
                  </a:lnTo>
                  <a:lnTo>
                    <a:pt x="209" y="177"/>
                  </a:lnTo>
                  <a:lnTo>
                    <a:pt x="200" y="189"/>
                  </a:lnTo>
                  <a:lnTo>
                    <a:pt x="190" y="200"/>
                  </a:lnTo>
                  <a:lnTo>
                    <a:pt x="179" y="210"/>
                  </a:lnTo>
                  <a:lnTo>
                    <a:pt x="166" y="219"/>
                  </a:lnTo>
                  <a:lnTo>
                    <a:pt x="152" y="228"/>
                  </a:lnTo>
                  <a:lnTo>
                    <a:pt x="138" y="235"/>
                  </a:lnTo>
                  <a:lnTo>
                    <a:pt x="123" y="243"/>
                  </a:lnTo>
                  <a:lnTo>
                    <a:pt x="108" y="250"/>
                  </a:lnTo>
                  <a:lnTo>
                    <a:pt x="93" y="257"/>
                  </a:lnTo>
                  <a:lnTo>
                    <a:pt x="79" y="264"/>
                  </a:lnTo>
                  <a:lnTo>
                    <a:pt x="65" y="272"/>
                  </a:lnTo>
                  <a:lnTo>
                    <a:pt x="52" y="280"/>
                  </a:lnTo>
                  <a:lnTo>
                    <a:pt x="40" y="289"/>
                  </a:lnTo>
                  <a:lnTo>
                    <a:pt x="31" y="297"/>
                  </a:lnTo>
                  <a:lnTo>
                    <a:pt x="24" y="305"/>
                  </a:lnTo>
                  <a:lnTo>
                    <a:pt x="19" y="314"/>
                  </a:lnTo>
                  <a:lnTo>
                    <a:pt x="15" y="323"/>
                  </a:lnTo>
                  <a:lnTo>
                    <a:pt x="13" y="333"/>
                  </a:lnTo>
                  <a:lnTo>
                    <a:pt x="12" y="342"/>
                  </a:lnTo>
                  <a:lnTo>
                    <a:pt x="12" y="351"/>
                  </a:lnTo>
                  <a:lnTo>
                    <a:pt x="14" y="360"/>
                  </a:lnTo>
                  <a:lnTo>
                    <a:pt x="17" y="369"/>
                  </a:lnTo>
                  <a:lnTo>
                    <a:pt x="21" y="377"/>
                  </a:lnTo>
                  <a:lnTo>
                    <a:pt x="26" y="385"/>
                  </a:lnTo>
                  <a:lnTo>
                    <a:pt x="33" y="392"/>
                  </a:lnTo>
                  <a:lnTo>
                    <a:pt x="41" y="398"/>
                  </a:lnTo>
                  <a:lnTo>
                    <a:pt x="49" y="403"/>
                  </a:lnTo>
                  <a:lnTo>
                    <a:pt x="59" y="406"/>
                  </a:lnTo>
                  <a:lnTo>
                    <a:pt x="70" y="409"/>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1038576" y="2319498"/>
              <a:ext cx="35479" cy="53218"/>
            </a:xfrm>
            <a:custGeom>
              <a:avLst/>
              <a:gdLst/>
              <a:ahLst/>
              <a:cxnLst/>
              <a:rect l="l" t="t" r="r" b="b"/>
              <a:pathLst>
                <a:path w="40" h="60">
                  <a:moveTo>
                    <a:pt x="40" y="0"/>
                  </a:moveTo>
                  <a:lnTo>
                    <a:pt x="0" y="60"/>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1011966" y="2290228"/>
              <a:ext cx="31931" cy="189811"/>
            </a:xfrm>
            <a:custGeom>
              <a:avLst/>
              <a:gdLst/>
              <a:ahLst/>
              <a:cxnLst/>
              <a:rect l="l" t="t" r="r" b="b"/>
              <a:pathLst>
                <a:path w="36" h="214">
                  <a:moveTo>
                    <a:pt x="36" y="214"/>
                  </a:moveTo>
                  <a:lnTo>
                    <a:pt x="26" y="198"/>
                  </a:lnTo>
                  <a:lnTo>
                    <a:pt x="17" y="181"/>
                  </a:lnTo>
                  <a:lnTo>
                    <a:pt x="10" y="164"/>
                  </a:lnTo>
                  <a:lnTo>
                    <a:pt x="5" y="146"/>
                  </a:lnTo>
                  <a:lnTo>
                    <a:pt x="1" y="127"/>
                  </a:lnTo>
                  <a:lnTo>
                    <a:pt x="0" y="108"/>
                  </a:lnTo>
                  <a:lnTo>
                    <a:pt x="1" y="89"/>
                  </a:lnTo>
                  <a:lnTo>
                    <a:pt x="3" y="70"/>
                  </a:lnTo>
                  <a:lnTo>
                    <a:pt x="7" y="51"/>
                  </a:lnTo>
                  <a:lnTo>
                    <a:pt x="13" y="33"/>
                  </a:lnTo>
                  <a:lnTo>
                    <a:pt x="21" y="16"/>
                  </a:lnTo>
                  <a:lnTo>
                    <a:pt x="31" y="0"/>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11" name="Text 6"/>
          <p:cNvSpPr txBox="1"/>
          <p:nvPr/>
        </p:nvSpPr>
        <p:spPr>
          <a:xfrm>
            <a:off x="914400" y="3144012"/>
            <a:ext cx="3063240" cy="769620"/>
          </a:xfrm>
          <a:prstGeom prst="rect">
            <a:avLst/>
          </a:prstGeom>
          <a:noFill/>
        </p:spPr>
        <p:txBody>
          <a:bodyPr wrap="none" lIns="0" rIns="0" tIns="0" bIns="0" anchor="t">
            <a:spAutoFit/>
          </a:bodyPr>
          <a:lstStyle/>
          <a:p>
            <a:pPr>
              <a:lnSpc>
                <a:spcPts val="2832"/>
              </a:lnSpc>
              <a:spcBef>
                <a:spcPts val="0"/>
              </a:spcBef>
              <a:spcAft>
                <a:spcPts val="0"/>
              </a:spcAft>
              <a:defRPr sz="2400" b="1">
                <a:solidFill>
                  <a:srgbClr val="234B42"/>
                </a:solidFill>
                <a:latin typeface="Manrope"/>
              </a:defRPr>
            </a:pPr>
            <a:r>
              <a:rPr lang="de-DE"/>
              <a:t>Verminderte</a:t>
            </a:r>
          </a:p>
          <a:p>
            <a:pPr>
              <a:lnSpc>
                <a:spcPts val="2832"/>
              </a:lnSpc>
              <a:spcBef>
                <a:spcPts val="0"/>
              </a:spcBef>
              <a:spcAft>
                <a:spcPts val="0"/>
              </a:spcAft>
              <a:defRPr sz="2400" b="1">
                <a:solidFill>
                  <a:srgbClr val="234B42"/>
                </a:solidFill>
                <a:latin typeface="Manrope"/>
              </a:defRPr>
            </a:pPr>
            <a:r>
              <a:rPr lang="de-DE"/>
              <a:t>Reizempfindlichkeit</a:t>
            </a:r>
          </a:p>
        </p:txBody>
      </p:sp>
      <p:sp>
        <p:nvSpPr>
          <p:cNvPr id="12" name="Text 7"/>
          <p:cNvSpPr txBox="1"/>
          <p:nvPr/>
        </p:nvSpPr>
        <p:spPr>
          <a:xfrm>
            <a:off x="914400" y="4168140"/>
            <a:ext cx="3063240" cy="1700784"/>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gedämpfte Reaktion,</a:t>
            </a:r>
          </a:p>
          <a:p>
            <a:pPr>
              <a:lnSpc>
                <a:spcPts val="2477"/>
              </a:lnSpc>
              <a:spcBef>
                <a:spcPts val="0"/>
              </a:spcBef>
              <a:spcAft>
                <a:spcPts val="0"/>
              </a:spcAft>
              <a:defRPr sz="2100" b="0">
                <a:solidFill>
                  <a:srgbClr val="26332F"/>
                </a:solidFill>
                <a:latin typeface="Inter"/>
              </a:defRPr>
            </a:pPr>
            <a:r>
              <a:rPr lang="de-DE"/>
              <a:t>Bedarf an stärkeren</a:t>
            </a:r>
          </a:p>
          <a:p>
            <a:pPr>
              <a:lnSpc>
                <a:spcPts val="2477"/>
              </a:lnSpc>
              <a:spcBef>
                <a:spcPts val="0"/>
              </a:spcBef>
              <a:spcAft>
                <a:spcPts val="0"/>
              </a:spcAft>
              <a:defRPr sz="2100" b="0">
                <a:solidFill>
                  <a:srgbClr val="26332F"/>
                </a:solidFill>
                <a:latin typeface="Inter"/>
              </a:defRPr>
            </a:pPr>
            <a:r>
              <a:rPr lang="de-DE"/>
              <a:t>Reizen, um</a:t>
            </a:r>
          </a:p>
          <a:p>
            <a:pPr>
              <a:lnSpc>
                <a:spcPts val="2477"/>
              </a:lnSpc>
              <a:spcBef>
                <a:spcPts val="0"/>
              </a:spcBef>
              <a:spcAft>
                <a:spcPts val="0"/>
              </a:spcAft>
              <a:defRPr sz="2100" b="0">
                <a:solidFill>
                  <a:srgbClr val="26332F"/>
                </a:solidFill>
                <a:latin typeface="Inter"/>
              </a:defRPr>
            </a:pPr>
            <a:r>
              <a:rPr lang="de-DE"/>
              <a:t>Nervensystem zu</a:t>
            </a:r>
          </a:p>
          <a:p>
            <a:pPr>
              <a:lnSpc>
                <a:spcPts val="2477"/>
              </a:lnSpc>
              <a:spcBef>
                <a:spcPts val="0"/>
              </a:spcBef>
              <a:spcAft>
                <a:spcPts val="0"/>
              </a:spcAft>
              <a:defRPr sz="2100" b="0">
                <a:solidFill>
                  <a:srgbClr val="26332F"/>
                </a:solidFill>
                <a:latin typeface="Inter"/>
              </a:defRPr>
            </a:pPr>
            <a:r>
              <a:rPr lang="de-DE"/>
              <a:t>stimulieren</a:t>
            </a:r>
          </a:p>
        </p:txBody>
      </p:sp>
      <p:sp>
        <p:nvSpPr>
          <p:cNvPr id="13" name="Text 8"/>
          <p:cNvSpPr txBox="1"/>
          <p:nvPr/>
        </p:nvSpPr>
        <p:spPr>
          <a:xfrm>
            <a:off x="4617720" y="1680972"/>
            <a:ext cx="6629400" cy="305054"/>
          </a:xfrm>
          <a:prstGeom prst="rect">
            <a:avLst/>
          </a:prstGeom>
          <a:noFill/>
        </p:spPr>
        <p:txBody>
          <a:bodyPr wrap="none" lIns="0" rIns="0" tIns="0" bIns="0" anchor="t">
            <a:spAutoFit/>
          </a:bodyPr>
          <a:lstStyle/>
          <a:p>
            <a:pPr>
              <a:lnSpc>
                <a:spcPts val="2005"/>
              </a:lnSpc>
              <a:spcBef>
                <a:spcPts val="0"/>
              </a:spcBef>
              <a:spcAft>
                <a:spcPts val="0"/>
              </a:spcAft>
              <a:defRPr sz="1700" b="1">
                <a:solidFill>
                  <a:srgbClr val="234B42"/>
                </a:solidFill>
                <a:latin typeface="Inter"/>
              </a:defRPr>
            </a:pPr>
            <a:r>
              <a:rPr lang="de-DE"/>
              <a:t>Reaktion</a:t>
            </a:r>
          </a:p>
        </p:txBody>
      </p:sp>
      <p:sp>
        <p:nvSpPr>
          <p:cNvPr id="14" name="Rectangle 13"/>
          <p:cNvSpPr/>
          <p:nvPr/>
        </p:nvSpPr>
        <p:spPr>
          <a:xfrm>
            <a:off x="4617720" y="2270760"/>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10"/>
          <p:cNvSpPr txBox="1"/>
          <p:nvPr/>
        </p:nvSpPr>
        <p:spPr>
          <a:xfrm>
            <a:off x="4837176" y="2147316"/>
            <a:ext cx="6336792" cy="372490"/>
          </a:xfrm>
          <a:prstGeom prst="rect">
            <a:avLst/>
          </a:prstGeom>
          <a:noFill/>
        </p:spPr>
        <p:txBody>
          <a:bodyPr wrap="none" lIns="0" rIns="0" tIns="0" bIns="0" anchor="t">
            <a:spAutoFit/>
          </a:bodyPr>
          <a:lstStyle/>
          <a:p>
            <a:pPr>
              <a:lnSpc>
                <a:spcPts val="2536"/>
              </a:lnSpc>
              <a:spcBef>
                <a:spcPts val="0"/>
              </a:spcBef>
              <a:spcAft>
                <a:spcPts val="0"/>
              </a:spcAft>
              <a:defRPr sz="2150" b="0">
                <a:solidFill>
                  <a:srgbClr val="26332F"/>
                </a:solidFill>
                <a:latin typeface="Inter"/>
              </a:defRPr>
            </a:pPr>
            <a:r>
              <a:rPr lang="de-DE"/>
              <a:t>meist aktiv, nervös und erregbar</a:t>
            </a:r>
          </a:p>
        </p:txBody>
      </p:sp>
      <p:sp>
        <p:nvSpPr>
          <p:cNvPr id="16" name="Rectangle 15"/>
          <p:cNvSpPr/>
          <p:nvPr/>
        </p:nvSpPr>
        <p:spPr>
          <a:xfrm>
            <a:off x="4617720" y="2771267"/>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12"/>
          <p:cNvSpPr txBox="1"/>
          <p:nvPr/>
        </p:nvSpPr>
        <p:spPr>
          <a:xfrm>
            <a:off x="4837176" y="2647823"/>
            <a:ext cx="6336792" cy="694690"/>
          </a:xfrm>
          <a:prstGeom prst="rect">
            <a:avLst/>
          </a:prstGeom>
          <a:noFill/>
        </p:spPr>
        <p:txBody>
          <a:bodyPr wrap="none" lIns="0" rIns="0" tIns="0" bIns="0" anchor="t">
            <a:spAutoFit/>
          </a:bodyPr>
          <a:lstStyle/>
          <a:p>
            <a:pPr>
              <a:lnSpc>
                <a:spcPts val="2536"/>
              </a:lnSpc>
              <a:spcBef>
                <a:spcPts val="0"/>
              </a:spcBef>
              <a:spcAft>
                <a:spcPts val="0"/>
              </a:spcAft>
              <a:defRPr sz="2150" b="0">
                <a:solidFill>
                  <a:srgbClr val="26332F"/>
                </a:solidFill>
                <a:latin typeface="Inter"/>
              </a:defRPr>
            </a:pPr>
            <a:r>
              <a:rPr lang="de-DE"/>
              <a:t>brauchen sensorische Stimulation im</a:t>
            </a:r>
          </a:p>
          <a:p>
            <a:pPr>
              <a:lnSpc>
                <a:spcPts val="2536"/>
              </a:lnSpc>
              <a:spcBef>
                <a:spcPts val="0"/>
              </a:spcBef>
              <a:spcAft>
                <a:spcPts val="0"/>
              </a:spcAft>
              <a:defRPr sz="2150" b="0">
                <a:solidFill>
                  <a:srgbClr val="26332F"/>
                </a:solidFill>
                <a:latin typeface="Inter"/>
              </a:defRPr>
            </a:pPr>
            <a:r>
              <a:rPr lang="de-DE"/>
              <a:t>Tagesprogramm</a:t>
            </a:r>
          </a:p>
        </p:txBody>
      </p:sp>
      <p:sp>
        <p:nvSpPr>
          <p:cNvPr id="18" name="Text 13"/>
          <p:cNvSpPr txBox="1"/>
          <p:nvPr/>
        </p:nvSpPr>
        <p:spPr>
          <a:xfrm>
            <a:off x="4617720" y="3400044"/>
            <a:ext cx="6492240" cy="290067"/>
          </a:xfrm>
          <a:prstGeom prst="rect">
            <a:avLst/>
          </a:prstGeom>
          <a:noFill/>
        </p:spPr>
        <p:txBody>
          <a:bodyPr wrap="none" lIns="0" rIns="0" tIns="0" bIns="0" anchor="t">
            <a:spAutoFit/>
          </a:bodyPr>
          <a:lstStyle/>
          <a:p>
            <a:pPr>
              <a:lnSpc>
                <a:spcPts val="1888"/>
              </a:lnSpc>
              <a:spcBef>
                <a:spcPts val="0"/>
              </a:spcBef>
              <a:spcAft>
                <a:spcPts val="0"/>
              </a:spcAft>
              <a:defRPr sz="1600" b="1">
                <a:solidFill>
                  <a:srgbClr val="234B42"/>
                </a:solidFill>
                <a:latin typeface="Inter"/>
              </a:defRPr>
            </a:pPr>
            <a:r>
              <a:rPr lang="de-DE"/>
              <a:t>oder</a:t>
            </a:r>
          </a:p>
        </p:txBody>
      </p:sp>
      <p:sp>
        <p:nvSpPr>
          <p:cNvPr id="19" name="Rectangle 18"/>
          <p:cNvSpPr/>
          <p:nvPr/>
        </p:nvSpPr>
        <p:spPr>
          <a:xfrm>
            <a:off x="4617720" y="3953256"/>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 15"/>
          <p:cNvSpPr txBox="1"/>
          <p:nvPr/>
        </p:nvSpPr>
        <p:spPr>
          <a:xfrm>
            <a:off x="4837176" y="3829812"/>
            <a:ext cx="6336792" cy="364997"/>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Zufriedenheit im gedämpften sensorischen Zustand</a:t>
            </a:r>
          </a:p>
        </p:txBody>
      </p:sp>
      <p:sp>
        <p:nvSpPr>
          <p:cNvPr id="21" name="Rectangle 20"/>
          <p:cNvSpPr/>
          <p:nvPr/>
        </p:nvSpPr>
        <p:spPr>
          <a:xfrm>
            <a:off x="4617720" y="4437126"/>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 17"/>
          <p:cNvSpPr txBox="1"/>
          <p:nvPr/>
        </p:nvSpPr>
        <p:spPr>
          <a:xfrm>
            <a:off x="4837176" y="4313682"/>
            <a:ext cx="6336792" cy="364997"/>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keine Suche nach Kontakt zur Umwelt</a:t>
            </a:r>
          </a:p>
        </p:txBody>
      </p:sp>
      <p:sp>
        <p:nvSpPr>
          <p:cNvPr id="23" name="Rectangle 22"/>
          <p:cNvSpPr/>
          <p:nvPr/>
        </p:nvSpPr>
        <p:spPr>
          <a:xfrm>
            <a:off x="4617720" y="4920996"/>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 19"/>
          <p:cNvSpPr txBox="1"/>
          <p:nvPr/>
        </p:nvSpPr>
        <p:spPr>
          <a:xfrm>
            <a:off x="4837176" y="4797552"/>
            <a:ext cx="6336792" cy="364997"/>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kaum Initiative</a:t>
            </a:r>
          </a:p>
        </p:txBody>
      </p:sp>
      <p:sp>
        <p:nvSpPr>
          <p:cNvPr id="25" name="Rectangle 24"/>
          <p:cNvSpPr/>
          <p:nvPr/>
        </p:nvSpPr>
        <p:spPr>
          <a:xfrm>
            <a:off x="4617720" y="5404866"/>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21"/>
          <p:cNvSpPr txBox="1"/>
          <p:nvPr/>
        </p:nvSpPr>
        <p:spPr>
          <a:xfrm>
            <a:off x="4837176" y="5281422"/>
            <a:ext cx="6336792" cy="679704"/>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geringe motorische Kontrolle aufgrund verminderten</a:t>
            </a:r>
          </a:p>
          <a:p>
            <a:pPr>
              <a:lnSpc>
                <a:spcPts val="2477"/>
              </a:lnSpc>
              <a:spcBef>
                <a:spcPts val="0"/>
              </a:spcBef>
              <a:spcAft>
                <a:spcPts val="0"/>
              </a:spcAft>
              <a:defRPr sz="2100" b="0">
                <a:solidFill>
                  <a:srgbClr val="26332F"/>
                </a:solidFill>
                <a:latin typeface="Inter"/>
              </a:defRPr>
            </a:pPr>
            <a:r>
              <a:rPr lang="de-DE"/>
              <a:t>motorischen Feedbacks</a:t>
            </a:r>
          </a:p>
        </p:txBody>
      </p:sp>
    </p:spTree>
  </p:cSld>
  <p:clrMapOvr>
    <a:masterClrMapping/>
  </p:clrMapOvr>
  <p:transition spd="fast" advClick="1">
    <p:fade/>
  </p:transition>
</p:sld>
</file>

<file path=ppt/slides/slide11.xml><?xml version="1.0" encoding="utf-8"?>
<p:sld xmlns:a="http://schemas.openxmlformats.org/drawingml/2006/main" xmlns:p="http://schemas.openxmlformats.org/presentationml/2006/main" xmlns:r="http://schemas.openxmlformats.org/officeDocument/2006/relationships" showMasterSp="1">
  <p:cSld>
    <p:bg>
      <p:bgPr>
        <a:solidFill>
          <a:srgbClr val="F7F5EF"/>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11</a:t>
            </a:r>
          </a:p>
        </p:txBody>
      </p:sp>
      <p:sp>
        <p:nvSpPr>
          <p:cNvPr id="3" name="Text 2"/>
          <p:cNvSpPr txBox="1"/>
          <p:nvPr/>
        </p:nvSpPr>
        <p:spPr>
          <a:xfrm>
            <a:off x="594360" y="393192"/>
            <a:ext cx="10881360" cy="203644"/>
          </a:xfrm>
          <a:prstGeom prst="rect">
            <a:avLst/>
          </a:prstGeom>
          <a:noFill/>
        </p:spPr>
        <p:txBody>
          <a:bodyPr wrap="none" lIns="0" rIns="0" tIns="0" bIns="0" anchor="t">
            <a:spAutoFit/>
          </a:bodyPr>
          <a:lstStyle/>
          <a:p>
            <a:pPr>
              <a:lnSpc>
                <a:spcPts val="1207"/>
              </a:lnSpc>
              <a:spcBef>
                <a:spcPts val="0"/>
              </a:spcBef>
              <a:spcAft>
                <a:spcPts val="0"/>
              </a:spcAft>
              <a:defRPr sz="1150" b="1">
                <a:solidFill>
                  <a:srgbClr val="234B42"/>
                </a:solidFill>
                <a:latin typeface="Inter"/>
              </a:defRPr>
            </a:pPr>
            <a:r>
              <a:rPr lang="de-DE"/>
              <a:t>SINNESWAHRNEHMUNG · REIZEMPFINDLICHKEIT</a:t>
            </a:r>
          </a:p>
        </p:txBody>
      </p:sp>
      <p:sp>
        <p:nvSpPr>
          <p:cNvPr id="4" name="Text 3"/>
          <p:cNvSpPr txBox="1"/>
          <p:nvPr/>
        </p:nvSpPr>
        <p:spPr>
          <a:xfrm>
            <a:off x="594360" y="804672"/>
            <a:ext cx="10991088"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Hypersensibilität</a:t>
            </a:r>
          </a:p>
        </p:txBody>
      </p:sp>
      <p:sp>
        <p:nvSpPr>
          <p:cNvPr id="5" name="Rounded Rectangle 4"/>
          <p:cNvSpPr/>
          <p:nvPr/>
        </p:nvSpPr>
        <p:spPr>
          <a:xfrm>
            <a:off x="594360" y="1644396"/>
            <a:ext cx="3703320" cy="4370832"/>
          </a:xfrm>
          <a:prstGeom prst="roundRect">
            <a:avLst>
              <a:gd name="adj" fmla="val 6500"/>
            </a:avLst>
          </a:prstGeom>
          <a:solidFill>
            <a:srgbClr val="B9AE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6" name="Icon · ear"/>
          <p:cNvGrpSpPr/>
          <p:nvPr/>
        </p:nvGrpSpPr>
        <p:grpSpPr>
          <a:xfrm>
            <a:off x="0" y="0"/>
            <a:ext cx="0" cy="0"/>
            <a:chOff x="0" y="0"/>
            <a:chExt cx="0" cy="0"/>
          </a:xfrm>
        </p:grpSpPr>
        <p:sp>
          <p:nvSpPr>
            <p:cNvPr id="7" name="Freeform 6"/>
            <p:cNvSpPr/>
            <p:nvPr/>
          </p:nvSpPr>
          <p:spPr>
            <a:xfrm>
              <a:off x="1189360" y="2110173"/>
              <a:ext cx="416875" cy="630634"/>
            </a:xfrm>
            <a:custGeom>
              <a:avLst/>
              <a:gdLst/>
              <a:ahLst/>
              <a:cxnLst/>
              <a:rect l="l" t="t" r="r" b="b"/>
              <a:pathLst>
                <a:path w="470" h="711">
                  <a:moveTo>
                    <a:pt x="0" y="236"/>
                  </a:moveTo>
                  <a:lnTo>
                    <a:pt x="2" y="180"/>
                  </a:lnTo>
                  <a:lnTo>
                    <a:pt x="14" y="131"/>
                  </a:lnTo>
                  <a:lnTo>
                    <a:pt x="36" y="91"/>
                  </a:lnTo>
                  <a:lnTo>
                    <a:pt x="65" y="57"/>
                  </a:lnTo>
                  <a:lnTo>
                    <a:pt x="100" y="32"/>
                  </a:lnTo>
                  <a:lnTo>
                    <a:pt x="140" y="14"/>
                  </a:lnTo>
                  <a:lnTo>
                    <a:pt x="183" y="3"/>
                  </a:lnTo>
                  <a:lnTo>
                    <a:pt x="228" y="0"/>
                  </a:lnTo>
                  <a:lnTo>
                    <a:pt x="272" y="4"/>
                  </a:lnTo>
                  <a:lnTo>
                    <a:pt x="316" y="15"/>
                  </a:lnTo>
                  <a:lnTo>
                    <a:pt x="357" y="34"/>
                  </a:lnTo>
                  <a:lnTo>
                    <a:pt x="394" y="60"/>
                  </a:lnTo>
                  <a:lnTo>
                    <a:pt x="425" y="93"/>
                  </a:lnTo>
                  <a:lnTo>
                    <a:pt x="449" y="134"/>
                  </a:lnTo>
                  <a:lnTo>
                    <a:pt x="465" y="181"/>
                  </a:lnTo>
                  <a:lnTo>
                    <a:pt x="470" y="236"/>
                  </a:lnTo>
                  <a:lnTo>
                    <a:pt x="468" y="273"/>
                  </a:lnTo>
                  <a:lnTo>
                    <a:pt x="461" y="306"/>
                  </a:lnTo>
                  <a:lnTo>
                    <a:pt x="451" y="334"/>
                  </a:lnTo>
                  <a:lnTo>
                    <a:pt x="439" y="360"/>
                  </a:lnTo>
                  <a:lnTo>
                    <a:pt x="423" y="383"/>
                  </a:lnTo>
                  <a:lnTo>
                    <a:pt x="406" y="403"/>
                  </a:lnTo>
                  <a:lnTo>
                    <a:pt x="388" y="422"/>
                  </a:lnTo>
                  <a:lnTo>
                    <a:pt x="369" y="440"/>
                  </a:lnTo>
                  <a:lnTo>
                    <a:pt x="350" y="457"/>
                  </a:lnTo>
                  <a:lnTo>
                    <a:pt x="331" y="474"/>
                  </a:lnTo>
                  <a:lnTo>
                    <a:pt x="313" y="492"/>
                  </a:lnTo>
                  <a:lnTo>
                    <a:pt x="297" y="510"/>
                  </a:lnTo>
                  <a:lnTo>
                    <a:pt x="283" y="530"/>
                  </a:lnTo>
                  <a:lnTo>
                    <a:pt x="272" y="553"/>
                  </a:lnTo>
                  <a:lnTo>
                    <a:pt x="264" y="578"/>
                  </a:lnTo>
                  <a:lnTo>
                    <a:pt x="260" y="606"/>
                  </a:lnTo>
                  <a:lnTo>
                    <a:pt x="256" y="629"/>
                  </a:lnTo>
                  <a:lnTo>
                    <a:pt x="248" y="649"/>
                  </a:lnTo>
                  <a:lnTo>
                    <a:pt x="237" y="667"/>
                  </a:lnTo>
                  <a:lnTo>
                    <a:pt x="222" y="682"/>
                  </a:lnTo>
                  <a:lnTo>
                    <a:pt x="206" y="694"/>
                  </a:lnTo>
                  <a:lnTo>
                    <a:pt x="188" y="703"/>
                  </a:lnTo>
                  <a:lnTo>
                    <a:pt x="168" y="708"/>
                  </a:lnTo>
                  <a:lnTo>
                    <a:pt x="148" y="711"/>
                  </a:lnTo>
                  <a:lnTo>
                    <a:pt x="127" y="710"/>
                  </a:lnTo>
                  <a:lnTo>
                    <a:pt x="106" y="706"/>
                  </a:lnTo>
                  <a:lnTo>
                    <a:pt x="87" y="699"/>
                  </a:lnTo>
                  <a:lnTo>
                    <a:pt x="69" y="688"/>
                  </a:lnTo>
                  <a:lnTo>
                    <a:pt x="52" y="673"/>
                  </a:lnTo>
                  <a:lnTo>
                    <a:pt x="39" y="654"/>
                  </a:lnTo>
                  <a:lnTo>
                    <a:pt x="28" y="632"/>
                  </a:lnTo>
                  <a:lnTo>
                    <a:pt x="20" y="606"/>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295796" y="2205079"/>
              <a:ext cx="195133" cy="362770"/>
            </a:xfrm>
            <a:custGeom>
              <a:avLst/>
              <a:gdLst/>
              <a:ahLst/>
              <a:cxnLst/>
              <a:rect l="l" t="t" r="r" b="b"/>
              <a:pathLst>
                <a:path w="220" h="409">
                  <a:moveTo>
                    <a:pt x="0" y="119"/>
                  </a:moveTo>
                  <a:lnTo>
                    <a:pt x="1" y="91"/>
                  </a:lnTo>
                  <a:lnTo>
                    <a:pt x="7" y="67"/>
                  </a:lnTo>
                  <a:lnTo>
                    <a:pt x="17" y="46"/>
                  </a:lnTo>
                  <a:lnTo>
                    <a:pt x="30" y="29"/>
                  </a:lnTo>
                  <a:lnTo>
                    <a:pt x="47" y="16"/>
                  </a:lnTo>
                  <a:lnTo>
                    <a:pt x="65" y="7"/>
                  </a:lnTo>
                  <a:lnTo>
                    <a:pt x="85" y="2"/>
                  </a:lnTo>
                  <a:lnTo>
                    <a:pt x="106" y="0"/>
                  </a:lnTo>
                  <a:lnTo>
                    <a:pt x="127" y="3"/>
                  </a:lnTo>
                  <a:lnTo>
                    <a:pt x="148" y="9"/>
                  </a:lnTo>
                  <a:lnTo>
                    <a:pt x="167" y="19"/>
                  </a:lnTo>
                  <a:lnTo>
                    <a:pt x="184" y="33"/>
                  </a:lnTo>
                  <a:lnTo>
                    <a:pt x="199" y="51"/>
                  </a:lnTo>
                  <a:lnTo>
                    <a:pt x="210" y="73"/>
                  </a:lnTo>
                  <a:lnTo>
                    <a:pt x="217" y="99"/>
                  </a:lnTo>
                  <a:lnTo>
                    <a:pt x="220" y="129"/>
                  </a:lnTo>
                  <a:lnTo>
                    <a:pt x="219" y="147"/>
                  </a:lnTo>
                  <a:lnTo>
                    <a:pt x="215" y="163"/>
                  </a:lnTo>
                  <a:lnTo>
                    <a:pt x="209" y="177"/>
                  </a:lnTo>
                  <a:lnTo>
                    <a:pt x="200" y="189"/>
                  </a:lnTo>
                  <a:lnTo>
                    <a:pt x="190" y="200"/>
                  </a:lnTo>
                  <a:lnTo>
                    <a:pt x="179" y="210"/>
                  </a:lnTo>
                  <a:lnTo>
                    <a:pt x="166" y="219"/>
                  </a:lnTo>
                  <a:lnTo>
                    <a:pt x="152" y="228"/>
                  </a:lnTo>
                  <a:lnTo>
                    <a:pt x="138" y="235"/>
                  </a:lnTo>
                  <a:lnTo>
                    <a:pt x="123" y="243"/>
                  </a:lnTo>
                  <a:lnTo>
                    <a:pt x="108" y="250"/>
                  </a:lnTo>
                  <a:lnTo>
                    <a:pt x="93" y="257"/>
                  </a:lnTo>
                  <a:lnTo>
                    <a:pt x="79" y="264"/>
                  </a:lnTo>
                  <a:lnTo>
                    <a:pt x="65" y="272"/>
                  </a:lnTo>
                  <a:lnTo>
                    <a:pt x="52" y="280"/>
                  </a:lnTo>
                  <a:lnTo>
                    <a:pt x="40" y="289"/>
                  </a:lnTo>
                  <a:lnTo>
                    <a:pt x="31" y="297"/>
                  </a:lnTo>
                  <a:lnTo>
                    <a:pt x="24" y="305"/>
                  </a:lnTo>
                  <a:lnTo>
                    <a:pt x="19" y="314"/>
                  </a:lnTo>
                  <a:lnTo>
                    <a:pt x="15" y="323"/>
                  </a:lnTo>
                  <a:lnTo>
                    <a:pt x="13" y="333"/>
                  </a:lnTo>
                  <a:lnTo>
                    <a:pt x="12" y="342"/>
                  </a:lnTo>
                  <a:lnTo>
                    <a:pt x="12" y="351"/>
                  </a:lnTo>
                  <a:lnTo>
                    <a:pt x="14" y="360"/>
                  </a:lnTo>
                  <a:lnTo>
                    <a:pt x="17" y="369"/>
                  </a:lnTo>
                  <a:lnTo>
                    <a:pt x="21" y="377"/>
                  </a:lnTo>
                  <a:lnTo>
                    <a:pt x="26" y="385"/>
                  </a:lnTo>
                  <a:lnTo>
                    <a:pt x="33" y="392"/>
                  </a:lnTo>
                  <a:lnTo>
                    <a:pt x="41" y="398"/>
                  </a:lnTo>
                  <a:lnTo>
                    <a:pt x="49" y="403"/>
                  </a:lnTo>
                  <a:lnTo>
                    <a:pt x="59" y="406"/>
                  </a:lnTo>
                  <a:lnTo>
                    <a:pt x="70" y="409"/>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1038576" y="2319498"/>
              <a:ext cx="35479" cy="53218"/>
            </a:xfrm>
            <a:custGeom>
              <a:avLst/>
              <a:gdLst/>
              <a:ahLst/>
              <a:cxnLst/>
              <a:rect l="l" t="t" r="r" b="b"/>
              <a:pathLst>
                <a:path w="40" h="60">
                  <a:moveTo>
                    <a:pt x="40" y="0"/>
                  </a:moveTo>
                  <a:lnTo>
                    <a:pt x="0" y="60"/>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1011966" y="2290228"/>
              <a:ext cx="31931" cy="189811"/>
            </a:xfrm>
            <a:custGeom>
              <a:avLst/>
              <a:gdLst/>
              <a:ahLst/>
              <a:cxnLst/>
              <a:rect l="l" t="t" r="r" b="b"/>
              <a:pathLst>
                <a:path w="36" h="214">
                  <a:moveTo>
                    <a:pt x="36" y="214"/>
                  </a:moveTo>
                  <a:lnTo>
                    <a:pt x="26" y="198"/>
                  </a:lnTo>
                  <a:lnTo>
                    <a:pt x="17" y="181"/>
                  </a:lnTo>
                  <a:lnTo>
                    <a:pt x="10" y="164"/>
                  </a:lnTo>
                  <a:lnTo>
                    <a:pt x="5" y="146"/>
                  </a:lnTo>
                  <a:lnTo>
                    <a:pt x="1" y="127"/>
                  </a:lnTo>
                  <a:lnTo>
                    <a:pt x="0" y="108"/>
                  </a:lnTo>
                  <a:lnTo>
                    <a:pt x="1" y="89"/>
                  </a:lnTo>
                  <a:lnTo>
                    <a:pt x="3" y="70"/>
                  </a:lnTo>
                  <a:lnTo>
                    <a:pt x="7" y="51"/>
                  </a:lnTo>
                  <a:lnTo>
                    <a:pt x="13" y="33"/>
                  </a:lnTo>
                  <a:lnTo>
                    <a:pt x="21" y="16"/>
                  </a:lnTo>
                  <a:lnTo>
                    <a:pt x="31" y="0"/>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11" name="Text 6"/>
          <p:cNvSpPr txBox="1"/>
          <p:nvPr/>
        </p:nvSpPr>
        <p:spPr>
          <a:xfrm>
            <a:off x="914400" y="3144012"/>
            <a:ext cx="3063240" cy="409956"/>
          </a:xfrm>
          <a:prstGeom prst="rect">
            <a:avLst/>
          </a:prstGeom>
          <a:noFill/>
        </p:spPr>
        <p:txBody>
          <a:bodyPr wrap="none" lIns="0" rIns="0" tIns="0" bIns="0" anchor="t">
            <a:spAutoFit/>
          </a:bodyPr>
          <a:lstStyle/>
          <a:p>
            <a:pPr>
              <a:lnSpc>
                <a:spcPts val="2832"/>
              </a:lnSpc>
              <a:spcBef>
                <a:spcPts val="0"/>
              </a:spcBef>
              <a:spcAft>
                <a:spcPts val="0"/>
              </a:spcAft>
              <a:defRPr sz="2400" b="1">
                <a:solidFill>
                  <a:srgbClr val="234B42"/>
                </a:solidFill>
                <a:latin typeface="Manrope"/>
              </a:defRPr>
            </a:pPr>
            <a:r>
              <a:rPr lang="de-DE"/>
              <a:t>Überempfindlichkeit</a:t>
            </a:r>
          </a:p>
        </p:txBody>
      </p:sp>
      <p:sp>
        <p:nvSpPr>
          <p:cNvPr id="12" name="Text 7"/>
          <p:cNvSpPr txBox="1"/>
          <p:nvPr/>
        </p:nvSpPr>
        <p:spPr>
          <a:xfrm>
            <a:off x="914400" y="4168140"/>
            <a:ext cx="3063240" cy="1700784"/>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starke Stimulation des</a:t>
            </a:r>
          </a:p>
          <a:p>
            <a:pPr>
              <a:lnSpc>
                <a:spcPts val="2477"/>
              </a:lnSpc>
              <a:spcBef>
                <a:spcPts val="0"/>
              </a:spcBef>
              <a:spcAft>
                <a:spcPts val="0"/>
              </a:spcAft>
              <a:defRPr sz="2100" b="0">
                <a:solidFill>
                  <a:srgbClr val="26332F"/>
                </a:solidFill>
                <a:latin typeface="Inter"/>
              </a:defRPr>
            </a:pPr>
            <a:r>
              <a:rPr lang="de-DE"/>
              <a:t>Nervensystems bei</a:t>
            </a:r>
          </a:p>
          <a:p>
            <a:pPr>
              <a:lnSpc>
                <a:spcPts val="2477"/>
              </a:lnSpc>
              <a:spcBef>
                <a:spcPts val="0"/>
              </a:spcBef>
              <a:spcAft>
                <a:spcPts val="0"/>
              </a:spcAft>
              <a:defRPr sz="2100" b="0">
                <a:solidFill>
                  <a:srgbClr val="26332F"/>
                </a:solidFill>
                <a:latin typeface="Inter"/>
              </a:defRPr>
            </a:pPr>
            <a:r>
              <a:rPr lang="de-DE"/>
              <a:t>geringem Sinnesreiz</a:t>
            </a:r>
          </a:p>
        </p:txBody>
      </p:sp>
      <p:sp>
        <p:nvSpPr>
          <p:cNvPr id="13" name="Text 8"/>
          <p:cNvSpPr txBox="1"/>
          <p:nvPr/>
        </p:nvSpPr>
        <p:spPr>
          <a:xfrm>
            <a:off x="4617720" y="1680972"/>
            <a:ext cx="6629400" cy="305054"/>
          </a:xfrm>
          <a:prstGeom prst="rect">
            <a:avLst/>
          </a:prstGeom>
          <a:noFill/>
        </p:spPr>
        <p:txBody>
          <a:bodyPr wrap="none" lIns="0" rIns="0" tIns="0" bIns="0" anchor="t">
            <a:spAutoFit/>
          </a:bodyPr>
          <a:lstStyle/>
          <a:p>
            <a:pPr>
              <a:lnSpc>
                <a:spcPts val="2005"/>
              </a:lnSpc>
              <a:spcBef>
                <a:spcPts val="0"/>
              </a:spcBef>
              <a:spcAft>
                <a:spcPts val="0"/>
              </a:spcAft>
              <a:defRPr sz="1700" b="1">
                <a:solidFill>
                  <a:srgbClr val="234B42"/>
                </a:solidFill>
                <a:latin typeface="Inter"/>
              </a:defRPr>
            </a:pPr>
            <a:r>
              <a:rPr lang="de-DE"/>
              <a:t>Reaktion</a:t>
            </a:r>
          </a:p>
        </p:txBody>
      </p:sp>
      <p:sp>
        <p:nvSpPr>
          <p:cNvPr id="14" name="Rectangle 13"/>
          <p:cNvSpPr/>
          <p:nvPr/>
        </p:nvSpPr>
        <p:spPr>
          <a:xfrm>
            <a:off x="4617720" y="2270760"/>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10"/>
          <p:cNvSpPr txBox="1"/>
          <p:nvPr/>
        </p:nvSpPr>
        <p:spPr>
          <a:xfrm>
            <a:off x="4837176" y="2147316"/>
            <a:ext cx="6336792" cy="379983"/>
          </a:xfrm>
          <a:prstGeom prst="rect">
            <a:avLst/>
          </a:prstGeom>
          <a:noFill/>
        </p:spPr>
        <p:txBody>
          <a:bodyPr wrap="none" lIns="0" rIns="0" tIns="0" bIns="0" anchor="t">
            <a:spAutoFit/>
          </a:bodyPr>
          <a:lstStyle/>
          <a:p>
            <a:pPr>
              <a:lnSpc>
                <a:spcPts val="2595"/>
              </a:lnSpc>
              <a:spcBef>
                <a:spcPts val="0"/>
              </a:spcBef>
              <a:spcAft>
                <a:spcPts val="0"/>
              </a:spcAft>
              <a:defRPr sz="2200" b="0">
                <a:solidFill>
                  <a:srgbClr val="26332F"/>
                </a:solidFill>
                <a:latin typeface="Inter"/>
              </a:defRPr>
            </a:pPr>
            <a:r>
              <a:rPr lang="de-DE"/>
              <a:t>leicht ablenkbar</a:t>
            </a:r>
          </a:p>
        </p:txBody>
      </p:sp>
      <p:sp>
        <p:nvSpPr>
          <p:cNvPr id="16" name="Rectangle 15"/>
          <p:cNvSpPr/>
          <p:nvPr/>
        </p:nvSpPr>
        <p:spPr>
          <a:xfrm>
            <a:off x="4617720" y="2815336"/>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12"/>
          <p:cNvSpPr txBox="1"/>
          <p:nvPr/>
        </p:nvSpPr>
        <p:spPr>
          <a:xfrm>
            <a:off x="4837176" y="2691892"/>
            <a:ext cx="6336792" cy="379983"/>
          </a:xfrm>
          <a:prstGeom prst="rect">
            <a:avLst/>
          </a:prstGeom>
          <a:noFill/>
        </p:spPr>
        <p:txBody>
          <a:bodyPr wrap="none" lIns="0" rIns="0" tIns="0" bIns="0" anchor="t">
            <a:spAutoFit/>
          </a:bodyPr>
          <a:lstStyle/>
          <a:p>
            <a:pPr>
              <a:lnSpc>
                <a:spcPts val="2595"/>
              </a:lnSpc>
              <a:spcBef>
                <a:spcPts val="0"/>
              </a:spcBef>
              <a:spcAft>
                <a:spcPts val="0"/>
              </a:spcAft>
              <a:defRPr sz="2200" b="0">
                <a:solidFill>
                  <a:srgbClr val="26332F"/>
                </a:solidFill>
                <a:latin typeface="Inter"/>
              </a:defRPr>
            </a:pPr>
            <a:r>
              <a:rPr lang="de-DE"/>
              <a:t>Schwierigkeiten, Informationen auszublenden</a:t>
            </a:r>
          </a:p>
        </p:txBody>
      </p:sp>
      <p:sp>
        <p:nvSpPr>
          <p:cNvPr id="18" name="Rectangle 17"/>
          <p:cNvSpPr/>
          <p:nvPr/>
        </p:nvSpPr>
        <p:spPr>
          <a:xfrm>
            <a:off x="4617720" y="3359911"/>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14"/>
          <p:cNvSpPr txBox="1"/>
          <p:nvPr/>
        </p:nvSpPr>
        <p:spPr>
          <a:xfrm>
            <a:off x="4837176" y="3236468"/>
            <a:ext cx="6336792" cy="379983"/>
          </a:xfrm>
          <a:prstGeom prst="rect">
            <a:avLst/>
          </a:prstGeom>
          <a:noFill/>
        </p:spPr>
        <p:txBody>
          <a:bodyPr wrap="none" lIns="0" rIns="0" tIns="0" bIns="0" anchor="t">
            <a:spAutoFit/>
          </a:bodyPr>
          <a:lstStyle/>
          <a:p>
            <a:pPr>
              <a:lnSpc>
                <a:spcPts val="2595"/>
              </a:lnSpc>
              <a:spcBef>
                <a:spcPts val="0"/>
              </a:spcBef>
              <a:spcAft>
                <a:spcPts val="0"/>
              </a:spcAft>
              <a:defRPr sz="2200" b="0">
                <a:solidFill>
                  <a:srgbClr val="26332F"/>
                </a:solidFill>
                <a:latin typeface="Inter"/>
              </a:defRPr>
            </a:pPr>
            <a:r>
              <a:rPr lang="de-DE"/>
              <a:t>Versuch, Intensität und Häufigkeit zu vermindern</a:t>
            </a:r>
          </a:p>
        </p:txBody>
      </p:sp>
      <p:sp>
        <p:nvSpPr>
          <p:cNvPr id="20" name="Rectangle 19"/>
          <p:cNvSpPr/>
          <p:nvPr/>
        </p:nvSpPr>
        <p:spPr>
          <a:xfrm>
            <a:off x="4617720" y="3904487"/>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 16"/>
          <p:cNvSpPr txBox="1"/>
          <p:nvPr/>
        </p:nvSpPr>
        <p:spPr>
          <a:xfrm>
            <a:off x="4837176" y="3781044"/>
            <a:ext cx="6336792" cy="709676"/>
          </a:xfrm>
          <a:prstGeom prst="rect">
            <a:avLst/>
          </a:prstGeom>
          <a:noFill/>
        </p:spPr>
        <p:txBody>
          <a:bodyPr wrap="none" lIns="0" rIns="0" tIns="0" bIns="0" anchor="t">
            <a:spAutoFit/>
          </a:bodyPr>
          <a:lstStyle/>
          <a:p>
            <a:pPr>
              <a:lnSpc>
                <a:spcPts val="2595"/>
              </a:lnSpc>
              <a:spcBef>
                <a:spcPts val="0"/>
              </a:spcBef>
              <a:spcAft>
                <a:spcPts val="0"/>
              </a:spcAft>
              <a:defRPr sz="2200" b="0">
                <a:solidFill>
                  <a:srgbClr val="26332F"/>
                </a:solidFill>
                <a:latin typeface="Inter"/>
              </a:defRPr>
            </a:pPr>
            <a:r>
              <a:rPr lang="de-DE"/>
              <a:t>Abwehr von Veränderung, starre Rituale sollen</a:t>
            </a:r>
          </a:p>
          <a:p>
            <a:pPr>
              <a:lnSpc>
                <a:spcPts val="2595"/>
              </a:lnSpc>
              <a:spcBef>
                <a:spcPts val="0"/>
              </a:spcBef>
              <a:spcAft>
                <a:spcPts val="0"/>
              </a:spcAft>
              <a:defRPr sz="2200" b="0">
                <a:solidFill>
                  <a:srgbClr val="26332F"/>
                </a:solidFill>
                <a:latin typeface="Inter"/>
              </a:defRPr>
            </a:pPr>
            <a:r>
              <a:rPr lang="de-DE"/>
              <a:t>vorhersehbare Umwelt schaffen</a:t>
            </a:r>
          </a:p>
        </p:txBody>
      </p:sp>
      <p:sp>
        <p:nvSpPr>
          <p:cNvPr id="22" name="Rectangle 21"/>
          <p:cNvSpPr/>
          <p:nvPr/>
        </p:nvSpPr>
        <p:spPr>
          <a:xfrm>
            <a:off x="4617720" y="4778756"/>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 18"/>
          <p:cNvSpPr txBox="1"/>
          <p:nvPr/>
        </p:nvSpPr>
        <p:spPr>
          <a:xfrm>
            <a:off x="4837176" y="4655312"/>
            <a:ext cx="6336792" cy="379983"/>
          </a:xfrm>
          <a:prstGeom prst="rect">
            <a:avLst/>
          </a:prstGeom>
          <a:noFill/>
        </p:spPr>
        <p:txBody>
          <a:bodyPr wrap="none" lIns="0" rIns="0" tIns="0" bIns="0" anchor="t">
            <a:spAutoFit/>
          </a:bodyPr>
          <a:lstStyle/>
          <a:p>
            <a:pPr>
              <a:lnSpc>
                <a:spcPts val="2595"/>
              </a:lnSpc>
              <a:spcBef>
                <a:spcPts val="0"/>
              </a:spcBef>
              <a:spcAft>
                <a:spcPts val="0"/>
              </a:spcAft>
              <a:defRPr sz="2200" b="0">
                <a:solidFill>
                  <a:srgbClr val="26332F"/>
                </a:solidFill>
                <a:latin typeface="Inter"/>
              </a:defRPr>
            </a:pPr>
            <a:r>
              <a:rPr lang="de-DE"/>
              <a:t>totale Reizüberflutung!</a:t>
            </a:r>
          </a:p>
        </p:txBody>
      </p:sp>
    </p:spTree>
  </p:cSld>
  <p:clrMapOvr>
    <a:masterClrMapping/>
  </p:clrMapOvr>
  <p:transition spd="fast" advClick="1">
    <p:fade/>
  </p:transition>
</p:sld>
</file>

<file path=ppt/slides/slide12.xml><?xml version="1.0" encoding="utf-8"?>
<p:sld xmlns:a="http://schemas.openxmlformats.org/drawingml/2006/main" xmlns:p="http://schemas.openxmlformats.org/presentationml/2006/main" xmlns:r="http://schemas.openxmlformats.org/officeDocument/2006/relationships" showMasterSp="1">
  <p:cSld>
    <p:bg>
      <p:bgPr>
        <a:solidFill>
          <a:srgbClr val="F7F5EF"/>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12</a:t>
            </a:r>
          </a:p>
        </p:txBody>
      </p:sp>
      <p:sp>
        <p:nvSpPr>
          <p:cNvPr id="3" name="Text 2"/>
          <p:cNvSpPr txBox="1"/>
          <p:nvPr/>
        </p:nvSpPr>
        <p:spPr>
          <a:xfrm>
            <a:off x="594360" y="393192"/>
            <a:ext cx="10881360" cy="203644"/>
          </a:xfrm>
          <a:prstGeom prst="rect">
            <a:avLst/>
          </a:prstGeom>
          <a:noFill/>
        </p:spPr>
        <p:txBody>
          <a:bodyPr wrap="none" lIns="0" rIns="0" tIns="0" bIns="0" anchor="t">
            <a:spAutoFit/>
          </a:bodyPr>
          <a:lstStyle/>
          <a:p>
            <a:pPr>
              <a:lnSpc>
                <a:spcPts val="1207"/>
              </a:lnSpc>
              <a:spcBef>
                <a:spcPts val="0"/>
              </a:spcBef>
              <a:spcAft>
                <a:spcPts val="0"/>
              </a:spcAft>
              <a:defRPr sz="1150" b="1">
                <a:solidFill>
                  <a:srgbClr val="234B42"/>
                </a:solidFill>
                <a:latin typeface="Inter"/>
              </a:defRPr>
            </a:pPr>
            <a:r>
              <a:rPr lang="de-DE"/>
              <a:t>DAS ZUSAMMENSPIEL VERSTEHEN</a:t>
            </a:r>
          </a:p>
        </p:txBody>
      </p:sp>
      <p:sp>
        <p:nvSpPr>
          <p:cNvPr id="4" name="Text 3"/>
          <p:cNvSpPr txBox="1"/>
          <p:nvPr/>
        </p:nvSpPr>
        <p:spPr>
          <a:xfrm>
            <a:off x="594360" y="804672"/>
            <a:ext cx="10991088"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Kind und Umgebung</a:t>
            </a:r>
          </a:p>
        </p:txBody>
      </p:sp>
      <p:sp>
        <p:nvSpPr>
          <p:cNvPr id="5" name="Rounded Rectangle 4"/>
          <p:cNvSpPr/>
          <p:nvPr/>
        </p:nvSpPr>
        <p:spPr>
          <a:xfrm>
            <a:off x="594360" y="1644396"/>
            <a:ext cx="5358384" cy="3832860"/>
          </a:xfrm>
          <a:prstGeom prst="roundRect">
            <a:avLst>
              <a:gd name="adj" fmla="val 6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644396"/>
            <a:ext cx="5358384"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6"/>
          <p:cNvSpPr txBox="1"/>
          <p:nvPr/>
        </p:nvSpPr>
        <p:spPr>
          <a:xfrm>
            <a:off x="886968" y="1937003"/>
            <a:ext cx="4773168" cy="409956"/>
          </a:xfrm>
          <a:prstGeom prst="rect">
            <a:avLst/>
          </a:prstGeom>
          <a:noFill/>
        </p:spPr>
        <p:txBody>
          <a:bodyPr wrap="none" lIns="0" rIns="0" tIns="0" bIns="0" anchor="t">
            <a:spAutoFit/>
          </a:bodyPr>
          <a:lstStyle/>
          <a:p>
            <a:pPr>
              <a:lnSpc>
                <a:spcPts val="2832"/>
              </a:lnSpc>
              <a:spcBef>
                <a:spcPts val="0"/>
              </a:spcBef>
              <a:spcAft>
                <a:spcPts val="0"/>
              </a:spcAft>
              <a:defRPr sz="2400" b="1">
                <a:solidFill>
                  <a:srgbClr val="234B42"/>
                </a:solidFill>
                <a:latin typeface="Manrope"/>
              </a:defRPr>
            </a:pPr>
            <a:r>
              <a:rPr lang="de-DE"/>
              <a:t>Das Kind bringt mit</a:t>
            </a:r>
          </a:p>
        </p:txBody>
      </p:sp>
      <p:sp>
        <p:nvSpPr>
          <p:cNvPr id="8" name="Rectangle 7"/>
          <p:cNvSpPr/>
          <p:nvPr/>
        </p:nvSpPr>
        <p:spPr>
          <a:xfrm>
            <a:off x="886968" y="2799588"/>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8"/>
          <p:cNvSpPr txBox="1"/>
          <p:nvPr/>
        </p:nvSpPr>
        <p:spPr>
          <a:xfrm>
            <a:off x="1106424" y="2676143"/>
            <a:ext cx="4553712" cy="394969"/>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26332F"/>
                </a:solidFill>
                <a:latin typeface="Inter"/>
              </a:defRPr>
            </a:pPr>
            <a:r>
              <a:rPr lang="de-DE"/>
              <a:t>Interessen und Fähigkeiten</a:t>
            </a:r>
          </a:p>
        </p:txBody>
      </p:sp>
      <p:sp>
        <p:nvSpPr>
          <p:cNvPr id="10" name="Rectangle 9"/>
          <p:cNvSpPr/>
          <p:nvPr/>
        </p:nvSpPr>
        <p:spPr>
          <a:xfrm>
            <a:off x="886968" y="3468877"/>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10"/>
          <p:cNvSpPr txBox="1"/>
          <p:nvPr/>
        </p:nvSpPr>
        <p:spPr>
          <a:xfrm>
            <a:off x="1106424" y="3345433"/>
            <a:ext cx="4553712" cy="394969"/>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26332F"/>
                </a:solidFill>
                <a:latin typeface="Inter"/>
              </a:defRPr>
            </a:pPr>
            <a:r>
              <a:rPr lang="de-DE"/>
              <a:t>Individuelle Kommunikation</a:t>
            </a:r>
          </a:p>
        </p:txBody>
      </p:sp>
      <p:sp>
        <p:nvSpPr>
          <p:cNvPr id="12" name="Rectangle 11"/>
          <p:cNvSpPr/>
          <p:nvPr/>
        </p:nvSpPr>
        <p:spPr>
          <a:xfrm>
            <a:off x="886968" y="4138167"/>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12"/>
          <p:cNvSpPr txBox="1"/>
          <p:nvPr/>
        </p:nvSpPr>
        <p:spPr>
          <a:xfrm>
            <a:off x="1106424" y="4014724"/>
            <a:ext cx="4553712" cy="739648"/>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26332F"/>
                </a:solidFill>
                <a:latin typeface="Inter"/>
              </a:defRPr>
            </a:pPr>
            <a:r>
              <a:rPr lang="de-DE"/>
              <a:t>Belastbarkeit und</a:t>
            </a:r>
          </a:p>
          <a:p>
            <a:pPr>
              <a:lnSpc>
                <a:spcPts val="2713"/>
              </a:lnSpc>
              <a:spcBef>
                <a:spcPts val="0"/>
              </a:spcBef>
              <a:spcAft>
                <a:spcPts val="0"/>
              </a:spcAft>
              <a:defRPr sz="2300" b="0">
                <a:solidFill>
                  <a:srgbClr val="26332F"/>
                </a:solidFill>
                <a:latin typeface="Inter"/>
              </a:defRPr>
            </a:pPr>
            <a:r>
              <a:rPr lang="de-DE"/>
              <a:t>Unterstützungsbedarf</a:t>
            </a:r>
          </a:p>
        </p:txBody>
      </p:sp>
      <p:sp>
        <p:nvSpPr>
          <p:cNvPr id="14" name="Rounded Rectangle 13"/>
          <p:cNvSpPr/>
          <p:nvPr/>
        </p:nvSpPr>
        <p:spPr>
          <a:xfrm>
            <a:off x="6236208" y="1644396"/>
            <a:ext cx="5358384" cy="3832860"/>
          </a:xfrm>
          <a:prstGeom prst="roundRect">
            <a:avLst>
              <a:gd name="adj" fmla="val 6500"/>
            </a:avLst>
          </a:prstGeom>
          <a:solidFill>
            <a:srgbClr val="E9EE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6208" y="1644396"/>
            <a:ext cx="5358384" cy="59436"/>
          </a:xfrm>
          <a:prstGeom prst="rect">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15"/>
          <p:cNvSpPr txBox="1"/>
          <p:nvPr/>
        </p:nvSpPr>
        <p:spPr>
          <a:xfrm>
            <a:off x="6528816" y="1937003"/>
            <a:ext cx="4773168" cy="409956"/>
          </a:xfrm>
          <a:prstGeom prst="rect">
            <a:avLst/>
          </a:prstGeom>
          <a:noFill/>
        </p:spPr>
        <p:txBody>
          <a:bodyPr wrap="none" lIns="0" rIns="0" tIns="0" bIns="0" anchor="t">
            <a:spAutoFit/>
          </a:bodyPr>
          <a:lstStyle/>
          <a:p>
            <a:pPr>
              <a:lnSpc>
                <a:spcPts val="2832"/>
              </a:lnSpc>
              <a:spcBef>
                <a:spcPts val="0"/>
              </a:spcBef>
              <a:spcAft>
                <a:spcPts val="0"/>
              </a:spcAft>
              <a:defRPr sz="2400" b="1">
                <a:solidFill>
                  <a:srgbClr val="234B42"/>
                </a:solidFill>
                <a:latin typeface="Manrope"/>
              </a:defRPr>
            </a:pPr>
            <a:r>
              <a:rPr lang="de-DE"/>
              <a:t>Die Kita gestaltet</a:t>
            </a:r>
          </a:p>
        </p:txBody>
      </p:sp>
      <p:sp>
        <p:nvSpPr>
          <p:cNvPr id="17" name="Rectangle 16"/>
          <p:cNvSpPr/>
          <p:nvPr/>
        </p:nvSpPr>
        <p:spPr>
          <a:xfrm>
            <a:off x="6528816" y="2799588"/>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17"/>
          <p:cNvSpPr txBox="1"/>
          <p:nvPr/>
        </p:nvSpPr>
        <p:spPr>
          <a:xfrm>
            <a:off x="6748272" y="2676143"/>
            <a:ext cx="4553712" cy="394969"/>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26332F"/>
                </a:solidFill>
                <a:latin typeface="Inter"/>
              </a:defRPr>
            </a:pPr>
            <a:r>
              <a:rPr lang="de-DE"/>
              <a:t>Gruppengröße und Reize</a:t>
            </a:r>
          </a:p>
        </p:txBody>
      </p:sp>
      <p:sp>
        <p:nvSpPr>
          <p:cNvPr id="19" name="Rectangle 18"/>
          <p:cNvSpPr/>
          <p:nvPr/>
        </p:nvSpPr>
        <p:spPr>
          <a:xfrm>
            <a:off x="6528816" y="3468877"/>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 19"/>
          <p:cNvSpPr txBox="1"/>
          <p:nvPr/>
        </p:nvSpPr>
        <p:spPr>
          <a:xfrm>
            <a:off x="6748272" y="3345433"/>
            <a:ext cx="4553712" cy="394969"/>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26332F"/>
                </a:solidFill>
                <a:latin typeface="Inter"/>
              </a:defRPr>
            </a:pPr>
            <a:r>
              <a:rPr lang="de-DE"/>
              <a:t>Aufträge und Tagesabläufe</a:t>
            </a:r>
          </a:p>
        </p:txBody>
      </p:sp>
      <p:sp>
        <p:nvSpPr>
          <p:cNvPr id="21" name="Rectangle 20"/>
          <p:cNvSpPr/>
          <p:nvPr/>
        </p:nvSpPr>
        <p:spPr>
          <a:xfrm>
            <a:off x="6528816" y="4138167"/>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 21"/>
          <p:cNvSpPr txBox="1"/>
          <p:nvPr/>
        </p:nvSpPr>
        <p:spPr>
          <a:xfrm>
            <a:off x="6748272" y="4014724"/>
            <a:ext cx="4553712" cy="739648"/>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26332F"/>
                </a:solidFill>
                <a:latin typeface="Inter"/>
              </a:defRPr>
            </a:pPr>
            <a:r>
              <a:rPr lang="de-DE"/>
              <a:t>Beziehung und Zugang zu</a:t>
            </a:r>
          </a:p>
          <a:p>
            <a:pPr>
              <a:lnSpc>
                <a:spcPts val="2713"/>
              </a:lnSpc>
              <a:spcBef>
                <a:spcPts val="0"/>
              </a:spcBef>
              <a:spcAft>
                <a:spcPts val="0"/>
              </a:spcAft>
              <a:defRPr sz="2300" b="0">
                <a:solidFill>
                  <a:srgbClr val="26332F"/>
                </a:solidFill>
                <a:latin typeface="Inter"/>
              </a:defRPr>
            </a:pPr>
            <a:r>
              <a:rPr lang="de-DE"/>
              <a:t>Unterstützung</a:t>
            </a:r>
          </a:p>
        </p:txBody>
      </p:sp>
      <p:cxnSp>
        <p:nvCxnSpPr>
          <p:cNvPr id="23" name="Connector 22"/>
          <p:cNvCxnSpPr/>
          <p:nvPr/>
        </p:nvCxnSpPr>
        <p:spPr>
          <a:xfrm>
            <a:off x="594360" y="5495544"/>
            <a:ext cx="502920" cy="0"/>
          </a:xfrm>
          <a:prstGeom prst="line">
            <a:avLst/>
          </a:prstGeom>
          <a:ln w="27940">
            <a:solidFill>
              <a:srgbClr val="D68B73"/>
            </a:solidFill>
          </a:ln>
        </p:spPr>
        <p:style>
          <a:lnRef idx="2">
            <a:schemeClr val="accent1"/>
          </a:lnRef>
          <a:fillRef idx="0">
            <a:schemeClr val="accent1"/>
          </a:fillRef>
          <a:effectRef idx="1">
            <a:schemeClr val="accent1"/>
          </a:effectRef>
          <a:fontRef idx="minor">
            <a:schemeClr val="tx1"/>
          </a:fontRef>
        </p:style>
      </p:cxnSp>
      <p:sp>
        <p:nvSpPr>
          <p:cNvPr id="24" name="Text 23"/>
          <p:cNvSpPr txBox="1"/>
          <p:nvPr/>
        </p:nvSpPr>
        <p:spPr>
          <a:xfrm>
            <a:off x="594360" y="5623560"/>
            <a:ext cx="10972800" cy="694944"/>
          </a:xfrm>
          <a:prstGeom prst="rect">
            <a:avLst/>
          </a:prstGeom>
          <a:noFill/>
        </p:spPr>
        <p:txBody>
          <a:bodyPr wrap="none" lIns="0" rIns="0" tIns="0" bIns="0" anchor="t">
            <a:spAutoFit/>
          </a:bodyPr>
          <a:lstStyle/>
          <a:p>
            <a:pPr>
              <a:lnSpc>
                <a:spcPts val="2419"/>
              </a:lnSpc>
              <a:spcBef>
                <a:spcPts val="0"/>
              </a:spcBef>
              <a:spcAft>
                <a:spcPts val="0"/>
              </a:spcAft>
              <a:defRPr sz="2050" b="1">
                <a:solidFill>
                  <a:srgbClr val="234B42"/>
                </a:solidFill>
                <a:latin typeface="Manrope"/>
              </a:defRPr>
            </a:pPr>
            <a:r>
              <a:rPr lang="de-DE"/>
              <a:t>Eine Situation entsteht im Zusammenspiel.</a:t>
            </a:r>
          </a:p>
        </p:txBody>
      </p:sp>
    </p:spTree>
  </p:cSld>
  <p:clrMapOvr>
    <a:masterClrMapping/>
  </p:clrMapOvr>
  <p:transition spd="fast" advClick="1">
    <p:fade/>
  </p:transition>
</p:sld>
</file>

<file path=ppt/slides/slide13.xml><?xml version="1.0" encoding="utf-8"?>
<p:sld xmlns:a="http://schemas.openxmlformats.org/drawingml/2006/main" xmlns:p="http://schemas.openxmlformats.org/presentationml/2006/main" xmlns:r="http://schemas.openxmlformats.org/officeDocument/2006/relationships" showMasterSp="0">
  <p:cSld>
    <p:bg>
      <p:bgPr>
        <a:solidFill>
          <a:srgbClr val="234B42"/>
        </a:solidFill>
        <a:effectLst/>
      </p:bgPr>
    </p:bg>
    <p:spTree>
      <p:nvGrpSpPr>
        <p:cNvPr id="1" name=""/>
        <p:cNvGrpSpPr/>
        <p:nvPr/>
      </p:nvGrpSpPr>
      <p:grpSpPr/>
      <p:cxnSp>
        <p:nvCxnSpPr>
          <p:cNvPr id="2" name="Connector 1"/>
          <p:cNvCxnSpPr/>
          <p:nvPr/>
        </p:nvCxnSpPr>
        <p:spPr>
          <a:xfrm>
            <a:off x="594360" y="6400800"/>
            <a:ext cx="11000232" cy="0"/>
          </a:xfrm>
          <a:prstGeom prst="line">
            <a:avLst/>
          </a:prstGeom>
          <a:ln w="6985">
            <a:solidFill>
              <a:srgbClr val="537568"/>
            </a:solidFill>
          </a:ln>
        </p:spPr>
        <p:style>
          <a:lnRef idx="2">
            <a:schemeClr val="accent1"/>
          </a:lnRef>
          <a:fillRef idx="0">
            <a:schemeClr val="accent1"/>
          </a:fillRef>
          <a:effectRef idx="1">
            <a:schemeClr val="accent1"/>
          </a:effectRef>
          <a:fontRef idx="minor">
            <a:schemeClr val="tx1"/>
          </a:fontRef>
        </p:style>
      </p:cxnSp>
      <p:sp>
        <p:nvSpPr>
          <p:cNvPr id="3" name="Text 2"/>
          <p:cNvSpPr txBox="1"/>
          <p:nvPr/>
        </p:nvSpPr>
        <p:spPr>
          <a:xfrm>
            <a:off x="594360" y="6528816"/>
            <a:ext cx="9692640" cy="176974"/>
          </a:xfrm>
          <a:prstGeom prst="rect">
            <a:avLst/>
          </a:prstGeom>
          <a:noFill/>
        </p:spPr>
        <p:txBody>
          <a:bodyPr wrap="none" lIns="0" rIns="0" tIns="0" bIns="0" anchor="t">
            <a:spAutoFit/>
          </a:bodyPr>
          <a:lstStyle/>
          <a:p>
            <a:pPr>
              <a:lnSpc>
                <a:spcPts val="997"/>
              </a:lnSpc>
              <a:spcBef>
                <a:spcPts val="0"/>
              </a:spcBef>
              <a:spcAft>
                <a:spcPts val="0"/>
              </a:spcAft>
              <a:defRPr sz="950" b="0">
                <a:solidFill>
                  <a:srgbClr val="A8BFA9"/>
                </a:solidFill>
                <a:latin typeface="Inter"/>
              </a:defRPr>
            </a:pPr>
            <a:r>
              <a:rPr lang="de-DE"/>
              <a:t>PRAXIS SCHNECKE / FORTBILDUNG · 02.11.2026</a:t>
            </a:r>
          </a:p>
        </p:txBody>
      </p:sp>
      <p:sp>
        <p:nvSpPr>
          <p:cNvPr id="4" name="Text 3"/>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A8BFA9"/>
                </a:solidFill>
                <a:latin typeface="Inter"/>
              </a:defRPr>
            </a:pPr>
            <a:r>
              <a:rPr lang="de-DE"/>
              <a:t>13</a:t>
            </a:r>
          </a:p>
        </p:txBody>
      </p:sp>
      <p:sp>
        <p:nvSpPr>
          <p:cNvPr id="5" name="Text 4"/>
          <p:cNvSpPr txBox="1"/>
          <p:nvPr/>
        </p:nvSpPr>
        <p:spPr>
          <a:xfrm>
            <a:off x="731520" y="512064"/>
            <a:ext cx="10515600" cy="230123"/>
          </a:xfrm>
          <a:prstGeom prst="rect">
            <a:avLst/>
          </a:prstGeom>
          <a:noFill/>
        </p:spPr>
        <p:txBody>
          <a:bodyPr wrap="none" lIns="0" rIns="0" tIns="0" bIns="0" anchor="t">
            <a:spAutoFit/>
          </a:bodyPr>
          <a:lstStyle/>
          <a:p>
            <a:pPr>
              <a:lnSpc>
                <a:spcPts val="1416"/>
              </a:lnSpc>
              <a:spcBef>
                <a:spcPts val="0"/>
              </a:spcBef>
              <a:spcAft>
                <a:spcPts val="0"/>
              </a:spcAft>
              <a:defRPr sz="1200" b="1">
                <a:solidFill>
                  <a:srgbClr val="A8BFA9"/>
                </a:solidFill>
                <a:latin typeface="Inter"/>
              </a:defRPr>
            </a:pPr>
            <a:r>
              <a:rPr lang="de-DE"/>
              <a:t>GEDANKE FÜR DIE PRAXIS</a:t>
            </a:r>
          </a:p>
        </p:txBody>
      </p:sp>
      <p:sp>
        <p:nvSpPr>
          <p:cNvPr id="6" name="Text 5"/>
          <p:cNvSpPr txBox="1"/>
          <p:nvPr/>
        </p:nvSpPr>
        <p:spPr>
          <a:xfrm>
            <a:off x="640080" y="1234440"/>
            <a:ext cx="1188720" cy="1698751"/>
          </a:xfrm>
          <a:prstGeom prst="rect">
            <a:avLst/>
          </a:prstGeom>
          <a:noFill/>
        </p:spPr>
        <p:txBody>
          <a:bodyPr wrap="none" lIns="0" rIns="0" tIns="0" bIns="0" anchor="t">
            <a:spAutoFit/>
          </a:bodyPr>
          <a:lstStyle/>
          <a:p>
            <a:pPr>
              <a:lnSpc>
                <a:spcPts val="12979"/>
              </a:lnSpc>
              <a:spcBef>
                <a:spcPts val="0"/>
              </a:spcBef>
              <a:spcAft>
                <a:spcPts val="0"/>
              </a:spcAft>
              <a:defRPr sz="11000" b="1">
                <a:solidFill>
                  <a:srgbClr val="D68B73"/>
                </a:solidFill>
                <a:latin typeface="Manrope"/>
              </a:defRPr>
            </a:pPr>
            <a:r>
              <a:rPr lang="de-DE"/>
              <a:t>„</a:t>
            </a:r>
          </a:p>
        </p:txBody>
      </p:sp>
      <p:sp>
        <p:nvSpPr>
          <p:cNvPr id="7" name="Text 6"/>
          <p:cNvSpPr txBox="1"/>
          <p:nvPr/>
        </p:nvSpPr>
        <p:spPr>
          <a:xfrm>
            <a:off x="1874519" y="1947672"/>
            <a:ext cx="9052560" cy="2743200"/>
          </a:xfrm>
          <a:prstGeom prst="rect">
            <a:avLst/>
          </a:prstGeom>
          <a:noFill/>
        </p:spPr>
        <p:txBody>
          <a:bodyPr wrap="none" lIns="0" rIns="0" tIns="0" bIns="0" anchor="t">
            <a:spAutoFit/>
          </a:bodyPr>
          <a:lstStyle/>
          <a:p>
            <a:pPr>
              <a:lnSpc>
                <a:spcPts val="4797"/>
              </a:lnSpc>
              <a:spcBef>
                <a:spcPts val="0"/>
              </a:spcBef>
              <a:spcAft>
                <a:spcPts val="0"/>
              </a:spcAft>
              <a:defRPr sz="4100" b="1">
                <a:solidFill>
                  <a:srgbClr val="F7F5EF"/>
                </a:solidFill>
                <a:latin typeface="Manrope"/>
              </a:defRPr>
            </a:pPr>
            <a:r>
              <a:rPr lang="de-DE"/>
              <a:t>Verhalten entsteht im</a:t>
            </a:r>
          </a:p>
          <a:p>
            <a:pPr>
              <a:lnSpc>
                <a:spcPts val="4797"/>
              </a:lnSpc>
              <a:spcBef>
                <a:spcPts val="0"/>
              </a:spcBef>
              <a:spcAft>
                <a:spcPts val="0"/>
              </a:spcAft>
              <a:defRPr sz="4100" b="1">
                <a:solidFill>
                  <a:srgbClr val="F7F5EF"/>
                </a:solidFill>
                <a:latin typeface="Manrope"/>
              </a:defRPr>
            </a:pPr>
            <a:r>
              <a:rPr lang="de-DE"/>
              <a:t>Zusammenspiel von Kind und</a:t>
            </a:r>
          </a:p>
          <a:p>
            <a:pPr>
              <a:lnSpc>
                <a:spcPts val="4797"/>
              </a:lnSpc>
              <a:spcBef>
                <a:spcPts val="0"/>
              </a:spcBef>
              <a:spcAft>
                <a:spcPts val="0"/>
              </a:spcAft>
              <a:defRPr sz="4100" b="1">
                <a:solidFill>
                  <a:srgbClr val="F7F5EF"/>
                </a:solidFill>
                <a:latin typeface="Manrope"/>
              </a:defRPr>
            </a:pPr>
            <a:r>
              <a:rPr lang="de-DE"/>
              <a:t>Umgebung.</a:t>
            </a:r>
          </a:p>
        </p:txBody>
      </p:sp>
      <p:cxnSp>
        <p:nvCxnSpPr>
          <p:cNvPr id="8" name="Connector 7"/>
          <p:cNvCxnSpPr/>
          <p:nvPr/>
        </p:nvCxnSpPr>
        <p:spPr>
          <a:xfrm>
            <a:off x="1901952" y="5504688"/>
            <a:ext cx="914400" cy="0"/>
          </a:xfrm>
          <a:prstGeom prst="line">
            <a:avLst/>
          </a:prstGeom>
          <a:ln w="38100">
            <a:solidFill>
              <a:srgbClr val="E5BD70"/>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fast" advClick="1">
    <p:fade/>
  </p:transition>
</p:sld>
</file>

<file path=ppt/slides/slide14.xml><?xml version="1.0" encoding="utf-8"?>
<p:sld xmlns:a="http://schemas.openxmlformats.org/drawingml/2006/main" xmlns:p="http://schemas.openxmlformats.org/presentationml/2006/main" xmlns:r="http://schemas.openxmlformats.org/officeDocument/2006/relationships" showMasterSp="1">
  <p:cSld>
    <p:bg>
      <p:bgPr>
        <a:solidFill>
          <a:srgbClr val="F7F5EF"/>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14</a:t>
            </a:r>
          </a:p>
        </p:txBody>
      </p:sp>
      <p:sp>
        <p:nvSpPr>
          <p:cNvPr id="3" name="Text 2"/>
          <p:cNvSpPr txBox="1"/>
          <p:nvPr/>
        </p:nvSpPr>
        <p:spPr>
          <a:xfrm>
            <a:off x="594360" y="393192"/>
            <a:ext cx="10881360" cy="203644"/>
          </a:xfrm>
          <a:prstGeom prst="rect">
            <a:avLst/>
          </a:prstGeom>
          <a:noFill/>
        </p:spPr>
        <p:txBody>
          <a:bodyPr wrap="none" lIns="0" rIns="0" tIns="0" bIns="0" anchor="t">
            <a:spAutoFit/>
          </a:bodyPr>
          <a:lstStyle/>
          <a:p>
            <a:pPr>
              <a:lnSpc>
                <a:spcPts val="1207"/>
              </a:lnSpc>
              <a:spcBef>
                <a:spcPts val="0"/>
              </a:spcBef>
              <a:spcAft>
                <a:spcPts val="0"/>
              </a:spcAft>
              <a:defRPr sz="1150" b="1">
                <a:solidFill>
                  <a:srgbClr val="234B42"/>
                </a:solidFill>
                <a:latin typeface="Inter"/>
              </a:defRPr>
            </a:pPr>
            <a:r>
              <a:rPr lang="de-DE"/>
              <a:t>ZUGEHÖRIGKEIT ERMÖGLICHEN</a:t>
            </a:r>
          </a:p>
        </p:txBody>
      </p:sp>
      <p:sp>
        <p:nvSpPr>
          <p:cNvPr id="4" name="Text 3"/>
          <p:cNvSpPr txBox="1"/>
          <p:nvPr/>
        </p:nvSpPr>
        <p:spPr>
          <a:xfrm>
            <a:off x="594360" y="804672"/>
            <a:ext cx="10991088"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Teilhabe in unterschiedlichen Formen</a:t>
            </a:r>
          </a:p>
        </p:txBody>
      </p:sp>
      <p:sp>
        <p:nvSpPr>
          <p:cNvPr id="5" name="Rounded Rectangle 4"/>
          <p:cNvSpPr/>
          <p:nvPr/>
        </p:nvSpPr>
        <p:spPr>
          <a:xfrm>
            <a:off x="594360" y="1644396"/>
            <a:ext cx="5358384" cy="3832860"/>
          </a:xfrm>
          <a:prstGeom prst="roundRect">
            <a:avLst>
              <a:gd name="adj" fmla="val 6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644396"/>
            <a:ext cx="5358384"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6"/>
          <p:cNvSpPr txBox="1"/>
          <p:nvPr/>
        </p:nvSpPr>
        <p:spPr>
          <a:xfrm>
            <a:off x="886968" y="1937003"/>
            <a:ext cx="4773168" cy="409956"/>
          </a:xfrm>
          <a:prstGeom prst="rect">
            <a:avLst/>
          </a:prstGeom>
          <a:noFill/>
        </p:spPr>
        <p:txBody>
          <a:bodyPr wrap="none" lIns="0" rIns="0" tIns="0" bIns="0" anchor="t">
            <a:spAutoFit/>
          </a:bodyPr>
          <a:lstStyle/>
          <a:p>
            <a:pPr>
              <a:lnSpc>
                <a:spcPts val="2832"/>
              </a:lnSpc>
              <a:spcBef>
                <a:spcPts val="0"/>
              </a:spcBef>
              <a:spcAft>
                <a:spcPts val="0"/>
              </a:spcAft>
              <a:defRPr sz="2400" b="1">
                <a:solidFill>
                  <a:srgbClr val="234B42"/>
                </a:solidFill>
                <a:latin typeface="Manrope"/>
              </a:defRPr>
            </a:pPr>
            <a:r>
              <a:rPr lang="de-DE"/>
              <a:t>Gemeinsames Ziel</a:t>
            </a:r>
          </a:p>
        </p:txBody>
      </p:sp>
      <p:sp>
        <p:nvSpPr>
          <p:cNvPr id="8" name="Rectangle 7"/>
          <p:cNvSpPr/>
          <p:nvPr/>
        </p:nvSpPr>
        <p:spPr>
          <a:xfrm>
            <a:off x="886968" y="2799588"/>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8"/>
          <p:cNvSpPr txBox="1"/>
          <p:nvPr/>
        </p:nvSpPr>
        <p:spPr>
          <a:xfrm>
            <a:off x="1106424" y="2676143"/>
            <a:ext cx="4553712" cy="394969"/>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26332F"/>
                </a:solidFill>
                <a:latin typeface="Inter"/>
              </a:defRPr>
            </a:pPr>
            <a:r>
              <a:rPr lang="de-DE"/>
              <a:t>Kontakt und Zugehörigkeit</a:t>
            </a:r>
          </a:p>
        </p:txBody>
      </p:sp>
      <p:sp>
        <p:nvSpPr>
          <p:cNvPr id="10" name="Rectangle 9"/>
          <p:cNvSpPr/>
          <p:nvPr/>
        </p:nvSpPr>
        <p:spPr>
          <a:xfrm>
            <a:off x="886968" y="3468877"/>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10"/>
          <p:cNvSpPr txBox="1"/>
          <p:nvPr/>
        </p:nvSpPr>
        <p:spPr>
          <a:xfrm>
            <a:off x="1106424" y="3345433"/>
            <a:ext cx="4553712" cy="394969"/>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26332F"/>
                </a:solidFill>
                <a:latin typeface="Inter"/>
              </a:defRPr>
            </a:pPr>
            <a:r>
              <a:rPr lang="de-DE"/>
              <a:t>Verständliche Beteiligung</a:t>
            </a:r>
          </a:p>
        </p:txBody>
      </p:sp>
      <p:sp>
        <p:nvSpPr>
          <p:cNvPr id="12" name="Rectangle 11"/>
          <p:cNvSpPr/>
          <p:nvPr/>
        </p:nvSpPr>
        <p:spPr>
          <a:xfrm>
            <a:off x="886968" y="4138167"/>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12"/>
          <p:cNvSpPr txBox="1"/>
          <p:nvPr/>
        </p:nvSpPr>
        <p:spPr>
          <a:xfrm>
            <a:off x="1106424" y="4014724"/>
            <a:ext cx="4553712" cy="394969"/>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26332F"/>
                </a:solidFill>
                <a:latin typeface="Inter"/>
              </a:defRPr>
            </a:pPr>
            <a:r>
              <a:rPr lang="de-DE"/>
              <a:t>Sicherheit und Wohlbefinden</a:t>
            </a:r>
          </a:p>
        </p:txBody>
      </p:sp>
      <p:sp>
        <p:nvSpPr>
          <p:cNvPr id="14" name="Rounded Rectangle 13"/>
          <p:cNvSpPr/>
          <p:nvPr/>
        </p:nvSpPr>
        <p:spPr>
          <a:xfrm>
            <a:off x="6236208" y="1644396"/>
            <a:ext cx="5358384" cy="3832860"/>
          </a:xfrm>
          <a:prstGeom prst="roundRect">
            <a:avLst>
              <a:gd name="adj" fmla="val 6500"/>
            </a:avLst>
          </a:prstGeom>
          <a:solidFill>
            <a:srgbClr val="E9EE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6208" y="1644396"/>
            <a:ext cx="5358384" cy="59436"/>
          </a:xfrm>
          <a:prstGeom prst="rect">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15"/>
          <p:cNvSpPr txBox="1"/>
          <p:nvPr/>
        </p:nvSpPr>
        <p:spPr>
          <a:xfrm>
            <a:off x="6528816" y="1937003"/>
            <a:ext cx="4773168" cy="409956"/>
          </a:xfrm>
          <a:prstGeom prst="rect">
            <a:avLst/>
          </a:prstGeom>
          <a:noFill/>
        </p:spPr>
        <p:txBody>
          <a:bodyPr wrap="none" lIns="0" rIns="0" tIns="0" bIns="0" anchor="t">
            <a:spAutoFit/>
          </a:bodyPr>
          <a:lstStyle/>
          <a:p>
            <a:pPr>
              <a:lnSpc>
                <a:spcPts val="2832"/>
              </a:lnSpc>
              <a:spcBef>
                <a:spcPts val="0"/>
              </a:spcBef>
              <a:spcAft>
                <a:spcPts val="0"/>
              </a:spcAft>
              <a:defRPr sz="2400" b="1">
                <a:solidFill>
                  <a:srgbClr val="234B42"/>
                </a:solidFill>
                <a:latin typeface="Manrope"/>
              </a:defRPr>
            </a:pPr>
            <a:r>
              <a:rPr lang="de-DE"/>
              <a:t>Mögliche Wege</a:t>
            </a:r>
          </a:p>
        </p:txBody>
      </p:sp>
      <p:sp>
        <p:nvSpPr>
          <p:cNvPr id="17" name="Rectangle 16"/>
          <p:cNvSpPr/>
          <p:nvPr/>
        </p:nvSpPr>
        <p:spPr>
          <a:xfrm>
            <a:off x="6528816" y="2799588"/>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17"/>
          <p:cNvSpPr txBox="1"/>
          <p:nvPr/>
        </p:nvSpPr>
        <p:spPr>
          <a:xfrm>
            <a:off x="6748272" y="2676143"/>
            <a:ext cx="4553712" cy="394969"/>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26332F"/>
                </a:solidFill>
                <a:latin typeface="Inter"/>
              </a:defRPr>
            </a:pPr>
            <a:r>
              <a:rPr lang="de-DE"/>
              <a:t>Kürzere Teilnahme</a:t>
            </a:r>
          </a:p>
        </p:txBody>
      </p:sp>
      <p:sp>
        <p:nvSpPr>
          <p:cNvPr id="19" name="Rectangle 18"/>
          <p:cNvSpPr/>
          <p:nvPr/>
        </p:nvSpPr>
        <p:spPr>
          <a:xfrm>
            <a:off x="6528816" y="3468877"/>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 19"/>
          <p:cNvSpPr txBox="1"/>
          <p:nvPr/>
        </p:nvSpPr>
        <p:spPr>
          <a:xfrm>
            <a:off x="6748272" y="3345433"/>
            <a:ext cx="4553712" cy="394969"/>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26332F"/>
                </a:solidFill>
                <a:latin typeface="Inter"/>
              </a:defRPr>
            </a:pPr>
            <a:r>
              <a:rPr lang="de-DE"/>
              <a:t>Ein Platz am Rand</a:t>
            </a:r>
          </a:p>
        </p:txBody>
      </p:sp>
      <p:sp>
        <p:nvSpPr>
          <p:cNvPr id="21" name="Rectangle 20"/>
          <p:cNvSpPr/>
          <p:nvPr/>
        </p:nvSpPr>
        <p:spPr>
          <a:xfrm>
            <a:off x="6528816" y="4138167"/>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 21"/>
          <p:cNvSpPr txBox="1"/>
          <p:nvPr/>
        </p:nvSpPr>
        <p:spPr>
          <a:xfrm>
            <a:off x="6748272" y="4014724"/>
            <a:ext cx="4553712" cy="394969"/>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26332F"/>
                </a:solidFill>
                <a:latin typeface="Inter"/>
              </a:defRPr>
            </a:pPr>
            <a:r>
              <a:rPr lang="de-DE"/>
              <a:t>Eine vertraute Begleitung</a:t>
            </a:r>
          </a:p>
        </p:txBody>
      </p:sp>
      <p:cxnSp>
        <p:nvCxnSpPr>
          <p:cNvPr id="23" name="Connector 22"/>
          <p:cNvCxnSpPr/>
          <p:nvPr/>
        </p:nvCxnSpPr>
        <p:spPr>
          <a:xfrm>
            <a:off x="594360" y="5495544"/>
            <a:ext cx="502920" cy="0"/>
          </a:xfrm>
          <a:prstGeom prst="line">
            <a:avLst/>
          </a:prstGeom>
          <a:ln w="27940">
            <a:solidFill>
              <a:srgbClr val="D68B73"/>
            </a:solidFill>
          </a:ln>
        </p:spPr>
        <p:style>
          <a:lnRef idx="2">
            <a:schemeClr val="accent1"/>
          </a:lnRef>
          <a:fillRef idx="0">
            <a:schemeClr val="accent1"/>
          </a:fillRef>
          <a:effectRef idx="1">
            <a:schemeClr val="accent1"/>
          </a:effectRef>
          <a:fontRef idx="minor">
            <a:schemeClr val="tx1"/>
          </a:fontRef>
        </p:style>
      </p:cxnSp>
      <p:sp>
        <p:nvSpPr>
          <p:cNvPr id="24" name="Text 23"/>
          <p:cNvSpPr txBox="1"/>
          <p:nvPr/>
        </p:nvSpPr>
        <p:spPr>
          <a:xfrm>
            <a:off x="594360" y="5623560"/>
            <a:ext cx="10972800" cy="694944"/>
          </a:xfrm>
          <a:prstGeom prst="rect">
            <a:avLst/>
          </a:prstGeom>
          <a:noFill/>
        </p:spPr>
        <p:txBody>
          <a:bodyPr wrap="none" lIns="0" rIns="0" tIns="0" bIns="0" anchor="t">
            <a:spAutoFit/>
          </a:bodyPr>
          <a:lstStyle/>
          <a:p>
            <a:pPr>
              <a:lnSpc>
                <a:spcPts val="2419"/>
              </a:lnSpc>
              <a:spcBef>
                <a:spcPts val="0"/>
              </a:spcBef>
              <a:spcAft>
                <a:spcPts val="0"/>
              </a:spcAft>
              <a:defRPr sz="2050" b="1">
                <a:solidFill>
                  <a:srgbClr val="234B42"/>
                </a:solidFill>
                <a:latin typeface="Manrope"/>
              </a:defRPr>
            </a:pPr>
            <a:r>
              <a:rPr lang="de-DE"/>
              <a:t>Die Signale und Wünsche des Kindes geben Orientierung.</a:t>
            </a:r>
          </a:p>
        </p:txBody>
      </p:sp>
    </p:spTree>
  </p:cSld>
  <p:clrMapOvr>
    <a:masterClrMapping/>
  </p:clrMapOvr>
  <p:transition spd="fast" advClick="1">
    <p:fade/>
  </p:transition>
</p:sld>
</file>

<file path=ppt/slides/slide15.xml><?xml version="1.0" encoding="utf-8"?>
<p:sld xmlns:a="http://schemas.openxmlformats.org/drawingml/2006/main" xmlns:p="http://schemas.openxmlformats.org/presentationml/2006/main" xmlns:r="http://schemas.openxmlformats.org/officeDocument/2006/relationships" showMasterSp="0">
  <p:cSld>
    <p:bg>
      <p:bgPr>
        <a:solidFill>
          <a:srgbClr val="234B42"/>
        </a:solidFill>
        <a:effectLst/>
      </p:bgPr>
    </p:bg>
    <p:spTree>
      <p:nvGrpSpPr>
        <p:cNvPr id="1" name=""/>
        <p:cNvGrpSpPr/>
        <p:nvPr/>
      </p:nvGrpSpPr>
      <p:grpSpPr/>
      <p:cxnSp>
        <p:nvCxnSpPr>
          <p:cNvPr id="2" name="Connector 1"/>
          <p:cNvCxnSpPr/>
          <p:nvPr/>
        </p:nvCxnSpPr>
        <p:spPr>
          <a:xfrm>
            <a:off x="594360" y="6400800"/>
            <a:ext cx="11000232" cy="0"/>
          </a:xfrm>
          <a:prstGeom prst="line">
            <a:avLst/>
          </a:prstGeom>
          <a:ln w="6985">
            <a:solidFill>
              <a:srgbClr val="537568"/>
            </a:solidFill>
          </a:ln>
        </p:spPr>
        <p:style>
          <a:lnRef idx="2">
            <a:schemeClr val="accent1"/>
          </a:lnRef>
          <a:fillRef idx="0">
            <a:schemeClr val="accent1"/>
          </a:fillRef>
          <a:effectRef idx="1">
            <a:schemeClr val="accent1"/>
          </a:effectRef>
          <a:fontRef idx="minor">
            <a:schemeClr val="tx1"/>
          </a:fontRef>
        </p:style>
      </p:cxnSp>
      <p:sp>
        <p:nvSpPr>
          <p:cNvPr id="3" name="Text 2"/>
          <p:cNvSpPr txBox="1"/>
          <p:nvPr/>
        </p:nvSpPr>
        <p:spPr>
          <a:xfrm>
            <a:off x="594360" y="6528816"/>
            <a:ext cx="9692640" cy="176974"/>
          </a:xfrm>
          <a:prstGeom prst="rect">
            <a:avLst/>
          </a:prstGeom>
          <a:noFill/>
        </p:spPr>
        <p:txBody>
          <a:bodyPr wrap="none" lIns="0" rIns="0" tIns="0" bIns="0" anchor="t">
            <a:spAutoFit/>
          </a:bodyPr>
          <a:lstStyle/>
          <a:p>
            <a:pPr>
              <a:lnSpc>
                <a:spcPts val="997"/>
              </a:lnSpc>
              <a:spcBef>
                <a:spcPts val="0"/>
              </a:spcBef>
              <a:spcAft>
                <a:spcPts val="0"/>
              </a:spcAft>
              <a:defRPr sz="950" b="0">
                <a:solidFill>
                  <a:srgbClr val="A8BFA9"/>
                </a:solidFill>
                <a:latin typeface="Inter"/>
              </a:defRPr>
            </a:pPr>
            <a:r>
              <a:rPr lang="de-DE"/>
              <a:t>PRAXIS SCHNECKE / FORTBILDUNG · 02.11.2026</a:t>
            </a:r>
          </a:p>
        </p:txBody>
      </p:sp>
      <p:sp>
        <p:nvSpPr>
          <p:cNvPr id="4" name="Text 3"/>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A8BFA9"/>
                </a:solidFill>
                <a:latin typeface="Inter"/>
              </a:defRPr>
            </a:pPr>
            <a:r>
              <a:rPr lang="de-DE"/>
              <a:t>15</a:t>
            </a:r>
          </a:p>
        </p:txBody>
      </p:sp>
      <p:sp>
        <p:nvSpPr>
          <p:cNvPr id="5" name="Text 4"/>
          <p:cNvSpPr txBox="1"/>
          <p:nvPr/>
        </p:nvSpPr>
        <p:spPr>
          <a:xfrm>
            <a:off x="731520" y="512064"/>
            <a:ext cx="10515600" cy="230123"/>
          </a:xfrm>
          <a:prstGeom prst="rect">
            <a:avLst/>
          </a:prstGeom>
          <a:noFill/>
        </p:spPr>
        <p:txBody>
          <a:bodyPr wrap="none" lIns="0" rIns="0" tIns="0" bIns="0" anchor="t">
            <a:spAutoFit/>
          </a:bodyPr>
          <a:lstStyle/>
          <a:p>
            <a:pPr>
              <a:lnSpc>
                <a:spcPts val="1416"/>
              </a:lnSpc>
              <a:spcBef>
                <a:spcPts val="0"/>
              </a:spcBef>
              <a:spcAft>
                <a:spcPts val="0"/>
              </a:spcAft>
              <a:defRPr sz="1200" b="1">
                <a:solidFill>
                  <a:srgbClr val="A8BFA9"/>
                </a:solidFill>
                <a:latin typeface="Inter"/>
              </a:defRPr>
            </a:pPr>
            <a:r>
              <a:rPr lang="de-DE"/>
              <a:t>GEDANKE FÜR DIE PRAXIS</a:t>
            </a:r>
          </a:p>
        </p:txBody>
      </p:sp>
      <p:sp>
        <p:nvSpPr>
          <p:cNvPr id="6" name="Text 5"/>
          <p:cNvSpPr txBox="1"/>
          <p:nvPr/>
        </p:nvSpPr>
        <p:spPr>
          <a:xfrm>
            <a:off x="640080" y="1234440"/>
            <a:ext cx="1188720" cy="1698751"/>
          </a:xfrm>
          <a:prstGeom prst="rect">
            <a:avLst/>
          </a:prstGeom>
          <a:noFill/>
        </p:spPr>
        <p:txBody>
          <a:bodyPr wrap="none" lIns="0" rIns="0" tIns="0" bIns="0" anchor="t">
            <a:spAutoFit/>
          </a:bodyPr>
          <a:lstStyle/>
          <a:p>
            <a:pPr>
              <a:lnSpc>
                <a:spcPts val="12979"/>
              </a:lnSpc>
              <a:spcBef>
                <a:spcPts val="0"/>
              </a:spcBef>
              <a:spcAft>
                <a:spcPts val="0"/>
              </a:spcAft>
              <a:defRPr sz="11000" b="1">
                <a:solidFill>
                  <a:srgbClr val="D68B73"/>
                </a:solidFill>
                <a:latin typeface="Manrope"/>
              </a:defRPr>
            </a:pPr>
            <a:r>
              <a:rPr lang="de-DE"/>
              <a:t>„</a:t>
            </a:r>
          </a:p>
        </p:txBody>
      </p:sp>
      <p:sp>
        <p:nvSpPr>
          <p:cNvPr id="7" name="Text 6"/>
          <p:cNvSpPr txBox="1"/>
          <p:nvPr/>
        </p:nvSpPr>
        <p:spPr>
          <a:xfrm>
            <a:off x="1874519" y="1947672"/>
            <a:ext cx="9052560" cy="2743200"/>
          </a:xfrm>
          <a:prstGeom prst="rect">
            <a:avLst/>
          </a:prstGeom>
          <a:noFill/>
        </p:spPr>
        <p:txBody>
          <a:bodyPr wrap="none" lIns="0" rIns="0" tIns="0" bIns="0" anchor="t">
            <a:spAutoFit/>
          </a:bodyPr>
          <a:lstStyle/>
          <a:p>
            <a:pPr>
              <a:lnSpc>
                <a:spcPts val="4797"/>
              </a:lnSpc>
              <a:spcBef>
                <a:spcPts val="0"/>
              </a:spcBef>
              <a:spcAft>
                <a:spcPts val="0"/>
              </a:spcAft>
              <a:defRPr sz="4100" b="1">
                <a:solidFill>
                  <a:srgbClr val="F7F5EF"/>
                </a:solidFill>
                <a:latin typeface="Manrope"/>
              </a:defRPr>
            </a:pPr>
            <a:r>
              <a:rPr lang="de-DE"/>
              <a:t>Teilhabe bedeutet nicht, dass alle</a:t>
            </a:r>
          </a:p>
          <a:p>
            <a:pPr>
              <a:lnSpc>
                <a:spcPts val="4797"/>
              </a:lnSpc>
              <a:spcBef>
                <a:spcPts val="0"/>
              </a:spcBef>
              <a:spcAft>
                <a:spcPts val="0"/>
              </a:spcAft>
              <a:defRPr sz="4100" b="1">
                <a:solidFill>
                  <a:srgbClr val="F7F5EF"/>
                </a:solidFill>
                <a:latin typeface="Manrope"/>
              </a:defRPr>
            </a:pPr>
            <a:r>
              <a:rPr lang="de-DE"/>
              <a:t>Kinder dasselbe tun müssen.</a:t>
            </a:r>
          </a:p>
        </p:txBody>
      </p:sp>
      <p:cxnSp>
        <p:nvCxnSpPr>
          <p:cNvPr id="8" name="Connector 7"/>
          <p:cNvCxnSpPr/>
          <p:nvPr/>
        </p:nvCxnSpPr>
        <p:spPr>
          <a:xfrm>
            <a:off x="1901952" y="5504688"/>
            <a:ext cx="914400" cy="0"/>
          </a:xfrm>
          <a:prstGeom prst="line">
            <a:avLst/>
          </a:prstGeom>
          <a:ln w="38100">
            <a:solidFill>
              <a:srgbClr val="E5BD70"/>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fast" advClick="1">
    <p:fade/>
  </p:transition>
</p:sld>
</file>

<file path=ppt/slides/slide16.xml><?xml version="1.0" encoding="utf-8"?>
<p:sld xmlns:a="http://schemas.openxmlformats.org/drawingml/2006/main" xmlns:p="http://schemas.openxmlformats.org/presentationml/2006/main" xmlns:r="http://schemas.openxmlformats.org/officeDocument/2006/relationships" showMasterSp="1">
  <p:cSld>
    <p:bg>
      <p:bgPr>
        <a:solidFill>
          <a:srgbClr val="E5BD70"/>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16</a:t>
            </a:r>
          </a:p>
        </p:txBody>
      </p:sp>
      <p:sp>
        <p:nvSpPr>
          <p:cNvPr id="3" name="Rounded Rectangle 2"/>
          <p:cNvSpPr/>
          <p:nvPr/>
        </p:nvSpPr>
        <p:spPr>
          <a:xfrm>
            <a:off x="9646920" y="384048"/>
            <a:ext cx="1947672" cy="1280160"/>
          </a:xfrm>
          <a:prstGeom prst="roundRect">
            <a:avLst>
              <a:gd name="adj" fmla="val 6500"/>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3"/>
          <p:cNvSpPr txBox="1"/>
          <p:nvPr/>
        </p:nvSpPr>
        <p:spPr>
          <a:xfrm>
            <a:off x="9829800" y="493776"/>
            <a:ext cx="1572768" cy="634746"/>
          </a:xfrm>
          <a:prstGeom prst="rect">
            <a:avLst/>
          </a:prstGeom>
          <a:noFill/>
        </p:spPr>
        <p:txBody>
          <a:bodyPr wrap="none" lIns="0" rIns="0" tIns="0" bIns="0" anchor="t">
            <a:spAutoFit/>
          </a:bodyPr>
          <a:lstStyle/>
          <a:p>
            <a:pPr algn="ctr">
              <a:lnSpc>
                <a:spcPts val="4602"/>
              </a:lnSpc>
              <a:spcBef>
                <a:spcPts val="0"/>
              </a:spcBef>
              <a:spcAft>
                <a:spcPts val="0"/>
              </a:spcAft>
              <a:defRPr sz="3900" b="1">
                <a:solidFill>
                  <a:srgbClr val="F7F5EF"/>
                </a:solidFill>
                <a:latin typeface="Manrope"/>
              </a:defRPr>
            </a:pPr>
            <a:r>
              <a:rPr lang="de-DE"/>
              <a:t>8</a:t>
            </a:r>
          </a:p>
        </p:txBody>
      </p:sp>
      <p:sp>
        <p:nvSpPr>
          <p:cNvPr id="5" name="Text 4"/>
          <p:cNvSpPr txBox="1"/>
          <p:nvPr/>
        </p:nvSpPr>
        <p:spPr>
          <a:xfrm>
            <a:off x="9829800" y="1161288"/>
            <a:ext cx="1572768" cy="215137"/>
          </a:xfrm>
          <a:prstGeom prst="rect">
            <a:avLst/>
          </a:prstGeom>
          <a:noFill/>
        </p:spPr>
        <p:txBody>
          <a:bodyPr wrap="none" lIns="0" rIns="0" tIns="0" bIns="0" anchor="t">
            <a:spAutoFit/>
          </a:bodyPr>
          <a:lstStyle/>
          <a:p>
            <a:pPr algn="ctr">
              <a:lnSpc>
                <a:spcPts val="1297"/>
              </a:lnSpc>
              <a:spcBef>
                <a:spcPts val="0"/>
              </a:spcBef>
              <a:spcAft>
                <a:spcPts val="0"/>
              </a:spcAft>
              <a:defRPr sz="1100" b="1">
                <a:solidFill>
                  <a:srgbClr val="F7F5EF"/>
                </a:solidFill>
                <a:latin typeface="Inter"/>
              </a:defRPr>
            </a:pPr>
            <a:r>
              <a:rPr lang="de-DE"/>
              <a:t>MINUTEN</a:t>
            </a:r>
          </a:p>
        </p:txBody>
      </p:sp>
      <p:sp>
        <p:nvSpPr>
          <p:cNvPr id="6" name="Text 5"/>
          <p:cNvSpPr txBox="1"/>
          <p:nvPr/>
        </p:nvSpPr>
        <p:spPr>
          <a:xfrm>
            <a:off x="594360" y="393192"/>
            <a:ext cx="8686800" cy="222630"/>
          </a:xfrm>
          <a:prstGeom prst="rect">
            <a:avLst/>
          </a:prstGeom>
          <a:noFill/>
        </p:spPr>
        <p:txBody>
          <a:bodyPr wrap="none" lIns="0" rIns="0" tIns="0" bIns="0" anchor="t">
            <a:spAutoFit/>
          </a:bodyPr>
          <a:lstStyle/>
          <a:p>
            <a:pPr>
              <a:lnSpc>
                <a:spcPts val="1356"/>
              </a:lnSpc>
              <a:spcBef>
                <a:spcPts val="0"/>
              </a:spcBef>
              <a:spcAft>
                <a:spcPts val="0"/>
              </a:spcAft>
              <a:defRPr sz="1150" b="1">
                <a:solidFill>
                  <a:srgbClr val="234B42"/>
                </a:solidFill>
                <a:latin typeface="Inter"/>
              </a:defRPr>
            </a:pPr>
            <a:r>
              <a:rPr lang="de-DE"/>
              <a:t>ÜBUNG</a:t>
            </a:r>
          </a:p>
        </p:txBody>
      </p:sp>
      <p:sp>
        <p:nvSpPr>
          <p:cNvPr id="7" name="Text 6"/>
          <p:cNvSpPr txBox="1"/>
          <p:nvPr/>
        </p:nvSpPr>
        <p:spPr>
          <a:xfrm>
            <a:off x="594360" y="804672"/>
            <a:ext cx="8503920"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Mein Wahrnehmungsprofil</a:t>
            </a:r>
          </a:p>
        </p:txBody>
      </p:sp>
      <p:sp>
        <p:nvSpPr>
          <p:cNvPr id="8" name="Text 7"/>
          <p:cNvSpPr txBox="1"/>
          <p:nvPr/>
        </p:nvSpPr>
        <p:spPr>
          <a:xfrm>
            <a:off x="594360" y="1470659"/>
            <a:ext cx="8458200" cy="282574"/>
          </a:xfrm>
          <a:prstGeom prst="rect">
            <a:avLst/>
          </a:prstGeom>
          <a:noFill/>
        </p:spPr>
        <p:txBody>
          <a:bodyPr wrap="none" lIns="0" rIns="0" tIns="0" bIns="0" anchor="t">
            <a:spAutoFit/>
          </a:bodyPr>
          <a:lstStyle/>
          <a:p>
            <a:pPr>
              <a:lnSpc>
                <a:spcPts val="1829"/>
              </a:lnSpc>
              <a:spcBef>
                <a:spcPts val="0"/>
              </a:spcBef>
              <a:spcAft>
                <a:spcPts val="0"/>
              </a:spcAft>
              <a:defRPr sz="1550" b="1">
                <a:solidFill>
                  <a:srgbClr val="234B42"/>
                </a:solidFill>
                <a:latin typeface="Inter"/>
              </a:defRPr>
            </a:pPr>
            <a:r>
              <a:rPr lang="de-DE"/>
              <a:t>Einzelarbeit → Partnerarbeit → Plenum</a:t>
            </a:r>
          </a:p>
        </p:txBody>
      </p:sp>
      <p:sp>
        <p:nvSpPr>
          <p:cNvPr id="9" name="Rounded Rectangle 8"/>
          <p:cNvSpPr/>
          <p:nvPr/>
        </p:nvSpPr>
        <p:spPr>
          <a:xfrm>
            <a:off x="594360" y="1965960"/>
            <a:ext cx="3514344" cy="3474720"/>
          </a:xfrm>
          <a:prstGeom prst="roundRect">
            <a:avLst>
              <a:gd name="adj" fmla="val 6500"/>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9"/>
          <p:cNvSpPr txBox="1"/>
          <p:nvPr/>
        </p:nvSpPr>
        <p:spPr>
          <a:xfrm>
            <a:off x="868680" y="2231136"/>
            <a:ext cx="2965704" cy="342519"/>
          </a:xfrm>
          <a:prstGeom prst="rect">
            <a:avLst/>
          </a:prstGeom>
          <a:noFill/>
        </p:spPr>
        <p:txBody>
          <a:bodyPr wrap="none" lIns="0" rIns="0" tIns="0" bIns="0" anchor="t">
            <a:spAutoFit/>
          </a:bodyPr>
          <a:lstStyle/>
          <a:p>
            <a:pPr>
              <a:lnSpc>
                <a:spcPts val="2301"/>
              </a:lnSpc>
              <a:spcBef>
                <a:spcPts val="0"/>
              </a:spcBef>
              <a:spcAft>
                <a:spcPts val="0"/>
              </a:spcAft>
              <a:defRPr sz="1950" b="1">
                <a:solidFill>
                  <a:srgbClr val="234B42"/>
                </a:solidFill>
                <a:latin typeface="Manrope"/>
              </a:defRPr>
            </a:pPr>
            <a:r>
              <a:rPr lang="de-DE"/>
              <a:t>2 Minuten</a:t>
            </a:r>
          </a:p>
        </p:txBody>
      </p:sp>
      <p:sp>
        <p:nvSpPr>
          <p:cNvPr id="11" name="Text 10"/>
          <p:cNvSpPr txBox="1"/>
          <p:nvPr/>
        </p:nvSpPr>
        <p:spPr>
          <a:xfrm>
            <a:off x="868680" y="2783967"/>
            <a:ext cx="2965704" cy="2400681"/>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26332F"/>
                </a:solidFill>
                <a:latin typeface="Inter"/>
              </a:defRPr>
            </a:pPr>
            <a:r>
              <a:rPr lang="de-DE"/>
              <a:t>angenehme und</a:t>
            </a:r>
          </a:p>
          <a:p>
            <a:pPr>
              <a:lnSpc>
                <a:spcPts val="2713"/>
              </a:lnSpc>
              <a:spcBef>
                <a:spcPts val="0"/>
              </a:spcBef>
              <a:spcAft>
                <a:spcPts val="0"/>
              </a:spcAft>
              <a:defRPr sz="2300" b="0">
                <a:solidFill>
                  <a:srgbClr val="26332F"/>
                </a:solidFill>
                <a:latin typeface="Inter"/>
              </a:defRPr>
            </a:pPr>
            <a:r>
              <a:rPr lang="de-DE"/>
              <a:t>belastende Reize für</a:t>
            </a:r>
          </a:p>
          <a:p>
            <a:pPr>
              <a:lnSpc>
                <a:spcPts val="2713"/>
              </a:lnSpc>
              <a:spcBef>
                <a:spcPts val="0"/>
              </a:spcBef>
              <a:spcAft>
                <a:spcPts val="0"/>
              </a:spcAft>
              <a:defRPr sz="2300" b="0">
                <a:solidFill>
                  <a:srgbClr val="26332F"/>
                </a:solidFill>
                <a:latin typeface="Inter"/>
              </a:defRPr>
            </a:pPr>
            <a:r>
              <a:rPr lang="de-DE"/>
              <a:t>sich notieren</a:t>
            </a:r>
          </a:p>
        </p:txBody>
      </p:sp>
      <p:sp>
        <p:nvSpPr>
          <p:cNvPr id="12" name="Rounded Rectangle 11"/>
          <p:cNvSpPr/>
          <p:nvPr/>
        </p:nvSpPr>
        <p:spPr>
          <a:xfrm>
            <a:off x="4337304" y="1965960"/>
            <a:ext cx="3514344" cy="3474720"/>
          </a:xfrm>
          <a:prstGeom prst="roundRect">
            <a:avLst>
              <a:gd name="adj" fmla="val 6500"/>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12"/>
          <p:cNvSpPr txBox="1"/>
          <p:nvPr/>
        </p:nvSpPr>
        <p:spPr>
          <a:xfrm>
            <a:off x="4611624" y="2231136"/>
            <a:ext cx="2965704" cy="342519"/>
          </a:xfrm>
          <a:prstGeom prst="rect">
            <a:avLst/>
          </a:prstGeom>
          <a:noFill/>
        </p:spPr>
        <p:txBody>
          <a:bodyPr wrap="none" lIns="0" rIns="0" tIns="0" bIns="0" anchor="t">
            <a:spAutoFit/>
          </a:bodyPr>
          <a:lstStyle/>
          <a:p>
            <a:pPr>
              <a:lnSpc>
                <a:spcPts val="2301"/>
              </a:lnSpc>
              <a:spcBef>
                <a:spcPts val="0"/>
              </a:spcBef>
              <a:spcAft>
                <a:spcPts val="0"/>
              </a:spcAft>
              <a:defRPr sz="1950" b="1">
                <a:solidFill>
                  <a:srgbClr val="234B42"/>
                </a:solidFill>
                <a:latin typeface="Manrope"/>
              </a:defRPr>
            </a:pPr>
            <a:r>
              <a:rPr lang="de-DE"/>
              <a:t>3 Minuten · zu zweit</a:t>
            </a:r>
          </a:p>
        </p:txBody>
      </p:sp>
      <p:sp>
        <p:nvSpPr>
          <p:cNvPr id="14" name="Text 13"/>
          <p:cNvSpPr txBox="1"/>
          <p:nvPr/>
        </p:nvSpPr>
        <p:spPr>
          <a:xfrm>
            <a:off x="4611624" y="2783967"/>
            <a:ext cx="2965704" cy="2400681"/>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26332F"/>
                </a:solidFill>
                <a:latin typeface="Inter"/>
              </a:defRPr>
            </a:pPr>
            <a:r>
              <a:rPr lang="de-DE"/>
              <a:t>Unterschiede und</a:t>
            </a:r>
          </a:p>
          <a:p>
            <a:pPr>
              <a:lnSpc>
                <a:spcPts val="2713"/>
              </a:lnSpc>
              <a:spcBef>
                <a:spcPts val="0"/>
              </a:spcBef>
              <a:spcAft>
                <a:spcPts val="0"/>
              </a:spcAft>
              <a:defRPr sz="2300" b="0">
                <a:solidFill>
                  <a:srgbClr val="26332F"/>
                </a:solidFill>
                <a:latin typeface="Inter"/>
              </a:defRPr>
            </a:pPr>
            <a:r>
              <a:rPr lang="de-DE"/>
              <a:t>hilfreiche</a:t>
            </a:r>
          </a:p>
          <a:p>
            <a:pPr>
              <a:lnSpc>
                <a:spcPts val="2713"/>
              </a:lnSpc>
              <a:spcBef>
                <a:spcPts val="0"/>
              </a:spcBef>
              <a:spcAft>
                <a:spcPts val="0"/>
              </a:spcAft>
              <a:defRPr sz="2300" b="0">
                <a:solidFill>
                  <a:srgbClr val="26332F"/>
                </a:solidFill>
                <a:latin typeface="Inter"/>
              </a:defRPr>
            </a:pPr>
            <a:r>
              <a:rPr lang="de-DE"/>
              <a:t>Bedingungen</a:t>
            </a:r>
          </a:p>
          <a:p>
            <a:pPr>
              <a:lnSpc>
                <a:spcPts val="2713"/>
              </a:lnSpc>
              <a:spcBef>
                <a:spcPts val="0"/>
              </a:spcBef>
              <a:spcAft>
                <a:spcPts val="0"/>
              </a:spcAft>
              <a:defRPr sz="2300" b="0">
                <a:solidFill>
                  <a:srgbClr val="26332F"/>
                </a:solidFill>
                <a:latin typeface="Inter"/>
              </a:defRPr>
            </a:pPr>
            <a:r>
              <a:rPr lang="de-DE"/>
              <a:t>vergleichen</a:t>
            </a:r>
          </a:p>
        </p:txBody>
      </p:sp>
      <p:sp>
        <p:nvSpPr>
          <p:cNvPr id="15" name="Rounded Rectangle 14"/>
          <p:cNvSpPr/>
          <p:nvPr/>
        </p:nvSpPr>
        <p:spPr>
          <a:xfrm>
            <a:off x="8080248" y="1965960"/>
            <a:ext cx="3514344" cy="3474720"/>
          </a:xfrm>
          <a:prstGeom prst="roundRect">
            <a:avLst>
              <a:gd name="adj" fmla="val 6500"/>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15"/>
          <p:cNvSpPr txBox="1"/>
          <p:nvPr/>
        </p:nvSpPr>
        <p:spPr>
          <a:xfrm>
            <a:off x="8354568" y="2231136"/>
            <a:ext cx="2965704" cy="342519"/>
          </a:xfrm>
          <a:prstGeom prst="rect">
            <a:avLst/>
          </a:prstGeom>
          <a:noFill/>
        </p:spPr>
        <p:txBody>
          <a:bodyPr wrap="none" lIns="0" rIns="0" tIns="0" bIns="0" anchor="t">
            <a:spAutoFit/>
          </a:bodyPr>
          <a:lstStyle/>
          <a:p>
            <a:pPr>
              <a:lnSpc>
                <a:spcPts val="2301"/>
              </a:lnSpc>
              <a:spcBef>
                <a:spcPts val="0"/>
              </a:spcBef>
              <a:spcAft>
                <a:spcPts val="0"/>
              </a:spcAft>
              <a:defRPr sz="1950" b="1">
                <a:solidFill>
                  <a:srgbClr val="234B42"/>
                </a:solidFill>
                <a:latin typeface="Manrope"/>
              </a:defRPr>
            </a:pPr>
            <a:r>
              <a:rPr lang="de-DE"/>
              <a:t>3 Minuten · gemeinsam</a:t>
            </a:r>
          </a:p>
        </p:txBody>
      </p:sp>
      <p:sp>
        <p:nvSpPr>
          <p:cNvPr id="17" name="Text 16"/>
          <p:cNvSpPr txBox="1"/>
          <p:nvPr/>
        </p:nvSpPr>
        <p:spPr>
          <a:xfrm>
            <a:off x="8354568" y="2783967"/>
            <a:ext cx="2965704" cy="2400681"/>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26332F"/>
                </a:solidFill>
                <a:latin typeface="Inter"/>
              </a:defRPr>
            </a:pPr>
            <a:r>
              <a:rPr lang="de-DE"/>
              <a:t>Konsequenzen für die</a:t>
            </a:r>
          </a:p>
          <a:p>
            <a:pPr>
              <a:lnSpc>
                <a:spcPts val="2713"/>
              </a:lnSpc>
              <a:spcBef>
                <a:spcPts val="0"/>
              </a:spcBef>
              <a:spcAft>
                <a:spcPts val="0"/>
              </a:spcAft>
              <a:defRPr sz="2300" b="0">
                <a:solidFill>
                  <a:srgbClr val="26332F"/>
                </a:solidFill>
                <a:latin typeface="Inter"/>
              </a:defRPr>
            </a:pPr>
            <a:r>
              <a:rPr lang="de-DE"/>
              <a:t>Kita sammeln</a:t>
            </a:r>
          </a:p>
        </p:txBody>
      </p:sp>
      <p:cxnSp>
        <p:nvCxnSpPr>
          <p:cNvPr id="18" name="Connector 17"/>
          <p:cNvCxnSpPr/>
          <p:nvPr/>
        </p:nvCxnSpPr>
        <p:spPr>
          <a:xfrm>
            <a:off x="594360" y="5495544"/>
            <a:ext cx="502920" cy="0"/>
          </a:xfrm>
          <a:prstGeom prst="line">
            <a:avLst/>
          </a:prstGeom>
          <a:ln w="27940">
            <a:solidFill>
              <a:srgbClr val="D68B73"/>
            </a:solidFill>
          </a:ln>
        </p:spPr>
        <p:style>
          <a:lnRef idx="2">
            <a:schemeClr val="accent1"/>
          </a:lnRef>
          <a:fillRef idx="0">
            <a:schemeClr val="accent1"/>
          </a:fillRef>
          <a:effectRef idx="1">
            <a:schemeClr val="accent1"/>
          </a:effectRef>
          <a:fontRef idx="minor">
            <a:schemeClr val="tx1"/>
          </a:fontRef>
        </p:style>
      </p:cxnSp>
      <p:sp>
        <p:nvSpPr>
          <p:cNvPr id="19" name="Text 18"/>
          <p:cNvSpPr txBox="1"/>
          <p:nvPr/>
        </p:nvSpPr>
        <p:spPr>
          <a:xfrm>
            <a:off x="594360" y="5623560"/>
            <a:ext cx="10972800" cy="694944"/>
          </a:xfrm>
          <a:prstGeom prst="rect">
            <a:avLst/>
          </a:prstGeom>
          <a:noFill/>
        </p:spPr>
        <p:txBody>
          <a:bodyPr wrap="none" lIns="0" rIns="0" tIns="0" bIns="0" anchor="t">
            <a:spAutoFit/>
          </a:bodyPr>
          <a:lstStyle/>
          <a:p>
            <a:pPr>
              <a:lnSpc>
                <a:spcPts val="2419"/>
              </a:lnSpc>
              <a:spcBef>
                <a:spcPts val="0"/>
              </a:spcBef>
              <a:spcAft>
                <a:spcPts val="0"/>
              </a:spcAft>
              <a:defRPr sz="2050" b="1">
                <a:solidFill>
                  <a:srgbClr val="234B42"/>
                </a:solidFill>
                <a:latin typeface="Manrope"/>
              </a:defRPr>
            </a:pPr>
            <a:r>
              <a:rPr lang="de-DE"/>
              <a:t>Geräusche, Licht, Gerüche, Nähe und Veränderungen</a:t>
            </a:r>
          </a:p>
        </p:txBody>
      </p:sp>
    </p:spTree>
  </p:cSld>
  <p:clrMapOvr>
    <a:masterClrMapping/>
  </p:clrMapOvr>
  <p:transition spd="fast" advClick="1">
    <p:fade/>
  </p:transition>
</p:sld>
</file>

<file path=ppt/slides/slide17.xml><?xml version="1.0" encoding="utf-8"?>
<p:sld xmlns:a="http://schemas.openxmlformats.org/drawingml/2006/main" xmlns:p="http://schemas.openxmlformats.org/presentationml/2006/main" xmlns:r="http://schemas.openxmlformats.org/officeDocument/2006/relationships" showMasterSp="1">
  <p:cSld>
    <p:bg>
      <p:bgPr>
        <a:solidFill>
          <a:srgbClr val="F1DFD6"/>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17</a:t>
            </a:r>
          </a:p>
        </p:txBody>
      </p:sp>
      <p:sp>
        <p:nvSpPr>
          <p:cNvPr id="3" name="Text 2"/>
          <p:cNvSpPr txBox="1"/>
          <p:nvPr/>
        </p:nvSpPr>
        <p:spPr>
          <a:xfrm>
            <a:off x="594360" y="393192"/>
            <a:ext cx="8961120" cy="222630"/>
          </a:xfrm>
          <a:prstGeom prst="rect">
            <a:avLst/>
          </a:prstGeom>
          <a:noFill/>
        </p:spPr>
        <p:txBody>
          <a:bodyPr wrap="none" lIns="0" rIns="0" tIns="0" bIns="0" anchor="t">
            <a:spAutoFit/>
          </a:bodyPr>
          <a:lstStyle/>
          <a:p>
            <a:pPr>
              <a:lnSpc>
                <a:spcPts val="1356"/>
              </a:lnSpc>
              <a:spcBef>
                <a:spcPts val="0"/>
              </a:spcBef>
              <a:spcAft>
                <a:spcPts val="0"/>
              </a:spcAft>
              <a:defRPr sz="1150" b="1">
                <a:solidFill>
                  <a:srgbClr val="234B42"/>
                </a:solidFill>
                <a:latin typeface="Inter"/>
              </a:defRPr>
            </a:pPr>
            <a:r>
              <a:rPr lang="de-DE"/>
              <a:t>REFLEXION</a:t>
            </a:r>
          </a:p>
        </p:txBody>
      </p:sp>
      <p:sp>
        <p:nvSpPr>
          <p:cNvPr id="4" name="Text 3"/>
          <p:cNvSpPr txBox="1"/>
          <p:nvPr/>
        </p:nvSpPr>
        <p:spPr>
          <a:xfrm>
            <a:off x="594360" y="804672"/>
            <a:ext cx="10789920" cy="469900"/>
          </a:xfrm>
          <a:prstGeom prst="rect">
            <a:avLst/>
          </a:prstGeom>
          <a:noFill/>
        </p:spPr>
        <p:txBody>
          <a:bodyPr wrap="none" lIns="0" rIns="0" tIns="0" bIns="0" anchor="t">
            <a:spAutoFit/>
          </a:bodyPr>
          <a:lstStyle/>
          <a:p>
            <a:pPr>
              <a:lnSpc>
                <a:spcPts val="3304"/>
              </a:lnSpc>
              <a:spcBef>
                <a:spcPts val="0"/>
              </a:spcBef>
              <a:spcAft>
                <a:spcPts val="0"/>
              </a:spcAft>
              <a:defRPr sz="2800" b="1">
                <a:solidFill>
                  <a:srgbClr val="234B42"/>
                </a:solidFill>
                <a:latin typeface="Manrope"/>
              </a:defRPr>
            </a:pPr>
            <a:r>
              <a:rPr lang="de-DE"/>
              <a:t>Auswertung der Wahrnehmungsübung</a:t>
            </a:r>
          </a:p>
        </p:txBody>
      </p:sp>
      <p:sp>
        <p:nvSpPr>
          <p:cNvPr id="5" name="Text 4"/>
          <p:cNvSpPr txBox="1"/>
          <p:nvPr/>
        </p:nvSpPr>
        <p:spPr>
          <a:xfrm>
            <a:off x="658368" y="2048256"/>
            <a:ext cx="1828800" cy="1129284"/>
          </a:xfrm>
          <a:prstGeom prst="rect">
            <a:avLst/>
          </a:prstGeom>
          <a:noFill/>
        </p:spPr>
        <p:txBody>
          <a:bodyPr wrap="none" lIns="0" rIns="0" tIns="0" bIns="0" anchor="t">
            <a:spAutoFit/>
          </a:bodyPr>
          <a:lstStyle/>
          <a:p>
            <a:pPr>
              <a:lnSpc>
                <a:spcPts val="8496"/>
              </a:lnSpc>
              <a:spcBef>
                <a:spcPts val="0"/>
              </a:spcBef>
              <a:spcAft>
                <a:spcPts val="0"/>
              </a:spcAft>
              <a:defRPr sz="7200" b="1">
                <a:solidFill>
                  <a:srgbClr val="D68B73"/>
                </a:solidFill>
                <a:latin typeface="Manrope"/>
              </a:defRPr>
            </a:pPr>
            <a:r>
              <a:rPr lang="de-DE"/>
              <a:t>01</a:t>
            </a:r>
          </a:p>
        </p:txBody>
      </p:sp>
      <p:sp>
        <p:nvSpPr>
          <p:cNvPr id="6" name="Text 5"/>
          <p:cNvSpPr txBox="1"/>
          <p:nvPr/>
        </p:nvSpPr>
        <p:spPr>
          <a:xfrm>
            <a:off x="2788920" y="2084831"/>
            <a:ext cx="8412480" cy="2606040"/>
          </a:xfrm>
          <a:prstGeom prst="rect">
            <a:avLst/>
          </a:prstGeom>
          <a:noFill/>
        </p:spPr>
        <p:txBody>
          <a:bodyPr wrap="none" lIns="0" rIns="0" tIns="0" bIns="0" anchor="t">
            <a:spAutoFit/>
          </a:bodyPr>
          <a:lstStyle/>
          <a:p>
            <a:pPr>
              <a:lnSpc>
                <a:spcPts val="4025"/>
              </a:lnSpc>
              <a:spcBef>
                <a:spcPts val="0"/>
              </a:spcBef>
              <a:spcAft>
                <a:spcPts val="0"/>
              </a:spcAft>
              <a:defRPr sz="3500" b="1">
                <a:solidFill>
                  <a:srgbClr val="234B42"/>
                </a:solidFill>
                <a:latin typeface="Manrope"/>
              </a:defRPr>
            </a:pPr>
            <a:r>
              <a:rPr lang="de-DE"/>
              <a:t>Welche Unterschiede gab es im selben</a:t>
            </a:r>
          </a:p>
          <a:p>
            <a:pPr>
              <a:lnSpc>
                <a:spcPts val="4025"/>
              </a:lnSpc>
              <a:spcBef>
                <a:spcPts val="0"/>
              </a:spcBef>
              <a:spcAft>
                <a:spcPts val="0"/>
              </a:spcAft>
              <a:defRPr sz="3500" b="1">
                <a:solidFill>
                  <a:srgbClr val="234B42"/>
                </a:solidFill>
                <a:latin typeface="Manrope"/>
              </a:defRPr>
            </a:pPr>
            <a:r>
              <a:rPr lang="de-DE"/>
              <a:t>Raum?</a:t>
            </a:r>
          </a:p>
        </p:txBody>
      </p:sp>
      <p:sp>
        <p:nvSpPr>
          <p:cNvPr id="7" name="Rectangle 6"/>
          <p:cNvSpPr/>
          <p:nvPr/>
        </p:nvSpPr>
        <p:spPr>
          <a:xfrm>
            <a:off x="2816352" y="5120640"/>
            <a:ext cx="539496" cy="64008"/>
          </a:xfrm>
          <a:prstGeom prst="rect">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547872" y="5120640"/>
            <a:ext cx="539496" cy="64008"/>
          </a:xfrm>
          <a:prstGeom prst="rect">
            <a:avLst/>
          </a:prstGeom>
          <a:solidFill>
            <a:srgbClr val="D68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79392" y="5120640"/>
            <a:ext cx="539496" cy="64008"/>
          </a:xfrm>
          <a:prstGeom prst="rect">
            <a:avLst/>
          </a:prstGeom>
          <a:solidFill>
            <a:srgbClr val="D68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10912" y="5120640"/>
            <a:ext cx="539496" cy="64008"/>
          </a:xfrm>
          <a:prstGeom prst="rect">
            <a:avLst/>
          </a:prstGeom>
          <a:solidFill>
            <a:srgbClr val="D68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10"/>
          <p:cNvSpPr txBox="1"/>
          <p:nvPr/>
        </p:nvSpPr>
        <p:spPr>
          <a:xfrm>
            <a:off x="2788920" y="5449824"/>
            <a:ext cx="7040880" cy="230123"/>
          </a:xfrm>
          <a:prstGeom prst="rect">
            <a:avLst/>
          </a:prstGeom>
          <a:noFill/>
        </p:spPr>
        <p:txBody>
          <a:bodyPr wrap="none" lIns="0" rIns="0" tIns="0" bIns="0" anchor="t">
            <a:spAutoFit/>
          </a:bodyPr>
          <a:lstStyle/>
          <a:p>
            <a:pPr>
              <a:lnSpc>
                <a:spcPts val="1416"/>
              </a:lnSpc>
              <a:spcBef>
                <a:spcPts val="0"/>
              </a:spcBef>
              <a:spcAft>
                <a:spcPts val="0"/>
              </a:spcAft>
              <a:defRPr sz="1200" b="1">
                <a:solidFill>
                  <a:srgbClr val="234B42"/>
                </a:solidFill>
                <a:latin typeface="Inter"/>
              </a:defRPr>
            </a:pPr>
            <a:r>
              <a:rPr lang="de-DE"/>
              <a:t>FRAGE 1 VON 4</a:t>
            </a:r>
          </a:p>
        </p:txBody>
      </p:sp>
    </p:spTree>
  </p:cSld>
  <p:clrMapOvr>
    <a:masterClrMapping/>
  </p:clrMapOvr>
  <p:transition spd="fast" advClick="1">
    <p:fade/>
  </p:transition>
</p:sld>
</file>

<file path=ppt/slides/slide18.xml><?xml version="1.0" encoding="utf-8"?>
<p:sld xmlns:a="http://schemas.openxmlformats.org/drawingml/2006/main" xmlns:p="http://schemas.openxmlformats.org/presentationml/2006/main" xmlns:r="http://schemas.openxmlformats.org/officeDocument/2006/relationships" showMasterSp="1">
  <p:cSld>
    <p:bg>
      <p:bgPr>
        <a:solidFill>
          <a:srgbClr val="F1DFD6"/>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18</a:t>
            </a:r>
          </a:p>
        </p:txBody>
      </p:sp>
      <p:sp>
        <p:nvSpPr>
          <p:cNvPr id="3" name="Text 2"/>
          <p:cNvSpPr txBox="1"/>
          <p:nvPr/>
        </p:nvSpPr>
        <p:spPr>
          <a:xfrm>
            <a:off x="594360" y="393192"/>
            <a:ext cx="8961120" cy="222630"/>
          </a:xfrm>
          <a:prstGeom prst="rect">
            <a:avLst/>
          </a:prstGeom>
          <a:noFill/>
        </p:spPr>
        <p:txBody>
          <a:bodyPr wrap="none" lIns="0" rIns="0" tIns="0" bIns="0" anchor="t">
            <a:spAutoFit/>
          </a:bodyPr>
          <a:lstStyle/>
          <a:p>
            <a:pPr>
              <a:lnSpc>
                <a:spcPts val="1356"/>
              </a:lnSpc>
              <a:spcBef>
                <a:spcPts val="0"/>
              </a:spcBef>
              <a:spcAft>
                <a:spcPts val="0"/>
              </a:spcAft>
              <a:defRPr sz="1150" b="1">
                <a:solidFill>
                  <a:srgbClr val="234B42"/>
                </a:solidFill>
                <a:latin typeface="Inter"/>
              </a:defRPr>
            </a:pPr>
            <a:r>
              <a:rPr lang="de-DE"/>
              <a:t>REFLEXION</a:t>
            </a:r>
          </a:p>
        </p:txBody>
      </p:sp>
      <p:sp>
        <p:nvSpPr>
          <p:cNvPr id="4" name="Text 3"/>
          <p:cNvSpPr txBox="1"/>
          <p:nvPr/>
        </p:nvSpPr>
        <p:spPr>
          <a:xfrm>
            <a:off x="594360" y="804672"/>
            <a:ext cx="10789920" cy="469900"/>
          </a:xfrm>
          <a:prstGeom prst="rect">
            <a:avLst/>
          </a:prstGeom>
          <a:noFill/>
        </p:spPr>
        <p:txBody>
          <a:bodyPr wrap="none" lIns="0" rIns="0" tIns="0" bIns="0" anchor="t">
            <a:spAutoFit/>
          </a:bodyPr>
          <a:lstStyle/>
          <a:p>
            <a:pPr>
              <a:lnSpc>
                <a:spcPts val="3304"/>
              </a:lnSpc>
              <a:spcBef>
                <a:spcPts val="0"/>
              </a:spcBef>
              <a:spcAft>
                <a:spcPts val="0"/>
              </a:spcAft>
              <a:defRPr sz="2800" b="1">
                <a:solidFill>
                  <a:srgbClr val="234B42"/>
                </a:solidFill>
                <a:latin typeface="Manrope"/>
              </a:defRPr>
            </a:pPr>
            <a:r>
              <a:rPr lang="de-DE"/>
              <a:t>Auswertung der Wahrnehmungsübung</a:t>
            </a:r>
          </a:p>
        </p:txBody>
      </p:sp>
      <p:sp>
        <p:nvSpPr>
          <p:cNvPr id="5" name="Text 4"/>
          <p:cNvSpPr txBox="1"/>
          <p:nvPr/>
        </p:nvSpPr>
        <p:spPr>
          <a:xfrm>
            <a:off x="658368" y="2048256"/>
            <a:ext cx="1828800" cy="1129284"/>
          </a:xfrm>
          <a:prstGeom prst="rect">
            <a:avLst/>
          </a:prstGeom>
          <a:noFill/>
        </p:spPr>
        <p:txBody>
          <a:bodyPr wrap="none" lIns="0" rIns="0" tIns="0" bIns="0" anchor="t">
            <a:spAutoFit/>
          </a:bodyPr>
          <a:lstStyle/>
          <a:p>
            <a:pPr>
              <a:lnSpc>
                <a:spcPts val="8496"/>
              </a:lnSpc>
              <a:spcBef>
                <a:spcPts val="0"/>
              </a:spcBef>
              <a:spcAft>
                <a:spcPts val="0"/>
              </a:spcAft>
              <a:defRPr sz="7200" b="1">
                <a:solidFill>
                  <a:srgbClr val="D68B73"/>
                </a:solidFill>
                <a:latin typeface="Manrope"/>
              </a:defRPr>
            </a:pPr>
            <a:r>
              <a:rPr lang="de-DE"/>
              <a:t>02</a:t>
            </a:r>
          </a:p>
        </p:txBody>
      </p:sp>
      <p:sp>
        <p:nvSpPr>
          <p:cNvPr id="6" name="Text 5"/>
          <p:cNvSpPr txBox="1"/>
          <p:nvPr/>
        </p:nvSpPr>
        <p:spPr>
          <a:xfrm>
            <a:off x="2788920" y="2084831"/>
            <a:ext cx="8412480" cy="2606040"/>
          </a:xfrm>
          <a:prstGeom prst="rect">
            <a:avLst/>
          </a:prstGeom>
          <a:noFill/>
        </p:spPr>
        <p:txBody>
          <a:bodyPr wrap="none" lIns="0" rIns="0" tIns="0" bIns="0" anchor="t">
            <a:spAutoFit/>
          </a:bodyPr>
          <a:lstStyle/>
          <a:p>
            <a:pPr>
              <a:lnSpc>
                <a:spcPts val="4025"/>
              </a:lnSpc>
              <a:spcBef>
                <a:spcPts val="0"/>
              </a:spcBef>
              <a:spcAft>
                <a:spcPts val="0"/>
              </a:spcAft>
              <a:defRPr sz="3500" b="1">
                <a:solidFill>
                  <a:srgbClr val="234B42"/>
                </a:solidFill>
                <a:latin typeface="Manrope"/>
              </a:defRPr>
            </a:pPr>
            <a:r>
              <a:rPr lang="de-DE"/>
              <a:t>Was hat mir Konzentration oder</a:t>
            </a:r>
          </a:p>
          <a:p>
            <a:pPr>
              <a:lnSpc>
                <a:spcPts val="4025"/>
              </a:lnSpc>
              <a:spcBef>
                <a:spcPts val="0"/>
              </a:spcBef>
              <a:spcAft>
                <a:spcPts val="0"/>
              </a:spcAft>
              <a:defRPr sz="3500" b="1">
                <a:solidFill>
                  <a:srgbClr val="234B42"/>
                </a:solidFill>
                <a:latin typeface="Manrope"/>
              </a:defRPr>
            </a:pPr>
            <a:r>
              <a:rPr lang="de-DE"/>
              <a:t>Entlastung ermöglicht?</a:t>
            </a:r>
          </a:p>
        </p:txBody>
      </p:sp>
      <p:sp>
        <p:nvSpPr>
          <p:cNvPr id="7" name="Rectangle 6"/>
          <p:cNvSpPr/>
          <p:nvPr/>
        </p:nvSpPr>
        <p:spPr>
          <a:xfrm>
            <a:off x="2816352" y="5120640"/>
            <a:ext cx="539496" cy="64008"/>
          </a:xfrm>
          <a:prstGeom prst="rect">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547872" y="5120640"/>
            <a:ext cx="539496" cy="64008"/>
          </a:xfrm>
          <a:prstGeom prst="rect">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79392" y="5120640"/>
            <a:ext cx="539496" cy="64008"/>
          </a:xfrm>
          <a:prstGeom prst="rect">
            <a:avLst/>
          </a:prstGeom>
          <a:solidFill>
            <a:srgbClr val="D68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10912" y="5120640"/>
            <a:ext cx="539496" cy="64008"/>
          </a:xfrm>
          <a:prstGeom prst="rect">
            <a:avLst/>
          </a:prstGeom>
          <a:solidFill>
            <a:srgbClr val="D68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10"/>
          <p:cNvSpPr txBox="1"/>
          <p:nvPr/>
        </p:nvSpPr>
        <p:spPr>
          <a:xfrm>
            <a:off x="2788920" y="5449824"/>
            <a:ext cx="7040880" cy="230123"/>
          </a:xfrm>
          <a:prstGeom prst="rect">
            <a:avLst/>
          </a:prstGeom>
          <a:noFill/>
        </p:spPr>
        <p:txBody>
          <a:bodyPr wrap="none" lIns="0" rIns="0" tIns="0" bIns="0" anchor="t">
            <a:spAutoFit/>
          </a:bodyPr>
          <a:lstStyle/>
          <a:p>
            <a:pPr>
              <a:lnSpc>
                <a:spcPts val="1416"/>
              </a:lnSpc>
              <a:spcBef>
                <a:spcPts val="0"/>
              </a:spcBef>
              <a:spcAft>
                <a:spcPts val="0"/>
              </a:spcAft>
              <a:defRPr sz="1200" b="1">
                <a:solidFill>
                  <a:srgbClr val="234B42"/>
                </a:solidFill>
                <a:latin typeface="Inter"/>
              </a:defRPr>
            </a:pPr>
            <a:r>
              <a:rPr lang="de-DE"/>
              <a:t>FRAGE 2 VON 4</a:t>
            </a:r>
          </a:p>
        </p:txBody>
      </p:sp>
    </p:spTree>
  </p:cSld>
  <p:clrMapOvr>
    <a:masterClrMapping/>
  </p:clrMapOvr>
  <p:transition spd="fast" advClick="1">
    <p:fade/>
  </p:transition>
</p:sld>
</file>

<file path=ppt/slides/slide19.xml><?xml version="1.0" encoding="utf-8"?>
<p:sld xmlns:a="http://schemas.openxmlformats.org/drawingml/2006/main" xmlns:p="http://schemas.openxmlformats.org/presentationml/2006/main" xmlns:r="http://schemas.openxmlformats.org/officeDocument/2006/relationships" showMasterSp="1">
  <p:cSld>
    <p:bg>
      <p:bgPr>
        <a:solidFill>
          <a:srgbClr val="F1DFD6"/>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19</a:t>
            </a:r>
          </a:p>
        </p:txBody>
      </p:sp>
      <p:sp>
        <p:nvSpPr>
          <p:cNvPr id="3" name="Text 2"/>
          <p:cNvSpPr txBox="1"/>
          <p:nvPr/>
        </p:nvSpPr>
        <p:spPr>
          <a:xfrm>
            <a:off x="594360" y="393192"/>
            <a:ext cx="8961120" cy="222630"/>
          </a:xfrm>
          <a:prstGeom prst="rect">
            <a:avLst/>
          </a:prstGeom>
          <a:noFill/>
        </p:spPr>
        <p:txBody>
          <a:bodyPr wrap="none" lIns="0" rIns="0" tIns="0" bIns="0" anchor="t">
            <a:spAutoFit/>
          </a:bodyPr>
          <a:lstStyle/>
          <a:p>
            <a:pPr>
              <a:lnSpc>
                <a:spcPts val="1356"/>
              </a:lnSpc>
              <a:spcBef>
                <a:spcPts val="0"/>
              </a:spcBef>
              <a:spcAft>
                <a:spcPts val="0"/>
              </a:spcAft>
              <a:defRPr sz="1150" b="1">
                <a:solidFill>
                  <a:srgbClr val="234B42"/>
                </a:solidFill>
                <a:latin typeface="Inter"/>
              </a:defRPr>
            </a:pPr>
            <a:r>
              <a:rPr lang="de-DE"/>
              <a:t>REFLEXION</a:t>
            </a:r>
          </a:p>
        </p:txBody>
      </p:sp>
      <p:sp>
        <p:nvSpPr>
          <p:cNvPr id="4" name="Text 3"/>
          <p:cNvSpPr txBox="1"/>
          <p:nvPr/>
        </p:nvSpPr>
        <p:spPr>
          <a:xfrm>
            <a:off x="594360" y="804672"/>
            <a:ext cx="10789920" cy="469900"/>
          </a:xfrm>
          <a:prstGeom prst="rect">
            <a:avLst/>
          </a:prstGeom>
          <a:noFill/>
        </p:spPr>
        <p:txBody>
          <a:bodyPr wrap="none" lIns="0" rIns="0" tIns="0" bIns="0" anchor="t">
            <a:spAutoFit/>
          </a:bodyPr>
          <a:lstStyle/>
          <a:p>
            <a:pPr>
              <a:lnSpc>
                <a:spcPts val="3304"/>
              </a:lnSpc>
              <a:spcBef>
                <a:spcPts val="0"/>
              </a:spcBef>
              <a:spcAft>
                <a:spcPts val="0"/>
              </a:spcAft>
              <a:defRPr sz="2800" b="1">
                <a:solidFill>
                  <a:srgbClr val="234B42"/>
                </a:solidFill>
                <a:latin typeface="Manrope"/>
              </a:defRPr>
            </a:pPr>
            <a:r>
              <a:rPr lang="de-DE"/>
              <a:t>Auswertung der Wahrnehmungsübung</a:t>
            </a:r>
          </a:p>
        </p:txBody>
      </p:sp>
      <p:sp>
        <p:nvSpPr>
          <p:cNvPr id="5" name="Text 4"/>
          <p:cNvSpPr txBox="1"/>
          <p:nvPr/>
        </p:nvSpPr>
        <p:spPr>
          <a:xfrm>
            <a:off x="658368" y="2048256"/>
            <a:ext cx="1828800" cy="1129284"/>
          </a:xfrm>
          <a:prstGeom prst="rect">
            <a:avLst/>
          </a:prstGeom>
          <a:noFill/>
        </p:spPr>
        <p:txBody>
          <a:bodyPr wrap="none" lIns="0" rIns="0" tIns="0" bIns="0" anchor="t">
            <a:spAutoFit/>
          </a:bodyPr>
          <a:lstStyle/>
          <a:p>
            <a:pPr>
              <a:lnSpc>
                <a:spcPts val="8496"/>
              </a:lnSpc>
              <a:spcBef>
                <a:spcPts val="0"/>
              </a:spcBef>
              <a:spcAft>
                <a:spcPts val="0"/>
              </a:spcAft>
              <a:defRPr sz="7200" b="1">
                <a:solidFill>
                  <a:srgbClr val="D68B73"/>
                </a:solidFill>
                <a:latin typeface="Manrope"/>
              </a:defRPr>
            </a:pPr>
            <a:r>
              <a:rPr lang="de-DE"/>
              <a:t>03</a:t>
            </a:r>
          </a:p>
        </p:txBody>
      </p:sp>
      <p:sp>
        <p:nvSpPr>
          <p:cNvPr id="6" name="Text 5"/>
          <p:cNvSpPr txBox="1"/>
          <p:nvPr/>
        </p:nvSpPr>
        <p:spPr>
          <a:xfrm>
            <a:off x="2788920" y="2084831"/>
            <a:ext cx="8412480" cy="2606040"/>
          </a:xfrm>
          <a:prstGeom prst="rect">
            <a:avLst/>
          </a:prstGeom>
          <a:noFill/>
        </p:spPr>
        <p:txBody>
          <a:bodyPr wrap="none" lIns="0" rIns="0" tIns="0" bIns="0" anchor="t">
            <a:spAutoFit/>
          </a:bodyPr>
          <a:lstStyle/>
          <a:p>
            <a:pPr>
              <a:lnSpc>
                <a:spcPts val="4025"/>
              </a:lnSpc>
              <a:spcBef>
                <a:spcPts val="0"/>
              </a:spcBef>
              <a:spcAft>
                <a:spcPts val="0"/>
              </a:spcAft>
              <a:defRPr sz="3500" b="1">
                <a:solidFill>
                  <a:srgbClr val="234B42"/>
                </a:solidFill>
                <a:latin typeface="Manrope"/>
              </a:defRPr>
            </a:pPr>
            <a:r>
              <a:rPr lang="de-DE"/>
              <a:t>Welche Wahlmöglichkeiten könnten</a:t>
            </a:r>
          </a:p>
          <a:p>
            <a:pPr>
              <a:lnSpc>
                <a:spcPts val="4025"/>
              </a:lnSpc>
              <a:spcBef>
                <a:spcPts val="0"/>
              </a:spcBef>
              <a:spcAft>
                <a:spcPts val="0"/>
              </a:spcAft>
              <a:defRPr sz="3500" b="1">
                <a:solidFill>
                  <a:srgbClr val="234B42"/>
                </a:solidFill>
                <a:latin typeface="Manrope"/>
              </a:defRPr>
            </a:pPr>
            <a:r>
              <a:rPr lang="de-DE"/>
              <a:t>Kinder brauchen?</a:t>
            </a:r>
          </a:p>
        </p:txBody>
      </p:sp>
      <p:sp>
        <p:nvSpPr>
          <p:cNvPr id="7" name="Rectangle 6"/>
          <p:cNvSpPr/>
          <p:nvPr/>
        </p:nvSpPr>
        <p:spPr>
          <a:xfrm>
            <a:off x="2816352" y="5120640"/>
            <a:ext cx="539496" cy="64008"/>
          </a:xfrm>
          <a:prstGeom prst="rect">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547872" y="5120640"/>
            <a:ext cx="539496" cy="64008"/>
          </a:xfrm>
          <a:prstGeom prst="rect">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79392" y="5120640"/>
            <a:ext cx="539496" cy="64008"/>
          </a:xfrm>
          <a:prstGeom prst="rect">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10912" y="5120640"/>
            <a:ext cx="539496" cy="64008"/>
          </a:xfrm>
          <a:prstGeom prst="rect">
            <a:avLst/>
          </a:prstGeom>
          <a:solidFill>
            <a:srgbClr val="D68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10"/>
          <p:cNvSpPr txBox="1"/>
          <p:nvPr/>
        </p:nvSpPr>
        <p:spPr>
          <a:xfrm>
            <a:off x="2788920" y="5449824"/>
            <a:ext cx="7040880" cy="230123"/>
          </a:xfrm>
          <a:prstGeom prst="rect">
            <a:avLst/>
          </a:prstGeom>
          <a:noFill/>
        </p:spPr>
        <p:txBody>
          <a:bodyPr wrap="none" lIns="0" rIns="0" tIns="0" bIns="0" anchor="t">
            <a:spAutoFit/>
          </a:bodyPr>
          <a:lstStyle/>
          <a:p>
            <a:pPr>
              <a:lnSpc>
                <a:spcPts val="1416"/>
              </a:lnSpc>
              <a:spcBef>
                <a:spcPts val="0"/>
              </a:spcBef>
              <a:spcAft>
                <a:spcPts val="0"/>
              </a:spcAft>
              <a:defRPr sz="1200" b="1">
                <a:solidFill>
                  <a:srgbClr val="234B42"/>
                </a:solidFill>
                <a:latin typeface="Inter"/>
              </a:defRPr>
            </a:pPr>
            <a:r>
              <a:rPr lang="de-DE"/>
              <a:t>FRAGE 3 VON 4</a:t>
            </a:r>
          </a:p>
        </p:txBody>
      </p:sp>
    </p:spTree>
  </p:cSld>
  <p:clrMapOvr>
    <a:masterClrMapping/>
  </p:clrMapOvr>
  <p:transition spd="fast" advClick="1">
    <p:fade/>
  </p:transition>
</p:sld>
</file>

<file path=ppt/slides/slide20.xml><?xml version="1.0" encoding="utf-8"?>
<p:sld xmlns:a="http://schemas.openxmlformats.org/drawingml/2006/main" xmlns:p="http://schemas.openxmlformats.org/presentationml/2006/main" xmlns:r="http://schemas.openxmlformats.org/officeDocument/2006/relationships" showMasterSp="1">
  <p:cSld>
    <p:bg>
      <p:bgPr>
        <a:solidFill>
          <a:srgbClr val="F1DFD6"/>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20</a:t>
            </a:r>
          </a:p>
        </p:txBody>
      </p:sp>
      <p:sp>
        <p:nvSpPr>
          <p:cNvPr id="3" name="Text 2"/>
          <p:cNvSpPr txBox="1"/>
          <p:nvPr/>
        </p:nvSpPr>
        <p:spPr>
          <a:xfrm>
            <a:off x="594360" y="393192"/>
            <a:ext cx="8961120" cy="222630"/>
          </a:xfrm>
          <a:prstGeom prst="rect">
            <a:avLst/>
          </a:prstGeom>
          <a:noFill/>
        </p:spPr>
        <p:txBody>
          <a:bodyPr wrap="none" lIns="0" rIns="0" tIns="0" bIns="0" anchor="t">
            <a:spAutoFit/>
          </a:bodyPr>
          <a:lstStyle/>
          <a:p>
            <a:pPr>
              <a:lnSpc>
                <a:spcPts val="1356"/>
              </a:lnSpc>
              <a:spcBef>
                <a:spcPts val="0"/>
              </a:spcBef>
              <a:spcAft>
                <a:spcPts val="0"/>
              </a:spcAft>
              <a:defRPr sz="1150" b="1">
                <a:solidFill>
                  <a:srgbClr val="234B42"/>
                </a:solidFill>
                <a:latin typeface="Inter"/>
              </a:defRPr>
            </a:pPr>
            <a:r>
              <a:rPr lang="de-DE"/>
              <a:t>REFLEXION</a:t>
            </a:r>
          </a:p>
        </p:txBody>
      </p:sp>
      <p:sp>
        <p:nvSpPr>
          <p:cNvPr id="4" name="Text 3"/>
          <p:cNvSpPr txBox="1"/>
          <p:nvPr/>
        </p:nvSpPr>
        <p:spPr>
          <a:xfrm>
            <a:off x="594360" y="804672"/>
            <a:ext cx="10789920" cy="469900"/>
          </a:xfrm>
          <a:prstGeom prst="rect">
            <a:avLst/>
          </a:prstGeom>
          <a:noFill/>
        </p:spPr>
        <p:txBody>
          <a:bodyPr wrap="none" lIns="0" rIns="0" tIns="0" bIns="0" anchor="t">
            <a:spAutoFit/>
          </a:bodyPr>
          <a:lstStyle/>
          <a:p>
            <a:pPr>
              <a:lnSpc>
                <a:spcPts val="3304"/>
              </a:lnSpc>
              <a:spcBef>
                <a:spcPts val="0"/>
              </a:spcBef>
              <a:spcAft>
                <a:spcPts val="0"/>
              </a:spcAft>
              <a:defRPr sz="2800" b="1">
                <a:solidFill>
                  <a:srgbClr val="234B42"/>
                </a:solidFill>
                <a:latin typeface="Manrope"/>
              </a:defRPr>
            </a:pPr>
            <a:r>
              <a:rPr lang="de-DE"/>
              <a:t>Auswertung der Wahrnehmungsübung</a:t>
            </a:r>
          </a:p>
        </p:txBody>
      </p:sp>
      <p:sp>
        <p:nvSpPr>
          <p:cNvPr id="5" name="Text 4"/>
          <p:cNvSpPr txBox="1"/>
          <p:nvPr/>
        </p:nvSpPr>
        <p:spPr>
          <a:xfrm>
            <a:off x="658368" y="2048256"/>
            <a:ext cx="1828800" cy="1129284"/>
          </a:xfrm>
          <a:prstGeom prst="rect">
            <a:avLst/>
          </a:prstGeom>
          <a:noFill/>
        </p:spPr>
        <p:txBody>
          <a:bodyPr wrap="none" lIns="0" rIns="0" tIns="0" bIns="0" anchor="t">
            <a:spAutoFit/>
          </a:bodyPr>
          <a:lstStyle/>
          <a:p>
            <a:pPr>
              <a:lnSpc>
                <a:spcPts val="8496"/>
              </a:lnSpc>
              <a:spcBef>
                <a:spcPts val="0"/>
              </a:spcBef>
              <a:spcAft>
                <a:spcPts val="0"/>
              </a:spcAft>
              <a:defRPr sz="7200" b="1">
                <a:solidFill>
                  <a:srgbClr val="D68B73"/>
                </a:solidFill>
                <a:latin typeface="Manrope"/>
              </a:defRPr>
            </a:pPr>
            <a:r>
              <a:rPr lang="de-DE"/>
              <a:t>04</a:t>
            </a:r>
          </a:p>
        </p:txBody>
      </p:sp>
      <p:sp>
        <p:nvSpPr>
          <p:cNvPr id="6" name="Text 5"/>
          <p:cNvSpPr txBox="1"/>
          <p:nvPr/>
        </p:nvSpPr>
        <p:spPr>
          <a:xfrm>
            <a:off x="2788920" y="2084831"/>
            <a:ext cx="8412480" cy="2606040"/>
          </a:xfrm>
          <a:prstGeom prst="rect">
            <a:avLst/>
          </a:prstGeom>
          <a:noFill/>
        </p:spPr>
        <p:txBody>
          <a:bodyPr wrap="none" lIns="0" rIns="0" tIns="0" bIns="0" anchor="t">
            <a:spAutoFit/>
          </a:bodyPr>
          <a:lstStyle/>
          <a:p>
            <a:pPr>
              <a:lnSpc>
                <a:spcPts val="4025"/>
              </a:lnSpc>
              <a:spcBef>
                <a:spcPts val="0"/>
              </a:spcBef>
              <a:spcAft>
                <a:spcPts val="0"/>
              </a:spcAft>
              <a:defRPr sz="3500" b="1">
                <a:solidFill>
                  <a:srgbClr val="234B42"/>
                </a:solidFill>
                <a:latin typeface="Manrope"/>
              </a:defRPr>
            </a:pPr>
            <a:r>
              <a:rPr lang="de-DE"/>
              <a:t>Welche kleine Veränderung wäre in</a:t>
            </a:r>
          </a:p>
          <a:p>
            <a:pPr>
              <a:lnSpc>
                <a:spcPts val="4025"/>
              </a:lnSpc>
              <a:spcBef>
                <a:spcPts val="0"/>
              </a:spcBef>
              <a:spcAft>
                <a:spcPts val="0"/>
              </a:spcAft>
              <a:defRPr sz="3500" b="1">
                <a:solidFill>
                  <a:srgbClr val="234B42"/>
                </a:solidFill>
                <a:latin typeface="Manrope"/>
              </a:defRPr>
            </a:pPr>
            <a:r>
              <a:rPr lang="de-DE"/>
              <a:t>unserer Kita möglich?</a:t>
            </a:r>
          </a:p>
        </p:txBody>
      </p:sp>
      <p:sp>
        <p:nvSpPr>
          <p:cNvPr id="7" name="Rectangle 6"/>
          <p:cNvSpPr/>
          <p:nvPr/>
        </p:nvSpPr>
        <p:spPr>
          <a:xfrm>
            <a:off x="2816352" y="5120640"/>
            <a:ext cx="539496" cy="64008"/>
          </a:xfrm>
          <a:prstGeom prst="rect">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547872" y="5120640"/>
            <a:ext cx="539496" cy="64008"/>
          </a:xfrm>
          <a:prstGeom prst="rect">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79392" y="5120640"/>
            <a:ext cx="539496" cy="64008"/>
          </a:xfrm>
          <a:prstGeom prst="rect">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10912" y="5120640"/>
            <a:ext cx="539496" cy="64008"/>
          </a:xfrm>
          <a:prstGeom prst="rect">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10"/>
          <p:cNvSpPr txBox="1"/>
          <p:nvPr/>
        </p:nvSpPr>
        <p:spPr>
          <a:xfrm>
            <a:off x="2788920" y="5449824"/>
            <a:ext cx="7040880" cy="230123"/>
          </a:xfrm>
          <a:prstGeom prst="rect">
            <a:avLst/>
          </a:prstGeom>
          <a:noFill/>
        </p:spPr>
        <p:txBody>
          <a:bodyPr wrap="none" lIns="0" rIns="0" tIns="0" bIns="0" anchor="t">
            <a:spAutoFit/>
          </a:bodyPr>
          <a:lstStyle/>
          <a:p>
            <a:pPr>
              <a:lnSpc>
                <a:spcPts val="1416"/>
              </a:lnSpc>
              <a:spcBef>
                <a:spcPts val="0"/>
              </a:spcBef>
              <a:spcAft>
                <a:spcPts val="0"/>
              </a:spcAft>
              <a:defRPr sz="1200" b="1">
                <a:solidFill>
                  <a:srgbClr val="234B42"/>
                </a:solidFill>
                <a:latin typeface="Inter"/>
              </a:defRPr>
            </a:pPr>
            <a:r>
              <a:rPr lang="de-DE"/>
              <a:t>FRAGE 4 VON 4</a:t>
            </a:r>
          </a:p>
        </p:txBody>
      </p:sp>
    </p:spTree>
  </p:cSld>
  <p:clrMapOvr>
    <a:masterClrMapping/>
  </p:clrMapOvr>
  <p:transition spd="fast" advClick="1">
    <p:fade/>
  </p:transition>
</p:sld>
</file>

<file path=ppt/slides/slide21.xml><?xml version="1.0" encoding="utf-8"?>
<p:sld xmlns:a="http://schemas.openxmlformats.org/drawingml/2006/main" xmlns:p="http://schemas.openxmlformats.org/presentationml/2006/main" xmlns:r="http://schemas.openxmlformats.org/officeDocument/2006/relationships" showMasterSp="0">
  <p:cSld>
    <p:bg>
      <p:bgPr>
        <a:solidFill>
          <a:srgbClr val="234B42"/>
        </a:solidFill>
        <a:effectLst/>
      </p:bgPr>
    </p:bg>
    <p:spTree>
      <p:nvGrpSpPr>
        <p:cNvPr id="1" name=""/>
        <p:cNvGrpSpPr/>
        <p:nvPr/>
      </p:nvGrpSpPr>
      <p:grpSpPr/>
      <p:cxnSp>
        <p:nvCxnSpPr>
          <p:cNvPr id="2" name="Connector 1"/>
          <p:cNvCxnSpPr/>
          <p:nvPr/>
        </p:nvCxnSpPr>
        <p:spPr>
          <a:xfrm>
            <a:off x="594360" y="6400800"/>
            <a:ext cx="11000232" cy="0"/>
          </a:xfrm>
          <a:prstGeom prst="line">
            <a:avLst/>
          </a:prstGeom>
          <a:ln w="6985">
            <a:solidFill>
              <a:srgbClr val="537568"/>
            </a:solidFill>
          </a:ln>
        </p:spPr>
        <p:style>
          <a:lnRef idx="2">
            <a:schemeClr val="accent1"/>
          </a:lnRef>
          <a:fillRef idx="0">
            <a:schemeClr val="accent1"/>
          </a:fillRef>
          <a:effectRef idx="1">
            <a:schemeClr val="accent1"/>
          </a:effectRef>
          <a:fontRef idx="minor">
            <a:schemeClr val="tx1"/>
          </a:fontRef>
        </p:style>
      </p:cxnSp>
      <p:sp>
        <p:nvSpPr>
          <p:cNvPr id="3" name="Text 2"/>
          <p:cNvSpPr txBox="1"/>
          <p:nvPr/>
        </p:nvSpPr>
        <p:spPr>
          <a:xfrm>
            <a:off x="594360" y="6528816"/>
            <a:ext cx="9692640" cy="176974"/>
          </a:xfrm>
          <a:prstGeom prst="rect">
            <a:avLst/>
          </a:prstGeom>
          <a:noFill/>
        </p:spPr>
        <p:txBody>
          <a:bodyPr wrap="none" lIns="0" rIns="0" tIns="0" bIns="0" anchor="t">
            <a:spAutoFit/>
          </a:bodyPr>
          <a:lstStyle/>
          <a:p>
            <a:pPr>
              <a:lnSpc>
                <a:spcPts val="997"/>
              </a:lnSpc>
              <a:spcBef>
                <a:spcPts val="0"/>
              </a:spcBef>
              <a:spcAft>
                <a:spcPts val="0"/>
              </a:spcAft>
              <a:defRPr sz="950" b="0">
                <a:solidFill>
                  <a:srgbClr val="A8BFA9"/>
                </a:solidFill>
                <a:latin typeface="Inter"/>
              </a:defRPr>
            </a:pPr>
            <a:r>
              <a:rPr lang="de-DE"/>
              <a:t>PRAXIS SCHNECKE / FORTBILDUNG · 02.11.2026</a:t>
            </a:r>
          </a:p>
        </p:txBody>
      </p:sp>
      <p:sp>
        <p:nvSpPr>
          <p:cNvPr id="4" name="Text 3"/>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A8BFA9"/>
                </a:solidFill>
                <a:latin typeface="Inter"/>
              </a:defRPr>
            </a:pPr>
            <a:r>
              <a:rPr lang="de-DE"/>
              <a:t>21</a:t>
            </a:r>
          </a:p>
        </p:txBody>
      </p:sp>
      <p:pic>
        <p:nvPicPr>
          <p:cNvPr id="5" name="Picture 4" descr="04_morgenkreis_teilhabe.png"/>
          <p:cNvPicPr>
            <a:picLocks noChangeAspect="1"/>
          </p:cNvPicPr>
          <p:nvPr/>
        </p:nvPicPr>
        <p:blipFill>
          <a:blip r:embed="rId3"/>
          <a:srcRect l="30973" r="30973"/>
          <a:stretch>
            <a:fillRect/>
          </a:stretch>
        </p:blipFill>
        <p:spPr>
          <a:xfrm>
            <a:off x="7863840" y="0"/>
            <a:ext cx="4327855" cy="6400800"/>
          </a:xfrm>
          <a:prstGeom prst="rect">
            <a:avLst/>
          </a:prstGeom>
        </p:spPr>
      </p:pic>
      <p:sp>
        <p:nvSpPr>
          <p:cNvPr id="6" name="Text 5"/>
          <p:cNvSpPr txBox="1"/>
          <p:nvPr/>
        </p:nvSpPr>
        <p:spPr>
          <a:xfrm>
            <a:off x="594360" y="502920"/>
            <a:ext cx="6217920" cy="1320292"/>
          </a:xfrm>
          <a:prstGeom prst="rect">
            <a:avLst/>
          </a:prstGeom>
          <a:noFill/>
        </p:spPr>
        <p:txBody>
          <a:bodyPr wrap="none" lIns="0" rIns="0" tIns="0" bIns="0" anchor="t">
            <a:spAutoFit/>
          </a:bodyPr>
          <a:lstStyle/>
          <a:p>
            <a:pPr>
              <a:lnSpc>
                <a:spcPts val="10000"/>
              </a:lnSpc>
              <a:spcBef>
                <a:spcPts val="0"/>
              </a:spcBef>
              <a:spcAft>
                <a:spcPts val="0"/>
              </a:spcAft>
              <a:defRPr sz="10000" b="1">
                <a:solidFill>
                  <a:srgbClr val="D68B73"/>
                </a:solidFill>
                <a:latin typeface="Manrope"/>
              </a:defRPr>
            </a:pPr>
            <a:r>
              <a:rPr lang="de-DE"/>
              <a:t>02</a:t>
            </a:r>
          </a:p>
        </p:txBody>
      </p:sp>
      <p:sp>
        <p:nvSpPr>
          <p:cNvPr id="7" name="Text 6"/>
          <p:cNvSpPr txBox="1"/>
          <p:nvPr/>
        </p:nvSpPr>
        <p:spPr>
          <a:xfrm>
            <a:off x="594360" y="2514600"/>
            <a:ext cx="6949440" cy="1508760"/>
          </a:xfrm>
          <a:prstGeom prst="rect">
            <a:avLst/>
          </a:prstGeom>
          <a:noFill/>
        </p:spPr>
        <p:txBody>
          <a:bodyPr wrap="none" lIns="0" rIns="0" tIns="0" bIns="0" anchor="t">
            <a:spAutoFit/>
          </a:bodyPr>
          <a:lstStyle/>
          <a:p>
            <a:pPr>
              <a:lnSpc>
                <a:spcPts val="5073"/>
              </a:lnSpc>
              <a:spcBef>
                <a:spcPts val="0"/>
              </a:spcBef>
              <a:spcAft>
                <a:spcPts val="0"/>
              </a:spcAft>
              <a:defRPr sz="4300" b="1">
                <a:solidFill>
                  <a:srgbClr val="F7F5EF"/>
                </a:solidFill>
                <a:latin typeface="Manrope"/>
              </a:defRPr>
            </a:pPr>
            <a:r>
              <a:rPr lang="de-DE"/>
              <a:t>ADHS</a:t>
            </a:r>
          </a:p>
        </p:txBody>
      </p:sp>
      <p:sp>
        <p:nvSpPr>
          <p:cNvPr id="8" name="Text 7"/>
          <p:cNvSpPr txBox="1"/>
          <p:nvPr/>
        </p:nvSpPr>
        <p:spPr>
          <a:xfrm>
            <a:off x="594360" y="4617720"/>
            <a:ext cx="6629400" cy="1097280"/>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F7F5EF"/>
                </a:solidFill>
                <a:latin typeface="Inter"/>
              </a:defRPr>
            </a:pPr>
            <a:r>
              <a:rPr lang="de-DE"/>
              <a:t>Aufmerksamkeit und Verhalten steuern</a:t>
            </a:r>
          </a:p>
        </p:txBody>
      </p:sp>
    </p:spTree>
  </p:cSld>
  <p:clrMapOvr>
    <a:masterClrMapping/>
  </p:clrMapOvr>
  <p:transition spd="fast" advClick="1">
    <p:fade/>
  </p:transition>
</p:sld>
</file>

<file path=ppt/slides/slide22.xml><?xml version="1.0" encoding="utf-8"?>
<p:sld xmlns:a="http://schemas.openxmlformats.org/drawingml/2006/main" xmlns:p="http://schemas.openxmlformats.org/presentationml/2006/main" xmlns:r="http://schemas.openxmlformats.org/officeDocument/2006/relationships" showMasterSp="1">
  <p:cSld>
    <p:bg>
      <p:bgPr>
        <a:solidFill>
          <a:srgbClr val="F7F5EF"/>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22</a:t>
            </a:r>
          </a:p>
        </p:txBody>
      </p:sp>
      <p:sp>
        <p:nvSpPr>
          <p:cNvPr id="3" name="Text 2"/>
          <p:cNvSpPr txBox="1"/>
          <p:nvPr/>
        </p:nvSpPr>
        <p:spPr>
          <a:xfrm>
            <a:off x="594360" y="393192"/>
            <a:ext cx="10881360" cy="203644"/>
          </a:xfrm>
          <a:prstGeom prst="rect">
            <a:avLst/>
          </a:prstGeom>
          <a:noFill/>
        </p:spPr>
        <p:txBody>
          <a:bodyPr wrap="none" lIns="0" rIns="0" tIns="0" bIns="0" anchor="t">
            <a:spAutoFit/>
          </a:bodyPr>
          <a:lstStyle/>
          <a:p>
            <a:pPr>
              <a:lnSpc>
                <a:spcPts val="1207"/>
              </a:lnSpc>
              <a:spcBef>
                <a:spcPts val="0"/>
              </a:spcBef>
              <a:spcAft>
                <a:spcPts val="0"/>
              </a:spcAft>
              <a:defRPr sz="1150" b="1">
                <a:solidFill>
                  <a:srgbClr val="234B42"/>
                </a:solidFill>
                <a:latin typeface="Inter"/>
              </a:defRPr>
            </a:pPr>
            <a:r>
              <a:rPr lang="de-DE"/>
              <a:t>MÖGLICHES BEISPIEL IM KITA-ALLTAG</a:t>
            </a:r>
          </a:p>
        </p:txBody>
      </p:sp>
      <p:sp>
        <p:nvSpPr>
          <p:cNvPr id="4" name="Text 3"/>
          <p:cNvSpPr txBox="1"/>
          <p:nvPr/>
        </p:nvSpPr>
        <p:spPr>
          <a:xfrm>
            <a:off x="594360" y="804672"/>
            <a:ext cx="10991088"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Die Kernbereiche von ADHS</a:t>
            </a:r>
          </a:p>
        </p:txBody>
      </p:sp>
      <p:sp>
        <p:nvSpPr>
          <p:cNvPr id="5" name="Rounded Rectangle 4"/>
          <p:cNvSpPr/>
          <p:nvPr/>
        </p:nvSpPr>
        <p:spPr>
          <a:xfrm>
            <a:off x="594360" y="1644396"/>
            <a:ext cx="3514344" cy="3832860"/>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644396"/>
            <a:ext cx="50292" cy="3832860"/>
          </a:xfrm>
          <a:prstGeom prst="rect">
            <a:avLst/>
          </a:prstGeom>
          <a:solidFill>
            <a:srgbClr val="D68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7" name="Icon · focus"/>
          <p:cNvGrpSpPr/>
          <p:nvPr/>
        </p:nvGrpSpPr>
        <p:grpSpPr>
          <a:xfrm>
            <a:off x="1034735" y="2093915"/>
            <a:ext cx="289681" cy="289681"/>
            <a:chOff x="1034735" y="2093915"/>
            <a:chExt cx="289681" cy="289681"/>
          </a:xfrm>
        </p:grpSpPr>
        <p:sp>
          <p:nvSpPr>
            <p:cNvPr id="8" name="Oval 7"/>
            <p:cNvSpPr/>
            <p:nvPr/>
          </p:nvSpPr>
          <p:spPr>
            <a:xfrm>
              <a:off x="1034735" y="2093915"/>
              <a:ext cx="289681" cy="289681"/>
            </a:xfrm>
            <a:prstGeom prst="ellipse">
              <a:avLst/>
            </a:pr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46657" y="2205837"/>
              <a:ext cx="65836" cy="65836"/>
            </a:xfrm>
            <a:prstGeom prst="ellipse">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962315" y="2021495"/>
              <a:ext cx="111923" cy="111923"/>
            </a:xfrm>
            <a:custGeom>
              <a:avLst/>
              <a:gdLst/>
              <a:ahLst/>
              <a:cxnLst/>
              <a:rect l="l" t="t" r="r" b="b"/>
              <a:pathLst>
                <a:path w="170" h="170">
                  <a:moveTo>
                    <a:pt x="0" y="170"/>
                  </a:moveTo>
                  <a:lnTo>
                    <a:pt x="0" y="0"/>
                  </a:lnTo>
                  <a:lnTo>
                    <a:pt x="170" y="0"/>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1284915" y="2021495"/>
              <a:ext cx="111923" cy="111923"/>
            </a:xfrm>
            <a:custGeom>
              <a:avLst/>
              <a:gdLst/>
              <a:ahLst/>
              <a:cxnLst/>
              <a:rect l="l" t="t" r="r" b="b"/>
              <a:pathLst>
                <a:path w="170" h="170">
                  <a:moveTo>
                    <a:pt x="0" y="0"/>
                  </a:moveTo>
                  <a:lnTo>
                    <a:pt x="170" y="0"/>
                  </a:lnTo>
                  <a:lnTo>
                    <a:pt x="170" y="170"/>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1284915" y="2344095"/>
              <a:ext cx="111923" cy="111923"/>
            </a:xfrm>
            <a:custGeom>
              <a:avLst/>
              <a:gdLst/>
              <a:ahLst/>
              <a:cxnLst/>
              <a:rect l="l" t="t" r="r" b="b"/>
              <a:pathLst>
                <a:path w="170" h="170">
                  <a:moveTo>
                    <a:pt x="170" y="0"/>
                  </a:moveTo>
                  <a:lnTo>
                    <a:pt x="170" y="170"/>
                  </a:lnTo>
                  <a:lnTo>
                    <a:pt x="0" y="170"/>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962315" y="2344095"/>
              <a:ext cx="111923" cy="111923"/>
            </a:xfrm>
            <a:custGeom>
              <a:avLst/>
              <a:gdLst/>
              <a:ahLst/>
              <a:cxnLst/>
              <a:rect l="l" t="t" r="r" b="b"/>
              <a:pathLst>
                <a:path w="170" h="170">
                  <a:moveTo>
                    <a:pt x="170" y="170"/>
                  </a:moveTo>
                  <a:lnTo>
                    <a:pt x="0" y="170"/>
                  </a:lnTo>
                  <a:lnTo>
                    <a:pt x="0" y="0"/>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14" name="Text 7"/>
          <p:cNvSpPr txBox="1"/>
          <p:nvPr/>
        </p:nvSpPr>
        <p:spPr>
          <a:xfrm>
            <a:off x="850392" y="2823972"/>
            <a:ext cx="3002280" cy="366014"/>
          </a:xfrm>
          <a:prstGeom prst="rect">
            <a:avLst/>
          </a:prstGeom>
          <a:noFill/>
        </p:spPr>
        <p:txBody>
          <a:bodyPr wrap="none" lIns="0" rIns="0" tIns="0" bIns="0" anchor="t">
            <a:spAutoFit/>
          </a:bodyPr>
          <a:lstStyle/>
          <a:p>
            <a:pPr>
              <a:lnSpc>
                <a:spcPts val="2486"/>
              </a:lnSpc>
              <a:spcBef>
                <a:spcPts val="0"/>
              </a:spcBef>
              <a:spcAft>
                <a:spcPts val="0"/>
              </a:spcAft>
              <a:defRPr sz="2200" b="1">
                <a:solidFill>
                  <a:srgbClr val="234B42"/>
                </a:solidFill>
                <a:latin typeface="Manrope"/>
              </a:defRPr>
            </a:pPr>
            <a:r>
              <a:rPr lang="de-DE"/>
              <a:t>Unaufmerksamkeit</a:t>
            </a:r>
          </a:p>
        </p:txBody>
      </p:sp>
      <p:sp>
        <p:nvSpPr>
          <p:cNvPr id="15" name="Text 8"/>
          <p:cNvSpPr txBox="1"/>
          <p:nvPr/>
        </p:nvSpPr>
        <p:spPr>
          <a:xfrm>
            <a:off x="850392" y="3391154"/>
            <a:ext cx="3002280" cy="1839214"/>
          </a:xfrm>
          <a:prstGeom prst="rect">
            <a:avLst/>
          </a:prstGeom>
          <a:noFill/>
        </p:spPr>
        <p:txBody>
          <a:bodyPr wrap="none" lIns="0" rIns="0" tIns="0" bIns="0" anchor="t">
            <a:spAutoFit/>
          </a:bodyPr>
          <a:lstStyle/>
          <a:p>
            <a:pPr>
              <a:lnSpc>
                <a:spcPts val="2595"/>
              </a:lnSpc>
              <a:spcBef>
                <a:spcPts val="0"/>
              </a:spcBef>
              <a:spcAft>
                <a:spcPts val="0"/>
              </a:spcAft>
              <a:defRPr sz="2200" b="0">
                <a:solidFill>
                  <a:srgbClr val="26332F"/>
                </a:solidFill>
                <a:latin typeface="Inter"/>
              </a:defRPr>
            </a:pPr>
            <a:r>
              <a:rPr lang="de-DE"/>
              <a:t>Ein mehrteiliger Auftrag</a:t>
            </a:r>
          </a:p>
          <a:p>
            <a:pPr>
              <a:lnSpc>
                <a:spcPts val="2595"/>
              </a:lnSpc>
              <a:spcBef>
                <a:spcPts val="0"/>
              </a:spcBef>
              <a:spcAft>
                <a:spcPts val="0"/>
              </a:spcAft>
              <a:defRPr sz="2200" b="0">
                <a:solidFill>
                  <a:srgbClr val="26332F"/>
                </a:solidFill>
                <a:latin typeface="Inter"/>
              </a:defRPr>
            </a:pPr>
            <a:r>
              <a:rPr lang="de-DE"/>
              <a:t>geht unterwegs</a:t>
            </a:r>
          </a:p>
          <a:p>
            <a:pPr>
              <a:lnSpc>
                <a:spcPts val="2595"/>
              </a:lnSpc>
              <a:spcBef>
                <a:spcPts val="0"/>
              </a:spcBef>
              <a:spcAft>
                <a:spcPts val="0"/>
              </a:spcAft>
              <a:defRPr sz="2200" b="0">
                <a:solidFill>
                  <a:srgbClr val="26332F"/>
                </a:solidFill>
                <a:latin typeface="Inter"/>
              </a:defRPr>
            </a:pPr>
            <a:r>
              <a:rPr lang="de-DE"/>
              <a:t>verloren.</a:t>
            </a:r>
          </a:p>
        </p:txBody>
      </p:sp>
      <p:sp>
        <p:nvSpPr>
          <p:cNvPr id="16" name="Rounded Rectangle 15"/>
          <p:cNvSpPr/>
          <p:nvPr/>
        </p:nvSpPr>
        <p:spPr>
          <a:xfrm>
            <a:off x="4337304" y="1644396"/>
            <a:ext cx="3514344" cy="3832860"/>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37304" y="1644396"/>
            <a:ext cx="50292" cy="3832860"/>
          </a:xfrm>
          <a:prstGeom prst="rect">
            <a:avLst/>
          </a:prstGeom>
          <a:solidFill>
            <a:srgbClr val="D68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8" name="Icon · movement"/>
          <p:cNvGrpSpPr/>
          <p:nvPr/>
        </p:nvGrpSpPr>
        <p:grpSpPr>
          <a:xfrm>
            <a:off x="0" y="0"/>
            <a:ext cx="0" cy="0"/>
            <a:chOff x="0" y="0"/>
            <a:chExt cx="0" cy="0"/>
          </a:xfrm>
        </p:grpSpPr>
        <p:sp>
          <p:nvSpPr>
            <p:cNvPr id="19" name="Freeform 18"/>
            <p:cNvSpPr/>
            <p:nvPr/>
          </p:nvSpPr>
          <p:spPr>
            <a:xfrm>
              <a:off x="4692091" y="2043221"/>
              <a:ext cx="460858" cy="87563"/>
            </a:xfrm>
            <a:custGeom>
              <a:avLst/>
              <a:gdLst/>
              <a:ahLst/>
              <a:cxnLst/>
              <a:rect l="l" t="t" r="r" b="b"/>
              <a:pathLst>
                <a:path w="700" h="133">
                  <a:moveTo>
                    <a:pt x="0" y="87"/>
                  </a:moveTo>
                  <a:lnTo>
                    <a:pt x="24" y="62"/>
                  </a:lnTo>
                  <a:lnTo>
                    <a:pt x="48" y="48"/>
                  </a:lnTo>
                  <a:lnTo>
                    <a:pt x="71" y="41"/>
                  </a:lnTo>
                  <a:lnTo>
                    <a:pt x="95" y="42"/>
                  </a:lnTo>
                  <a:lnTo>
                    <a:pt x="118" y="48"/>
                  </a:lnTo>
                  <a:lnTo>
                    <a:pt x="140" y="59"/>
                  </a:lnTo>
                  <a:lnTo>
                    <a:pt x="163" y="72"/>
                  </a:lnTo>
                  <a:lnTo>
                    <a:pt x="186" y="87"/>
                  </a:lnTo>
                  <a:lnTo>
                    <a:pt x="209" y="102"/>
                  </a:lnTo>
                  <a:lnTo>
                    <a:pt x="233" y="115"/>
                  </a:lnTo>
                  <a:lnTo>
                    <a:pt x="256" y="126"/>
                  </a:lnTo>
                  <a:lnTo>
                    <a:pt x="280" y="132"/>
                  </a:lnTo>
                  <a:lnTo>
                    <a:pt x="304" y="133"/>
                  </a:lnTo>
                  <a:lnTo>
                    <a:pt x="329" y="126"/>
                  </a:lnTo>
                  <a:lnTo>
                    <a:pt x="354" y="112"/>
                  </a:lnTo>
                  <a:lnTo>
                    <a:pt x="380" y="87"/>
                  </a:lnTo>
                  <a:lnTo>
                    <a:pt x="402" y="63"/>
                  </a:lnTo>
                  <a:lnTo>
                    <a:pt x="423" y="43"/>
                  </a:lnTo>
                  <a:lnTo>
                    <a:pt x="444" y="27"/>
                  </a:lnTo>
                  <a:lnTo>
                    <a:pt x="464" y="15"/>
                  </a:lnTo>
                  <a:lnTo>
                    <a:pt x="483" y="7"/>
                  </a:lnTo>
                  <a:lnTo>
                    <a:pt x="502" y="2"/>
                  </a:lnTo>
                  <a:lnTo>
                    <a:pt x="521" y="0"/>
                  </a:lnTo>
                  <a:lnTo>
                    <a:pt x="540" y="1"/>
                  </a:lnTo>
                  <a:lnTo>
                    <a:pt x="559" y="4"/>
                  </a:lnTo>
                  <a:lnTo>
                    <a:pt x="578" y="11"/>
                  </a:lnTo>
                  <a:lnTo>
                    <a:pt x="597" y="19"/>
                  </a:lnTo>
                  <a:lnTo>
                    <a:pt x="616" y="29"/>
                  </a:lnTo>
                  <a:lnTo>
                    <a:pt x="636" y="42"/>
                  </a:lnTo>
                  <a:lnTo>
                    <a:pt x="657" y="55"/>
                  </a:lnTo>
                  <a:lnTo>
                    <a:pt x="678" y="71"/>
                  </a:lnTo>
                  <a:lnTo>
                    <a:pt x="700" y="87"/>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4646005" y="2181478"/>
              <a:ext cx="460858" cy="87563"/>
            </a:xfrm>
            <a:custGeom>
              <a:avLst/>
              <a:gdLst/>
              <a:ahLst/>
              <a:cxnLst/>
              <a:rect l="l" t="t" r="r" b="b"/>
              <a:pathLst>
                <a:path w="700" h="133">
                  <a:moveTo>
                    <a:pt x="0" y="87"/>
                  </a:moveTo>
                  <a:lnTo>
                    <a:pt x="24" y="62"/>
                  </a:lnTo>
                  <a:lnTo>
                    <a:pt x="48" y="48"/>
                  </a:lnTo>
                  <a:lnTo>
                    <a:pt x="71" y="41"/>
                  </a:lnTo>
                  <a:lnTo>
                    <a:pt x="95" y="42"/>
                  </a:lnTo>
                  <a:lnTo>
                    <a:pt x="118" y="48"/>
                  </a:lnTo>
                  <a:lnTo>
                    <a:pt x="140" y="59"/>
                  </a:lnTo>
                  <a:lnTo>
                    <a:pt x="163" y="72"/>
                  </a:lnTo>
                  <a:lnTo>
                    <a:pt x="186" y="87"/>
                  </a:lnTo>
                  <a:lnTo>
                    <a:pt x="209" y="102"/>
                  </a:lnTo>
                  <a:lnTo>
                    <a:pt x="233" y="115"/>
                  </a:lnTo>
                  <a:lnTo>
                    <a:pt x="256" y="126"/>
                  </a:lnTo>
                  <a:lnTo>
                    <a:pt x="280" y="132"/>
                  </a:lnTo>
                  <a:lnTo>
                    <a:pt x="304" y="133"/>
                  </a:lnTo>
                  <a:lnTo>
                    <a:pt x="329" y="126"/>
                  </a:lnTo>
                  <a:lnTo>
                    <a:pt x="354" y="112"/>
                  </a:lnTo>
                  <a:lnTo>
                    <a:pt x="380" y="87"/>
                  </a:lnTo>
                  <a:lnTo>
                    <a:pt x="402" y="63"/>
                  </a:lnTo>
                  <a:lnTo>
                    <a:pt x="423" y="43"/>
                  </a:lnTo>
                  <a:lnTo>
                    <a:pt x="444" y="27"/>
                  </a:lnTo>
                  <a:lnTo>
                    <a:pt x="464" y="15"/>
                  </a:lnTo>
                  <a:lnTo>
                    <a:pt x="483" y="7"/>
                  </a:lnTo>
                  <a:lnTo>
                    <a:pt x="502" y="2"/>
                  </a:lnTo>
                  <a:lnTo>
                    <a:pt x="521" y="0"/>
                  </a:lnTo>
                  <a:lnTo>
                    <a:pt x="540" y="1"/>
                  </a:lnTo>
                  <a:lnTo>
                    <a:pt x="559" y="4"/>
                  </a:lnTo>
                  <a:lnTo>
                    <a:pt x="578" y="11"/>
                  </a:lnTo>
                  <a:lnTo>
                    <a:pt x="597" y="19"/>
                  </a:lnTo>
                  <a:lnTo>
                    <a:pt x="616" y="29"/>
                  </a:lnTo>
                  <a:lnTo>
                    <a:pt x="636" y="42"/>
                  </a:lnTo>
                  <a:lnTo>
                    <a:pt x="657" y="55"/>
                  </a:lnTo>
                  <a:lnTo>
                    <a:pt x="678" y="71"/>
                  </a:lnTo>
                  <a:lnTo>
                    <a:pt x="700" y="87"/>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4692091" y="2319735"/>
              <a:ext cx="460858" cy="87563"/>
            </a:xfrm>
            <a:custGeom>
              <a:avLst/>
              <a:gdLst/>
              <a:ahLst/>
              <a:cxnLst/>
              <a:rect l="l" t="t" r="r" b="b"/>
              <a:pathLst>
                <a:path w="700" h="133">
                  <a:moveTo>
                    <a:pt x="0" y="87"/>
                  </a:moveTo>
                  <a:lnTo>
                    <a:pt x="24" y="62"/>
                  </a:lnTo>
                  <a:lnTo>
                    <a:pt x="48" y="48"/>
                  </a:lnTo>
                  <a:lnTo>
                    <a:pt x="71" y="41"/>
                  </a:lnTo>
                  <a:lnTo>
                    <a:pt x="95" y="42"/>
                  </a:lnTo>
                  <a:lnTo>
                    <a:pt x="118" y="48"/>
                  </a:lnTo>
                  <a:lnTo>
                    <a:pt x="140" y="59"/>
                  </a:lnTo>
                  <a:lnTo>
                    <a:pt x="163" y="72"/>
                  </a:lnTo>
                  <a:lnTo>
                    <a:pt x="186" y="87"/>
                  </a:lnTo>
                  <a:lnTo>
                    <a:pt x="209" y="102"/>
                  </a:lnTo>
                  <a:lnTo>
                    <a:pt x="233" y="115"/>
                  </a:lnTo>
                  <a:lnTo>
                    <a:pt x="256" y="126"/>
                  </a:lnTo>
                  <a:lnTo>
                    <a:pt x="280" y="132"/>
                  </a:lnTo>
                  <a:lnTo>
                    <a:pt x="304" y="133"/>
                  </a:lnTo>
                  <a:lnTo>
                    <a:pt x="329" y="126"/>
                  </a:lnTo>
                  <a:lnTo>
                    <a:pt x="354" y="112"/>
                  </a:lnTo>
                  <a:lnTo>
                    <a:pt x="380" y="87"/>
                  </a:lnTo>
                  <a:lnTo>
                    <a:pt x="402" y="63"/>
                  </a:lnTo>
                  <a:lnTo>
                    <a:pt x="423" y="43"/>
                  </a:lnTo>
                  <a:lnTo>
                    <a:pt x="444" y="27"/>
                  </a:lnTo>
                  <a:lnTo>
                    <a:pt x="464" y="15"/>
                  </a:lnTo>
                  <a:lnTo>
                    <a:pt x="483" y="7"/>
                  </a:lnTo>
                  <a:lnTo>
                    <a:pt x="502" y="2"/>
                  </a:lnTo>
                  <a:lnTo>
                    <a:pt x="521" y="0"/>
                  </a:lnTo>
                  <a:lnTo>
                    <a:pt x="540" y="1"/>
                  </a:lnTo>
                  <a:lnTo>
                    <a:pt x="559" y="4"/>
                  </a:lnTo>
                  <a:lnTo>
                    <a:pt x="578" y="11"/>
                  </a:lnTo>
                  <a:lnTo>
                    <a:pt x="597" y="19"/>
                  </a:lnTo>
                  <a:lnTo>
                    <a:pt x="616" y="29"/>
                  </a:lnTo>
                  <a:lnTo>
                    <a:pt x="636" y="42"/>
                  </a:lnTo>
                  <a:lnTo>
                    <a:pt x="657" y="55"/>
                  </a:lnTo>
                  <a:lnTo>
                    <a:pt x="678" y="71"/>
                  </a:lnTo>
                  <a:lnTo>
                    <a:pt x="700" y="87"/>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5080528" y="2041246"/>
              <a:ext cx="72420" cy="125090"/>
            </a:xfrm>
            <a:custGeom>
              <a:avLst/>
              <a:gdLst/>
              <a:ahLst/>
              <a:cxnLst/>
              <a:rect l="l" t="t" r="r" b="b"/>
              <a:pathLst>
                <a:path w="110" h="190">
                  <a:moveTo>
                    <a:pt x="0" y="0"/>
                  </a:moveTo>
                  <a:lnTo>
                    <a:pt x="110" y="90"/>
                  </a:lnTo>
                  <a:lnTo>
                    <a:pt x="20" y="190"/>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5034443" y="2317760"/>
              <a:ext cx="72420" cy="125090"/>
            </a:xfrm>
            <a:custGeom>
              <a:avLst/>
              <a:gdLst/>
              <a:ahLst/>
              <a:cxnLst/>
              <a:rect l="l" t="t" r="r" b="b"/>
              <a:pathLst>
                <a:path w="110" h="190">
                  <a:moveTo>
                    <a:pt x="0" y="0"/>
                  </a:moveTo>
                  <a:lnTo>
                    <a:pt x="110" y="90"/>
                  </a:lnTo>
                  <a:lnTo>
                    <a:pt x="20" y="190"/>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24" name="Text 12"/>
          <p:cNvSpPr txBox="1"/>
          <p:nvPr/>
        </p:nvSpPr>
        <p:spPr>
          <a:xfrm>
            <a:off x="4593336" y="2823972"/>
            <a:ext cx="3002280" cy="366014"/>
          </a:xfrm>
          <a:prstGeom prst="rect">
            <a:avLst/>
          </a:prstGeom>
          <a:noFill/>
        </p:spPr>
        <p:txBody>
          <a:bodyPr wrap="none" lIns="0" rIns="0" tIns="0" bIns="0" anchor="t">
            <a:spAutoFit/>
          </a:bodyPr>
          <a:lstStyle/>
          <a:p>
            <a:pPr>
              <a:lnSpc>
                <a:spcPts val="2486"/>
              </a:lnSpc>
              <a:spcBef>
                <a:spcPts val="0"/>
              </a:spcBef>
              <a:spcAft>
                <a:spcPts val="0"/>
              </a:spcAft>
              <a:defRPr sz="2200" b="1">
                <a:solidFill>
                  <a:srgbClr val="234B42"/>
                </a:solidFill>
                <a:latin typeface="Manrope"/>
              </a:defRPr>
            </a:pPr>
            <a:r>
              <a:rPr lang="de-DE"/>
              <a:t>Hyperaktivität</a:t>
            </a:r>
          </a:p>
        </p:txBody>
      </p:sp>
      <p:sp>
        <p:nvSpPr>
          <p:cNvPr id="25" name="Text 13"/>
          <p:cNvSpPr txBox="1"/>
          <p:nvPr/>
        </p:nvSpPr>
        <p:spPr>
          <a:xfrm>
            <a:off x="4593336" y="3391154"/>
            <a:ext cx="3002280" cy="1839214"/>
          </a:xfrm>
          <a:prstGeom prst="rect">
            <a:avLst/>
          </a:prstGeom>
          <a:noFill/>
        </p:spPr>
        <p:txBody>
          <a:bodyPr wrap="none" lIns="0" rIns="0" tIns="0" bIns="0" anchor="t">
            <a:spAutoFit/>
          </a:bodyPr>
          <a:lstStyle/>
          <a:p>
            <a:pPr>
              <a:lnSpc>
                <a:spcPts val="2595"/>
              </a:lnSpc>
              <a:spcBef>
                <a:spcPts val="0"/>
              </a:spcBef>
              <a:spcAft>
                <a:spcPts val="0"/>
              </a:spcAft>
              <a:defRPr sz="2200" b="0">
                <a:solidFill>
                  <a:srgbClr val="26332F"/>
                </a:solidFill>
                <a:latin typeface="Inter"/>
              </a:defRPr>
            </a:pPr>
            <a:r>
              <a:rPr lang="de-DE"/>
              <a:t>Langes Sitzen oder</a:t>
            </a:r>
          </a:p>
          <a:p>
            <a:pPr>
              <a:lnSpc>
                <a:spcPts val="2595"/>
              </a:lnSpc>
              <a:spcBef>
                <a:spcPts val="0"/>
              </a:spcBef>
              <a:spcAft>
                <a:spcPts val="0"/>
              </a:spcAft>
              <a:defRPr sz="2200" b="0">
                <a:solidFill>
                  <a:srgbClr val="26332F"/>
                </a:solidFill>
                <a:latin typeface="Inter"/>
              </a:defRPr>
            </a:pPr>
            <a:r>
              <a:rPr lang="de-DE"/>
              <a:t>ruhiges Warten fällt</a:t>
            </a:r>
          </a:p>
          <a:p>
            <a:pPr>
              <a:lnSpc>
                <a:spcPts val="2595"/>
              </a:lnSpc>
              <a:spcBef>
                <a:spcPts val="0"/>
              </a:spcBef>
              <a:spcAft>
                <a:spcPts val="0"/>
              </a:spcAft>
              <a:defRPr sz="2200" b="0">
                <a:solidFill>
                  <a:srgbClr val="26332F"/>
                </a:solidFill>
                <a:latin typeface="Inter"/>
              </a:defRPr>
            </a:pPr>
            <a:r>
              <a:rPr lang="de-DE"/>
              <a:t>schwer.</a:t>
            </a:r>
          </a:p>
        </p:txBody>
      </p:sp>
      <p:sp>
        <p:nvSpPr>
          <p:cNvPr id="26" name="Rounded Rectangle 25"/>
          <p:cNvSpPr/>
          <p:nvPr/>
        </p:nvSpPr>
        <p:spPr>
          <a:xfrm>
            <a:off x="8080248" y="1644396"/>
            <a:ext cx="3514344" cy="3832860"/>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80248" y="1644396"/>
            <a:ext cx="50292" cy="3832860"/>
          </a:xfrm>
          <a:prstGeom prst="rect">
            <a:avLst/>
          </a:prstGeom>
          <a:solidFill>
            <a:srgbClr val="D68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8" name="Icon · impulse"/>
          <p:cNvGrpSpPr/>
          <p:nvPr/>
        </p:nvGrpSpPr>
        <p:grpSpPr>
          <a:xfrm>
            <a:off x="0" y="0"/>
            <a:ext cx="0" cy="0"/>
            <a:chOff x="0" y="0"/>
            <a:chExt cx="0" cy="0"/>
          </a:xfrm>
        </p:grpSpPr>
        <p:sp>
          <p:nvSpPr>
            <p:cNvPr id="29" name="Freeform 28"/>
            <p:cNvSpPr/>
            <p:nvPr/>
          </p:nvSpPr>
          <p:spPr>
            <a:xfrm>
              <a:off x="8514039" y="1988576"/>
              <a:ext cx="316017" cy="500360"/>
            </a:xfrm>
            <a:custGeom>
              <a:avLst/>
              <a:gdLst/>
              <a:ahLst/>
              <a:cxnLst/>
              <a:rect l="l" t="t" r="r" b="b"/>
              <a:pathLst>
                <a:path w="480" h="760">
                  <a:moveTo>
                    <a:pt x="270" y="0"/>
                  </a:moveTo>
                  <a:lnTo>
                    <a:pt x="0" y="440"/>
                  </a:lnTo>
                  <a:lnTo>
                    <a:pt x="200" y="440"/>
                  </a:lnTo>
                  <a:lnTo>
                    <a:pt x="140" y="760"/>
                  </a:lnTo>
                  <a:lnTo>
                    <a:pt x="480" y="310"/>
                  </a:lnTo>
                  <a:lnTo>
                    <a:pt x="280" y="310"/>
                  </a:lnTo>
                  <a:close/>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8448203" y="2100499"/>
              <a:ext cx="46086" cy="26335"/>
            </a:xfrm>
            <a:custGeom>
              <a:avLst/>
              <a:gdLst/>
              <a:ahLst/>
              <a:cxnLst/>
              <a:rect l="l" t="t" r="r" b="b"/>
              <a:pathLst>
                <a:path w="70" h="40">
                  <a:moveTo>
                    <a:pt x="0" y="0"/>
                  </a:moveTo>
                  <a:lnTo>
                    <a:pt x="70" y="40"/>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8797138" y="2021495"/>
              <a:ext cx="32918" cy="46086"/>
            </a:xfrm>
            <a:custGeom>
              <a:avLst/>
              <a:gdLst/>
              <a:ahLst/>
              <a:cxnLst/>
              <a:rect l="l" t="t" r="r" b="b"/>
              <a:pathLst>
                <a:path w="50" h="70">
                  <a:moveTo>
                    <a:pt x="50" y="0"/>
                  </a:moveTo>
                  <a:lnTo>
                    <a:pt x="0" y="70"/>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8862974" y="2377013"/>
              <a:ext cx="46086" cy="26335"/>
            </a:xfrm>
            <a:custGeom>
              <a:avLst/>
              <a:gdLst/>
              <a:ahLst/>
              <a:cxnLst/>
              <a:rect l="l" t="t" r="r" b="b"/>
              <a:pathLst>
                <a:path w="70" h="40">
                  <a:moveTo>
                    <a:pt x="0" y="0"/>
                  </a:moveTo>
                  <a:lnTo>
                    <a:pt x="70" y="40"/>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33" name="Text 17"/>
          <p:cNvSpPr txBox="1"/>
          <p:nvPr/>
        </p:nvSpPr>
        <p:spPr>
          <a:xfrm>
            <a:off x="8336280" y="2823972"/>
            <a:ext cx="3002280" cy="366014"/>
          </a:xfrm>
          <a:prstGeom prst="rect">
            <a:avLst/>
          </a:prstGeom>
          <a:noFill/>
        </p:spPr>
        <p:txBody>
          <a:bodyPr wrap="none" lIns="0" rIns="0" tIns="0" bIns="0" anchor="t">
            <a:spAutoFit/>
          </a:bodyPr>
          <a:lstStyle/>
          <a:p>
            <a:pPr>
              <a:lnSpc>
                <a:spcPts val="2486"/>
              </a:lnSpc>
              <a:spcBef>
                <a:spcPts val="0"/>
              </a:spcBef>
              <a:spcAft>
                <a:spcPts val="0"/>
              </a:spcAft>
              <a:defRPr sz="2200" b="1">
                <a:solidFill>
                  <a:srgbClr val="234B42"/>
                </a:solidFill>
                <a:latin typeface="Manrope"/>
              </a:defRPr>
            </a:pPr>
            <a:r>
              <a:rPr lang="de-DE"/>
              <a:t>Impulsivität</a:t>
            </a:r>
          </a:p>
        </p:txBody>
      </p:sp>
      <p:sp>
        <p:nvSpPr>
          <p:cNvPr id="34" name="Text 18"/>
          <p:cNvSpPr txBox="1"/>
          <p:nvPr/>
        </p:nvSpPr>
        <p:spPr>
          <a:xfrm>
            <a:off x="8336280" y="3391154"/>
            <a:ext cx="3002280" cy="1839214"/>
          </a:xfrm>
          <a:prstGeom prst="rect">
            <a:avLst/>
          </a:prstGeom>
          <a:noFill/>
        </p:spPr>
        <p:txBody>
          <a:bodyPr wrap="none" lIns="0" rIns="0" tIns="0" bIns="0" anchor="t">
            <a:spAutoFit/>
          </a:bodyPr>
          <a:lstStyle/>
          <a:p>
            <a:pPr>
              <a:lnSpc>
                <a:spcPts val="2595"/>
              </a:lnSpc>
              <a:spcBef>
                <a:spcPts val="0"/>
              </a:spcBef>
              <a:spcAft>
                <a:spcPts val="0"/>
              </a:spcAft>
              <a:defRPr sz="2200" b="0">
                <a:solidFill>
                  <a:srgbClr val="26332F"/>
                </a:solidFill>
                <a:latin typeface="Inter"/>
              </a:defRPr>
            </a:pPr>
            <a:r>
              <a:rPr lang="de-DE"/>
              <a:t>Das Kind greift nach</a:t>
            </a:r>
          </a:p>
          <a:p>
            <a:pPr>
              <a:lnSpc>
                <a:spcPts val="2595"/>
              </a:lnSpc>
              <a:spcBef>
                <a:spcPts val="0"/>
              </a:spcBef>
              <a:spcAft>
                <a:spcPts val="0"/>
              </a:spcAft>
              <a:defRPr sz="2200" b="0">
                <a:solidFill>
                  <a:srgbClr val="26332F"/>
                </a:solidFill>
                <a:latin typeface="Inter"/>
              </a:defRPr>
            </a:pPr>
            <a:r>
              <a:rPr lang="de-DE"/>
              <a:t>einem Gegenstand,</a:t>
            </a:r>
          </a:p>
          <a:p>
            <a:pPr>
              <a:lnSpc>
                <a:spcPts val="2595"/>
              </a:lnSpc>
              <a:spcBef>
                <a:spcPts val="0"/>
              </a:spcBef>
              <a:spcAft>
                <a:spcPts val="0"/>
              </a:spcAft>
              <a:defRPr sz="2200" b="0">
                <a:solidFill>
                  <a:srgbClr val="26332F"/>
                </a:solidFill>
                <a:latin typeface="Inter"/>
              </a:defRPr>
            </a:pPr>
            <a:r>
              <a:rPr lang="de-DE"/>
              <a:t>bevor es abwarten</a:t>
            </a:r>
          </a:p>
          <a:p>
            <a:pPr>
              <a:lnSpc>
                <a:spcPts val="2595"/>
              </a:lnSpc>
              <a:spcBef>
                <a:spcPts val="0"/>
              </a:spcBef>
              <a:spcAft>
                <a:spcPts val="0"/>
              </a:spcAft>
              <a:defRPr sz="2200" b="0">
                <a:solidFill>
                  <a:srgbClr val="26332F"/>
                </a:solidFill>
                <a:latin typeface="Inter"/>
              </a:defRPr>
            </a:pPr>
            <a:r>
              <a:rPr lang="de-DE"/>
              <a:t>kann.</a:t>
            </a:r>
          </a:p>
        </p:txBody>
      </p:sp>
      <p:cxnSp>
        <p:nvCxnSpPr>
          <p:cNvPr id="35" name="Connector 34"/>
          <p:cNvCxnSpPr/>
          <p:nvPr/>
        </p:nvCxnSpPr>
        <p:spPr>
          <a:xfrm>
            <a:off x="594360" y="5495544"/>
            <a:ext cx="502920" cy="0"/>
          </a:xfrm>
          <a:prstGeom prst="line">
            <a:avLst/>
          </a:prstGeom>
          <a:ln w="27940">
            <a:solidFill>
              <a:srgbClr val="D68B73"/>
            </a:solidFill>
          </a:ln>
        </p:spPr>
        <p:style>
          <a:lnRef idx="2">
            <a:schemeClr val="accent1"/>
          </a:lnRef>
          <a:fillRef idx="0">
            <a:schemeClr val="accent1"/>
          </a:fillRef>
          <a:effectRef idx="1">
            <a:schemeClr val="accent1"/>
          </a:effectRef>
          <a:fontRef idx="minor">
            <a:schemeClr val="tx1"/>
          </a:fontRef>
        </p:style>
      </p:cxnSp>
      <p:sp>
        <p:nvSpPr>
          <p:cNvPr id="36" name="Text 20"/>
          <p:cNvSpPr txBox="1"/>
          <p:nvPr/>
        </p:nvSpPr>
        <p:spPr>
          <a:xfrm>
            <a:off x="594360" y="5623560"/>
            <a:ext cx="10972800" cy="694944"/>
          </a:xfrm>
          <a:prstGeom prst="rect">
            <a:avLst/>
          </a:prstGeom>
          <a:noFill/>
        </p:spPr>
        <p:txBody>
          <a:bodyPr wrap="none" lIns="0" rIns="0" tIns="0" bIns="0" anchor="t">
            <a:spAutoFit/>
          </a:bodyPr>
          <a:lstStyle/>
          <a:p>
            <a:pPr>
              <a:lnSpc>
                <a:spcPts val="2419"/>
              </a:lnSpc>
              <a:spcBef>
                <a:spcPts val="0"/>
              </a:spcBef>
              <a:spcAft>
                <a:spcPts val="0"/>
              </a:spcAft>
              <a:defRPr sz="2050" b="1">
                <a:solidFill>
                  <a:srgbClr val="234B42"/>
                </a:solidFill>
                <a:latin typeface="Manrope"/>
              </a:defRPr>
            </a:pPr>
            <a:r>
              <a:rPr lang="de-DE"/>
              <a:t>Ausprägungen und Kombinationen unterscheiden sich.</a:t>
            </a:r>
          </a:p>
        </p:txBody>
      </p:sp>
    </p:spTree>
  </p:cSld>
  <p:clrMapOvr>
    <a:masterClrMapping/>
  </p:clrMapOvr>
  <p:transition spd="fast" advClick="1">
    <p:fade/>
  </p:transition>
</p:sld>
</file>

<file path=ppt/slides/slide23.xml><?xml version="1.0" encoding="utf-8"?>
<p:sld xmlns:a="http://schemas.openxmlformats.org/drawingml/2006/main" xmlns:p="http://schemas.openxmlformats.org/presentationml/2006/main" xmlns:r="http://schemas.openxmlformats.org/officeDocument/2006/relationships" showMasterSp="1">
  <p:cSld>
    <p:bg>
      <p:bgPr>
        <a:solidFill>
          <a:srgbClr val="F7F5EF"/>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23</a:t>
            </a:r>
          </a:p>
        </p:txBody>
      </p:sp>
      <p:sp>
        <p:nvSpPr>
          <p:cNvPr id="3" name="Text 2"/>
          <p:cNvSpPr txBox="1"/>
          <p:nvPr/>
        </p:nvSpPr>
        <p:spPr>
          <a:xfrm>
            <a:off x="594360" y="393192"/>
            <a:ext cx="10881360" cy="203644"/>
          </a:xfrm>
          <a:prstGeom prst="rect">
            <a:avLst/>
          </a:prstGeom>
          <a:noFill/>
        </p:spPr>
        <p:txBody>
          <a:bodyPr wrap="none" lIns="0" rIns="0" tIns="0" bIns="0" anchor="t">
            <a:spAutoFit/>
          </a:bodyPr>
          <a:lstStyle/>
          <a:p>
            <a:pPr>
              <a:lnSpc>
                <a:spcPts val="1207"/>
              </a:lnSpc>
              <a:spcBef>
                <a:spcPts val="0"/>
              </a:spcBef>
              <a:spcAft>
                <a:spcPts val="0"/>
              </a:spcAft>
              <a:defRPr sz="1150" b="1">
                <a:solidFill>
                  <a:srgbClr val="234B42"/>
                </a:solidFill>
                <a:latin typeface="Inter"/>
              </a:defRPr>
            </a:pPr>
            <a:r>
              <a:rPr lang="de-DE"/>
              <a:t>GENAU HINSCHAUEN</a:t>
            </a:r>
          </a:p>
        </p:txBody>
      </p:sp>
      <p:sp>
        <p:nvSpPr>
          <p:cNvPr id="4" name="Text 3"/>
          <p:cNvSpPr txBox="1"/>
          <p:nvPr/>
        </p:nvSpPr>
        <p:spPr>
          <a:xfrm>
            <a:off x="594360" y="804672"/>
            <a:ext cx="10991088"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ADHS im Vorschulalter</a:t>
            </a:r>
          </a:p>
        </p:txBody>
      </p:sp>
      <p:sp>
        <p:nvSpPr>
          <p:cNvPr id="5" name="Rounded Rectangle 4"/>
          <p:cNvSpPr/>
          <p:nvPr/>
        </p:nvSpPr>
        <p:spPr>
          <a:xfrm>
            <a:off x="594360" y="1644396"/>
            <a:ext cx="5385816" cy="2081021"/>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644396"/>
            <a:ext cx="50292" cy="2081021"/>
          </a:xfrm>
          <a:prstGeom prst="rect">
            <a:avLst/>
          </a:prstGeom>
          <a:solidFill>
            <a:srgbClr val="D68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6"/>
          <p:cNvSpPr txBox="1"/>
          <p:nvPr/>
        </p:nvSpPr>
        <p:spPr>
          <a:xfrm>
            <a:off x="850392" y="1854708"/>
            <a:ext cx="4873752" cy="315785"/>
          </a:xfrm>
          <a:prstGeom prst="rect">
            <a:avLst/>
          </a:prstGeom>
          <a:noFill/>
        </p:spPr>
        <p:txBody>
          <a:bodyPr wrap="none" lIns="0" rIns="0" tIns="0" bIns="0" anchor="t">
            <a:spAutoFit/>
          </a:bodyPr>
          <a:lstStyle/>
          <a:p>
            <a:pPr>
              <a:lnSpc>
                <a:spcPts val="2090"/>
              </a:lnSpc>
              <a:spcBef>
                <a:spcPts val="0"/>
              </a:spcBef>
              <a:spcAft>
                <a:spcPts val="0"/>
              </a:spcAft>
              <a:defRPr sz="1850" b="1">
                <a:solidFill>
                  <a:srgbClr val="234B42"/>
                </a:solidFill>
                <a:latin typeface="Manrope"/>
              </a:defRPr>
            </a:pPr>
            <a:r>
              <a:rPr lang="de-DE"/>
              <a:t>Entwicklung</a:t>
            </a:r>
          </a:p>
        </p:txBody>
      </p:sp>
      <p:sp>
        <p:nvSpPr>
          <p:cNvPr id="8" name="Text 7"/>
          <p:cNvSpPr txBox="1"/>
          <p:nvPr/>
        </p:nvSpPr>
        <p:spPr>
          <a:xfrm>
            <a:off x="850392" y="2298509"/>
            <a:ext cx="4873752" cy="1262316"/>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Selbststeuerung entwickelt sich im</a:t>
            </a:r>
          </a:p>
          <a:p>
            <a:pPr>
              <a:lnSpc>
                <a:spcPts val="2477"/>
              </a:lnSpc>
              <a:spcBef>
                <a:spcPts val="0"/>
              </a:spcBef>
              <a:spcAft>
                <a:spcPts val="0"/>
              </a:spcAft>
              <a:defRPr sz="2100" b="0">
                <a:solidFill>
                  <a:srgbClr val="26332F"/>
                </a:solidFill>
                <a:latin typeface="Inter"/>
              </a:defRPr>
            </a:pPr>
            <a:r>
              <a:rPr lang="de-DE"/>
              <a:t>Elementaralter noch deutlich</a:t>
            </a:r>
          </a:p>
        </p:txBody>
      </p:sp>
      <p:sp>
        <p:nvSpPr>
          <p:cNvPr id="9" name="Rounded Rectangle 8"/>
          <p:cNvSpPr/>
          <p:nvPr/>
        </p:nvSpPr>
        <p:spPr>
          <a:xfrm>
            <a:off x="6208776" y="1644396"/>
            <a:ext cx="5385816" cy="2081021"/>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08776" y="1644396"/>
            <a:ext cx="50292" cy="2081021"/>
          </a:xfrm>
          <a:prstGeom prst="rect">
            <a:avLst/>
          </a:prstGeom>
          <a:solidFill>
            <a:srgbClr val="D68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10"/>
          <p:cNvSpPr txBox="1"/>
          <p:nvPr/>
        </p:nvSpPr>
        <p:spPr>
          <a:xfrm>
            <a:off x="6464808" y="1854708"/>
            <a:ext cx="4873752" cy="315785"/>
          </a:xfrm>
          <a:prstGeom prst="rect">
            <a:avLst/>
          </a:prstGeom>
          <a:noFill/>
        </p:spPr>
        <p:txBody>
          <a:bodyPr wrap="none" lIns="0" rIns="0" tIns="0" bIns="0" anchor="t">
            <a:spAutoFit/>
          </a:bodyPr>
          <a:lstStyle/>
          <a:p>
            <a:pPr>
              <a:lnSpc>
                <a:spcPts val="2090"/>
              </a:lnSpc>
              <a:spcBef>
                <a:spcPts val="0"/>
              </a:spcBef>
              <a:spcAft>
                <a:spcPts val="0"/>
              </a:spcAft>
              <a:defRPr sz="1850" b="1">
                <a:solidFill>
                  <a:srgbClr val="234B42"/>
                </a:solidFill>
                <a:latin typeface="Manrope"/>
              </a:defRPr>
            </a:pPr>
            <a:r>
              <a:rPr lang="de-DE"/>
              <a:t>Einordnung</a:t>
            </a:r>
          </a:p>
        </p:txBody>
      </p:sp>
      <p:sp>
        <p:nvSpPr>
          <p:cNvPr id="12" name="Text 11"/>
          <p:cNvSpPr txBox="1"/>
          <p:nvPr/>
        </p:nvSpPr>
        <p:spPr>
          <a:xfrm>
            <a:off x="6464808" y="2298509"/>
            <a:ext cx="4873752" cy="1262316"/>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Entwicklungsstand, Dauer und Ausmaß</a:t>
            </a:r>
          </a:p>
          <a:p>
            <a:pPr>
              <a:lnSpc>
                <a:spcPts val="2477"/>
              </a:lnSpc>
              <a:spcBef>
                <a:spcPts val="0"/>
              </a:spcBef>
              <a:spcAft>
                <a:spcPts val="0"/>
              </a:spcAft>
              <a:defRPr sz="2100" b="0">
                <a:solidFill>
                  <a:srgbClr val="26332F"/>
                </a:solidFill>
                <a:latin typeface="Inter"/>
              </a:defRPr>
            </a:pPr>
            <a:r>
              <a:rPr lang="de-DE"/>
              <a:t>gemeinsam beurteilen</a:t>
            </a:r>
          </a:p>
        </p:txBody>
      </p:sp>
      <p:sp>
        <p:nvSpPr>
          <p:cNvPr id="13" name="Rounded Rectangle 12"/>
          <p:cNvSpPr/>
          <p:nvPr/>
        </p:nvSpPr>
        <p:spPr>
          <a:xfrm>
            <a:off x="594360" y="3954018"/>
            <a:ext cx="5385816" cy="2081021"/>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94360" y="3954018"/>
            <a:ext cx="50292" cy="2081021"/>
          </a:xfrm>
          <a:prstGeom prst="rect">
            <a:avLst/>
          </a:prstGeom>
          <a:solidFill>
            <a:srgbClr val="D68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14"/>
          <p:cNvSpPr txBox="1"/>
          <p:nvPr/>
        </p:nvSpPr>
        <p:spPr>
          <a:xfrm>
            <a:off x="850392" y="4164330"/>
            <a:ext cx="4873752" cy="315785"/>
          </a:xfrm>
          <a:prstGeom prst="rect">
            <a:avLst/>
          </a:prstGeom>
          <a:noFill/>
        </p:spPr>
        <p:txBody>
          <a:bodyPr wrap="none" lIns="0" rIns="0" tIns="0" bIns="0" anchor="t">
            <a:spAutoFit/>
          </a:bodyPr>
          <a:lstStyle/>
          <a:p>
            <a:pPr>
              <a:lnSpc>
                <a:spcPts val="2090"/>
              </a:lnSpc>
              <a:spcBef>
                <a:spcPts val="0"/>
              </a:spcBef>
              <a:spcAft>
                <a:spcPts val="0"/>
              </a:spcAft>
              <a:defRPr sz="1850" b="1">
                <a:solidFill>
                  <a:srgbClr val="234B42"/>
                </a:solidFill>
                <a:latin typeface="Manrope"/>
              </a:defRPr>
            </a:pPr>
            <a:r>
              <a:rPr lang="de-DE"/>
              <a:t>Lebensbereiche</a:t>
            </a:r>
          </a:p>
        </p:txBody>
      </p:sp>
      <p:sp>
        <p:nvSpPr>
          <p:cNvPr id="16" name="Text 15"/>
          <p:cNvSpPr txBox="1"/>
          <p:nvPr/>
        </p:nvSpPr>
        <p:spPr>
          <a:xfrm>
            <a:off x="850392" y="4608131"/>
            <a:ext cx="4873752" cy="1262316"/>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Beobachtungen aus mehreren</a:t>
            </a:r>
          </a:p>
          <a:p>
            <a:pPr>
              <a:lnSpc>
                <a:spcPts val="2477"/>
              </a:lnSpc>
              <a:spcBef>
                <a:spcPts val="0"/>
              </a:spcBef>
              <a:spcAft>
                <a:spcPts val="0"/>
              </a:spcAft>
              <a:defRPr sz="2100" b="0">
                <a:solidFill>
                  <a:srgbClr val="26332F"/>
                </a:solidFill>
                <a:latin typeface="Inter"/>
              </a:defRPr>
            </a:pPr>
            <a:r>
              <a:rPr lang="de-DE"/>
              <a:t>Lebensbereichen gehören zur</a:t>
            </a:r>
          </a:p>
          <a:p>
            <a:pPr>
              <a:lnSpc>
                <a:spcPts val="2477"/>
              </a:lnSpc>
              <a:spcBef>
                <a:spcPts val="0"/>
              </a:spcBef>
              <a:spcAft>
                <a:spcPts val="0"/>
              </a:spcAft>
              <a:defRPr sz="2100" b="0">
                <a:solidFill>
                  <a:srgbClr val="26332F"/>
                </a:solidFill>
                <a:latin typeface="Inter"/>
              </a:defRPr>
            </a:pPr>
            <a:r>
              <a:rPr lang="de-DE"/>
              <a:t>Abklärung</a:t>
            </a:r>
          </a:p>
        </p:txBody>
      </p:sp>
      <p:sp>
        <p:nvSpPr>
          <p:cNvPr id="17" name="Rounded Rectangle 16"/>
          <p:cNvSpPr/>
          <p:nvPr/>
        </p:nvSpPr>
        <p:spPr>
          <a:xfrm>
            <a:off x="6208776" y="3954018"/>
            <a:ext cx="5385816" cy="2081021"/>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08776" y="3954018"/>
            <a:ext cx="50292" cy="2081021"/>
          </a:xfrm>
          <a:prstGeom prst="rect">
            <a:avLst/>
          </a:prstGeom>
          <a:solidFill>
            <a:srgbClr val="D68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18"/>
          <p:cNvSpPr txBox="1"/>
          <p:nvPr/>
        </p:nvSpPr>
        <p:spPr>
          <a:xfrm>
            <a:off x="6464808" y="4164330"/>
            <a:ext cx="4873752" cy="315785"/>
          </a:xfrm>
          <a:prstGeom prst="rect">
            <a:avLst/>
          </a:prstGeom>
          <a:noFill/>
        </p:spPr>
        <p:txBody>
          <a:bodyPr wrap="none" lIns="0" rIns="0" tIns="0" bIns="0" anchor="t">
            <a:spAutoFit/>
          </a:bodyPr>
          <a:lstStyle/>
          <a:p>
            <a:pPr>
              <a:lnSpc>
                <a:spcPts val="2090"/>
              </a:lnSpc>
              <a:spcBef>
                <a:spcPts val="0"/>
              </a:spcBef>
              <a:spcAft>
                <a:spcPts val="0"/>
              </a:spcAft>
              <a:defRPr sz="1850" b="1">
                <a:solidFill>
                  <a:srgbClr val="234B42"/>
                </a:solidFill>
                <a:latin typeface="Manrope"/>
              </a:defRPr>
            </a:pPr>
            <a:r>
              <a:rPr lang="de-DE"/>
              <a:t>Weitere Ursachen</a:t>
            </a:r>
          </a:p>
        </p:txBody>
      </p:sp>
      <p:sp>
        <p:nvSpPr>
          <p:cNvPr id="20" name="Text 19"/>
          <p:cNvSpPr txBox="1"/>
          <p:nvPr/>
        </p:nvSpPr>
        <p:spPr>
          <a:xfrm>
            <a:off x="6464808" y="4608131"/>
            <a:ext cx="4873752" cy="1262316"/>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Schlaf, Hören, Sehen und andere</a:t>
            </a:r>
          </a:p>
          <a:p>
            <a:pPr>
              <a:lnSpc>
                <a:spcPts val="2477"/>
              </a:lnSpc>
              <a:spcBef>
                <a:spcPts val="0"/>
              </a:spcBef>
              <a:spcAft>
                <a:spcPts val="0"/>
              </a:spcAft>
              <a:defRPr sz="2100" b="0">
                <a:solidFill>
                  <a:srgbClr val="26332F"/>
                </a:solidFill>
                <a:latin typeface="Inter"/>
              </a:defRPr>
            </a:pPr>
            <a:r>
              <a:rPr lang="de-DE"/>
              <a:t>mögliche Ursachen mitbedenken</a:t>
            </a:r>
          </a:p>
        </p:txBody>
      </p:sp>
    </p:spTree>
  </p:cSld>
  <p:clrMapOvr>
    <a:masterClrMapping/>
  </p:clrMapOvr>
  <p:transition spd="fast" advClick="1">
    <p:fade/>
  </p:transition>
</p:sld>
</file>

<file path=ppt/slides/slide24.xml><?xml version="1.0" encoding="utf-8"?>
<p:sld xmlns:a="http://schemas.openxmlformats.org/drawingml/2006/main" xmlns:p="http://schemas.openxmlformats.org/presentationml/2006/main" xmlns:r="http://schemas.openxmlformats.org/officeDocument/2006/relationships" showMasterSp="0">
  <p:cSld>
    <p:bg>
      <p:bgPr>
        <a:solidFill>
          <a:srgbClr val="234B42"/>
        </a:solidFill>
        <a:effectLst/>
      </p:bgPr>
    </p:bg>
    <p:spTree>
      <p:nvGrpSpPr>
        <p:cNvPr id="1" name=""/>
        <p:cNvGrpSpPr/>
        <p:nvPr/>
      </p:nvGrpSpPr>
      <p:grpSpPr/>
      <p:cxnSp>
        <p:nvCxnSpPr>
          <p:cNvPr id="2" name="Connector 1"/>
          <p:cNvCxnSpPr/>
          <p:nvPr/>
        </p:nvCxnSpPr>
        <p:spPr>
          <a:xfrm>
            <a:off x="594360" y="6400800"/>
            <a:ext cx="11000232" cy="0"/>
          </a:xfrm>
          <a:prstGeom prst="line">
            <a:avLst/>
          </a:prstGeom>
          <a:ln w="6985">
            <a:solidFill>
              <a:srgbClr val="537568"/>
            </a:solidFill>
          </a:ln>
        </p:spPr>
        <p:style>
          <a:lnRef idx="2">
            <a:schemeClr val="accent1"/>
          </a:lnRef>
          <a:fillRef idx="0">
            <a:schemeClr val="accent1"/>
          </a:fillRef>
          <a:effectRef idx="1">
            <a:schemeClr val="accent1"/>
          </a:effectRef>
          <a:fontRef idx="minor">
            <a:schemeClr val="tx1"/>
          </a:fontRef>
        </p:style>
      </p:cxnSp>
      <p:sp>
        <p:nvSpPr>
          <p:cNvPr id="3" name="Text 2"/>
          <p:cNvSpPr txBox="1"/>
          <p:nvPr/>
        </p:nvSpPr>
        <p:spPr>
          <a:xfrm>
            <a:off x="594360" y="6528816"/>
            <a:ext cx="9692640" cy="176974"/>
          </a:xfrm>
          <a:prstGeom prst="rect">
            <a:avLst/>
          </a:prstGeom>
          <a:noFill/>
        </p:spPr>
        <p:txBody>
          <a:bodyPr wrap="none" lIns="0" rIns="0" tIns="0" bIns="0" anchor="t">
            <a:spAutoFit/>
          </a:bodyPr>
          <a:lstStyle/>
          <a:p>
            <a:pPr>
              <a:lnSpc>
                <a:spcPts val="997"/>
              </a:lnSpc>
              <a:spcBef>
                <a:spcPts val="0"/>
              </a:spcBef>
              <a:spcAft>
                <a:spcPts val="0"/>
              </a:spcAft>
              <a:defRPr sz="950" b="0">
                <a:solidFill>
                  <a:srgbClr val="A8BFA9"/>
                </a:solidFill>
                <a:latin typeface="Inter"/>
              </a:defRPr>
            </a:pPr>
            <a:r>
              <a:rPr lang="de-DE"/>
              <a:t>PRAXIS SCHNECKE / FORTBILDUNG · 02.11.2026</a:t>
            </a:r>
          </a:p>
        </p:txBody>
      </p:sp>
      <p:sp>
        <p:nvSpPr>
          <p:cNvPr id="4" name="Text 3"/>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A8BFA9"/>
                </a:solidFill>
                <a:latin typeface="Inter"/>
              </a:defRPr>
            </a:pPr>
            <a:r>
              <a:rPr lang="de-DE"/>
              <a:t>24</a:t>
            </a:r>
          </a:p>
        </p:txBody>
      </p:sp>
      <p:sp>
        <p:nvSpPr>
          <p:cNvPr id="5" name="Text 4"/>
          <p:cNvSpPr txBox="1"/>
          <p:nvPr/>
        </p:nvSpPr>
        <p:spPr>
          <a:xfrm>
            <a:off x="731520" y="512064"/>
            <a:ext cx="10515600" cy="230123"/>
          </a:xfrm>
          <a:prstGeom prst="rect">
            <a:avLst/>
          </a:prstGeom>
          <a:noFill/>
        </p:spPr>
        <p:txBody>
          <a:bodyPr wrap="none" lIns="0" rIns="0" tIns="0" bIns="0" anchor="t">
            <a:spAutoFit/>
          </a:bodyPr>
          <a:lstStyle/>
          <a:p>
            <a:pPr>
              <a:lnSpc>
                <a:spcPts val="1416"/>
              </a:lnSpc>
              <a:spcBef>
                <a:spcPts val="0"/>
              </a:spcBef>
              <a:spcAft>
                <a:spcPts val="0"/>
              </a:spcAft>
              <a:defRPr sz="1200" b="1">
                <a:solidFill>
                  <a:srgbClr val="A8BFA9"/>
                </a:solidFill>
                <a:latin typeface="Inter"/>
              </a:defRPr>
            </a:pPr>
            <a:r>
              <a:rPr lang="de-DE"/>
              <a:t>GEDANKE FÜR DIE PRAXIS</a:t>
            </a:r>
          </a:p>
        </p:txBody>
      </p:sp>
      <p:sp>
        <p:nvSpPr>
          <p:cNvPr id="6" name="Text 5"/>
          <p:cNvSpPr txBox="1"/>
          <p:nvPr/>
        </p:nvSpPr>
        <p:spPr>
          <a:xfrm>
            <a:off x="640080" y="1234440"/>
            <a:ext cx="1188720" cy="1698751"/>
          </a:xfrm>
          <a:prstGeom prst="rect">
            <a:avLst/>
          </a:prstGeom>
          <a:noFill/>
        </p:spPr>
        <p:txBody>
          <a:bodyPr wrap="none" lIns="0" rIns="0" tIns="0" bIns="0" anchor="t">
            <a:spAutoFit/>
          </a:bodyPr>
          <a:lstStyle/>
          <a:p>
            <a:pPr>
              <a:lnSpc>
                <a:spcPts val="12979"/>
              </a:lnSpc>
              <a:spcBef>
                <a:spcPts val="0"/>
              </a:spcBef>
              <a:spcAft>
                <a:spcPts val="0"/>
              </a:spcAft>
              <a:defRPr sz="11000" b="1">
                <a:solidFill>
                  <a:srgbClr val="D68B73"/>
                </a:solidFill>
                <a:latin typeface="Manrope"/>
              </a:defRPr>
            </a:pPr>
            <a:r>
              <a:rPr lang="de-DE"/>
              <a:t>„</a:t>
            </a:r>
          </a:p>
        </p:txBody>
      </p:sp>
      <p:sp>
        <p:nvSpPr>
          <p:cNvPr id="7" name="Text 6"/>
          <p:cNvSpPr txBox="1"/>
          <p:nvPr/>
        </p:nvSpPr>
        <p:spPr>
          <a:xfrm>
            <a:off x="1874519" y="1947672"/>
            <a:ext cx="9052560" cy="2743200"/>
          </a:xfrm>
          <a:prstGeom prst="rect">
            <a:avLst/>
          </a:prstGeom>
          <a:noFill/>
        </p:spPr>
        <p:txBody>
          <a:bodyPr wrap="none" lIns="0" rIns="0" tIns="0" bIns="0" anchor="t">
            <a:spAutoFit/>
          </a:bodyPr>
          <a:lstStyle/>
          <a:p>
            <a:pPr>
              <a:lnSpc>
                <a:spcPts val="4797"/>
              </a:lnSpc>
              <a:spcBef>
                <a:spcPts val="0"/>
              </a:spcBef>
              <a:spcAft>
                <a:spcPts val="0"/>
              </a:spcAft>
              <a:defRPr sz="4100" b="1">
                <a:solidFill>
                  <a:srgbClr val="F7F5EF"/>
                </a:solidFill>
                <a:latin typeface="Manrope"/>
              </a:defRPr>
            </a:pPr>
            <a:r>
              <a:rPr lang="de-DE"/>
              <a:t>Eine Beobachtung ist noch keine</a:t>
            </a:r>
          </a:p>
          <a:p>
            <a:pPr>
              <a:lnSpc>
                <a:spcPts val="4797"/>
              </a:lnSpc>
              <a:spcBef>
                <a:spcPts val="0"/>
              </a:spcBef>
              <a:spcAft>
                <a:spcPts val="0"/>
              </a:spcAft>
              <a:defRPr sz="4100" b="1">
                <a:solidFill>
                  <a:srgbClr val="F7F5EF"/>
                </a:solidFill>
                <a:latin typeface="Manrope"/>
              </a:defRPr>
            </a:pPr>
            <a:r>
              <a:rPr lang="de-DE"/>
              <a:t>Erklärung.</a:t>
            </a:r>
          </a:p>
        </p:txBody>
      </p:sp>
      <p:cxnSp>
        <p:nvCxnSpPr>
          <p:cNvPr id="8" name="Connector 7"/>
          <p:cNvCxnSpPr/>
          <p:nvPr/>
        </p:nvCxnSpPr>
        <p:spPr>
          <a:xfrm>
            <a:off x="1901952" y="5504688"/>
            <a:ext cx="914400" cy="0"/>
          </a:xfrm>
          <a:prstGeom prst="line">
            <a:avLst/>
          </a:prstGeom>
          <a:ln w="38100">
            <a:solidFill>
              <a:srgbClr val="E5BD70"/>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fast" advClick="1">
    <p:fade/>
  </p:transition>
</p:sld>
</file>

<file path=ppt/slides/slide25.xml><?xml version="1.0" encoding="utf-8"?>
<p:sld xmlns:a="http://schemas.openxmlformats.org/drawingml/2006/main" xmlns:p="http://schemas.openxmlformats.org/presentationml/2006/main" xmlns:r="http://schemas.openxmlformats.org/officeDocument/2006/relationships" showMasterSp="1">
  <p:cSld>
    <p:bg>
      <p:bgPr>
        <a:solidFill>
          <a:srgbClr val="F7F5EF"/>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25</a:t>
            </a:r>
          </a:p>
        </p:txBody>
      </p:sp>
      <p:sp>
        <p:nvSpPr>
          <p:cNvPr id="3" name="Text 2"/>
          <p:cNvSpPr txBox="1"/>
          <p:nvPr/>
        </p:nvSpPr>
        <p:spPr>
          <a:xfrm>
            <a:off x="594360" y="393192"/>
            <a:ext cx="10881360" cy="203644"/>
          </a:xfrm>
          <a:prstGeom prst="rect">
            <a:avLst/>
          </a:prstGeom>
          <a:noFill/>
        </p:spPr>
        <p:txBody>
          <a:bodyPr wrap="none" lIns="0" rIns="0" tIns="0" bIns="0" anchor="t">
            <a:spAutoFit/>
          </a:bodyPr>
          <a:lstStyle/>
          <a:p>
            <a:pPr>
              <a:lnSpc>
                <a:spcPts val="1207"/>
              </a:lnSpc>
              <a:spcBef>
                <a:spcPts val="0"/>
              </a:spcBef>
              <a:spcAft>
                <a:spcPts val="0"/>
              </a:spcAft>
              <a:defRPr sz="1150" b="1">
                <a:solidFill>
                  <a:srgbClr val="234B42"/>
                </a:solidFill>
                <a:latin typeface="Inter"/>
              </a:defRPr>
            </a:pPr>
            <a:r>
              <a:rPr lang="de-DE"/>
              <a:t>ANFORDERUNG → MÖGLICHE ÄUSSERE HILFE</a:t>
            </a:r>
          </a:p>
        </p:txBody>
      </p:sp>
      <p:sp>
        <p:nvSpPr>
          <p:cNvPr id="4" name="Text 3"/>
          <p:cNvSpPr txBox="1"/>
          <p:nvPr/>
        </p:nvSpPr>
        <p:spPr>
          <a:xfrm>
            <a:off x="594360" y="804672"/>
            <a:ext cx="10991088"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Anforderungen an die Selbststeuerung</a:t>
            </a:r>
          </a:p>
        </p:txBody>
      </p:sp>
      <p:sp>
        <p:nvSpPr>
          <p:cNvPr id="5" name="Text 4"/>
          <p:cNvSpPr txBox="1"/>
          <p:nvPr/>
        </p:nvSpPr>
        <p:spPr>
          <a:xfrm>
            <a:off x="777240" y="1644396"/>
            <a:ext cx="3108960" cy="245110"/>
          </a:xfrm>
          <a:prstGeom prst="rect">
            <a:avLst/>
          </a:prstGeom>
          <a:noFill/>
        </p:spPr>
        <p:txBody>
          <a:bodyPr wrap="none" lIns="0" rIns="0" tIns="0" bIns="0" anchor="t">
            <a:spAutoFit/>
          </a:bodyPr>
          <a:lstStyle/>
          <a:p>
            <a:pPr>
              <a:lnSpc>
                <a:spcPts val="1534"/>
              </a:lnSpc>
              <a:spcBef>
                <a:spcPts val="0"/>
              </a:spcBef>
              <a:spcAft>
                <a:spcPts val="0"/>
              </a:spcAft>
              <a:defRPr sz="1300" b="1">
                <a:solidFill>
                  <a:srgbClr val="63736A"/>
                </a:solidFill>
                <a:latin typeface="Inter"/>
              </a:defRPr>
            </a:pPr>
            <a:r>
              <a:rPr lang="de-DE"/>
              <a:t>Anforderung</a:t>
            </a:r>
          </a:p>
        </p:txBody>
      </p:sp>
      <p:sp>
        <p:nvSpPr>
          <p:cNvPr id="6" name="Text 5"/>
          <p:cNvSpPr txBox="1"/>
          <p:nvPr/>
        </p:nvSpPr>
        <p:spPr>
          <a:xfrm>
            <a:off x="4288536" y="1644396"/>
            <a:ext cx="3200400" cy="245110"/>
          </a:xfrm>
          <a:prstGeom prst="rect">
            <a:avLst/>
          </a:prstGeom>
          <a:noFill/>
        </p:spPr>
        <p:txBody>
          <a:bodyPr wrap="none" lIns="0" rIns="0" tIns="0" bIns="0" anchor="t">
            <a:spAutoFit/>
          </a:bodyPr>
          <a:lstStyle/>
          <a:p>
            <a:pPr>
              <a:lnSpc>
                <a:spcPts val="1534"/>
              </a:lnSpc>
              <a:spcBef>
                <a:spcPts val="0"/>
              </a:spcBef>
              <a:spcAft>
                <a:spcPts val="0"/>
              </a:spcAft>
              <a:defRPr sz="1300" b="1">
                <a:solidFill>
                  <a:srgbClr val="63736A"/>
                </a:solidFill>
                <a:latin typeface="Inter"/>
              </a:defRPr>
            </a:pPr>
            <a:r>
              <a:rPr lang="de-DE"/>
              <a:t>Mögliche Schwierigkeit</a:t>
            </a:r>
          </a:p>
        </p:txBody>
      </p:sp>
      <p:sp>
        <p:nvSpPr>
          <p:cNvPr id="7" name="Text 6"/>
          <p:cNvSpPr txBox="1"/>
          <p:nvPr/>
        </p:nvSpPr>
        <p:spPr>
          <a:xfrm>
            <a:off x="7882127" y="1644396"/>
            <a:ext cx="3511296" cy="245110"/>
          </a:xfrm>
          <a:prstGeom prst="rect">
            <a:avLst/>
          </a:prstGeom>
          <a:noFill/>
        </p:spPr>
        <p:txBody>
          <a:bodyPr wrap="none" lIns="0" rIns="0" tIns="0" bIns="0" anchor="t">
            <a:spAutoFit/>
          </a:bodyPr>
          <a:lstStyle/>
          <a:p>
            <a:pPr>
              <a:lnSpc>
                <a:spcPts val="1534"/>
              </a:lnSpc>
              <a:spcBef>
                <a:spcPts val="0"/>
              </a:spcBef>
              <a:spcAft>
                <a:spcPts val="0"/>
              </a:spcAft>
              <a:defRPr sz="1300" b="1">
                <a:solidFill>
                  <a:srgbClr val="63736A"/>
                </a:solidFill>
                <a:latin typeface="Inter"/>
              </a:defRPr>
            </a:pPr>
            <a:r>
              <a:rPr lang="de-DE"/>
              <a:t>Mögliche äußere Hilfe</a:t>
            </a:r>
          </a:p>
        </p:txBody>
      </p:sp>
      <p:sp>
        <p:nvSpPr>
          <p:cNvPr id="8" name="Rounded Rectangle 7"/>
          <p:cNvSpPr/>
          <p:nvPr/>
        </p:nvSpPr>
        <p:spPr>
          <a:xfrm>
            <a:off x="594360" y="2074164"/>
            <a:ext cx="11000232" cy="859536"/>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096512" y="2074164"/>
            <a:ext cx="3575304" cy="859536"/>
          </a:xfrm>
          <a:prstGeom prst="rect">
            <a:avLst/>
          </a:prstGeom>
          <a:solidFill>
            <a:srgbClr val="F1D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9"/>
          <p:cNvSpPr txBox="1"/>
          <p:nvPr/>
        </p:nvSpPr>
        <p:spPr>
          <a:xfrm>
            <a:off x="777240" y="2174748"/>
            <a:ext cx="3108960" cy="704088"/>
          </a:xfrm>
          <a:prstGeom prst="rect">
            <a:avLst/>
          </a:prstGeom>
          <a:noFill/>
        </p:spPr>
        <p:txBody>
          <a:bodyPr wrap="none" lIns="0" rIns="0" tIns="0" bIns="0" anchor="t">
            <a:spAutoFit/>
          </a:bodyPr>
          <a:lstStyle/>
          <a:p>
            <a:pPr>
              <a:lnSpc>
                <a:spcPts val="2360"/>
              </a:lnSpc>
              <a:spcBef>
                <a:spcPts val="0"/>
              </a:spcBef>
              <a:spcAft>
                <a:spcPts val="0"/>
              </a:spcAft>
              <a:defRPr sz="2000" b="1">
                <a:solidFill>
                  <a:srgbClr val="234B42"/>
                </a:solidFill>
                <a:latin typeface="Manrope"/>
              </a:defRPr>
            </a:pPr>
            <a:r>
              <a:rPr lang="de-DE"/>
              <a:t>Auftrag im Gedächtnis</a:t>
            </a:r>
          </a:p>
          <a:p>
            <a:pPr>
              <a:lnSpc>
                <a:spcPts val="2360"/>
              </a:lnSpc>
              <a:spcBef>
                <a:spcPts val="0"/>
              </a:spcBef>
              <a:spcAft>
                <a:spcPts val="0"/>
              </a:spcAft>
              <a:defRPr sz="2000" b="1">
                <a:solidFill>
                  <a:srgbClr val="234B42"/>
                </a:solidFill>
                <a:latin typeface="Manrope"/>
              </a:defRPr>
            </a:pPr>
            <a:r>
              <a:rPr lang="de-DE"/>
              <a:t>behalten</a:t>
            </a:r>
          </a:p>
        </p:txBody>
      </p:sp>
      <p:sp>
        <p:nvSpPr>
          <p:cNvPr id="11" name="Text 10"/>
          <p:cNvSpPr txBox="1"/>
          <p:nvPr/>
        </p:nvSpPr>
        <p:spPr>
          <a:xfrm>
            <a:off x="4288536" y="2174748"/>
            <a:ext cx="3200400" cy="704088"/>
          </a:xfrm>
          <a:prstGeom prst="rect">
            <a:avLst/>
          </a:prstGeom>
          <a:noFill/>
        </p:spPr>
        <p:txBody>
          <a:bodyPr wrap="none" lIns="0" rIns="0" tIns="0" bIns="0" anchor="t">
            <a:spAutoFit/>
          </a:bodyPr>
          <a:lstStyle/>
          <a:p>
            <a:pPr>
              <a:lnSpc>
                <a:spcPts val="2360"/>
              </a:lnSpc>
              <a:spcBef>
                <a:spcPts val="0"/>
              </a:spcBef>
              <a:spcAft>
                <a:spcPts val="0"/>
              </a:spcAft>
              <a:defRPr sz="2000" b="0">
                <a:solidFill>
                  <a:srgbClr val="26332F"/>
                </a:solidFill>
                <a:latin typeface="Inter"/>
              </a:defRPr>
            </a:pPr>
            <a:r>
              <a:rPr lang="de-DE"/>
              <a:t>Ein mehrteiliger Auftrag</a:t>
            </a:r>
          </a:p>
          <a:p>
            <a:pPr>
              <a:lnSpc>
                <a:spcPts val="2360"/>
              </a:lnSpc>
              <a:spcBef>
                <a:spcPts val="0"/>
              </a:spcBef>
              <a:spcAft>
                <a:spcPts val="0"/>
              </a:spcAft>
              <a:defRPr sz="2000" b="0">
                <a:solidFill>
                  <a:srgbClr val="26332F"/>
                </a:solidFill>
                <a:latin typeface="Inter"/>
              </a:defRPr>
            </a:pPr>
            <a:r>
              <a:rPr lang="de-DE"/>
              <a:t>geht unterwegs verloren.</a:t>
            </a:r>
          </a:p>
        </p:txBody>
      </p:sp>
      <p:sp>
        <p:nvSpPr>
          <p:cNvPr id="12" name="Text 11"/>
          <p:cNvSpPr txBox="1"/>
          <p:nvPr/>
        </p:nvSpPr>
        <p:spPr>
          <a:xfrm>
            <a:off x="7882127" y="2174748"/>
            <a:ext cx="3511296" cy="704088"/>
          </a:xfrm>
          <a:prstGeom prst="rect">
            <a:avLst/>
          </a:prstGeom>
          <a:noFill/>
        </p:spPr>
        <p:txBody>
          <a:bodyPr wrap="none" lIns="0" rIns="0" tIns="0" bIns="0" anchor="t">
            <a:spAutoFit/>
          </a:bodyPr>
          <a:lstStyle/>
          <a:p>
            <a:pPr>
              <a:lnSpc>
                <a:spcPts val="2360"/>
              </a:lnSpc>
              <a:spcBef>
                <a:spcPts val="0"/>
              </a:spcBef>
              <a:spcAft>
                <a:spcPts val="0"/>
              </a:spcAft>
              <a:defRPr sz="2000" b="0">
                <a:solidFill>
                  <a:srgbClr val="234B42"/>
                </a:solidFill>
                <a:latin typeface="Inter"/>
              </a:defRPr>
            </a:pPr>
            <a:r>
              <a:rPr lang="de-DE"/>
              <a:t>Einen Schritt sichtbar machen</a:t>
            </a:r>
          </a:p>
        </p:txBody>
      </p:sp>
      <p:sp>
        <p:nvSpPr>
          <p:cNvPr id="13" name="Rounded Rectangle 12"/>
          <p:cNvSpPr/>
          <p:nvPr/>
        </p:nvSpPr>
        <p:spPr>
          <a:xfrm>
            <a:off x="594360" y="3043428"/>
            <a:ext cx="11000232" cy="859536"/>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096512" y="3043428"/>
            <a:ext cx="3575304" cy="859536"/>
          </a:xfrm>
          <a:prstGeom prst="rect">
            <a:avLst/>
          </a:prstGeom>
          <a:solidFill>
            <a:srgbClr val="F1D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14"/>
          <p:cNvSpPr txBox="1"/>
          <p:nvPr/>
        </p:nvSpPr>
        <p:spPr>
          <a:xfrm>
            <a:off x="777240" y="3144012"/>
            <a:ext cx="3108960" cy="704088"/>
          </a:xfrm>
          <a:prstGeom prst="rect">
            <a:avLst/>
          </a:prstGeom>
          <a:noFill/>
        </p:spPr>
        <p:txBody>
          <a:bodyPr wrap="none" lIns="0" rIns="0" tIns="0" bIns="0" anchor="t">
            <a:spAutoFit/>
          </a:bodyPr>
          <a:lstStyle/>
          <a:p>
            <a:pPr>
              <a:lnSpc>
                <a:spcPts val="2360"/>
              </a:lnSpc>
              <a:spcBef>
                <a:spcPts val="0"/>
              </a:spcBef>
              <a:spcAft>
                <a:spcPts val="0"/>
              </a:spcAft>
              <a:defRPr sz="2000" b="1">
                <a:solidFill>
                  <a:srgbClr val="234B42"/>
                </a:solidFill>
                <a:latin typeface="Manrope"/>
              </a:defRPr>
            </a:pPr>
            <a:r>
              <a:rPr lang="de-DE"/>
              <a:t>Eine Handlung beginnen</a:t>
            </a:r>
          </a:p>
        </p:txBody>
      </p:sp>
      <p:sp>
        <p:nvSpPr>
          <p:cNvPr id="16" name="Text 15"/>
          <p:cNvSpPr txBox="1"/>
          <p:nvPr/>
        </p:nvSpPr>
        <p:spPr>
          <a:xfrm>
            <a:off x="4288536" y="3144012"/>
            <a:ext cx="3200400" cy="704088"/>
          </a:xfrm>
          <a:prstGeom prst="rect">
            <a:avLst/>
          </a:prstGeom>
          <a:noFill/>
        </p:spPr>
        <p:txBody>
          <a:bodyPr wrap="none" lIns="0" rIns="0" tIns="0" bIns="0" anchor="t">
            <a:spAutoFit/>
          </a:bodyPr>
          <a:lstStyle/>
          <a:p>
            <a:pPr>
              <a:lnSpc>
                <a:spcPts val="2360"/>
              </a:lnSpc>
              <a:spcBef>
                <a:spcPts val="0"/>
              </a:spcBef>
              <a:spcAft>
                <a:spcPts val="0"/>
              </a:spcAft>
              <a:defRPr sz="2000" b="0">
                <a:solidFill>
                  <a:srgbClr val="26332F"/>
                </a:solidFill>
                <a:latin typeface="Inter"/>
              </a:defRPr>
            </a:pPr>
            <a:r>
              <a:rPr lang="de-DE"/>
              <a:t>Auftrag kennen, unter</a:t>
            </a:r>
          </a:p>
          <a:p>
            <a:pPr>
              <a:lnSpc>
                <a:spcPts val="2360"/>
              </a:lnSpc>
              <a:spcBef>
                <a:spcPts val="0"/>
              </a:spcBef>
              <a:spcAft>
                <a:spcPts val="0"/>
              </a:spcAft>
              <a:defRPr sz="2000" b="0">
                <a:solidFill>
                  <a:srgbClr val="26332F"/>
                </a:solidFill>
                <a:latin typeface="Inter"/>
              </a:defRPr>
            </a:pPr>
            <a:r>
              <a:rPr lang="de-DE"/>
              <a:t>Ablenkung nicht umsetzen.</a:t>
            </a:r>
          </a:p>
        </p:txBody>
      </p:sp>
      <p:sp>
        <p:nvSpPr>
          <p:cNvPr id="17" name="Text 16"/>
          <p:cNvSpPr txBox="1"/>
          <p:nvPr/>
        </p:nvSpPr>
        <p:spPr>
          <a:xfrm>
            <a:off x="7882127" y="3144012"/>
            <a:ext cx="3511296" cy="704088"/>
          </a:xfrm>
          <a:prstGeom prst="rect">
            <a:avLst/>
          </a:prstGeom>
          <a:noFill/>
        </p:spPr>
        <p:txBody>
          <a:bodyPr wrap="none" lIns="0" rIns="0" tIns="0" bIns="0" anchor="t">
            <a:spAutoFit/>
          </a:bodyPr>
          <a:lstStyle/>
          <a:p>
            <a:pPr>
              <a:lnSpc>
                <a:spcPts val="2360"/>
              </a:lnSpc>
              <a:spcBef>
                <a:spcPts val="0"/>
              </a:spcBef>
              <a:spcAft>
                <a:spcPts val="0"/>
              </a:spcAft>
              <a:defRPr sz="2000" b="0">
                <a:solidFill>
                  <a:srgbClr val="234B42"/>
                </a:solidFill>
                <a:latin typeface="Inter"/>
              </a:defRPr>
            </a:pPr>
            <a:r>
              <a:rPr lang="de-DE"/>
              <a:t>Den Anfang gemeinsam</a:t>
            </a:r>
          </a:p>
          <a:p>
            <a:pPr>
              <a:lnSpc>
                <a:spcPts val="2360"/>
              </a:lnSpc>
              <a:spcBef>
                <a:spcPts val="0"/>
              </a:spcBef>
              <a:spcAft>
                <a:spcPts val="0"/>
              </a:spcAft>
              <a:defRPr sz="2000" b="0">
                <a:solidFill>
                  <a:srgbClr val="234B42"/>
                </a:solidFill>
                <a:latin typeface="Inter"/>
              </a:defRPr>
            </a:pPr>
            <a:r>
              <a:rPr lang="de-DE"/>
              <a:t>gestalten</a:t>
            </a:r>
          </a:p>
        </p:txBody>
      </p:sp>
      <p:sp>
        <p:nvSpPr>
          <p:cNvPr id="18" name="Rounded Rectangle 17"/>
          <p:cNvSpPr/>
          <p:nvPr/>
        </p:nvSpPr>
        <p:spPr>
          <a:xfrm>
            <a:off x="594360" y="4012692"/>
            <a:ext cx="11000232" cy="859536"/>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096512" y="4012692"/>
            <a:ext cx="3575304" cy="859536"/>
          </a:xfrm>
          <a:prstGeom prst="rect">
            <a:avLst/>
          </a:prstGeom>
          <a:solidFill>
            <a:srgbClr val="F1D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 19"/>
          <p:cNvSpPr txBox="1"/>
          <p:nvPr/>
        </p:nvSpPr>
        <p:spPr>
          <a:xfrm>
            <a:off x="777240" y="4113276"/>
            <a:ext cx="3108960" cy="704088"/>
          </a:xfrm>
          <a:prstGeom prst="rect">
            <a:avLst/>
          </a:prstGeom>
          <a:noFill/>
        </p:spPr>
        <p:txBody>
          <a:bodyPr wrap="none" lIns="0" rIns="0" tIns="0" bIns="0" anchor="t">
            <a:spAutoFit/>
          </a:bodyPr>
          <a:lstStyle/>
          <a:p>
            <a:pPr>
              <a:lnSpc>
                <a:spcPts val="2360"/>
              </a:lnSpc>
              <a:spcBef>
                <a:spcPts val="0"/>
              </a:spcBef>
              <a:spcAft>
                <a:spcPts val="0"/>
              </a:spcAft>
              <a:defRPr sz="2000" b="1">
                <a:solidFill>
                  <a:srgbClr val="234B42"/>
                </a:solidFill>
                <a:latin typeface="Manrope"/>
              </a:defRPr>
            </a:pPr>
            <a:r>
              <a:rPr lang="de-DE"/>
              <a:t>Einen Impuls</a:t>
            </a:r>
          </a:p>
          <a:p>
            <a:pPr>
              <a:lnSpc>
                <a:spcPts val="2360"/>
              </a:lnSpc>
              <a:spcBef>
                <a:spcPts val="0"/>
              </a:spcBef>
              <a:spcAft>
                <a:spcPts val="0"/>
              </a:spcAft>
              <a:defRPr sz="2000" b="1">
                <a:solidFill>
                  <a:srgbClr val="234B42"/>
                </a:solidFill>
                <a:latin typeface="Manrope"/>
              </a:defRPr>
            </a:pPr>
            <a:r>
              <a:rPr lang="de-DE"/>
              <a:t>unterbrechen</a:t>
            </a:r>
          </a:p>
        </p:txBody>
      </p:sp>
      <p:sp>
        <p:nvSpPr>
          <p:cNvPr id="21" name="Text 20"/>
          <p:cNvSpPr txBox="1"/>
          <p:nvPr/>
        </p:nvSpPr>
        <p:spPr>
          <a:xfrm>
            <a:off x="4288536" y="4113276"/>
            <a:ext cx="3200400" cy="704088"/>
          </a:xfrm>
          <a:prstGeom prst="rect">
            <a:avLst/>
          </a:prstGeom>
          <a:noFill/>
        </p:spPr>
        <p:txBody>
          <a:bodyPr wrap="none" lIns="0" rIns="0" tIns="0" bIns="0" anchor="t">
            <a:spAutoFit/>
          </a:bodyPr>
          <a:lstStyle/>
          <a:p>
            <a:pPr>
              <a:lnSpc>
                <a:spcPts val="2360"/>
              </a:lnSpc>
              <a:spcBef>
                <a:spcPts val="0"/>
              </a:spcBef>
              <a:spcAft>
                <a:spcPts val="0"/>
              </a:spcAft>
              <a:defRPr sz="2000" b="0">
                <a:solidFill>
                  <a:srgbClr val="26332F"/>
                </a:solidFill>
                <a:latin typeface="Inter"/>
              </a:defRPr>
            </a:pPr>
            <a:r>
              <a:rPr lang="de-DE"/>
              <a:t>Greifen, bevor Abwarten</a:t>
            </a:r>
          </a:p>
          <a:p>
            <a:pPr>
              <a:lnSpc>
                <a:spcPts val="2360"/>
              </a:lnSpc>
              <a:spcBef>
                <a:spcPts val="0"/>
              </a:spcBef>
              <a:spcAft>
                <a:spcPts val="0"/>
              </a:spcAft>
              <a:defRPr sz="2000" b="0">
                <a:solidFill>
                  <a:srgbClr val="26332F"/>
                </a:solidFill>
                <a:latin typeface="Inter"/>
              </a:defRPr>
            </a:pPr>
            <a:r>
              <a:rPr lang="de-DE"/>
              <a:t>gelingt.</a:t>
            </a:r>
          </a:p>
        </p:txBody>
      </p:sp>
      <p:sp>
        <p:nvSpPr>
          <p:cNvPr id="22" name="Text 21"/>
          <p:cNvSpPr txBox="1"/>
          <p:nvPr/>
        </p:nvSpPr>
        <p:spPr>
          <a:xfrm>
            <a:off x="7882127" y="4113276"/>
            <a:ext cx="3511296" cy="704088"/>
          </a:xfrm>
          <a:prstGeom prst="rect">
            <a:avLst/>
          </a:prstGeom>
          <a:noFill/>
        </p:spPr>
        <p:txBody>
          <a:bodyPr wrap="none" lIns="0" rIns="0" tIns="0" bIns="0" anchor="t">
            <a:spAutoFit/>
          </a:bodyPr>
          <a:lstStyle/>
          <a:p>
            <a:pPr>
              <a:lnSpc>
                <a:spcPts val="2360"/>
              </a:lnSpc>
              <a:spcBef>
                <a:spcPts val="0"/>
              </a:spcBef>
              <a:spcAft>
                <a:spcPts val="0"/>
              </a:spcAft>
              <a:defRPr sz="2000" b="0">
                <a:solidFill>
                  <a:srgbClr val="234B42"/>
                </a:solidFill>
                <a:latin typeface="Inter"/>
              </a:defRPr>
            </a:pPr>
            <a:r>
              <a:rPr lang="de-DE"/>
              <a:t>Kurz begleiten und eine</a:t>
            </a:r>
          </a:p>
          <a:p>
            <a:pPr>
              <a:lnSpc>
                <a:spcPts val="2360"/>
              </a:lnSpc>
              <a:spcBef>
                <a:spcPts val="0"/>
              </a:spcBef>
              <a:spcAft>
                <a:spcPts val="0"/>
              </a:spcAft>
              <a:defRPr sz="2000" b="0">
                <a:solidFill>
                  <a:srgbClr val="234B42"/>
                </a:solidFill>
                <a:latin typeface="Inter"/>
              </a:defRPr>
            </a:pPr>
            <a:r>
              <a:rPr lang="de-DE"/>
              <a:t>Alternative zeigen</a:t>
            </a:r>
          </a:p>
        </p:txBody>
      </p:sp>
      <p:sp>
        <p:nvSpPr>
          <p:cNvPr id="23" name="Rounded Rectangle 22"/>
          <p:cNvSpPr/>
          <p:nvPr/>
        </p:nvSpPr>
        <p:spPr>
          <a:xfrm>
            <a:off x="594360" y="4981956"/>
            <a:ext cx="11000232" cy="859536"/>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096512" y="4981956"/>
            <a:ext cx="3575304" cy="859536"/>
          </a:xfrm>
          <a:prstGeom prst="rect">
            <a:avLst/>
          </a:prstGeom>
          <a:solidFill>
            <a:srgbClr val="F1D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 24"/>
          <p:cNvSpPr txBox="1"/>
          <p:nvPr/>
        </p:nvSpPr>
        <p:spPr>
          <a:xfrm>
            <a:off x="777240" y="5082540"/>
            <a:ext cx="3108960" cy="704088"/>
          </a:xfrm>
          <a:prstGeom prst="rect">
            <a:avLst/>
          </a:prstGeom>
          <a:noFill/>
        </p:spPr>
        <p:txBody>
          <a:bodyPr wrap="none" lIns="0" rIns="0" tIns="0" bIns="0" anchor="t">
            <a:spAutoFit/>
          </a:bodyPr>
          <a:lstStyle/>
          <a:p>
            <a:pPr>
              <a:lnSpc>
                <a:spcPts val="2360"/>
              </a:lnSpc>
              <a:spcBef>
                <a:spcPts val="0"/>
              </a:spcBef>
              <a:spcAft>
                <a:spcPts val="0"/>
              </a:spcAft>
              <a:defRPr sz="2000" b="1">
                <a:solidFill>
                  <a:srgbClr val="234B42"/>
                </a:solidFill>
                <a:latin typeface="Manrope"/>
              </a:defRPr>
            </a:pPr>
            <a:r>
              <a:rPr lang="de-DE"/>
              <a:t>Zwischen Tätigkeiten</a:t>
            </a:r>
          </a:p>
          <a:p>
            <a:pPr>
              <a:lnSpc>
                <a:spcPts val="2360"/>
              </a:lnSpc>
              <a:spcBef>
                <a:spcPts val="0"/>
              </a:spcBef>
              <a:spcAft>
                <a:spcPts val="0"/>
              </a:spcAft>
              <a:defRPr sz="2000" b="1">
                <a:solidFill>
                  <a:srgbClr val="234B42"/>
                </a:solidFill>
                <a:latin typeface="Manrope"/>
              </a:defRPr>
            </a:pPr>
            <a:r>
              <a:rPr lang="de-DE"/>
              <a:t>wechseln</a:t>
            </a:r>
          </a:p>
        </p:txBody>
      </p:sp>
      <p:sp>
        <p:nvSpPr>
          <p:cNvPr id="26" name="Text 25"/>
          <p:cNvSpPr txBox="1"/>
          <p:nvPr/>
        </p:nvSpPr>
        <p:spPr>
          <a:xfrm>
            <a:off x="4288536" y="5082540"/>
            <a:ext cx="3200400" cy="704088"/>
          </a:xfrm>
          <a:prstGeom prst="rect">
            <a:avLst/>
          </a:prstGeom>
          <a:noFill/>
        </p:spPr>
        <p:txBody>
          <a:bodyPr wrap="none" lIns="0" rIns="0" tIns="0" bIns="0" anchor="t">
            <a:spAutoFit/>
          </a:bodyPr>
          <a:lstStyle/>
          <a:p>
            <a:pPr>
              <a:lnSpc>
                <a:spcPts val="2360"/>
              </a:lnSpc>
              <a:spcBef>
                <a:spcPts val="0"/>
              </a:spcBef>
              <a:spcAft>
                <a:spcPts val="0"/>
              </a:spcAft>
              <a:defRPr sz="2000" b="0">
                <a:solidFill>
                  <a:srgbClr val="26332F"/>
                </a:solidFill>
                <a:latin typeface="Inter"/>
              </a:defRPr>
            </a:pPr>
            <a:r>
              <a:rPr lang="de-DE"/>
              <a:t>Beim Wechsel die</a:t>
            </a:r>
          </a:p>
          <a:p>
            <a:pPr>
              <a:lnSpc>
                <a:spcPts val="2360"/>
              </a:lnSpc>
              <a:spcBef>
                <a:spcPts val="0"/>
              </a:spcBef>
              <a:spcAft>
                <a:spcPts val="0"/>
              </a:spcAft>
              <a:defRPr sz="2000" b="0">
                <a:solidFill>
                  <a:srgbClr val="26332F"/>
                </a:solidFill>
                <a:latin typeface="Inter"/>
              </a:defRPr>
            </a:pPr>
            <a:r>
              <a:rPr lang="de-DE"/>
              <a:t>Orientierung verlieren.</a:t>
            </a:r>
          </a:p>
        </p:txBody>
      </p:sp>
      <p:sp>
        <p:nvSpPr>
          <p:cNvPr id="27" name="Text 26"/>
          <p:cNvSpPr txBox="1"/>
          <p:nvPr/>
        </p:nvSpPr>
        <p:spPr>
          <a:xfrm>
            <a:off x="7882127" y="5082540"/>
            <a:ext cx="3511296" cy="704088"/>
          </a:xfrm>
          <a:prstGeom prst="rect">
            <a:avLst/>
          </a:prstGeom>
          <a:noFill/>
        </p:spPr>
        <p:txBody>
          <a:bodyPr wrap="none" lIns="0" rIns="0" tIns="0" bIns="0" anchor="t">
            <a:spAutoFit/>
          </a:bodyPr>
          <a:lstStyle/>
          <a:p>
            <a:pPr>
              <a:lnSpc>
                <a:spcPts val="2360"/>
              </a:lnSpc>
              <a:spcBef>
                <a:spcPts val="0"/>
              </a:spcBef>
              <a:spcAft>
                <a:spcPts val="0"/>
              </a:spcAft>
              <a:defRPr sz="2000" b="0">
                <a:solidFill>
                  <a:srgbClr val="234B42"/>
                </a:solidFill>
                <a:latin typeface="Inter"/>
              </a:defRPr>
            </a:pPr>
            <a:r>
              <a:rPr lang="de-DE"/>
              <a:t>Den Abschluss und nächsten</a:t>
            </a:r>
          </a:p>
          <a:p>
            <a:pPr>
              <a:lnSpc>
                <a:spcPts val="2360"/>
              </a:lnSpc>
              <a:spcBef>
                <a:spcPts val="0"/>
              </a:spcBef>
              <a:spcAft>
                <a:spcPts val="0"/>
              </a:spcAft>
              <a:defRPr sz="2000" b="0">
                <a:solidFill>
                  <a:srgbClr val="234B42"/>
                </a:solidFill>
                <a:latin typeface="Inter"/>
              </a:defRPr>
            </a:pPr>
            <a:r>
              <a:rPr lang="de-DE"/>
              <a:t>Schritt ankündigen</a:t>
            </a:r>
          </a:p>
        </p:txBody>
      </p:sp>
    </p:spTree>
  </p:cSld>
  <p:clrMapOvr>
    <a:masterClrMapping/>
  </p:clrMapOvr>
  <p:transition spd="fast" advClick="1">
    <p:fade/>
  </p:transition>
</p:sld>
</file>

<file path=ppt/slides/slide26.xml><?xml version="1.0" encoding="utf-8"?>
<p:sld xmlns:a="http://schemas.openxmlformats.org/drawingml/2006/main" xmlns:p="http://schemas.openxmlformats.org/presentationml/2006/main" xmlns:r="http://schemas.openxmlformats.org/officeDocument/2006/relationships" showMasterSp="1">
  <p:cSld>
    <p:bg>
      <p:bgPr>
        <a:solidFill>
          <a:srgbClr val="F7F5EF"/>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26</a:t>
            </a:r>
          </a:p>
        </p:txBody>
      </p:sp>
      <p:sp>
        <p:nvSpPr>
          <p:cNvPr id="3" name="Text 2"/>
          <p:cNvSpPr txBox="1"/>
          <p:nvPr/>
        </p:nvSpPr>
        <p:spPr>
          <a:xfrm>
            <a:off x="594360" y="393192"/>
            <a:ext cx="10881360" cy="203644"/>
          </a:xfrm>
          <a:prstGeom prst="rect">
            <a:avLst/>
          </a:prstGeom>
          <a:noFill/>
        </p:spPr>
        <p:txBody>
          <a:bodyPr wrap="none" lIns="0" rIns="0" tIns="0" bIns="0" anchor="t">
            <a:spAutoFit/>
          </a:bodyPr>
          <a:lstStyle/>
          <a:p>
            <a:pPr>
              <a:lnSpc>
                <a:spcPts val="1207"/>
              </a:lnSpc>
              <a:spcBef>
                <a:spcPts val="0"/>
              </a:spcBef>
              <a:spcAft>
                <a:spcPts val="0"/>
              </a:spcAft>
              <a:defRPr sz="1150" b="1">
                <a:solidFill>
                  <a:srgbClr val="234B42"/>
                </a:solidFill>
                <a:latin typeface="Inter"/>
              </a:defRPr>
            </a:pPr>
            <a:r>
              <a:rPr lang="de-DE"/>
              <a:t>KONZENTRATION IM ALLTAG</a:t>
            </a:r>
          </a:p>
        </p:txBody>
      </p:sp>
      <p:sp>
        <p:nvSpPr>
          <p:cNvPr id="4" name="Text 3"/>
          <p:cNvSpPr txBox="1"/>
          <p:nvPr/>
        </p:nvSpPr>
        <p:spPr>
          <a:xfrm>
            <a:off x="594360" y="804672"/>
            <a:ext cx="10991088"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Aufmerksamkeit hängt vom Kontext ab</a:t>
            </a:r>
          </a:p>
        </p:txBody>
      </p:sp>
      <p:pic>
        <p:nvPicPr>
          <p:cNvPr id="5" name="Picture 4" descr="04_morgenkreis_teilhabe.png"/>
          <p:cNvPicPr>
            <a:picLocks noChangeAspect="1"/>
          </p:cNvPicPr>
          <p:nvPr/>
        </p:nvPicPr>
        <p:blipFill>
          <a:blip r:embed="rId3"/>
          <a:srcRect t="19679" b="19679"/>
          <a:stretch>
            <a:fillRect/>
          </a:stretch>
        </p:blipFill>
        <p:spPr>
          <a:xfrm>
            <a:off x="594360" y="1644396"/>
            <a:ext cx="5358384" cy="1828800"/>
          </a:xfrm>
          <a:prstGeom prst="rect">
            <a:avLst/>
          </a:prstGeom>
        </p:spPr>
      </p:pic>
      <p:sp>
        <p:nvSpPr>
          <p:cNvPr id="6" name="Text 5"/>
          <p:cNvSpPr txBox="1"/>
          <p:nvPr/>
        </p:nvSpPr>
        <p:spPr>
          <a:xfrm>
            <a:off x="594360" y="3637788"/>
            <a:ext cx="5358384" cy="364997"/>
          </a:xfrm>
          <a:prstGeom prst="rect">
            <a:avLst/>
          </a:prstGeom>
          <a:noFill/>
        </p:spPr>
        <p:txBody>
          <a:bodyPr wrap="none" lIns="0" rIns="0" tIns="0" bIns="0" anchor="t">
            <a:spAutoFit/>
          </a:bodyPr>
          <a:lstStyle/>
          <a:p>
            <a:pPr>
              <a:lnSpc>
                <a:spcPts val="2477"/>
              </a:lnSpc>
              <a:spcBef>
                <a:spcPts val="0"/>
              </a:spcBef>
              <a:spcAft>
                <a:spcPts val="0"/>
              </a:spcAft>
              <a:defRPr sz="2100" b="1">
                <a:solidFill>
                  <a:srgbClr val="234B42"/>
                </a:solidFill>
                <a:latin typeface="Manrope"/>
              </a:defRPr>
            </a:pPr>
            <a:r>
              <a:rPr lang="de-DE"/>
              <a:t>Eine Situation erschwert es</a:t>
            </a:r>
          </a:p>
        </p:txBody>
      </p:sp>
      <p:sp>
        <p:nvSpPr>
          <p:cNvPr id="7" name="Rectangle 6"/>
          <p:cNvSpPr/>
          <p:nvPr/>
        </p:nvSpPr>
        <p:spPr>
          <a:xfrm>
            <a:off x="594360" y="4264152"/>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 7"/>
          <p:cNvSpPr txBox="1"/>
          <p:nvPr/>
        </p:nvSpPr>
        <p:spPr>
          <a:xfrm>
            <a:off x="813816" y="4140708"/>
            <a:ext cx="5138928" cy="357504"/>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6332F"/>
                </a:solidFill>
                <a:latin typeface="Inter"/>
              </a:defRPr>
            </a:pPr>
            <a:r>
              <a:rPr lang="de-DE"/>
              <a:t>Langes Warten</a:t>
            </a:r>
          </a:p>
        </p:txBody>
      </p:sp>
      <p:sp>
        <p:nvSpPr>
          <p:cNvPr id="9" name="Rectangle 8"/>
          <p:cNvSpPr/>
          <p:nvPr/>
        </p:nvSpPr>
        <p:spPr>
          <a:xfrm>
            <a:off x="594360" y="4740529"/>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9"/>
          <p:cNvSpPr txBox="1"/>
          <p:nvPr/>
        </p:nvSpPr>
        <p:spPr>
          <a:xfrm>
            <a:off x="813816" y="4617085"/>
            <a:ext cx="5138928" cy="357504"/>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6332F"/>
                </a:solidFill>
                <a:latin typeface="Inter"/>
              </a:defRPr>
            </a:pPr>
            <a:r>
              <a:rPr lang="de-DE"/>
              <a:t>Viele konkurrierende Reize</a:t>
            </a:r>
          </a:p>
        </p:txBody>
      </p:sp>
      <p:sp>
        <p:nvSpPr>
          <p:cNvPr id="11" name="Rectangle 10"/>
          <p:cNvSpPr/>
          <p:nvPr/>
        </p:nvSpPr>
        <p:spPr>
          <a:xfrm>
            <a:off x="594360" y="5216906"/>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11"/>
          <p:cNvSpPr txBox="1"/>
          <p:nvPr/>
        </p:nvSpPr>
        <p:spPr>
          <a:xfrm>
            <a:off x="813816" y="5093462"/>
            <a:ext cx="5138928" cy="357504"/>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6332F"/>
                </a:solidFill>
                <a:latin typeface="Inter"/>
              </a:defRPr>
            </a:pPr>
            <a:r>
              <a:rPr lang="de-DE"/>
              <a:t>Ein unüberschaubarer Auftrag</a:t>
            </a:r>
          </a:p>
        </p:txBody>
      </p:sp>
      <p:pic>
        <p:nvPicPr>
          <p:cNvPr id="13" name="Picture 12" descr="01_kita_cover.png"/>
          <p:cNvPicPr>
            <a:picLocks noChangeAspect="1"/>
          </p:cNvPicPr>
          <p:nvPr/>
        </p:nvPicPr>
        <p:blipFill>
          <a:blip r:embed="rId4"/>
          <a:srcRect t="19679" b="19679"/>
          <a:stretch>
            <a:fillRect/>
          </a:stretch>
        </p:blipFill>
        <p:spPr>
          <a:xfrm>
            <a:off x="6236208" y="1644396"/>
            <a:ext cx="5358384" cy="1828800"/>
          </a:xfrm>
          <a:prstGeom prst="rect">
            <a:avLst/>
          </a:prstGeom>
        </p:spPr>
      </p:pic>
      <p:sp>
        <p:nvSpPr>
          <p:cNvPr id="14" name="Text 13"/>
          <p:cNvSpPr txBox="1"/>
          <p:nvPr/>
        </p:nvSpPr>
        <p:spPr>
          <a:xfrm>
            <a:off x="6236208" y="3637788"/>
            <a:ext cx="5358384" cy="364997"/>
          </a:xfrm>
          <a:prstGeom prst="rect">
            <a:avLst/>
          </a:prstGeom>
          <a:noFill/>
        </p:spPr>
        <p:txBody>
          <a:bodyPr wrap="none" lIns="0" rIns="0" tIns="0" bIns="0" anchor="t">
            <a:spAutoFit/>
          </a:bodyPr>
          <a:lstStyle/>
          <a:p>
            <a:pPr>
              <a:lnSpc>
                <a:spcPts val="2477"/>
              </a:lnSpc>
              <a:spcBef>
                <a:spcPts val="0"/>
              </a:spcBef>
              <a:spcAft>
                <a:spcPts val="0"/>
              </a:spcAft>
              <a:defRPr sz="2100" b="1">
                <a:solidFill>
                  <a:srgbClr val="234B42"/>
                </a:solidFill>
                <a:latin typeface="Manrope"/>
              </a:defRPr>
            </a:pPr>
            <a:r>
              <a:rPr lang="de-DE"/>
              <a:t>Eine andere erleichtert es</a:t>
            </a:r>
          </a:p>
        </p:txBody>
      </p:sp>
      <p:sp>
        <p:nvSpPr>
          <p:cNvPr id="15" name="Rectangle 14"/>
          <p:cNvSpPr/>
          <p:nvPr/>
        </p:nvSpPr>
        <p:spPr>
          <a:xfrm>
            <a:off x="6236208" y="4264152"/>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15"/>
          <p:cNvSpPr txBox="1"/>
          <p:nvPr/>
        </p:nvSpPr>
        <p:spPr>
          <a:xfrm>
            <a:off x="6455664" y="4140708"/>
            <a:ext cx="5138928" cy="357504"/>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6332F"/>
                </a:solidFill>
                <a:latin typeface="Inter"/>
              </a:defRPr>
            </a:pPr>
            <a:r>
              <a:rPr lang="de-DE"/>
              <a:t>Ein starkes Interesse</a:t>
            </a:r>
          </a:p>
        </p:txBody>
      </p:sp>
      <p:sp>
        <p:nvSpPr>
          <p:cNvPr id="17" name="Rectangle 16"/>
          <p:cNvSpPr/>
          <p:nvPr/>
        </p:nvSpPr>
        <p:spPr>
          <a:xfrm>
            <a:off x="6236208" y="4740529"/>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17"/>
          <p:cNvSpPr txBox="1"/>
          <p:nvPr/>
        </p:nvSpPr>
        <p:spPr>
          <a:xfrm>
            <a:off x="6455664" y="4617085"/>
            <a:ext cx="5138928" cy="357504"/>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6332F"/>
                </a:solidFill>
                <a:latin typeface="Inter"/>
              </a:defRPr>
            </a:pPr>
            <a:r>
              <a:rPr lang="de-DE"/>
              <a:t>Ein klarer erster Schritt</a:t>
            </a:r>
          </a:p>
        </p:txBody>
      </p:sp>
      <p:sp>
        <p:nvSpPr>
          <p:cNvPr id="19" name="Rectangle 18"/>
          <p:cNvSpPr/>
          <p:nvPr/>
        </p:nvSpPr>
        <p:spPr>
          <a:xfrm>
            <a:off x="6236208" y="5216906"/>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 19"/>
          <p:cNvSpPr txBox="1"/>
          <p:nvPr/>
        </p:nvSpPr>
        <p:spPr>
          <a:xfrm>
            <a:off x="6455664" y="5093462"/>
            <a:ext cx="5138928" cy="357504"/>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6332F"/>
                </a:solidFill>
                <a:latin typeface="Inter"/>
              </a:defRPr>
            </a:pPr>
            <a:r>
              <a:rPr lang="de-DE"/>
              <a:t>Zeitnahe Unterstützung</a:t>
            </a:r>
          </a:p>
        </p:txBody>
      </p:sp>
      <p:cxnSp>
        <p:nvCxnSpPr>
          <p:cNvPr id="21" name="Connector 20"/>
          <p:cNvCxnSpPr/>
          <p:nvPr/>
        </p:nvCxnSpPr>
        <p:spPr>
          <a:xfrm>
            <a:off x="594360" y="5495544"/>
            <a:ext cx="502920" cy="0"/>
          </a:xfrm>
          <a:prstGeom prst="line">
            <a:avLst/>
          </a:prstGeom>
          <a:ln w="27940">
            <a:solidFill>
              <a:srgbClr val="D68B73"/>
            </a:solidFill>
          </a:ln>
        </p:spPr>
        <p:style>
          <a:lnRef idx="2">
            <a:schemeClr val="accent1"/>
          </a:lnRef>
          <a:fillRef idx="0">
            <a:schemeClr val="accent1"/>
          </a:fillRef>
          <a:effectRef idx="1">
            <a:schemeClr val="accent1"/>
          </a:effectRef>
          <a:fontRef idx="minor">
            <a:schemeClr val="tx1"/>
          </a:fontRef>
        </p:style>
      </p:cxnSp>
      <p:sp>
        <p:nvSpPr>
          <p:cNvPr id="22" name="Text 21"/>
          <p:cNvSpPr txBox="1"/>
          <p:nvPr/>
        </p:nvSpPr>
        <p:spPr>
          <a:xfrm>
            <a:off x="594360" y="5623560"/>
            <a:ext cx="10972800" cy="694944"/>
          </a:xfrm>
          <a:prstGeom prst="rect">
            <a:avLst/>
          </a:prstGeom>
          <a:noFill/>
        </p:spPr>
        <p:txBody>
          <a:bodyPr wrap="none" lIns="0" rIns="0" tIns="0" bIns="0" anchor="t">
            <a:spAutoFit/>
          </a:bodyPr>
          <a:lstStyle/>
          <a:p>
            <a:pPr>
              <a:lnSpc>
                <a:spcPts val="2419"/>
              </a:lnSpc>
              <a:spcBef>
                <a:spcPts val="0"/>
              </a:spcBef>
              <a:spcAft>
                <a:spcPts val="0"/>
              </a:spcAft>
              <a:defRPr sz="2050" b="1">
                <a:solidFill>
                  <a:srgbClr val="234B42"/>
                </a:solidFill>
                <a:latin typeface="Manrope"/>
              </a:defRPr>
            </a:pPr>
            <a:r>
              <a:rPr lang="de-DE"/>
              <a:t>Langes Spielen bei einem Lieblingsthema schließt ADHS nicht aus.</a:t>
            </a:r>
          </a:p>
        </p:txBody>
      </p:sp>
    </p:spTree>
  </p:cSld>
  <p:clrMapOvr>
    <a:masterClrMapping/>
  </p:clrMapOvr>
  <p:transition spd="fast" advClick="1">
    <p:fade/>
  </p:transition>
</p:sld>
</file>

<file path=ppt/slides/slide27.xml><?xml version="1.0" encoding="utf-8"?>
<p:sld xmlns:a="http://schemas.openxmlformats.org/drawingml/2006/main" xmlns:p="http://schemas.openxmlformats.org/presentationml/2006/main" xmlns:r="http://schemas.openxmlformats.org/officeDocument/2006/relationships" showMasterSp="1">
  <p:cSld>
    <p:bg>
      <p:bgPr>
        <a:solidFill>
          <a:srgbClr val="E5BD70"/>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27</a:t>
            </a:r>
          </a:p>
        </p:txBody>
      </p:sp>
      <p:sp>
        <p:nvSpPr>
          <p:cNvPr id="3" name="Rounded Rectangle 2"/>
          <p:cNvSpPr/>
          <p:nvPr/>
        </p:nvSpPr>
        <p:spPr>
          <a:xfrm>
            <a:off x="9646920" y="384048"/>
            <a:ext cx="1947672" cy="1280160"/>
          </a:xfrm>
          <a:prstGeom prst="roundRect">
            <a:avLst>
              <a:gd name="adj" fmla="val 6500"/>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3"/>
          <p:cNvSpPr txBox="1"/>
          <p:nvPr/>
        </p:nvSpPr>
        <p:spPr>
          <a:xfrm>
            <a:off x="9829800" y="493776"/>
            <a:ext cx="1572768" cy="634746"/>
          </a:xfrm>
          <a:prstGeom prst="rect">
            <a:avLst/>
          </a:prstGeom>
          <a:noFill/>
        </p:spPr>
        <p:txBody>
          <a:bodyPr wrap="none" lIns="0" rIns="0" tIns="0" bIns="0" anchor="t">
            <a:spAutoFit/>
          </a:bodyPr>
          <a:lstStyle/>
          <a:p>
            <a:pPr algn="ctr">
              <a:lnSpc>
                <a:spcPts val="4602"/>
              </a:lnSpc>
              <a:spcBef>
                <a:spcPts val="0"/>
              </a:spcBef>
              <a:spcAft>
                <a:spcPts val="0"/>
              </a:spcAft>
              <a:defRPr sz="3900" b="1">
                <a:solidFill>
                  <a:srgbClr val="F7F5EF"/>
                </a:solidFill>
                <a:latin typeface="Manrope"/>
              </a:defRPr>
            </a:pPr>
            <a:r>
              <a:rPr lang="de-DE"/>
              <a:t>8</a:t>
            </a:r>
          </a:p>
        </p:txBody>
      </p:sp>
      <p:sp>
        <p:nvSpPr>
          <p:cNvPr id="5" name="Text 4"/>
          <p:cNvSpPr txBox="1"/>
          <p:nvPr/>
        </p:nvSpPr>
        <p:spPr>
          <a:xfrm>
            <a:off x="9829800" y="1161288"/>
            <a:ext cx="1572768" cy="215137"/>
          </a:xfrm>
          <a:prstGeom prst="rect">
            <a:avLst/>
          </a:prstGeom>
          <a:noFill/>
        </p:spPr>
        <p:txBody>
          <a:bodyPr wrap="none" lIns="0" rIns="0" tIns="0" bIns="0" anchor="t">
            <a:spAutoFit/>
          </a:bodyPr>
          <a:lstStyle/>
          <a:p>
            <a:pPr algn="ctr">
              <a:lnSpc>
                <a:spcPts val="1297"/>
              </a:lnSpc>
              <a:spcBef>
                <a:spcPts val="0"/>
              </a:spcBef>
              <a:spcAft>
                <a:spcPts val="0"/>
              </a:spcAft>
              <a:defRPr sz="1100" b="1">
                <a:solidFill>
                  <a:srgbClr val="F7F5EF"/>
                </a:solidFill>
                <a:latin typeface="Inter"/>
              </a:defRPr>
            </a:pPr>
            <a:r>
              <a:rPr lang="de-DE"/>
              <a:t>MINUTEN</a:t>
            </a:r>
          </a:p>
        </p:txBody>
      </p:sp>
      <p:sp>
        <p:nvSpPr>
          <p:cNvPr id="6" name="Text 5"/>
          <p:cNvSpPr txBox="1"/>
          <p:nvPr/>
        </p:nvSpPr>
        <p:spPr>
          <a:xfrm>
            <a:off x="594360" y="393192"/>
            <a:ext cx="8686800" cy="222630"/>
          </a:xfrm>
          <a:prstGeom prst="rect">
            <a:avLst/>
          </a:prstGeom>
          <a:noFill/>
        </p:spPr>
        <p:txBody>
          <a:bodyPr wrap="none" lIns="0" rIns="0" tIns="0" bIns="0" anchor="t">
            <a:spAutoFit/>
          </a:bodyPr>
          <a:lstStyle/>
          <a:p>
            <a:pPr>
              <a:lnSpc>
                <a:spcPts val="1356"/>
              </a:lnSpc>
              <a:spcBef>
                <a:spcPts val="0"/>
              </a:spcBef>
              <a:spcAft>
                <a:spcPts val="0"/>
              </a:spcAft>
              <a:defRPr sz="1150" b="1">
                <a:solidFill>
                  <a:srgbClr val="234B42"/>
                </a:solidFill>
                <a:latin typeface="Inter"/>
              </a:defRPr>
            </a:pPr>
            <a:r>
              <a:rPr lang="de-DE"/>
              <a:t>ÜBUNG · RUNDE A</a:t>
            </a:r>
          </a:p>
        </p:txBody>
      </p:sp>
      <p:sp>
        <p:nvSpPr>
          <p:cNvPr id="7" name="Text 6"/>
          <p:cNvSpPr txBox="1"/>
          <p:nvPr/>
        </p:nvSpPr>
        <p:spPr>
          <a:xfrm>
            <a:off x="594360" y="804672"/>
            <a:ext cx="8503920"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Übung: Viele Aufträge</a:t>
            </a:r>
          </a:p>
        </p:txBody>
      </p:sp>
      <p:sp>
        <p:nvSpPr>
          <p:cNvPr id="8" name="Text 7"/>
          <p:cNvSpPr txBox="1"/>
          <p:nvPr/>
        </p:nvSpPr>
        <p:spPr>
          <a:xfrm>
            <a:off x="594360" y="1470659"/>
            <a:ext cx="8458200" cy="282574"/>
          </a:xfrm>
          <a:prstGeom prst="rect">
            <a:avLst/>
          </a:prstGeom>
          <a:noFill/>
        </p:spPr>
        <p:txBody>
          <a:bodyPr wrap="none" lIns="0" rIns="0" tIns="0" bIns="0" anchor="t">
            <a:spAutoFit/>
          </a:bodyPr>
          <a:lstStyle/>
          <a:p>
            <a:pPr>
              <a:lnSpc>
                <a:spcPts val="1829"/>
              </a:lnSpc>
              <a:spcBef>
                <a:spcPts val="0"/>
              </a:spcBef>
              <a:spcAft>
                <a:spcPts val="0"/>
              </a:spcAft>
              <a:defRPr sz="1550" b="1">
                <a:solidFill>
                  <a:srgbClr val="234B42"/>
                </a:solidFill>
                <a:latin typeface="Inter"/>
              </a:defRPr>
            </a:pPr>
            <a:r>
              <a:rPr lang="de-DE"/>
              <a:t>Einzelarbeit</a:t>
            </a:r>
          </a:p>
        </p:txBody>
      </p:sp>
      <p:sp>
        <p:nvSpPr>
          <p:cNvPr id="9" name="Text 8"/>
          <p:cNvSpPr txBox="1"/>
          <p:nvPr/>
        </p:nvSpPr>
        <p:spPr>
          <a:xfrm>
            <a:off x="9628632" y="1673352"/>
            <a:ext cx="2011680" cy="215137"/>
          </a:xfrm>
          <a:prstGeom prst="rect">
            <a:avLst/>
          </a:prstGeom>
          <a:noFill/>
        </p:spPr>
        <p:txBody>
          <a:bodyPr wrap="none" lIns="0" rIns="0" tIns="0" bIns="0" anchor="t">
            <a:spAutoFit/>
          </a:bodyPr>
          <a:lstStyle/>
          <a:p>
            <a:pPr algn="ctr">
              <a:lnSpc>
                <a:spcPts val="1297"/>
              </a:lnSpc>
              <a:spcBef>
                <a:spcPts val="0"/>
              </a:spcBef>
              <a:spcAft>
                <a:spcPts val="0"/>
              </a:spcAft>
              <a:defRPr sz="1100" b="0">
                <a:solidFill>
                  <a:srgbClr val="234B42"/>
                </a:solidFill>
                <a:latin typeface="Inter"/>
              </a:defRPr>
            </a:pPr>
            <a:r>
              <a:rPr lang="de-DE"/>
              <a:t>8 Minuten insgesamt</a:t>
            </a:r>
          </a:p>
        </p:txBody>
      </p:sp>
      <p:sp>
        <p:nvSpPr>
          <p:cNvPr id="10" name="Rounded Rectangle 9"/>
          <p:cNvSpPr/>
          <p:nvPr/>
        </p:nvSpPr>
        <p:spPr>
          <a:xfrm>
            <a:off x="594360" y="1965960"/>
            <a:ext cx="5385816" cy="1623060"/>
          </a:xfrm>
          <a:prstGeom prst="roundRect">
            <a:avLst>
              <a:gd name="adj" fmla="val 6500"/>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10"/>
          <p:cNvSpPr txBox="1"/>
          <p:nvPr/>
        </p:nvSpPr>
        <p:spPr>
          <a:xfrm>
            <a:off x="841248" y="2130552"/>
            <a:ext cx="4892040" cy="290067"/>
          </a:xfrm>
          <a:prstGeom prst="rect">
            <a:avLst/>
          </a:prstGeom>
          <a:noFill/>
        </p:spPr>
        <p:txBody>
          <a:bodyPr wrap="none" lIns="0" rIns="0" tIns="0" bIns="0" anchor="t">
            <a:spAutoFit/>
          </a:bodyPr>
          <a:lstStyle/>
          <a:p>
            <a:pPr>
              <a:lnSpc>
                <a:spcPts val="1888"/>
              </a:lnSpc>
              <a:spcBef>
                <a:spcPts val="0"/>
              </a:spcBef>
              <a:spcAft>
                <a:spcPts val="0"/>
              </a:spcAft>
              <a:defRPr sz="1600" b="1">
                <a:solidFill>
                  <a:srgbClr val="234B42"/>
                </a:solidFill>
                <a:latin typeface="Manrope"/>
              </a:defRPr>
            </a:pPr>
            <a:r>
              <a:rPr lang="de-DE"/>
              <a:t>Vorbereiten</a:t>
            </a:r>
          </a:p>
        </p:txBody>
      </p:sp>
      <p:sp>
        <p:nvSpPr>
          <p:cNvPr id="12" name="Text 11"/>
          <p:cNvSpPr txBox="1"/>
          <p:nvPr/>
        </p:nvSpPr>
        <p:spPr>
          <a:xfrm>
            <a:off x="841248" y="2502916"/>
            <a:ext cx="4892040" cy="976376"/>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6332F"/>
                </a:solidFill>
                <a:latin typeface="Inter"/>
              </a:defRPr>
            </a:pPr>
            <a:r>
              <a:rPr lang="de-DE"/>
              <a:t>Ein Blatt und einen Stift bereitlegen</a:t>
            </a:r>
          </a:p>
        </p:txBody>
      </p:sp>
      <p:sp>
        <p:nvSpPr>
          <p:cNvPr id="13" name="Rounded Rectangle 12"/>
          <p:cNvSpPr/>
          <p:nvPr/>
        </p:nvSpPr>
        <p:spPr>
          <a:xfrm>
            <a:off x="6208776" y="1965960"/>
            <a:ext cx="5385816" cy="1623060"/>
          </a:xfrm>
          <a:prstGeom prst="roundRect">
            <a:avLst>
              <a:gd name="adj" fmla="val 6500"/>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13"/>
          <p:cNvSpPr txBox="1"/>
          <p:nvPr/>
        </p:nvSpPr>
        <p:spPr>
          <a:xfrm>
            <a:off x="6455664" y="2130552"/>
            <a:ext cx="4892040" cy="290067"/>
          </a:xfrm>
          <a:prstGeom prst="rect">
            <a:avLst/>
          </a:prstGeom>
          <a:noFill/>
        </p:spPr>
        <p:txBody>
          <a:bodyPr wrap="none" lIns="0" rIns="0" tIns="0" bIns="0" anchor="t">
            <a:spAutoFit/>
          </a:bodyPr>
          <a:lstStyle/>
          <a:p>
            <a:pPr>
              <a:lnSpc>
                <a:spcPts val="1888"/>
              </a:lnSpc>
              <a:spcBef>
                <a:spcPts val="0"/>
              </a:spcBef>
              <a:spcAft>
                <a:spcPts val="0"/>
              </a:spcAft>
              <a:defRPr sz="1600" b="1">
                <a:solidFill>
                  <a:srgbClr val="234B42"/>
                </a:solidFill>
                <a:latin typeface="Manrope"/>
              </a:defRPr>
            </a:pPr>
            <a:r>
              <a:rPr lang="de-DE"/>
              <a:t>Zuhören</a:t>
            </a:r>
          </a:p>
        </p:txBody>
      </p:sp>
      <p:sp>
        <p:nvSpPr>
          <p:cNvPr id="15" name="Text 14"/>
          <p:cNvSpPr txBox="1"/>
          <p:nvPr/>
        </p:nvSpPr>
        <p:spPr>
          <a:xfrm>
            <a:off x="6455664" y="2502916"/>
            <a:ext cx="4892040" cy="976376"/>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6332F"/>
                </a:solidFill>
                <a:latin typeface="Inter"/>
              </a:defRPr>
            </a:pPr>
            <a:r>
              <a:rPr lang="de-DE"/>
              <a:t>Die mündliche Folge einmal anhören</a:t>
            </a:r>
          </a:p>
        </p:txBody>
      </p:sp>
      <p:sp>
        <p:nvSpPr>
          <p:cNvPr id="16" name="Rounded Rectangle 15"/>
          <p:cNvSpPr/>
          <p:nvPr/>
        </p:nvSpPr>
        <p:spPr>
          <a:xfrm>
            <a:off x="594360" y="3817620"/>
            <a:ext cx="5385816" cy="1623060"/>
          </a:xfrm>
          <a:prstGeom prst="roundRect">
            <a:avLst>
              <a:gd name="adj" fmla="val 6500"/>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16"/>
          <p:cNvSpPr txBox="1"/>
          <p:nvPr/>
        </p:nvSpPr>
        <p:spPr>
          <a:xfrm>
            <a:off x="841248" y="3982212"/>
            <a:ext cx="4892040" cy="290067"/>
          </a:xfrm>
          <a:prstGeom prst="rect">
            <a:avLst/>
          </a:prstGeom>
          <a:noFill/>
        </p:spPr>
        <p:txBody>
          <a:bodyPr wrap="none" lIns="0" rIns="0" tIns="0" bIns="0" anchor="t">
            <a:spAutoFit/>
          </a:bodyPr>
          <a:lstStyle/>
          <a:p>
            <a:pPr>
              <a:lnSpc>
                <a:spcPts val="1888"/>
              </a:lnSpc>
              <a:spcBef>
                <a:spcPts val="0"/>
              </a:spcBef>
              <a:spcAft>
                <a:spcPts val="0"/>
              </a:spcAft>
              <a:defRPr sz="1600" b="1">
                <a:solidFill>
                  <a:srgbClr val="234B42"/>
                </a:solidFill>
                <a:latin typeface="Manrope"/>
              </a:defRPr>
            </a:pPr>
            <a:r>
              <a:rPr lang="de-DE"/>
              <a:t>Umsetzen</a:t>
            </a:r>
          </a:p>
        </p:txBody>
      </p:sp>
      <p:sp>
        <p:nvSpPr>
          <p:cNvPr id="18" name="Text 17"/>
          <p:cNvSpPr txBox="1"/>
          <p:nvPr/>
        </p:nvSpPr>
        <p:spPr>
          <a:xfrm>
            <a:off x="841248" y="4354576"/>
            <a:ext cx="4892040" cy="976376"/>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6332F"/>
                </a:solidFill>
                <a:latin typeface="Inter"/>
              </a:defRPr>
            </a:pPr>
            <a:r>
              <a:rPr lang="de-DE"/>
              <a:t>So viel umsetzen, wie gerade möglich ist</a:t>
            </a:r>
          </a:p>
        </p:txBody>
      </p:sp>
      <p:sp>
        <p:nvSpPr>
          <p:cNvPr id="19" name="Rounded Rectangle 18"/>
          <p:cNvSpPr/>
          <p:nvPr/>
        </p:nvSpPr>
        <p:spPr>
          <a:xfrm>
            <a:off x="6208776" y="3817620"/>
            <a:ext cx="5385816" cy="1623060"/>
          </a:xfrm>
          <a:prstGeom prst="roundRect">
            <a:avLst>
              <a:gd name="adj" fmla="val 6500"/>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 19"/>
          <p:cNvSpPr txBox="1"/>
          <p:nvPr/>
        </p:nvSpPr>
        <p:spPr>
          <a:xfrm>
            <a:off x="6455664" y="3982212"/>
            <a:ext cx="4892040" cy="290067"/>
          </a:xfrm>
          <a:prstGeom prst="rect">
            <a:avLst/>
          </a:prstGeom>
          <a:noFill/>
        </p:spPr>
        <p:txBody>
          <a:bodyPr wrap="none" lIns="0" rIns="0" tIns="0" bIns="0" anchor="t">
            <a:spAutoFit/>
          </a:bodyPr>
          <a:lstStyle/>
          <a:p>
            <a:pPr>
              <a:lnSpc>
                <a:spcPts val="1888"/>
              </a:lnSpc>
              <a:spcBef>
                <a:spcPts val="0"/>
              </a:spcBef>
              <a:spcAft>
                <a:spcPts val="0"/>
              </a:spcAft>
              <a:defRPr sz="1600" b="1">
                <a:solidFill>
                  <a:srgbClr val="234B42"/>
                </a:solidFill>
                <a:latin typeface="Manrope"/>
              </a:defRPr>
            </a:pPr>
            <a:r>
              <a:rPr lang="de-DE"/>
              <a:t>Danach</a:t>
            </a:r>
          </a:p>
        </p:txBody>
      </p:sp>
      <p:sp>
        <p:nvSpPr>
          <p:cNvPr id="21" name="Text 20"/>
          <p:cNvSpPr txBox="1"/>
          <p:nvPr/>
        </p:nvSpPr>
        <p:spPr>
          <a:xfrm>
            <a:off x="6455664" y="4354576"/>
            <a:ext cx="4892040" cy="976376"/>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6332F"/>
                </a:solidFill>
                <a:latin typeface="Inter"/>
              </a:defRPr>
            </a:pPr>
            <a:r>
              <a:rPr lang="de-DE"/>
              <a:t>Anschließend gemeinsam auf die</a:t>
            </a:r>
          </a:p>
          <a:p>
            <a:pPr>
              <a:lnSpc>
                <a:spcPts val="2419"/>
              </a:lnSpc>
              <a:spcBef>
                <a:spcPts val="0"/>
              </a:spcBef>
              <a:spcAft>
                <a:spcPts val="0"/>
              </a:spcAft>
              <a:defRPr sz="2050" b="0">
                <a:solidFill>
                  <a:srgbClr val="26332F"/>
                </a:solidFill>
                <a:latin typeface="Inter"/>
              </a:defRPr>
            </a:pPr>
            <a:r>
              <a:rPr lang="de-DE"/>
              <a:t>sichtbaren Schritte schauen</a:t>
            </a:r>
          </a:p>
        </p:txBody>
      </p:sp>
      <p:cxnSp>
        <p:nvCxnSpPr>
          <p:cNvPr id="22" name="Connector 21"/>
          <p:cNvCxnSpPr/>
          <p:nvPr/>
        </p:nvCxnSpPr>
        <p:spPr>
          <a:xfrm>
            <a:off x="594360" y="5495544"/>
            <a:ext cx="502920" cy="0"/>
          </a:xfrm>
          <a:prstGeom prst="line">
            <a:avLst/>
          </a:prstGeom>
          <a:ln w="27940">
            <a:solidFill>
              <a:srgbClr val="D68B73"/>
            </a:solidFill>
          </a:ln>
        </p:spPr>
        <p:style>
          <a:lnRef idx="2">
            <a:schemeClr val="accent1"/>
          </a:lnRef>
          <a:fillRef idx="0">
            <a:schemeClr val="accent1"/>
          </a:fillRef>
          <a:effectRef idx="1">
            <a:schemeClr val="accent1"/>
          </a:effectRef>
          <a:fontRef idx="minor">
            <a:schemeClr val="tx1"/>
          </a:fontRef>
        </p:style>
      </p:cxnSp>
      <p:sp>
        <p:nvSpPr>
          <p:cNvPr id="23" name="Text 22"/>
          <p:cNvSpPr txBox="1"/>
          <p:nvPr/>
        </p:nvSpPr>
        <p:spPr>
          <a:xfrm>
            <a:off x="594360" y="5623560"/>
            <a:ext cx="10972800" cy="694944"/>
          </a:xfrm>
          <a:prstGeom prst="rect">
            <a:avLst/>
          </a:prstGeom>
          <a:noFill/>
        </p:spPr>
        <p:txBody>
          <a:bodyPr wrap="none" lIns="0" rIns="0" tIns="0" bIns="0" anchor="t">
            <a:spAutoFit/>
          </a:bodyPr>
          <a:lstStyle/>
          <a:p>
            <a:pPr>
              <a:lnSpc>
                <a:spcPts val="2419"/>
              </a:lnSpc>
              <a:spcBef>
                <a:spcPts val="0"/>
              </a:spcBef>
              <a:spcAft>
                <a:spcPts val="0"/>
              </a:spcAft>
              <a:defRPr sz="2050" b="1">
                <a:solidFill>
                  <a:srgbClr val="234B42"/>
                </a:solidFill>
                <a:latin typeface="Manrope"/>
              </a:defRPr>
            </a:pPr>
            <a:r>
              <a:rPr lang="de-DE"/>
              <a:t>Tempo und Fehler werden nicht bewertet.</a:t>
            </a:r>
          </a:p>
        </p:txBody>
      </p:sp>
    </p:spTree>
  </p:cSld>
  <p:clrMapOvr>
    <a:masterClrMapping/>
  </p:clrMapOvr>
  <p:transition spd="fast" advClick="1">
    <p:fade/>
  </p:transition>
</p:sld>
</file>

<file path=ppt/slides/slide28.xml><?xml version="1.0" encoding="utf-8"?>
<p:sld xmlns:a="http://schemas.openxmlformats.org/drawingml/2006/main" xmlns:p="http://schemas.openxmlformats.org/presentationml/2006/main" xmlns:r="http://schemas.openxmlformats.org/officeDocument/2006/relationships" showMasterSp="1">
  <p:cSld>
    <p:bg>
      <p:bgPr>
        <a:solidFill>
          <a:srgbClr val="E5BD70"/>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28</a:t>
            </a:r>
          </a:p>
        </p:txBody>
      </p:sp>
      <p:sp>
        <p:nvSpPr>
          <p:cNvPr id="3" name="Text 2"/>
          <p:cNvSpPr txBox="1"/>
          <p:nvPr/>
        </p:nvSpPr>
        <p:spPr>
          <a:xfrm>
            <a:off x="594360" y="393192"/>
            <a:ext cx="10881360" cy="203644"/>
          </a:xfrm>
          <a:prstGeom prst="rect">
            <a:avLst/>
          </a:prstGeom>
          <a:noFill/>
        </p:spPr>
        <p:txBody>
          <a:bodyPr wrap="none" lIns="0" rIns="0" tIns="0" bIns="0" anchor="t">
            <a:spAutoFit/>
          </a:bodyPr>
          <a:lstStyle/>
          <a:p>
            <a:pPr>
              <a:lnSpc>
                <a:spcPts val="1207"/>
              </a:lnSpc>
              <a:spcBef>
                <a:spcPts val="0"/>
              </a:spcBef>
              <a:spcAft>
                <a:spcPts val="0"/>
              </a:spcAft>
              <a:defRPr sz="1150" b="1">
                <a:solidFill>
                  <a:srgbClr val="234B42"/>
                </a:solidFill>
                <a:latin typeface="Inter"/>
              </a:defRPr>
            </a:pPr>
            <a:r>
              <a:rPr lang="de-DE"/>
              <a:t>ÜBUNG · RUNDE B · SCHRITT → HANDLUNG</a:t>
            </a:r>
          </a:p>
        </p:txBody>
      </p:sp>
      <p:sp>
        <p:nvSpPr>
          <p:cNvPr id="4" name="Text 3"/>
          <p:cNvSpPr txBox="1"/>
          <p:nvPr/>
        </p:nvSpPr>
        <p:spPr>
          <a:xfrm>
            <a:off x="594360" y="804672"/>
            <a:ext cx="10991088"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Die Schritte im Überblick</a:t>
            </a:r>
          </a:p>
        </p:txBody>
      </p:sp>
      <p:sp>
        <p:nvSpPr>
          <p:cNvPr id="5" name="Text 4"/>
          <p:cNvSpPr txBox="1"/>
          <p:nvPr/>
        </p:nvSpPr>
        <p:spPr>
          <a:xfrm>
            <a:off x="594360" y="6080760"/>
            <a:ext cx="10972800" cy="230123"/>
          </a:xfrm>
          <a:prstGeom prst="rect">
            <a:avLst/>
          </a:prstGeom>
          <a:noFill/>
        </p:spPr>
        <p:txBody>
          <a:bodyPr wrap="none" lIns="0" rIns="0" tIns="0" bIns="0" anchor="t">
            <a:spAutoFit/>
          </a:bodyPr>
          <a:lstStyle/>
          <a:p>
            <a:pPr>
              <a:lnSpc>
                <a:spcPts val="1416"/>
              </a:lnSpc>
              <a:spcBef>
                <a:spcPts val="0"/>
              </a:spcBef>
              <a:spcAft>
                <a:spcPts val="0"/>
              </a:spcAft>
              <a:defRPr sz="1200" b="0">
                <a:solidFill>
                  <a:srgbClr val="234B42"/>
                </a:solidFill>
                <a:latin typeface="Inter"/>
              </a:defRPr>
            </a:pPr>
            <a:r>
              <a:rPr lang="de-DE"/>
              <a:t>ca. 1 Minute · Teil der 8-Minuten-Übung</a:t>
            </a:r>
          </a:p>
        </p:txBody>
      </p:sp>
      <p:sp>
        <p:nvSpPr>
          <p:cNvPr id="6" name="Rounded Rectangle 5"/>
          <p:cNvSpPr/>
          <p:nvPr/>
        </p:nvSpPr>
        <p:spPr>
          <a:xfrm>
            <a:off x="594360" y="1644396"/>
            <a:ext cx="3502151" cy="2071877"/>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872996"/>
            <a:ext cx="393192" cy="393192"/>
          </a:xfrm>
          <a:prstGeom prst="ellipse">
            <a:avLst/>
          </a:prstGeom>
          <a:solidFill>
            <a:srgbClr val="D68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 7"/>
          <p:cNvSpPr txBox="1"/>
          <p:nvPr/>
        </p:nvSpPr>
        <p:spPr>
          <a:xfrm>
            <a:off x="822960" y="1946148"/>
            <a:ext cx="393192" cy="189992"/>
          </a:xfrm>
          <a:prstGeom prst="rect">
            <a:avLst/>
          </a:prstGeom>
          <a:noFill/>
        </p:spPr>
        <p:txBody>
          <a:bodyPr wrap="none" lIns="0" rIns="0" tIns="0" bIns="0" anchor="t">
            <a:spAutoFit/>
          </a:bodyPr>
          <a:lstStyle/>
          <a:p>
            <a:pPr algn="ctr">
              <a:lnSpc>
                <a:spcPts val="1100"/>
              </a:lnSpc>
              <a:spcBef>
                <a:spcPts val="0"/>
              </a:spcBef>
              <a:spcAft>
                <a:spcPts val="0"/>
              </a:spcAft>
              <a:defRPr sz="1100" b="1">
                <a:solidFill>
                  <a:srgbClr val="234B42"/>
                </a:solidFill>
                <a:latin typeface="Inter"/>
              </a:defRPr>
            </a:pPr>
            <a:r>
              <a:rPr lang="de-DE"/>
              <a:t>01</a:t>
            </a:r>
          </a:p>
        </p:txBody>
      </p:sp>
      <p:sp>
        <p:nvSpPr>
          <p:cNvPr id="9" name="Text 8"/>
          <p:cNvSpPr txBox="1"/>
          <p:nvPr/>
        </p:nvSpPr>
        <p:spPr>
          <a:xfrm>
            <a:off x="868680" y="2485644"/>
            <a:ext cx="2953511" cy="1029462"/>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Einen Kreis zeichnen</a:t>
            </a:r>
          </a:p>
        </p:txBody>
      </p:sp>
      <p:sp>
        <p:nvSpPr>
          <p:cNvPr id="10" name="Rounded Rectangle 9"/>
          <p:cNvSpPr/>
          <p:nvPr/>
        </p:nvSpPr>
        <p:spPr>
          <a:xfrm>
            <a:off x="4343400" y="1644396"/>
            <a:ext cx="3502151" cy="2071877"/>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72000" y="1872996"/>
            <a:ext cx="393192" cy="393192"/>
          </a:xfrm>
          <a:prstGeom prst="ellipse">
            <a:avLst/>
          </a:prstGeom>
          <a:solidFill>
            <a:srgbClr val="D68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11"/>
          <p:cNvSpPr txBox="1"/>
          <p:nvPr/>
        </p:nvSpPr>
        <p:spPr>
          <a:xfrm>
            <a:off x="4572000" y="1946148"/>
            <a:ext cx="393192" cy="189992"/>
          </a:xfrm>
          <a:prstGeom prst="rect">
            <a:avLst/>
          </a:prstGeom>
          <a:noFill/>
        </p:spPr>
        <p:txBody>
          <a:bodyPr wrap="none" lIns="0" rIns="0" tIns="0" bIns="0" anchor="t">
            <a:spAutoFit/>
          </a:bodyPr>
          <a:lstStyle/>
          <a:p>
            <a:pPr algn="ctr">
              <a:lnSpc>
                <a:spcPts val="1100"/>
              </a:lnSpc>
              <a:spcBef>
                <a:spcPts val="0"/>
              </a:spcBef>
              <a:spcAft>
                <a:spcPts val="0"/>
              </a:spcAft>
              <a:defRPr sz="1100" b="1">
                <a:solidFill>
                  <a:srgbClr val="234B42"/>
                </a:solidFill>
                <a:latin typeface="Inter"/>
              </a:defRPr>
            </a:pPr>
            <a:r>
              <a:rPr lang="de-DE"/>
              <a:t>02</a:t>
            </a:r>
          </a:p>
        </p:txBody>
      </p:sp>
      <p:sp>
        <p:nvSpPr>
          <p:cNvPr id="13" name="Text 12"/>
          <p:cNvSpPr txBox="1"/>
          <p:nvPr/>
        </p:nvSpPr>
        <p:spPr>
          <a:xfrm>
            <a:off x="4617720" y="2485644"/>
            <a:ext cx="2953511" cy="1029462"/>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Einen Punkt</a:t>
            </a:r>
          </a:p>
          <a:p>
            <a:pPr>
              <a:lnSpc>
                <a:spcPts val="2477"/>
              </a:lnSpc>
              <a:spcBef>
                <a:spcPts val="0"/>
              </a:spcBef>
              <a:spcAft>
                <a:spcPts val="0"/>
              </a:spcAft>
              <a:defRPr sz="2100" b="0">
                <a:solidFill>
                  <a:srgbClr val="26332F"/>
                </a:solidFill>
                <a:latin typeface="Inter"/>
              </a:defRPr>
            </a:pPr>
            <a:r>
              <a:rPr lang="de-DE"/>
              <a:t>hineinsetzen</a:t>
            </a:r>
          </a:p>
        </p:txBody>
      </p:sp>
      <p:sp>
        <p:nvSpPr>
          <p:cNvPr id="14" name="Rounded Rectangle 13"/>
          <p:cNvSpPr/>
          <p:nvPr/>
        </p:nvSpPr>
        <p:spPr>
          <a:xfrm>
            <a:off x="8092440" y="1644396"/>
            <a:ext cx="3502151" cy="2071877"/>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321040" y="1872996"/>
            <a:ext cx="393192" cy="393192"/>
          </a:xfrm>
          <a:prstGeom prst="ellipse">
            <a:avLst/>
          </a:prstGeom>
          <a:solidFill>
            <a:srgbClr val="D68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15"/>
          <p:cNvSpPr txBox="1"/>
          <p:nvPr/>
        </p:nvSpPr>
        <p:spPr>
          <a:xfrm>
            <a:off x="8321040" y="1946148"/>
            <a:ext cx="393192" cy="189992"/>
          </a:xfrm>
          <a:prstGeom prst="rect">
            <a:avLst/>
          </a:prstGeom>
          <a:noFill/>
        </p:spPr>
        <p:txBody>
          <a:bodyPr wrap="none" lIns="0" rIns="0" tIns="0" bIns="0" anchor="t">
            <a:spAutoFit/>
          </a:bodyPr>
          <a:lstStyle/>
          <a:p>
            <a:pPr algn="ctr">
              <a:lnSpc>
                <a:spcPts val="1100"/>
              </a:lnSpc>
              <a:spcBef>
                <a:spcPts val="0"/>
              </a:spcBef>
              <a:spcAft>
                <a:spcPts val="0"/>
              </a:spcAft>
              <a:defRPr sz="1100" b="1">
                <a:solidFill>
                  <a:srgbClr val="234B42"/>
                </a:solidFill>
                <a:latin typeface="Inter"/>
              </a:defRPr>
            </a:pPr>
            <a:r>
              <a:rPr lang="de-DE"/>
              <a:t>03</a:t>
            </a:r>
          </a:p>
        </p:txBody>
      </p:sp>
      <p:sp>
        <p:nvSpPr>
          <p:cNvPr id="17" name="Text 16"/>
          <p:cNvSpPr txBox="1"/>
          <p:nvPr/>
        </p:nvSpPr>
        <p:spPr>
          <a:xfrm>
            <a:off x="8366760" y="2485644"/>
            <a:ext cx="2953511" cy="1029462"/>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Eine Linie darunter</a:t>
            </a:r>
          </a:p>
          <a:p>
            <a:pPr>
              <a:lnSpc>
                <a:spcPts val="2477"/>
              </a:lnSpc>
              <a:spcBef>
                <a:spcPts val="0"/>
              </a:spcBef>
              <a:spcAft>
                <a:spcPts val="0"/>
              </a:spcAft>
              <a:defRPr sz="2100" b="0">
                <a:solidFill>
                  <a:srgbClr val="26332F"/>
                </a:solidFill>
                <a:latin typeface="Inter"/>
              </a:defRPr>
            </a:pPr>
            <a:r>
              <a:rPr lang="de-DE"/>
              <a:t>zeichnen</a:t>
            </a:r>
          </a:p>
        </p:txBody>
      </p:sp>
      <p:sp>
        <p:nvSpPr>
          <p:cNvPr id="18" name="Rounded Rectangle 17"/>
          <p:cNvSpPr/>
          <p:nvPr/>
        </p:nvSpPr>
        <p:spPr>
          <a:xfrm>
            <a:off x="594360" y="3963162"/>
            <a:ext cx="3502151" cy="2071877"/>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2960" y="4191762"/>
            <a:ext cx="393192" cy="393192"/>
          </a:xfrm>
          <a:prstGeom prst="ellipse">
            <a:avLst/>
          </a:prstGeom>
          <a:solidFill>
            <a:srgbClr val="D68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 19"/>
          <p:cNvSpPr txBox="1"/>
          <p:nvPr/>
        </p:nvSpPr>
        <p:spPr>
          <a:xfrm>
            <a:off x="822960" y="4264914"/>
            <a:ext cx="393192" cy="189992"/>
          </a:xfrm>
          <a:prstGeom prst="rect">
            <a:avLst/>
          </a:prstGeom>
          <a:noFill/>
        </p:spPr>
        <p:txBody>
          <a:bodyPr wrap="none" lIns="0" rIns="0" tIns="0" bIns="0" anchor="t">
            <a:spAutoFit/>
          </a:bodyPr>
          <a:lstStyle/>
          <a:p>
            <a:pPr algn="ctr">
              <a:lnSpc>
                <a:spcPts val="1100"/>
              </a:lnSpc>
              <a:spcBef>
                <a:spcPts val="0"/>
              </a:spcBef>
              <a:spcAft>
                <a:spcPts val="0"/>
              </a:spcAft>
              <a:defRPr sz="1100" b="1">
                <a:solidFill>
                  <a:srgbClr val="234B42"/>
                </a:solidFill>
                <a:latin typeface="Inter"/>
              </a:defRPr>
            </a:pPr>
            <a:r>
              <a:rPr lang="de-DE"/>
              <a:t>04</a:t>
            </a:r>
          </a:p>
        </p:txBody>
      </p:sp>
      <p:sp>
        <p:nvSpPr>
          <p:cNvPr id="21" name="Text 20"/>
          <p:cNvSpPr txBox="1"/>
          <p:nvPr/>
        </p:nvSpPr>
        <p:spPr>
          <a:xfrm>
            <a:off x="868680" y="4804410"/>
            <a:ext cx="2953511" cy="1029462"/>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Rechts ein Dreieck</a:t>
            </a:r>
          </a:p>
          <a:p>
            <a:pPr>
              <a:lnSpc>
                <a:spcPts val="2477"/>
              </a:lnSpc>
              <a:spcBef>
                <a:spcPts val="0"/>
              </a:spcBef>
              <a:spcAft>
                <a:spcPts val="0"/>
              </a:spcAft>
              <a:defRPr sz="2100" b="0">
                <a:solidFill>
                  <a:srgbClr val="26332F"/>
                </a:solidFill>
                <a:latin typeface="Inter"/>
              </a:defRPr>
            </a:pPr>
            <a:r>
              <a:rPr lang="de-DE"/>
              <a:t>zeichnen</a:t>
            </a:r>
          </a:p>
        </p:txBody>
      </p:sp>
      <p:sp>
        <p:nvSpPr>
          <p:cNvPr id="22" name="Rounded Rectangle 21"/>
          <p:cNvSpPr/>
          <p:nvPr/>
        </p:nvSpPr>
        <p:spPr>
          <a:xfrm>
            <a:off x="4343400" y="3963162"/>
            <a:ext cx="3502151" cy="2071877"/>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572000" y="4191762"/>
            <a:ext cx="393192" cy="393192"/>
          </a:xfrm>
          <a:prstGeom prst="ellipse">
            <a:avLst/>
          </a:prstGeom>
          <a:solidFill>
            <a:srgbClr val="D68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 23"/>
          <p:cNvSpPr txBox="1"/>
          <p:nvPr/>
        </p:nvSpPr>
        <p:spPr>
          <a:xfrm>
            <a:off x="4572000" y="4264914"/>
            <a:ext cx="393192" cy="189992"/>
          </a:xfrm>
          <a:prstGeom prst="rect">
            <a:avLst/>
          </a:prstGeom>
          <a:noFill/>
        </p:spPr>
        <p:txBody>
          <a:bodyPr wrap="none" lIns="0" rIns="0" tIns="0" bIns="0" anchor="t">
            <a:spAutoFit/>
          </a:bodyPr>
          <a:lstStyle/>
          <a:p>
            <a:pPr algn="ctr">
              <a:lnSpc>
                <a:spcPts val="1100"/>
              </a:lnSpc>
              <a:spcBef>
                <a:spcPts val="0"/>
              </a:spcBef>
              <a:spcAft>
                <a:spcPts val="0"/>
              </a:spcAft>
              <a:defRPr sz="1100" b="1">
                <a:solidFill>
                  <a:srgbClr val="234B42"/>
                </a:solidFill>
                <a:latin typeface="Inter"/>
              </a:defRPr>
            </a:pPr>
            <a:r>
              <a:rPr lang="de-DE"/>
              <a:t>05</a:t>
            </a:r>
          </a:p>
        </p:txBody>
      </p:sp>
      <p:sp>
        <p:nvSpPr>
          <p:cNvPr id="25" name="Text 24"/>
          <p:cNvSpPr txBox="1"/>
          <p:nvPr/>
        </p:nvSpPr>
        <p:spPr>
          <a:xfrm>
            <a:off x="4617720" y="4804410"/>
            <a:ext cx="2953511" cy="1029462"/>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Über den Kreis einen</a:t>
            </a:r>
          </a:p>
          <a:p>
            <a:pPr>
              <a:lnSpc>
                <a:spcPts val="2477"/>
              </a:lnSpc>
              <a:spcBef>
                <a:spcPts val="0"/>
              </a:spcBef>
              <a:spcAft>
                <a:spcPts val="0"/>
              </a:spcAft>
              <a:defRPr sz="2100" b="0">
                <a:solidFill>
                  <a:srgbClr val="26332F"/>
                </a:solidFill>
                <a:latin typeface="Inter"/>
              </a:defRPr>
            </a:pPr>
            <a:r>
              <a:rPr lang="de-DE"/>
              <a:t>Stern zeichnen</a:t>
            </a:r>
          </a:p>
        </p:txBody>
      </p:sp>
      <p:sp>
        <p:nvSpPr>
          <p:cNvPr id="26" name="Rounded Rectangle 25"/>
          <p:cNvSpPr/>
          <p:nvPr/>
        </p:nvSpPr>
        <p:spPr>
          <a:xfrm>
            <a:off x="8092440" y="3963162"/>
            <a:ext cx="3502151" cy="2071877"/>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321040" y="4191762"/>
            <a:ext cx="393192" cy="393192"/>
          </a:xfrm>
          <a:prstGeom prst="ellipse">
            <a:avLst/>
          </a:prstGeom>
          <a:solidFill>
            <a:srgbClr val="D68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 27"/>
          <p:cNvSpPr txBox="1"/>
          <p:nvPr/>
        </p:nvSpPr>
        <p:spPr>
          <a:xfrm>
            <a:off x="8321040" y="4264914"/>
            <a:ext cx="393192" cy="189992"/>
          </a:xfrm>
          <a:prstGeom prst="rect">
            <a:avLst/>
          </a:prstGeom>
          <a:noFill/>
        </p:spPr>
        <p:txBody>
          <a:bodyPr wrap="none" lIns="0" rIns="0" tIns="0" bIns="0" anchor="t">
            <a:spAutoFit/>
          </a:bodyPr>
          <a:lstStyle/>
          <a:p>
            <a:pPr algn="ctr">
              <a:lnSpc>
                <a:spcPts val="1100"/>
              </a:lnSpc>
              <a:spcBef>
                <a:spcPts val="0"/>
              </a:spcBef>
              <a:spcAft>
                <a:spcPts val="0"/>
              </a:spcAft>
              <a:defRPr sz="1100" b="1">
                <a:solidFill>
                  <a:srgbClr val="234B42"/>
                </a:solidFill>
                <a:latin typeface="Inter"/>
              </a:defRPr>
            </a:pPr>
            <a:r>
              <a:rPr lang="de-DE"/>
              <a:t>06</a:t>
            </a:r>
          </a:p>
        </p:txBody>
      </p:sp>
      <p:sp>
        <p:nvSpPr>
          <p:cNvPr id="29" name="Text 28"/>
          <p:cNvSpPr txBox="1"/>
          <p:nvPr/>
        </p:nvSpPr>
        <p:spPr>
          <a:xfrm>
            <a:off x="8366760" y="4804410"/>
            <a:ext cx="2953511" cy="1029462"/>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Das Blatt umdrehen</a:t>
            </a:r>
          </a:p>
        </p:txBody>
      </p:sp>
      <p:sp>
        <p:nvSpPr>
          <p:cNvPr id="30" name="Oval 29"/>
          <p:cNvSpPr/>
          <p:nvPr/>
        </p:nvSpPr>
        <p:spPr>
          <a:xfrm>
            <a:off x="3264408" y="1882140"/>
            <a:ext cx="457200" cy="457200"/>
          </a:xfrm>
          <a:prstGeom prst="ellipse">
            <a:avLst/>
          </a:prstGeom>
          <a:noFill/>
          <a:ln w="25400">
            <a:solidFill>
              <a:srgbClr val="234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013448" y="1882140"/>
            <a:ext cx="457200" cy="457200"/>
          </a:xfrm>
          <a:prstGeom prst="ellipse">
            <a:avLst/>
          </a:prstGeom>
          <a:noFill/>
          <a:ln w="25400">
            <a:solidFill>
              <a:srgbClr val="234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214616" y="2083308"/>
            <a:ext cx="54864" cy="54864"/>
          </a:xfrm>
          <a:prstGeom prst="ellipse">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Connector 32"/>
          <p:cNvCxnSpPr/>
          <p:nvPr/>
        </p:nvCxnSpPr>
        <p:spPr>
          <a:xfrm>
            <a:off x="10762488" y="2156460"/>
            <a:ext cx="502920" cy="0"/>
          </a:xfrm>
          <a:prstGeom prst="line">
            <a:avLst/>
          </a:prstGeom>
          <a:ln w="25400">
            <a:solidFill>
              <a:srgbClr val="234B42"/>
            </a:solidFill>
          </a:ln>
        </p:spPr>
        <p:style>
          <a:lnRef idx="2">
            <a:schemeClr val="accent1"/>
          </a:lnRef>
          <a:fillRef idx="0">
            <a:schemeClr val="accent1"/>
          </a:fillRef>
          <a:effectRef idx="1">
            <a:schemeClr val="accent1"/>
          </a:effectRef>
          <a:fontRef idx="minor">
            <a:schemeClr val="tx1"/>
          </a:fontRef>
        </p:style>
      </p:cxnSp>
      <p:sp>
        <p:nvSpPr>
          <p:cNvPr id="34" name="Isosceles Triangle 33"/>
          <p:cNvSpPr/>
          <p:nvPr/>
        </p:nvSpPr>
        <p:spPr>
          <a:xfrm>
            <a:off x="3264408" y="4213859"/>
            <a:ext cx="457200" cy="457200"/>
          </a:xfrm>
          <a:prstGeom prst="triangle">
            <a:avLst/>
          </a:prstGeom>
          <a:noFill/>
          <a:ln>
            <a:solidFill>
              <a:srgbClr val="234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5-Point Star 34"/>
          <p:cNvSpPr/>
          <p:nvPr/>
        </p:nvSpPr>
        <p:spPr>
          <a:xfrm>
            <a:off x="7013448" y="4213859"/>
            <a:ext cx="457200" cy="457200"/>
          </a:xfrm>
          <a:prstGeom prst="star5">
            <a:avLst/>
          </a:prstGeom>
          <a:noFill/>
          <a:ln>
            <a:solidFill>
              <a:srgbClr val="234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6" name="Icon · photo"/>
          <p:cNvGrpSpPr/>
          <p:nvPr/>
        </p:nvGrpSpPr>
        <p:grpSpPr>
          <a:xfrm>
            <a:off x="10821924" y="4300727"/>
            <a:ext cx="338328" cy="292608"/>
            <a:chOff x="10821924" y="4300727"/>
            <a:chExt cx="338328" cy="292608"/>
          </a:xfrm>
        </p:grpSpPr>
        <p:sp>
          <p:nvSpPr>
            <p:cNvPr id="37" name="Rounded Rectangle 36"/>
            <p:cNvSpPr/>
            <p:nvPr/>
          </p:nvSpPr>
          <p:spPr>
            <a:xfrm>
              <a:off x="10821924" y="4300727"/>
              <a:ext cx="338328" cy="292608"/>
            </a:xfrm>
            <a:prstGeom prst="roundRect">
              <a:avLst>
                <a:gd name="adj" fmla="val 12000"/>
              </a:avLst>
            </a:pr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1036808" y="4346447"/>
              <a:ext cx="64008" cy="64008"/>
            </a:xfrm>
            <a:prstGeom prst="ellipse">
              <a:avLst/>
            </a:pr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10853928" y="4437887"/>
              <a:ext cx="278892" cy="114300"/>
            </a:xfrm>
            <a:custGeom>
              <a:avLst/>
              <a:gdLst/>
              <a:ahLst/>
              <a:cxnLst/>
              <a:rect l="l" t="t" r="r" b="b"/>
              <a:pathLst>
                <a:path w="610" h="250">
                  <a:moveTo>
                    <a:pt x="0" y="250"/>
                  </a:moveTo>
                  <a:lnTo>
                    <a:pt x="200" y="0"/>
                  </a:lnTo>
                  <a:lnTo>
                    <a:pt x="370" y="200"/>
                  </a:lnTo>
                  <a:lnTo>
                    <a:pt x="480" y="80"/>
                  </a:lnTo>
                  <a:lnTo>
                    <a:pt x="610" y="250"/>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10853928" y="4552187"/>
              <a:ext cx="278892" cy="0"/>
            </a:xfrm>
            <a:custGeom>
              <a:avLst/>
              <a:gdLst/>
              <a:ahLst/>
              <a:cxnLst/>
              <a:rect l="l" t="t" r="r" b="b"/>
              <a:pathLst>
                <a:path w="610" h="0">
                  <a:moveTo>
                    <a:pt x="0" y="0"/>
                  </a:moveTo>
                  <a:lnTo>
                    <a:pt x="610" y="0"/>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Tree>
  </p:cSld>
  <p:clrMapOvr>
    <a:masterClrMapping/>
  </p:clrMapOvr>
  <p:transition spd="fast" advClick="1">
    <p:fade/>
  </p:transition>
</p:sld>
</file>

<file path=ppt/slides/slide29.xml><?xml version="1.0" encoding="utf-8"?>
<p:sld xmlns:a="http://schemas.openxmlformats.org/drawingml/2006/main" xmlns:p="http://schemas.openxmlformats.org/presentationml/2006/main" xmlns:r="http://schemas.openxmlformats.org/officeDocument/2006/relationships" showMasterSp="1">
  <p:cSld>
    <p:bg>
      <p:bgPr>
        <a:solidFill>
          <a:srgbClr val="F1DFD6"/>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29</a:t>
            </a:r>
          </a:p>
        </p:txBody>
      </p:sp>
      <p:sp>
        <p:nvSpPr>
          <p:cNvPr id="3" name="Text 2"/>
          <p:cNvSpPr txBox="1"/>
          <p:nvPr/>
        </p:nvSpPr>
        <p:spPr>
          <a:xfrm>
            <a:off x="594360" y="393192"/>
            <a:ext cx="8961120" cy="222630"/>
          </a:xfrm>
          <a:prstGeom prst="rect">
            <a:avLst/>
          </a:prstGeom>
          <a:noFill/>
        </p:spPr>
        <p:txBody>
          <a:bodyPr wrap="none" lIns="0" rIns="0" tIns="0" bIns="0" anchor="t">
            <a:spAutoFit/>
          </a:bodyPr>
          <a:lstStyle/>
          <a:p>
            <a:pPr>
              <a:lnSpc>
                <a:spcPts val="1356"/>
              </a:lnSpc>
              <a:spcBef>
                <a:spcPts val="0"/>
              </a:spcBef>
              <a:spcAft>
                <a:spcPts val="0"/>
              </a:spcAft>
              <a:defRPr sz="1150" b="1">
                <a:solidFill>
                  <a:srgbClr val="234B42"/>
                </a:solidFill>
                <a:latin typeface="Inter"/>
              </a:defRPr>
            </a:pPr>
            <a:r>
              <a:rPr lang="de-DE"/>
              <a:t>REFLEXION</a:t>
            </a:r>
          </a:p>
        </p:txBody>
      </p:sp>
      <p:sp>
        <p:nvSpPr>
          <p:cNvPr id="4" name="Text 3"/>
          <p:cNvSpPr txBox="1"/>
          <p:nvPr/>
        </p:nvSpPr>
        <p:spPr>
          <a:xfrm>
            <a:off x="594360" y="804672"/>
            <a:ext cx="10789920" cy="469900"/>
          </a:xfrm>
          <a:prstGeom prst="rect">
            <a:avLst/>
          </a:prstGeom>
          <a:noFill/>
        </p:spPr>
        <p:txBody>
          <a:bodyPr wrap="none" lIns="0" rIns="0" tIns="0" bIns="0" anchor="t">
            <a:spAutoFit/>
          </a:bodyPr>
          <a:lstStyle/>
          <a:p>
            <a:pPr>
              <a:lnSpc>
                <a:spcPts val="3304"/>
              </a:lnSpc>
              <a:spcBef>
                <a:spcPts val="0"/>
              </a:spcBef>
              <a:spcAft>
                <a:spcPts val="0"/>
              </a:spcAft>
              <a:defRPr sz="2800" b="1">
                <a:solidFill>
                  <a:srgbClr val="234B42"/>
                </a:solidFill>
                <a:latin typeface="Manrope"/>
              </a:defRPr>
            </a:pPr>
            <a:r>
              <a:rPr lang="de-DE"/>
              <a:t>Auswertung zu Aufträgen und Hilfen</a:t>
            </a:r>
          </a:p>
        </p:txBody>
      </p:sp>
      <p:sp>
        <p:nvSpPr>
          <p:cNvPr id="5" name="Text 4"/>
          <p:cNvSpPr txBox="1"/>
          <p:nvPr/>
        </p:nvSpPr>
        <p:spPr>
          <a:xfrm>
            <a:off x="658368" y="2048256"/>
            <a:ext cx="1828800" cy="1129284"/>
          </a:xfrm>
          <a:prstGeom prst="rect">
            <a:avLst/>
          </a:prstGeom>
          <a:noFill/>
        </p:spPr>
        <p:txBody>
          <a:bodyPr wrap="none" lIns="0" rIns="0" tIns="0" bIns="0" anchor="t">
            <a:spAutoFit/>
          </a:bodyPr>
          <a:lstStyle/>
          <a:p>
            <a:pPr>
              <a:lnSpc>
                <a:spcPts val="8496"/>
              </a:lnSpc>
              <a:spcBef>
                <a:spcPts val="0"/>
              </a:spcBef>
              <a:spcAft>
                <a:spcPts val="0"/>
              </a:spcAft>
              <a:defRPr sz="7200" b="1">
                <a:solidFill>
                  <a:srgbClr val="D68B73"/>
                </a:solidFill>
                <a:latin typeface="Manrope"/>
              </a:defRPr>
            </a:pPr>
            <a:r>
              <a:rPr lang="de-DE"/>
              <a:t>01</a:t>
            </a:r>
          </a:p>
        </p:txBody>
      </p:sp>
      <p:sp>
        <p:nvSpPr>
          <p:cNvPr id="6" name="Text 5"/>
          <p:cNvSpPr txBox="1"/>
          <p:nvPr/>
        </p:nvSpPr>
        <p:spPr>
          <a:xfrm>
            <a:off x="2788920" y="2084831"/>
            <a:ext cx="8412480" cy="2606040"/>
          </a:xfrm>
          <a:prstGeom prst="rect">
            <a:avLst/>
          </a:prstGeom>
          <a:noFill/>
        </p:spPr>
        <p:txBody>
          <a:bodyPr wrap="none" lIns="0" rIns="0" tIns="0" bIns="0" anchor="t">
            <a:spAutoFit/>
          </a:bodyPr>
          <a:lstStyle/>
          <a:p>
            <a:pPr>
              <a:lnSpc>
                <a:spcPts val="4025"/>
              </a:lnSpc>
              <a:spcBef>
                <a:spcPts val="0"/>
              </a:spcBef>
              <a:spcAft>
                <a:spcPts val="0"/>
              </a:spcAft>
              <a:defRPr sz="3500" b="1">
                <a:solidFill>
                  <a:srgbClr val="234B42"/>
                </a:solidFill>
                <a:latin typeface="Manrope"/>
              </a:defRPr>
            </a:pPr>
            <a:r>
              <a:rPr lang="de-DE"/>
              <a:t>Was musste ich gleichzeitig merken</a:t>
            </a:r>
          </a:p>
          <a:p>
            <a:pPr>
              <a:lnSpc>
                <a:spcPts val="4025"/>
              </a:lnSpc>
              <a:spcBef>
                <a:spcPts val="0"/>
              </a:spcBef>
              <a:spcAft>
                <a:spcPts val="0"/>
              </a:spcAft>
              <a:defRPr sz="3500" b="1">
                <a:solidFill>
                  <a:srgbClr val="234B42"/>
                </a:solidFill>
                <a:latin typeface="Manrope"/>
              </a:defRPr>
            </a:pPr>
            <a:r>
              <a:rPr lang="de-DE"/>
              <a:t>und ausführen?</a:t>
            </a:r>
          </a:p>
        </p:txBody>
      </p:sp>
      <p:sp>
        <p:nvSpPr>
          <p:cNvPr id="7" name="Rectangle 6"/>
          <p:cNvSpPr/>
          <p:nvPr/>
        </p:nvSpPr>
        <p:spPr>
          <a:xfrm>
            <a:off x="2816352" y="5120640"/>
            <a:ext cx="539496" cy="64008"/>
          </a:xfrm>
          <a:prstGeom prst="rect">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547872" y="5120640"/>
            <a:ext cx="539496" cy="64008"/>
          </a:xfrm>
          <a:prstGeom prst="rect">
            <a:avLst/>
          </a:prstGeom>
          <a:solidFill>
            <a:srgbClr val="D68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79392" y="5120640"/>
            <a:ext cx="539496" cy="64008"/>
          </a:xfrm>
          <a:prstGeom prst="rect">
            <a:avLst/>
          </a:prstGeom>
          <a:solidFill>
            <a:srgbClr val="D68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10912" y="5120640"/>
            <a:ext cx="539496" cy="64008"/>
          </a:xfrm>
          <a:prstGeom prst="rect">
            <a:avLst/>
          </a:prstGeom>
          <a:solidFill>
            <a:srgbClr val="D68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10"/>
          <p:cNvSpPr txBox="1"/>
          <p:nvPr/>
        </p:nvSpPr>
        <p:spPr>
          <a:xfrm>
            <a:off x="2788920" y="5449824"/>
            <a:ext cx="7040880" cy="230123"/>
          </a:xfrm>
          <a:prstGeom prst="rect">
            <a:avLst/>
          </a:prstGeom>
          <a:noFill/>
        </p:spPr>
        <p:txBody>
          <a:bodyPr wrap="none" lIns="0" rIns="0" tIns="0" bIns="0" anchor="t">
            <a:spAutoFit/>
          </a:bodyPr>
          <a:lstStyle/>
          <a:p>
            <a:pPr>
              <a:lnSpc>
                <a:spcPts val="1416"/>
              </a:lnSpc>
              <a:spcBef>
                <a:spcPts val="0"/>
              </a:spcBef>
              <a:spcAft>
                <a:spcPts val="0"/>
              </a:spcAft>
              <a:defRPr sz="1200" b="1">
                <a:solidFill>
                  <a:srgbClr val="234B42"/>
                </a:solidFill>
                <a:latin typeface="Inter"/>
              </a:defRPr>
            </a:pPr>
            <a:r>
              <a:rPr lang="de-DE"/>
              <a:t>FRAGE 1 VON 4</a:t>
            </a:r>
          </a:p>
        </p:txBody>
      </p:sp>
      <p:sp>
        <p:nvSpPr>
          <p:cNvPr id="12" name="Text 11"/>
          <p:cNvSpPr txBox="1"/>
          <p:nvPr/>
        </p:nvSpPr>
        <p:spPr>
          <a:xfrm>
            <a:off x="594360" y="5952744"/>
            <a:ext cx="10972800" cy="230123"/>
          </a:xfrm>
          <a:prstGeom prst="rect">
            <a:avLst/>
          </a:prstGeom>
          <a:noFill/>
        </p:spPr>
        <p:txBody>
          <a:bodyPr wrap="none" lIns="0" rIns="0" tIns="0" bIns="0" anchor="t">
            <a:spAutoFit/>
          </a:bodyPr>
          <a:lstStyle/>
          <a:p>
            <a:pPr>
              <a:lnSpc>
                <a:spcPts val="1416"/>
              </a:lnSpc>
              <a:spcBef>
                <a:spcPts val="0"/>
              </a:spcBef>
              <a:spcAft>
                <a:spcPts val="0"/>
              </a:spcAft>
              <a:defRPr sz="1200" b="0">
                <a:solidFill>
                  <a:srgbClr val="234B42"/>
                </a:solidFill>
                <a:latin typeface="Inter"/>
              </a:defRPr>
            </a:pPr>
            <a:r>
              <a:rPr lang="de-DE"/>
              <a:t>ca. 6 Minuten · Teil der 8-Minuten-Übung</a:t>
            </a:r>
          </a:p>
        </p:txBody>
      </p:sp>
    </p:spTree>
  </p:cSld>
  <p:clrMapOvr>
    <a:masterClrMapping/>
  </p:clrMapOvr>
  <p:transition spd="fast" advClick="1">
    <p:fade/>
  </p:transition>
</p:sld>
</file>

<file path=ppt/slides/slide30.xml><?xml version="1.0" encoding="utf-8"?>
<p:sld xmlns:a="http://schemas.openxmlformats.org/drawingml/2006/main" xmlns:p="http://schemas.openxmlformats.org/presentationml/2006/main" xmlns:r="http://schemas.openxmlformats.org/officeDocument/2006/relationships" showMasterSp="1">
  <p:cSld>
    <p:bg>
      <p:bgPr>
        <a:solidFill>
          <a:srgbClr val="F1DFD6"/>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30</a:t>
            </a:r>
          </a:p>
        </p:txBody>
      </p:sp>
      <p:sp>
        <p:nvSpPr>
          <p:cNvPr id="3" name="Text 2"/>
          <p:cNvSpPr txBox="1"/>
          <p:nvPr/>
        </p:nvSpPr>
        <p:spPr>
          <a:xfrm>
            <a:off x="594360" y="393192"/>
            <a:ext cx="8961120" cy="222630"/>
          </a:xfrm>
          <a:prstGeom prst="rect">
            <a:avLst/>
          </a:prstGeom>
          <a:noFill/>
        </p:spPr>
        <p:txBody>
          <a:bodyPr wrap="none" lIns="0" rIns="0" tIns="0" bIns="0" anchor="t">
            <a:spAutoFit/>
          </a:bodyPr>
          <a:lstStyle/>
          <a:p>
            <a:pPr>
              <a:lnSpc>
                <a:spcPts val="1356"/>
              </a:lnSpc>
              <a:spcBef>
                <a:spcPts val="0"/>
              </a:spcBef>
              <a:spcAft>
                <a:spcPts val="0"/>
              </a:spcAft>
              <a:defRPr sz="1150" b="1">
                <a:solidFill>
                  <a:srgbClr val="234B42"/>
                </a:solidFill>
                <a:latin typeface="Inter"/>
              </a:defRPr>
            </a:pPr>
            <a:r>
              <a:rPr lang="de-DE"/>
              <a:t>REFLEXION</a:t>
            </a:r>
          </a:p>
        </p:txBody>
      </p:sp>
      <p:sp>
        <p:nvSpPr>
          <p:cNvPr id="4" name="Text 3"/>
          <p:cNvSpPr txBox="1"/>
          <p:nvPr/>
        </p:nvSpPr>
        <p:spPr>
          <a:xfrm>
            <a:off x="594360" y="804672"/>
            <a:ext cx="10789920" cy="469900"/>
          </a:xfrm>
          <a:prstGeom prst="rect">
            <a:avLst/>
          </a:prstGeom>
          <a:noFill/>
        </p:spPr>
        <p:txBody>
          <a:bodyPr wrap="none" lIns="0" rIns="0" tIns="0" bIns="0" anchor="t">
            <a:spAutoFit/>
          </a:bodyPr>
          <a:lstStyle/>
          <a:p>
            <a:pPr>
              <a:lnSpc>
                <a:spcPts val="3304"/>
              </a:lnSpc>
              <a:spcBef>
                <a:spcPts val="0"/>
              </a:spcBef>
              <a:spcAft>
                <a:spcPts val="0"/>
              </a:spcAft>
              <a:defRPr sz="2800" b="1">
                <a:solidFill>
                  <a:srgbClr val="234B42"/>
                </a:solidFill>
                <a:latin typeface="Manrope"/>
              </a:defRPr>
            </a:pPr>
            <a:r>
              <a:rPr lang="de-DE"/>
              <a:t>Auswertung zu Aufträgen und Hilfen</a:t>
            </a:r>
          </a:p>
        </p:txBody>
      </p:sp>
      <p:sp>
        <p:nvSpPr>
          <p:cNvPr id="5" name="Text 4"/>
          <p:cNvSpPr txBox="1"/>
          <p:nvPr/>
        </p:nvSpPr>
        <p:spPr>
          <a:xfrm>
            <a:off x="658368" y="2048256"/>
            <a:ext cx="1828800" cy="1129284"/>
          </a:xfrm>
          <a:prstGeom prst="rect">
            <a:avLst/>
          </a:prstGeom>
          <a:noFill/>
        </p:spPr>
        <p:txBody>
          <a:bodyPr wrap="none" lIns="0" rIns="0" tIns="0" bIns="0" anchor="t">
            <a:spAutoFit/>
          </a:bodyPr>
          <a:lstStyle/>
          <a:p>
            <a:pPr>
              <a:lnSpc>
                <a:spcPts val="8496"/>
              </a:lnSpc>
              <a:spcBef>
                <a:spcPts val="0"/>
              </a:spcBef>
              <a:spcAft>
                <a:spcPts val="0"/>
              </a:spcAft>
              <a:defRPr sz="7200" b="1">
                <a:solidFill>
                  <a:srgbClr val="D68B73"/>
                </a:solidFill>
                <a:latin typeface="Manrope"/>
              </a:defRPr>
            </a:pPr>
            <a:r>
              <a:rPr lang="de-DE"/>
              <a:t>02</a:t>
            </a:r>
          </a:p>
        </p:txBody>
      </p:sp>
      <p:sp>
        <p:nvSpPr>
          <p:cNvPr id="6" name="Text 5"/>
          <p:cNvSpPr txBox="1"/>
          <p:nvPr/>
        </p:nvSpPr>
        <p:spPr>
          <a:xfrm>
            <a:off x="2788920" y="2084831"/>
            <a:ext cx="8412480" cy="2606040"/>
          </a:xfrm>
          <a:prstGeom prst="rect">
            <a:avLst/>
          </a:prstGeom>
          <a:noFill/>
        </p:spPr>
        <p:txBody>
          <a:bodyPr wrap="none" lIns="0" rIns="0" tIns="0" bIns="0" anchor="t">
            <a:spAutoFit/>
          </a:bodyPr>
          <a:lstStyle/>
          <a:p>
            <a:pPr>
              <a:lnSpc>
                <a:spcPts val="4025"/>
              </a:lnSpc>
              <a:spcBef>
                <a:spcPts val="0"/>
              </a:spcBef>
              <a:spcAft>
                <a:spcPts val="0"/>
              </a:spcAft>
              <a:defRPr sz="3500" b="1">
                <a:solidFill>
                  <a:srgbClr val="234B42"/>
                </a:solidFill>
                <a:latin typeface="Manrope"/>
              </a:defRPr>
            </a:pPr>
            <a:r>
              <a:rPr lang="de-DE"/>
              <a:t>Welche Art von Unterstützung hat mir</a:t>
            </a:r>
          </a:p>
          <a:p>
            <a:pPr>
              <a:lnSpc>
                <a:spcPts val="4025"/>
              </a:lnSpc>
              <a:spcBef>
                <a:spcPts val="0"/>
              </a:spcBef>
              <a:spcAft>
                <a:spcPts val="0"/>
              </a:spcAft>
              <a:defRPr sz="3500" b="1">
                <a:solidFill>
                  <a:srgbClr val="234B42"/>
                </a:solidFill>
                <a:latin typeface="Manrope"/>
              </a:defRPr>
            </a:pPr>
            <a:r>
              <a:rPr lang="de-DE"/>
              <a:t>geholfen?</a:t>
            </a:r>
          </a:p>
        </p:txBody>
      </p:sp>
      <p:sp>
        <p:nvSpPr>
          <p:cNvPr id="7" name="Rectangle 6"/>
          <p:cNvSpPr/>
          <p:nvPr/>
        </p:nvSpPr>
        <p:spPr>
          <a:xfrm>
            <a:off x="2816352" y="5120640"/>
            <a:ext cx="539496" cy="64008"/>
          </a:xfrm>
          <a:prstGeom prst="rect">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547872" y="5120640"/>
            <a:ext cx="539496" cy="64008"/>
          </a:xfrm>
          <a:prstGeom prst="rect">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79392" y="5120640"/>
            <a:ext cx="539496" cy="64008"/>
          </a:xfrm>
          <a:prstGeom prst="rect">
            <a:avLst/>
          </a:prstGeom>
          <a:solidFill>
            <a:srgbClr val="D68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10912" y="5120640"/>
            <a:ext cx="539496" cy="64008"/>
          </a:xfrm>
          <a:prstGeom prst="rect">
            <a:avLst/>
          </a:prstGeom>
          <a:solidFill>
            <a:srgbClr val="D68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10"/>
          <p:cNvSpPr txBox="1"/>
          <p:nvPr/>
        </p:nvSpPr>
        <p:spPr>
          <a:xfrm>
            <a:off x="2788920" y="5449824"/>
            <a:ext cx="7040880" cy="230123"/>
          </a:xfrm>
          <a:prstGeom prst="rect">
            <a:avLst/>
          </a:prstGeom>
          <a:noFill/>
        </p:spPr>
        <p:txBody>
          <a:bodyPr wrap="none" lIns="0" rIns="0" tIns="0" bIns="0" anchor="t">
            <a:spAutoFit/>
          </a:bodyPr>
          <a:lstStyle/>
          <a:p>
            <a:pPr>
              <a:lnSpc>
                <a:spcPts val="1416"/>
              </a:lnSpc>
              <a:spcBef>
                <a:spcPts val="0"/>
              </a:spcBef>
              <a:spcAft>
                <a:spcPts val="0"/>
              </a:spcAft>
              <a:defRPr sz="1200" b="1">
                <a:solidFill>
                  <a:srgbClr val="234B42"/>
                </a:solidFill>
                <a:latin typeface="Inter"/>
              </a:defRPr>
            </a:pPr>
            <a:r>
              <a:rPr lang="de-DE"/>
              <a:t>FRAGE 2 VON 4</a:t>
            </a:r>
          </a:p>
        </p:txBody>
      </p:sp>
      <p:sp>
        <p:nvSpPr>
          <p:cNvPr id="12" name="Text 11"/>
          <p:cNvSpPr txBox="1"/>
          <p:nvPr/>
        </p:nvSpPr>
        <p:spPr>
          <a:xfrm>
            <a:off x="594360" y="5952744"/>
            <a:ext cx="10972800" cy="230123"/>
          </a:xfrm>
          <a:prstGeom prst="rect">
            <a:avLst/>
          </a:prstGeom>
          <a:noFill/>
        </p:spPr>
        <p:txBody>
          <a:bodyPr wrap="none" lIns="0" rIns="0" tIns="0" bIns="0" anchor="t">
            <a:spAutoFit/>
          </a:bodyPr>
          <a:lstStyle/>
          <a:p>
            <a:pPr>
              <a:lnSpc>
                <a:spcPts val="1416"/>
              </a:lnSpc>
              <a:spcBef>
                <a:spcPts val="0"/>
              </a:spcBef>
              <a:spcAft>
                <a:spcPts val="0"/>
              </a:spcAft>
              <a:defRPr sz="1200" b="0">
                <a:solidFill>
                  <a:srgbClr val="234B42"/>
                </a:solidFill>
                <a:latin typeface="Inter"/>
              </a:defRPr>
            </a:pPr>
            <a:r>
              <a:rPr lang="de-DE"/>
              <a:t>ca. 6 Minuten · Teil der 8-Minuten-Übung</a:t>
            </a:r>
          </a:p>
        </p:txBody>
      </p:sp>
    </p:spTree>
  </p:cSld>
  <p:clrMapOvr>
    <a:masterClrMapping/>
  </p:clrMapOvr>
  <p:transition spd="fast" advClick="1">
    <p:fade/>
  </p:transition>
</p:sld>
</file>

<file path=ppt/slides/slide31.xml><?xml version="1.0" encoding="utf-8"?>
<p:sld xmlns:a="http://schemas.openxmlformats.org/drawingml/2006/main" xmlns:p="http://schemas.openxmlformats.org/presentationml/2006/main" xmlns:r="http://schemas.openxmlformats.org/officeDocument/2006/relationships" showMasterSp="1">
  <p:cSld>
    <p:bg>
      <p:bgPr>
        <a:solidFill>
          <a:srgbClr val="F1DFD6"/>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31</a:t>
            </a:r>
          </a:p>
        </p:txBody>
      </p:sp>
      <p:sp>
        <p:nvSpPr>
          <p:cNvPr id="3" name="Text 2"/>
          <p:cNvSpPr txBox="1"/>
          <p:nvPr/>
        </p:nvSpPr>
        <p:spPr>
          <a:xfrm>
            <a:off x="594360" y="393192"/>
            <a:ext cx="8961120" cy="222630"/>
          </a:xfrm>
          <a:prstGeom prst="rect">
            <a:avLst/>
          </a:prstGeom>
          <a:noFill/>
        </p:spPr>
        <p:txBody>
          <a:bodyPr wrap="none" lIns="0" rIns="0" tIns="0" bIns="0" anchor="t">
            <a:spAutoFit/>
          </a:bodyPr>
          <a:lstStyle/>
          <a:p>
            <a:pPr>
              <a:lnSpc>
                <a:spcPts val="1356"/>
              </a:lnSpc>
              <a:spcBef>
                <a:spcPts val="0"/>
              </a:spcBef>
              <a:spcAft>
                <a:spcPts val="0"/>
              </a:spcAft>
              <a:defRPr sz="1150" b="1">
                <a:solidFill>
                  <a:srgbClr val="234B42"/>
                </a:solidFill>
                <a:latin typeface="Inter"/>
              </a:defRPr>
            </a:pPr>
            <a:r>
              <a:rPr lang="de-DE"/>
              <a:t>REFLEXION</a:t>
            </a:r>
          </a:p>
        </p:txBody>
      </p:sp>
      <p:sp>
        <p:nvSpPr>
          <p:cNvPr id="4" name="Text 3"/>
          <p:cNvSpPr txBox="1"/>
          <p:nvPr/>
        </p:nvSpPr>
        <p:spPr>
          <a:xfrm>
            <a:off x="594360" y="804672"/>
            <a:ext cx="10789920" cy="469900"/>
          </a:xfrm>
          <a:prstGeom prst="rect">
            <a:avLst/>
          </a:prstGeom>
          <a:noFill/>
        </p:spPr>
        <p:txBody>
          <a:bodyPr wrap="none" lIns="0" rIns="0" tIns="0" bIns="0" anchor="t">
            <a:spAutoFit/>
          </a:bodyPr>
          <a:lstStyle/>
          <a:p>
            <a:pPr>
              <a:lnSpc>
                <a:spcPts val="3304"/>
              </a:lnSpc>
              <a:spcBef>
                <a:spcPts val="0"/>
              </a:spcBef>
              <a:spcAft>
                <a:spcPts val="0"/>
              </a:spcAft>
              <a:defRPr sz="2800" b="1">
                <a:solidFill>
                  <a:srgbClr val="234B42"/>
                </a:solidFill>
                <a:latin typeface="Manrope"/>
              </a:defRPr>
            </a:pPr>
            <a:r>
              <a:rPr lang="de-DE"/>
              <a:t>Auswertung zu Aufträgen und Hilfen</a:t>
            </a:r>
          </a:p>
        </p:txBody>
      </p:sp>
      <p:sp>
        <p:nvSpPr>
          <p:cNvPr id="5" name="Text 4"/>
          <p:cNvSpPr txBox="1"/>
          <p:nvPr/>
        </p:nvSpPr>
        <p:spPr>
          <a:xfrm>
            <a:off x="658368" y="2048256"/>
            <a:ext cx="1828800" cy="1129284"/>
          </a:xfrm>
          <a:prstGeom prst="rect">
            <a:avLst/>
          </a:prstGeom>
          <a:noFill/>
        </p:spPr>
        <p:txBody>
          <a:bodyPr wrap="none" lIns="0" rIns="0" tIns="0" bIns="0" anchor="t">
            <a:spAutoFit/>
          </a:bodyPr>
          <a:lstStyle/>
          <a:p>
            <a:pPr>
              <a:lnSpc>
                <a:spcPts val="8496"/>
              </a:lnSpc>
              <a:spcBef>
                <a:spcPts val="0"/>
              </a:spcBef>
              <a:spcAft>
                <a:spcPts val="0"/>
              </a:spcAft>
              <a:defRPr sz="7200" b="1">
                <a:solidFill>
                  <a:srgbClr val="D68B73"/>
                </a:solidFill>
                <a:latin typeface="Manrope"/>
              </a:defRPr>
            </a:pPr>
            <a:r>
              <a:rPr lang="de-DE"/>
              <a:t>03</a:t>
            </a:r>
          </a:p>
        </p:txBody>
      </p:sp>
      <p:sp>
        <p:nvSpPr>
          <p:cNvPr id="6" name="Text 5"/>
          <p:cNvSpPr txBox="1"/>
          <p:nvPr/>
        </p:nvSpPr>
        <p:spPr>
          <a:xfrm>
            <a:off x="2788920" y="2084831"/>
            <a:ext cx="8412480" cy="2606040"/>
          </a:xfrm>
          <a:prstGeom prst="rect">
            <a:avLst/>
          </a:prstGeom>
          <a:noFill/>
        </p:spPr>
        <p:txBody>
          <a:bodyPr wrap="none" lIns="0" rIns="0" tIns="0" bIns="0" anchor="t">
            <a:spAutoFit/>
          </a:bodyPr>
          <a:lstStyle/>
          <a:p>
            <a:pPr>
              <a:lnSpc>
                <a:spcPts val="4025"/>
              </a:lnSpc>
              <a:spcBef>
                <a:spcPts val="0"/>
              </a:spcBef>
              <a:spcAft>
                <a:spcPts val="0"/>
              </a:spcAft>
              <a:defRPr sz="3500" b="1">
                <a:solidFill>
                  <a:srgbClr val="234B42"/>
                </a:solidFill>
                <a:latin typeface="Manrope"/>
              </a:defRPr>
            </a:pPr>
            <a:r>
              <a:rPr lang="de-DE"/>
              <a:t>Wie verändern Bilder oder</a:t>
            </a:r>
          </a:p>
          <a:p>
            <a:pPr>
              <a:lnSpc>
                <a:spcPts val="4025"/>
              </a:lnSpc>
              <a:spcBef>
                <a:spcPts val="0"/>
              </a:spcBef>
              <a:spcAft>
                <a:spcPts val="0"/>
              </a:spcAft>
              <a:defRPr sz="3500" b="1">
                <a:solidFill>
                  <a:srgbClr val="234B42"/>
                </a:solidFill>
                <a:latin typeface="Manrope"/>
              </a:defRPr>
            </a:pPr>
            <a:r>
              <a:rPr lang="de-DE"/>
              <a:t>gemeinsames Handeln einen</a:t>
            </a:r>
          </a:p>
          <a:p>
            <a:pPr>
              <a:lnSpc>
                <a:spcPts val="4025"/>
              </a:lnSpc>
              <a:spcBef>
                <a:spcPts val="0"/>
              </a:spcBef>
              <a:spcAft>
                <a:spcPts val="0"/>
              </a:spcAft>
              <a:defRPr sz="3500" b="1">
                <a:solidFill>
                  <a:srgbClr val="234B42"/>
                </a:solidFill>
                <a:latin typeface="Manrope"/>
              </a:defRPr>
            </a:pPr>
            <a:r>
              <a:rPr lang="de-DE"/>
              <a:t>Kita-Auftrag?</a:t>
            </a:r>
          </a:p>
        </p:txBody>
      </p:sp>
      <p:sp>
        <p:nvSpPr>
          <p:cNvPr id="7" name="Rectangle 6"/>
          <p:cNvSpPr/>
          <p:nvPr/>
        </p:nvSpPr>
        <p:spPr>
          <a:xfrm>
            <a:off x="2816352" y="5120640"/>
            <a:ext cx="539496" cy="64008"/>
          </a:xfrm>
          <a:prstGeom prst="rect">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547872" y="5120640"/>
            <a:ext cx="539496" cy="64008"/>
          </a:xfrm>
          <a:prstGeom prst="rect">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79392" y="5120640"/>
            <a:ext cx="539496" cy="64008"/>
          </a:xfrm>
          <a:prstGeom prst="rect">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10912" y="5120640"/>
            <a:ext cx="539496" cy="64008"/>
          </a:xfrm>
          <a:prstGeom prst="rect">
            <a:avLst/>
          </a:prstGeom>
          <a:solidFill>
            <a:srgbClr val="D68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10"/>
          <p:cNvSpPr txBox="1"/>
          <p:nvPr/>
        </p:nvSpPr>
        <p:spPr>
          <a:xfrm>
            <a:off x="2788920" y="5449824"/>
            <a:ext cx="7040880" cy="230123"/>
          </a:xfrm>
          <a:prstGeom prst="rect">
            <a:avLst/>
          </a:prstGeom>
          <a:noFill/>
        </p:spPr>
        <p:txBody>
          <a:bodyPr wrap="none" lIns="0" rIns="0" tIns="0" bIns="0" anchor="t">
            <a:spAutoFit/>
          </a:bodyPr>
          <a:lstStyle/>
          <a:p>
            <a:pPr>
              <a:lnSpc>
                <a:spcPts val="1416"/>
              </a:lnSpc>
              <a:spcBef>
                <a:spcPts val="0"/>
              </a:spcBef>
              <a:spcAft>
                <a:spcPts val="0"/>
              </a:spcAft>
              <a:defRPr sz="1200" b="1">
                <a:solidFill>
                  <a:srgbClr val="234B42"/>
                </a:solidFill>
                <a:latin typeface="Inter"/>
              </a:defRPr>
            </a:pPr>
            <a:r>
              <a:rPr lang="de-DE"/>
              <a:t>FRAGE 3 VON 4</a:t>
            </a:r>
          </a:p>
        </p:txBody>
      </p:sp>
      <p:sp>
        <p:nvSpPr>
          <p:cNvPr id="12" name="Text 11"/>
          <p:cNvSpPr txBox="1"/>
          <p:nvPr/>
        </p:nvSpPr>
        <p:spPr>
          <a:xfrm>
            <a:off x="594360" y="5952744"/>
            <a:ext cx="10972800" cy="230123"/>
          </a:xfrm>
          <a:prstGeom prst="rect">
            <a:avLst/>
          </a:prstGeom>
          <a:noFill/>
        </p:spPr>
        <p:txBody>
          <a:bodyPr wrap="none" lIns="0" rIns="0" tIns="0" bIns="0" anchor="t">
            <a:spAutoFit/>
          </a:bodyPr>
          <a:lstStyle/>
          <a:p>
            <a:pPr>
              <a:lnSpc>
                <a:spcPts val="1416"/>
              </a:lnSpc>
              <a:spcBef>
                <a:spcPts val="0"/>
              </a:spcBef>
              <a:spcAft>
                <a:spcPts val="0"/>
              </a:spcAft>
              <a:defRPr sz="1200" b="0">
                <a:solidFill>
                  <a:srgbClr val="234B42"/>
                </a:solidFill>
                <a:latin typeface="Inter"/>
              </a:defRPr>
            </a:pPr>
            <a:r>
              <a:rPr lang="de-DE"/>
              <a:t>ca. 6 Minuten · Teil der 8-Minuten-Übung</a:t>
            </a:r>
          </a:p>
        </p:txBody>
      </p:sp>
    </p:spTree>
  </p:cSld>
  <p:clrMapOvr>
    <a:masterClrMapping/>
  </p:clrMapOvr>
  <p:transition spd="fast" advClick="1">
    <p:fade/>
  </p:transition>
</p:sld>
</file>

<file path=ppt/slides/slide32.xml><?xml version="1.0" encoding="utf-8"?>
<p:sld xmlns:a="http://schemas.openxmlformats.org/drawingml/2006/main" xmlns:p="http://schemas.openxmlformats.org/presentationml/2006/main" xmlns:r="http://schemas.openxmlformats.org/officeDocument/2006/relationships" showMasterSp="1">
  <p:cSld>
    <p:bg>
      <p:bgPr>
        <a:solidFill>
          <a:srgbClr val="F1DFD6"/>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32</a:t>
            </a:r>
          </a:p>
        </p:txBody>
      </p:sp>
      <p:sp>
        <p:nvSpPr>
          <p:cNvPr id="3" name="Text 2"/>
          <p:cNvSpPr txBox="1"/>
          <p:nvPr/>
        </p:nvSpPr>
        <p:spPr>
          <a:xfrm>
            <a:off x="594360" y="393192"/>
            <a:ext cx="8961120" cy="222630"/>
          </a:xfrm>
          <a:prstGeom prst="rect">
            <a:avLst/>
          </a:prstGeom>
          <a:noFill/>
        </p:spPr>
        <p:txBody>
          <a:bodyPr wrap="none" lIns="0" rIns="0" tIns="0" bIns="0" anchor="t">
            <a:spAutoFit/>
          </a:bodyPr>
          <a:lstStyle/>
          <a:p>
            <a:pPr>
              <a:lnSpc>
                <a:spcPts val="1356"/>
              </a:lnSpc>
              <a:spcBef>
                <a:spcPts val="0"/>
              </a:spcBef>
              <a:spcAft>
                <a:spcPts val="0"/>
              </a:spcAft>
              <a:defRPr sz="1150" b="1">
                <a:solidFill>
                  <a:srgbClr val="234B42"/>
                </a:solidFill>
                <a:latin typeface="Inter"/>
              </a:defRPr>
            </a:pPr>
            <a:r>
              <a:rPr lang="de-DE"/>
              <a:t>REFLEXION</a:t>
            </a:r>
          </a:p>
        </p:txBody>
      </p:sp>
      <p:sp>
        <p:nvSpPr>
          <p:cNvPr id="4" name="Text 3"/>
          <p:cNvSpPr txBox="1"/>
          <p:nvPr/>
        </p:nvSpPr>
        <p:spPr>
          <a:xfrm>
            <a:off x="594360" y="804672"/>
            <a:ext cx="10789920" cy="469900"/>
          </a:xfrm>
          <a:prstGeom prst="rect">
            <a:avLst/>
          </a:prstGeom>
          <a:noFill/>
        </p:spPr>
        <p:txBody>
          <a:bodyPr wrap="none" lIns="0" rIns="0" tIns="0" bIns="0" anchor="t">
            <a:spAutoFit/>
          </a:bodyPr>
          <a:lstStyle/>
          <a:p>
            <a:pPr>
              <a:lnSpc>
                <a:spcPts val="3304"/>
              </a:lnSpc>
              <a:spcBef>
                <a:spcPts val="0"/>
              </a:spcBef>
              <a:spcAft>
                <a:spcPts val="0"/>
              </a:spcAft>
              <a:defRPr sz="2800" b="1">
                <a:solidFill>
                  <a:srgbClr val="234B42"/>
                </a:solidFill>
                <a:latin typeface="Manrope"/>
              </a:defRPr>
            </a:pPr>
            <a:r>
              <a:rPr lang="de-DE"/>
              <a:t>Auswertung zu Aufträgen und Hilfen</a:t>
            </a:r>
          </a:p>
        </p:txBody>
      </p:sp>
      <p:sp>
        <p:nvSpPr>
          <p:cNvPr id="5" name="Text 4"/>
          <p:cNvSpPr txBox="1"/>
          <p:nvPr/>
        </p:nvSpPr>
        <p:spPr>
          <a:xfrm>
            <a:off x="658368" y="2048256"/>
            <a:ext cx="1828800" cy="1129284"/>
          </a:xfrm>
          <a:prstGeom prst="rect">
            <a:avLst/>
          </a:prstGeom>
          <a:noFill/>
        </p:spPr>
        <p:txBody>
          <a:bodyPr wrap="none" lIns="0" rIns="0" tIns="0" bIns="0" anchor="t">
            <a:spAutoFit/>
          </a:bodyPr>
          <a:lstStyle/>
          <a:p>
            <a:pPr>
              <a:lnSpc>
                <a:spcPts val="8496"/>
              </a:lnSpc>
              <a:spcBef>
                <a:spcPts val="0"/>
              </a:spcBef>
              <a:spcAft>
                <a:spcPts val="0"/>
              </a:spcAft>
              <a:defRPr sz="7200" b="1">
                <a:solidFill>
                  <a:srgbClr val="D68B73"/>
                </a:solidFill>
                <a:latin typeface="Manrope"/>
              </a:defRPr>
            </a:pPr>
            <a:r>
              <a:rPr lang="de-DE"/>
              <a:t>04</a:t>
            </a:r>
          </a:p>
        </p:txBody>
      </p:sp>
      <p:sp>
        <p:nvSpPr>
          <p:cNvPr id="6" name="Text 5"/>
          <p:cNvSpPr txBox="1"/>
          <p:nvPr/>
        </p:nvSpPr>
        <p:spPr>
          <a:xfrm>
            <a:off x="2788920" y="2084831"/>
            <a:ext cx="8412480" cy="2606040"/>
          </a:xfrm>
          <a:prstGeom prst="rect">
            <a:avLst/>
          </a:prstGeom>
          <a:noFill/>
        </p:spPr>
        <p:txBody>
          <a:bodyPr wrap="none" lIns="0" rIns="0" tIns="0" bIns="0" anchor="t">
            <a:spAutoFit/>
          </a:bodyPr>
          <a:lstStyle/>
          <a:p>
            <a:pPr>
              <a:lnSpc>
                <a:spcPts val="4025"/>
              </a:lnSpc>
              <a:spcBef>
                <a:spcPts val="0"/>
              </a:spcBef>
              <a:spcAft>
                <a:spcPts val="0"/>
              </a:spcAft>
              <a:defRPr sz="3500" b="1">
                <a:solidFill>
                  <a:srgbClr val="234B42"/>
                </a:solidFill>
                <a:latin typeface="Manrope"/>
              </a:defRPr>
            </a:pPr>
            <a:r>
              <a:rPr lang="de-DE"/>
              <a:t>Was kann die Wiederholung zusätzlich</a:t>
            </a:r>
          </a:p>
          <a:p>
            <a:pPr>
              <a:lnSpc>
                <a:spcPts val="4025"/>
              </a:lnSpc>
              <a:spcBef>
                <a:spcPts val="0"/>
              </a:spcBef>
              <a:spcAft>
                <a:spcPts val="0"/>
              </a:spcAft>
              <a:defRPr sz="3500" b="1">
                <a:solidFill>
                  <a:srgbClr val="234B42"/>
                </a:solidFill>
                <a:latin typeface="Manrope"/>
              </a:defRPr>
            </a:pPr>
            <a:r>
              <a:rPr lang="de-DE"/>
              <a:t>erleichtert haben?</a:t>
            </a:r>
          </a:p>
        </p:txBody>
      </p:sp>
      <p:sp>
        <p:nvSpPr>
          <p:cNvPr id="7" name="Rectangle 6"/>
          <p:cNvSpPr/>
          <p:nvPr/>
        </p:nvSpPr>
        <p:spPr>
          <a:xfrm>
            <a:off x="2816352" y="5120640"/>
            <a:ext cx="539496" cy="64008"/>
          </a:xfrm>
          <a:prstGeom prst="rect">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547872" y="5120640"/>
            <a:ext cx="539496" cy="64008"/>
          </a:xfrm>
          <a:prstGeom prst="rect">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79392" y="5120640"/>
            <a:ext cx="539496" cy="64008"/>
          </a:xfrm>
          <a:prstGeom prst="rect">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10912" y="5120640"/>
            <a:ext cx="539496" cy="64008"/>
          </a:xfrm>
          <a:prstGeom prst="rect">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10"/>
          <p:cNvSpPr txBox="1"/>
          <p:nvPr/>
        </p:nvSpPr>
        <p:spPr>
          <a:xfrm>
            <a:off x="2788920" y="5449824"/>
            <a:ext cx="7040880" cy="230123"/>
          </a:xfrm>
          <a:prstGeom prst="rect">
            <a:avLst/>
          </a:prstGeom>
          <a:noFill/>
        </p:spPr>
        <p:txBody>
          <a:bodyPr wrap="none" lIns="0" rIns="0" tIns="0" bIns="0" anchor="t">
            <a:spAutoFit/>
          </a:bodyPr>
          <a:lstStyle/>
          <a:p>
            <a:pPr>
              <a:lnSpc>
                <a:spcPts val="1416"/>
              </a:lnSpc>
              <a:spcBef>
                <a:spcPts val="0"/>
              </a:spcBef>
              <a:spcAft>
                <a:spcPts val="0"/>
              </a:spcAft>
              <a:defRPr sz="1200" b="1">
                <a:solidFill>
                  <a:srgbClr val="234B42"/>
                </a:solidFill>
                <a:latin typeface="Inter"/>
              </a:defRPr>
            </a:pPr>
            <a:r>
              <a:rPr lang="de-DE"/>
              <a:t>FRAGE 4 VON 4</a:t>
            </a:r>
          </a:p>
        </p:txBody>
      </p:sp>
      <p:sp>
        <p:nvSpPr>
          <p:cNvPr id="12" name="Text 11"/>
          <p:cNvSpPr txBox="1"/>
          <p:nvPr/>
        </p:nvSpPr>
        <p:spPr>
          <a:xfrm>
            <a:off x="594360" y="5952744"/>
            <a:ext cx="10972800" cy="230123"/>
          </a:xfrm>
          <a:prstGeom prst="rect">
            <a:avLst/>
          </a:prstGeom>
          <a:noFill/>
        </p:spPr>
        <p:txBody>
          <a:bodyPr wrap="none" lIns="0" rIns="0" tIns="0" bIns="0" anchor="t">
            <a:spAutoFit/>
          </a:bodyPr>
          <a:lstStyle/>
          <a:p>
            <a:pPr>
              <a:lnSpc>
                <a:spcPts val="1416"/>
              </a:lnSpc>
              <a:spcBef>
                <a:spcPts val="0"/>
              </a:spcBef>
              <a:spcAft>
                <a:spcPts val="0"/>
              </a:spcAft>
              <a:defRPr sz="1200" b="0">
                <a:solidFill>
                  <a:srgbClr val="234B42"/>
                </a:solidFill>
                <a:latin typeface="Inter"/>
              </a:defRPr>
            </a:pPr>
            <a:r>
              <a:rPr lang="de-DE"/>
              <a:t>ca. 6 Minuten · Teil der 8-Minuten-Übung</a:t>
            </a:r>
          </a:p>
        </p:txBody>
      </p:sp>
    </p:spTree>
  </p:cSld>
  <p:clrMapOvr>
    <a:masterClrMapping/>
  </p:clrMapOvr>
  <p:transition spd="fast" advClick="1">
    <p:fade/>
  </p:transition>
</p:sld>
</file>

<file path=ppt/slides/slide33.xml><?xml version="1.0" encoding="utf-8"?>
<p:sld xmlns:a="http://schemas.openxmlformats.org/drawingml/2006/main" xmlns:p="http://schemas.openxmlformats.org/presentationml/2006/main" xmlns:r="http://schemas.openxmlformats.org/officeDocument/2006/relationships" showMasterSp="1">
  <p:cSld>
    <p:bg>
      <p:bgPr>
        <a:solidFill>
          <a:srgbClr val="F7F5EF"/>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33</a:t>
            </a:r>
          </a:p>
        </p:txBody>
      </p:sp>
      <p:sp>
        <p:nvSpPr>
          <p:cNvPr id="3" name="Text 2"/>
          <p:cNvSpPr txBox="1"/>
          <p:nvPr/>
        </p:nvSpPr>
        <p:spPr>
          <a:xfrm>
            <a:off x="594360" y="393192"/>
            <a:ext cx="10881360" cy="203644"/>
          </a:xfrm>
          <a:prstGeom prst="rect">
            <a:avLst/>
          </a:prstGeom>
          <a:noFill/>
        </p:spPr>
        <p:txBody>
          <a:bodyPr wrap="none" lIns="0" rIns="0" tIns="0" bIns="0" anchor="t">
            <a:spAutoFit/>
          </a:bodyPr>
          <a:lstStyle/>
          <a:p>
            <a:pPr>
              <a:lnSpc>
                <a:spcPts val="1207"/>
              </a:lnSpc>
              <a:spcBef>
                <a:spcPts val="0"/>
              </a:spcBef>
              <a:spcAft>
                <a:spcPts val="0"/>
              </a:spcAft>
              <a:defRPr sz="1150" b="1">
                <a:solidFill>
                  <a:srgbClr val="234B42"/>
                </a:solidFill>
                <a:latin typeface="Inter"/>
              </a:defRPr>
            </a:pPr>
            <a:r>
              <a:rPr lang="de-DE"/>
              <a:t>SITUATION → MÖGLICHE ANPASSUNG</a:t>
            </a:r>
          </a:p>
        </p:txBody>
      </p:sp>
      <p:sp>
        <p:nvSpPr>
          <p:cNvPr id="4" name="Text 3"/>
          <p:cNvSpPr txBox="1"/>
          <p:nvPr/>
        </p:nvSpPr>
        <p:spPr>
          <a:xfrm>
            <a:off x="594360" y="804672"/>
            <a:ext cx="10991088"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Unterstützung bei ADHS im Alltag</a:t>
            </a:r>
          </a:p>
        </p:txBody>
      </p:sp>
      <p:sp>
        <p:nvSpPr>
          <p:cNvPr id="5" name="Rounded Rectangle 4"/>
          <p:cNvSpPr/>
          <p:nvPr/>
        </p:nvSpPr>
        <p:spPr>
          <a:xfrm>
            <a:off x="594360" y="1644396"/>
            <a:ext cx="5385816" cy="1802130"/>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644396"/>
            <a:ext cx="50292" cy="1802130"/>
          </a:xfrm>
          <a:prstGeom prst="rect">
            <a:avLst/>
          </a:prstGeom>
          <a:solidFill>
            <a:srgbClr val="D68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6"/>
          <p:cNvSpPr txBox="1"/>
          <p:nvPr/>
        </p:nvSpPr>
        <p:spPr>
          <a:xfrm>
            <a:off x="850392" y="1854708"/>
            <a:ext cx="4873752" cy="315785"/>
          </a:xfrm>
          <a:prstGeom prst="rect">
            <a:avLst/>
          </a:prstGeom>
          <a:noFill/>
        </p:spPr>
        <p:txBody>
          <a:bodyPr wrap="none" lIns="0" rIns="0" tIns="0" bIns="0" anchor="t">
            <a:spAutoFit/>
          </a:bodyPr>
          <a:lstStyle/>
          <a:p>
            <a:pPr>
              <a:lnSpc>
                <a:spcPts val="2090"/>
              </a:lnSpc>
              <a:spcBef>
                <a:spcPts val="0"/>
              </a:spcBef>
              <a:spcAft>
                <a:spcPts val="0"/>
              </a:spcAft>
              <a:defRPr sz="1850" b="1">
                <a:solidFill>
                  <a:srgbClr val="234B42"/>
                </a:solidFill>
                <a:latin typeface="Manrope"/>
              </a:defRPr>
            </a:pPr>
            <a:r>
              <a:rPr lang="de-DE"/>
              <a:t>Aufräumen</a:t>
            </a:r>
          </a:p>
        </p:txBody>
      </p:sp>
      <p:sp>
        <p:nvSpPr>
          <p:cNvPr id="8" name="Text 7"/>
          <p:cNvSpPr txBox="1"/>
          <p:nvPr/>
        </p:nvSpPr>
        <p:spPr>
          <a:xfrm>
            <a:off x="850392" y="2298509"/>
            <a:ext cx="4873752" cy="983424"/>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Eine Kiste und einen ersten</a:t>
            </a:r>
          </a:p>
          <a:p>
            <a:pPr>
              <a:lnSpc>
                <a:spcPts val="2477"/>
              </a:lnSpc>
              <a:spcBef>
                <a:spcPts val="0"/>
              </a:spcBef>
              <a:spcAft>
                <a:spcPts val="0"/>
              </a:spcAft>
              <a:defRPr sz="2100" b="0">
                <a:solidFill>
                  <a:srgbClr val="26332F"/>
                </a:solidFill>
                <a:latin typeface="Inter"/>
              </a:defRPr>
            </a:pPr>
            <a:r>
              <a:rPr lang="de-DE"/>
              <a:t>Arbeitsschritt zeigen</a:t>
            </a:r>
          </a:p>
        </p:txBody>
      </p:sp>
      <p:sp>
        <p:nvSpPr>
          <p:cNvPr id="9" name="Rounded Rectangle 8"/>
          <p:cNvSpPr/>
          <p:nvPr/>
        </p:nvSpPr>
        <p:spPr>
          <a:xfrm>
            <a:off x="6208776" y="1644396"/>
            <a:ext cx="5385816" cy="1802130"/>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08776" y="1644396"/>
            <a:ext cx="50292" cy="1802130"/>
          </a:xfrm>
          <a:prstGeom prst="rect">
            <a:avLst/>
          </a:prstGeom>
          <a:solidFill>
            <a:srgbClr val="D68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10"/>
          <p:cNvSpPr txBox="1"/>
          <p:nvPr/>
        </p:nvSpPr>
        <p:spPr>
          <a:xfrm>
            <a:off x="6464808" y="1854708"/>
            <a:ext cx="4873752" cy="315785"/>
          </a:xfrm>
          <a:prstGeom prst="rect">
            <a:avLst/>
          </a:prstGeom>
          <a:noFill/>
        </p:spPr>
        <p:txBody>
          <a:bodyPr wrap="none" lIns="0" rIns="0" tIns="0" bIns="0" anchor="t">
            <a:spAutoFit/>
          </a:bodyPr>
          <a:lstStyle/>
          <a:p>
            <a:pPr>
              <a:lnSpc>
                <a:spcPts val="2090"/>
              </a:lnSpc>
              <a:spcBef>
                <a:spcPts val="0"/>
              </a:spcBef>
              <a:spcAft>
                <a:spcPts val="0"/>
              </a:spcAft>
              <a:defRPr sz="1850" b="1">
                <a:solidFill>
                  <a:srgbClr val="234B42"/>
                </a:solidFill>
                <a:latin typeface="Manrope"/>
              </a:defRPr>
            </a:pPr>
            <a:r>
              <a:rPr lang="de-DE"/>
              <a:t>Warten</a:t>
            </a:r>
          </a:p>
        </p:txBody>
      </p:sp>
      <p:sp>
        <p:nvSpPr>
          <p:cNvPr id="12" name="Text 11"/>
          <p:cNvSpPr txBox="1"/>
          <p:nvPr/>
        </p:nvSpPr>
        <p:spPr>
          <a:xfrm>
            <a:off x="6464808" y="2298509"/>
            <a:ext cx="4873752" cy="983424"/>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Wartezeit verkürzen oder eine kleine</a:t>
            </a:r>
          </a:p>
          <a:p>
            <a:pPr>
              <a:lnSpc>
                <a:spcPts val="2477"/>
              </a:lnSpc>
              <a:spcBef>
                <a:spcPts val="0"/>
              </a:spcBef>
              <a:spcAft>
                <a:spcPts val="0"/>
              </a:spcAft>
              <a:defRPr sz="2100" b="0">
                <a:solidFill>
                  <a:srgbClr val="26332F"/>
                </a:solidFill>
                <a:latin typeface="Inter"/>
              </a:defRPr>
            </a:pPr>
            <a:r>
              <a:rPr lang="de-DE"/>
              <a:t>Aufgabe anbieten</a:t>
            </a:r>
          </a:p>
        </p:txBody>
      </p:sp>
      <p:sp>
        <p:nvSpPr>
          <p:cNvPr id="13" name="Rounded Rectangle 12"/>
          <p:cNvSpPr/>
          <p:nvPr/>
        </p:nvSpPr>
        <p:spPr>
          <a:xfrm>
            <a:off x="594360" y="3675126"/>
            <a:ext cx="5385816" cy="1802130"/>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94360" y="3675126"/>
            <a:ext cx="50292" cy="1802130"/>
          </a:xfrm>
          <a:prstGeom prst="rect">
            <a:avLst/>
          </a:prstGeom>
          <a:solidFill>
            <a:srgbClr val="D68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14"/>
          <p:cNvSpPr txBox="1"/>
          <p:nvPr/>
        </p:nvSpPr>
        <p:spPr>
          <a:xfrm>
            <a:off x="850392" y="3885438"/>
            <a:ext cx="4873752" cy="315785"/>
          </a:xfrm>
          <a:prstGeom prst="rect">
            <a:avLst/>
          </a:prstGeom>
          <a:noFill/>
        </p:spPr>
        <p:txBody>
          <a:bodyPr wrap="none" lIns="0" rIns="0" tIns="0" bIns="0" anchor="t">
            <a:spAutoFit/>
          </a:bodyPr>
          <a:lstStyle/>
          <a:p>
            <a:pPr>
              <a:lnSpc>
                <a:spcPts val="2090"/>
              </a:lnSpc>
              <a:spcBef>
                <a:spcPts val="0"/>
              </a:spcBef>
              <a:spcAft>
                <a:spcPts val="0"/>
              </a:spcAft>
              <a:defRPr sz="1850" b="1">
                <a:solidFill>
                  <a:srgbClr val="234B42"/>
                </a:solidFill>
                <a:latin typeface="Manrope"/>
              </a:defRPr>
            </a:pPr>
            <a:r>
              <a:rPr lang="de-DE"/>
              <a:t>Gruppenangebot</a:t>
            </a:r>
          </a:p>
        </p:txBody>
      </p:sp>
      <p:sp>
        <p:nvSpPr>
          <p:cNvPr id="16" name="Text 15"/>
          <p:cNvSpPr txBox="1"/>
          <p:nvPr/>
        </p:nvSpPr>
        <p:spPr>
          <a:xfrm>
            <a:off x="850392" y="4329239"/>
            <a:ext cx="4873752" cy="983424"/>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Aktive Beteiligung und Bewegung</a:t>
            </a:r>
          </a:p>
          <a:p>
            <a:pPr>
              <a:lnSpc>
                <a:spcPts val="2477"/>
              </a:lnSpc>
              <a:spcBef>
                <a:spcPts val="0"/>
              </a:spcBef>
              <a:spcAft>
                <a:spcPts val="0"/>
              </a:spcAft>
              <a:defRPr sz="2100" b="0">
                <a:solidFill>
                  <a:srgbClr val="26332F"/>
                </a:solidFill>
                <a:latin typeface="Inter"/>
              </a:defRPr>
            </a:pPr>
            <a:r>
              <a:rPr lang="de-DE"/>
              <a:t>ermöglichen</a:t>
            </a:r>
          </a:p>
        </p:txBody>
      </p:sp>
      <p:sp>
        <p:nvSpPr>
          <p:cNvPr id="17" name="Rounded Rectangle 16"/>
          <p:cNvSpPr/>
          <p:nvPr/>
        </p:nvSpPr>
        <p:spPr>
          <a:xfrm>
            <a:off x="6208776" y="3675126"/>
            <a:ext cx="5385816" cy="1802130"/>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08776" y="3675126"/>
            <a:ext cx="50292" cy="1802130"/>
          </a:xfrm>
          <a:prstGeom prst="rect">
            <a:avLst/>
          </a:prstGeom>
          <a:solidFill>
            <a:srgbClr val="D68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18"/>
          <p:cNvSpPr txBox="1"/>
          <p:nvPr/>
        </p:nvSpPr>
        <p:spPr>
          <a:xfrm>
            <a:off x="6464808" y="3885438"/>
            <a:ext cx="4873752" cy="315785"/>
          </a:xfrm>
          <a:prstGeom prst="rect">
            <a:avLst/>
          </a:prstGeom>
          <a:noFill/>
        </p:spPr>
        <p:txBody>
          <a:bodyPr wrap="none" lIns="0" rIns="0" tIns="0" bIns="0" anchor="t">
            <a:spAutoFit/>
          </a:bodyPr>
          <a:lstStyle/>
          <a:p>
            <a:pPr>
              <a:lnSpc>
                <a:spcPts val="2090"/>
              </a:lnSpc>
              <a:spcBef>
                <a:spcPts val="0"/>
              </a:spcBef>
              <a:spcAft>
                <a:spcPts val="0"/>
              </a:spcAft>
              <a:defRPr sz="1850" b="1">
                <a:solidFill>
                  <a:srgbClr val="234B42"/>
                </a:solidFill>
                <a:latin typeface="Manrope"/>
              </a:defRPr>
            </a:pPr>
            <a:r>
              <a:rPr lang="de-DE"/>
              <a:t>Übergang</a:t>
            </a:r>
          </a:p>
        </p:txBody>
      </p:sp>
      <p:sp>
        <p:nvSpPr>
          <p:cNvPr id="20" name="Text 19"/>
          <p:cNvSpPr txBox="1"/>
          <p:nvPr/>
        </p:nvSpPr>
        <p:spPr>
          <a:xfrm>
            <a:off x="6464808" y="4329239"/>
            <a:ext cx="4873752" cy="983424"/>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Ankündigung und vertraute Begleitung</a:t>
            </a:r>
          </a:p>
          <a:p>
            <a:pPr>
              <a:lnSpc>
                <a:spcPts val="2477"/>
              </a:lnSpc>
              <a:spcBef>
                <a:spcPts val="0"/>
              </a:spcBef>
              <a:spcAft>
                <a:spcPts val="0"/>
              </a:spcAft>
              <a:defRPr sz="2100" b="0">
                <a:solidFill>
                  <a:srgbClr val="26332F"/>
                </a:solidFill>
                <a:latin typeface="Inter"/>
              </a:defRPr>
            </a:pPr>
            <a:r>
              <a:rPr lang="de-DE"/>
              <a:t>verbinden</a:t>
            </a:r>
          </a:p>
        </p:txBody>
      </p:sp>
      <p:cxnSp>
        <p:nvCxnSpPr>
          <p:cNvPr id="21" name="Connector 20"/>
          <p:cNvCxnSpPr/>
          <p:nvPr/>
        </p:nvCxnSpPr>
        <p:spPr>
          <a:xfrm>
            <a:off x="594360" y="5495544"/>
            <a:ext cx="502920" cy="0"/>
          </a:xfrm>
          <a:prstGeom prst="line">
            <a:avLst/>
          </a:prstGeom>
          <a:ln w="27940">
            <a:solidFill>
              <a:srgbClr val="D68B73"/>
            </a:solidFill>
          </a:ln>
        </p:spPr>
        <p:style>
          <a:lnRef idx="2">
            <a:schemeClr val="accent1"/>
          </a:lnRef>
          <a:fillRef idx="0">
            <a:schemeClr val="accent1"/>
          </a:fillRef>
          <a:effectRef idx="1">
            <a:schemeClr val="accent1"/>
          </a:effectRef>
          <a:fontRef idx="minor">
            <a:schemeClr val="tx1"/>
          </a:fontRef>
        </p:style>
      </p:cxnSp>
      <p:sp>
        <p:nvSpPr>
          <p:cNvPr id="22" name="Text 21"/>
          <p:cNvSpPr txBox="1"/>
          <p:nvPr/>
        </p:nvSpPr>
        <p:spPr>
          <a:xfrm>
            <a:off x="594360" y="5623560"/>
            <a:ext cx="10972800" cy="694944"/>
          </a:xfrm>
          <a:prstGeom prst="rect">
            <a:avLst/>
          </a:prstGeom>
          <a:noFill/>
        </p:spPr>
        <p:txBody>
          <a:bodyPr wrap="none" lIns="0" rIns="0" tIns="0" bIns="0" anchor="t">
            <a:spAutoFit/>
          </a:bodyPr>
          <a:lstStyle/>
          <a:p>
            <a:pPr>
              <a:lnSpc>
                <a:spcPts val="2419"/>
              </a:lnSpc>
              <a:spcBef>
                <a:spcPts val="0"/>
              </a:spcBef>
              <a:spcAft>
                <a:spcPts val="0"/>
              </a:spcAft>
              <a:defRPr sz="2050" b="1">
                <a:solidFill>
                  <a:srgbClr val="234B42"/>
                </a:solidFill>
                <a:latin typeface="Manrope"/>
              </a:defRPr>
            </a:pPr>
            <a:r>
              <a:rPr lang="de-DE"/>
              <a:t>Die Wirkung am einzelnen Kind prüfen.</a:t>
            </a:r>
          </a:p>
        </p:txBody>
      </p:sp>
    </p:spTree>
  </p:cSld>
  <p:clrMapOvr>
    <a:masterClrMapping/>
  </p:clrMapOvr>
  <p:transition spd="fast" advClick="1">
    <p:fade/>
  </p:transition>
</p:sld>
</file>

<file path=ppt/slides/slide34.xml><?xml version="1.0" encoding="utf-8"?>
<p:sld xmlns:a="http://schemas.openxmlformats.org/drawingml/2006/main" xmlns:p="http://schemas.openxmlformats.org/presentationml/2006/main" xmlns:r="http://schemas.openxmlformats.org/officeDocument/2006/relationships" showMasterSp="1">
  <p:cSld>
    <p:bg>
      <p:bgPr>
        <a:solidFill>
          <a:srgbClr val="F7F5EF"/>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34</a:t>
            </a:r>
          </a:p>
        </p:txBody>
      </p:sp>
      <p:sp>
        <p:nvSpPr>
          <p:cNvPr id="3" name="Text 2"/>
          <p:cNvSpPr txBox="1"/>
          <p:nvPr/>
        </p:nvSpPr>
        <p:spPr>
          <a:xfrm>
            <a:off x="594360" y="393192"/>
            <a:ext cx="10881360" cy="203644"/>
          </a:xfrm>
          <a:prstGeom prst="rect">
            <a:avLst/>
          </a:prstGeom>
          <a:noFill/>
        </p:spPr>
        <p:txBody>
          <a:bodyPr wrap="none" lIns="0" rIns="0" tIns="0" bIns="0" anchor="t">
            <a:spAutoFit/>
          </a:bodyPr>
          <a:lstStyle/>
          <a:p>
            <a:pPr>
              <a:lnSpc>
                <a:spcPts val="1207"/>
              </a:lnSpc>
              <a:spcBef>
                <a:spcPts val="0"/>
              </a:spcBef>
              <a:spcAft>
                <a:spcPts val="0"/>
              </a:spcAft>
              <a:defRPr sz="1150" b="1">
                <a:solidFill>
                  <a:srgbClr val="234B42"/>
                </a:solidFill>
                <a:latin typeface="Inter"/>
              </a:defRPr>
            </a:pPr>
            <a:r>
              <a:rPr lang="de-DE"/>
              <a:t>VERSTÄNDLICH FORMULIEREN</a:t>
            </a:r>
          </a:p>
        </p:txBody>
      </p:sp>
      <p:sp>
        <p:nvSpPr>
          <p:cNvPr id="4" name="Text 3"/>
          <p:cNvSpPr txBox="1"/>
          <p:nvPr/>
        </p:nvSpPr>
        <p:spPr>
          <a:xfrm>
            <a:off x="594360" y="804672"/>
            <a:ext cx="10991088"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Konkrete Rückmeldung</a:t>
            </a:r>
          </a:p>
        </p:txBody>
      </p:sp>
      <p:sp>
        <p:nvSpPr>
          <p:cNvPr id="5" name="Rounded Rectangle 4"/>
          <p:cNvSpPr/>
          <p:nvPr/>
        </p:nvSpPr>
        <p:spPr>
          <a:xfrm>
            <a:off x="594360" y="1644396"/>
            <a:ext cx="5358384" cy="4372356"/>
          </a:xfrm>
          <a:prstGeom prst="roundRect">
            <a:avLst>
              <a:gd name="adj" fmla="val 6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644396"/>
            <a:ext cx="5358384" cy="59436"/>
          </a:xfrm>
          <a:prstGeom prst="rect">
            <a:avLst/>
          </a:prstGeom>
          <a:solidFill>
            <a:srgbClr val="D68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6"/>
          <p:cNvSpPr txBox="1"/>
          <p:nvPr/>
        </p:nvSpPr>
        <p:spPr>
          <a:xfrm>
            <a:off x="886968" y="1937003"/>
            <a:ext cx="4773168" cy="409956"/>
          </a:xfrm>
          <a:prstGeom prst="rect">
            <a:avLst/>
          </a:prstGeom>
          <a:noFill/>
        </p:spPr>
        <p:txBody>
          <a:bodyPr wrap="none" lIns="0" rIns="0" tIns="0" bIns="0" anchor="t">
            <a:spAutoFit/>
          </a:bodyPr>
          <a:lstStyle/>
          <a:p>
            <a:pPr>
              <a:lnSpc>
                <a:spcPts val="2832"/>
              </a:lnSpc>
              <a:spcBef>
                <a:spcPts val="0"/>
              </a:spcBef>
              <a:spcAft>
                <a:spcPts val="0"/>
              </a:spcAft>
              <a:defRPr sz="2400" b="1">
                <a:solidFill>
                  <a:srgbClr val="234B42"/>
                </a:solidFill>
                <a:latin typeface="Manrope"/>
              </a:defRPr>
            </a:pPr>
            <a:r>
              <a:rPr lang="de-DE"/>
              <a:t>Wenig Information</a:t>
            </a:r>
          </a:p>
        </p:txBody>
      </p:sp>
      <p:sp>
        <p:nvSpPr>
          <p:cNvPr id="8" name="Rectangle 7"/>
          <p:cNvSpPr/>
          <p:nvPr/>
        </p:nvSpPr>
        <p:spPr>
          <a:xfrm>
            <a:off x="886968" y="2799588"/>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8"/>
          <p:cNvSpPr txBox="1"/>
          <p:nvPr/>
        </p:nvSpPr>
        <p:spPr>
          <a:xfrm>
            <a:off x="1106424" y="2676143"/>
            <a:ext cx="4553712" cy="394969"/>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26332F"/>
                </a:solidFill>
                <a:latin typeface="Inter"/>
              </a:defRPr>
            </a:pPr>
            <a:r>
              <a:rPr lang="de-DE"/>
              <a:t>„Sei endlich ordentlich.“</a:t>
            </a:r>
          </a:p>
        </p:txBody>
      </p:sp>
      <p:sp>
        <p:nvSpPr>
          <p:cNvPr id="10" name="Rectangle 9"/>
          <p:cNvSpPr/>
          <p:nvPr/>
        </p:nvSpPr>
        <p:spPr>
          <a:xfrm>
            <a:off x="886968" y="3468877"/>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10"/>
          <p:cNvSpPr txBox="1"/>
          <p:nvPr/>
        </p:nvSpPr>
        <p:spPr>
          <a:xfrm>
            <a:off x="1106424" y="3345433"/>
            <a:ext cx="4553712" cy="394969"/>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26332F"/>
                </a:solidFill>
                <a:latin typeface="Inter"/>
              </a:defRPr>
            </a:pPr>
            <a:r>
              <a:rPr lang="de-DE"/>
              <a:t>„Du musst besser aufpassen.“</a:t>
            </a:r>
          </a:p>
        </p:txBody>
      </p:sp>
      <p:sp>
        <p:nvSpPr>
          <p:cNvPr id="12" name="Rectangle 11"/>
          <p:cNvSpPr/>
          <p:nvPr/>
        </p:nvSpPr>
        <p:spPr>
          <a:xfrm>
            <a:off x="886968" y="4138167"/>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12"/>
          <p:cNvSpPr txBox="1"/>
          <p:nvPr/>
        </p:nvSpPr>
        <p:spPr>
          <a:xfrm>
            <a:off x="1106424" y="4014724"/>
            <a:ext cx="4553712" cy="394969"/>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26332F"/>
                </a:solidFill>
                <a:latin typeface="Inter"/>
              </a:defRPr>
            </a:pPr>
            <a:r>
              <a:rPr lang="de-DE"/>
              <a:t>„So geht das nicht.“</a:t>
            </a:r>
          </a:p>
        </p:txBody>
      </p:sp>
      <p:sp>
        <p:nvSpPr>
          <p:cNvPr id="14" name="Rounded Rectangle 13"/>
          <p:cNvSpPr/>
          <p:nvPr/>
        </p:nvSpPr>
        <p:spPr>
          <a:xfrm>
            <a:off x="6236208" y="1644396"/>
            <a:ext cx="5358384" cy="4372356"/>
          </a:xfrm>
          <a:prstGeom prst="roundRect">
            <a:avLst>
              <a:gd name="adj" fmla="val 6500"/>
            </a:avLst>
          </a:prstGeom>
          <a:solidFill>
            <a:srgbClr val="E9EE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6208" y="1644396"/>
            <a:ext cx="5358384" cy="59436"/>
          </a:xfrm>
          <a:prstGeom prst="rect">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15"/>
          <p:cNvSpPr txBox="1"/>
          <p:nvPr/>
        </p:nvSpPr>
        <p:spPr>
          <a:xfrm>
            <a:off x="6528816" y="1937003"/>
            <a:ext cx="4773168" cy="409956"/>
          </a:xfrm>
          <a:prstGeom prst="rect">
            <a:avLst/>
          </a:prstGeom>
          <a:noFill/>
        </p:spPr>
        <p:txBody>
          <a:bodyPr wrap="none" lIns="0" rIns="0" tIns="0" bIns="0" anchor="t">
            <a:spAutoFit/>
          </a:bodyPr>
          <a:lstStyle/>
          <a:p>
            <a:pPr>
              <a:lnSpc>
                <a:spcPts val="2832"/>
              </a:lnSpc>
              <a:spcBef>
                <a:spcPts val="0"/>
              </a:spcBef>
              <a:spcAft>
                <a:spcPts val="0"/>
              </a:spcAft>
              <a:defRPr sz="2400" b="1">
                <a:solidFill>
                  <a:srgbClr val="234B42"/>
                </a:solidFill>
                <a:latin typeface="Manrope"/>
              </a:defRPr>
            </a:pPr>
            <a:r>
              <a:rPr lang="de-DE"/>
              <a:t>Verständliche Information</a:t>
            </a:r>
          </a:p>
        </p:txBody>
      </p:sp>
      <p:sp>
        <p:nvSpPr>
          <p:cNvPr id="17" name="Rectangle 16"/>
          <p:cNvSpPr/>
          <p:nvPr/>
        </p:nvSpPr>
        <p:spPr>
          <a:xfrm>
            <a:off x="6528816" y="2799588"/>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17"/>
          <p:cNvSpPr txBox="1"/>
          <p:nvPr/>
        </p:nvSpPr>
        <p:spPr>
          <a:xfrm>
            <a:off x="6748272" y="2676143"/>
            <a:ext cx="4553712" cy="739648"/>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26332F"/>
                </a:solidFill>
                <a:latin typeface="Inter"/>
              </a:defRPr>
            </a:pPr>
            <a:r>
              <a:rPr lang="de-DE"/>
              <a:t>„Die Autos kommen in diese</a:t>
            </a:r>
          </a:p>
          <a:p>
            <a:pPr>
              <a:lnSpc>
                <a:spcPts val="2713"/>
              </a:lnSpc>
              <a:spcBef>
                <a:spcPts val="0"/>
              </a:spcBef>
              <a:spcAft>
                <a:spcPts val="0"/>
              </a:spcAft>
              <a:defRPr sz="2300" b="0">
                <a:solidFill>
                  <a:srgbClr val="26332F"/>
                </a:solidFill>
                <a:latin typeface="Inter"/>
              </a:defRPr>
            </a:pPr>
            <a:r>
              <a:rPr lang="de-DE"/>
              <a:t>Kiste.“</a:t>
            </a:r>
          </a:p>
        </p:txBody>
      </p:sp>
      <p:sp>
        <p:nvSpPr>
          <p:cNvPr id="19" name="Rectangle 18"/>
          <p:cNvSpPr/>
          <p:nvPr/>
        </p:nvSpPr>
        <p:spPr>
          <a:xfrm>
            <a:off x="6528816" y="3813555"/>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 19"/>
          <p:cNvSpPr txBox="1"/>
          <p:nvPr/>
        </p:nvSpPr>
        <p:spPr>
          <a:xfrm>
            <a:off x="6748272" y="3690111"/>
            <a:ext cx="4553712" cy="739648"/>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26332F"/>
                </a:solidFill>
                <a:latin typeface="Inter"/>
              </a:defRPr>
            </a:pPr>
            <a:r>
              <a:rPr lang="de-DE"/>
              <a:t>„Wir beginnen mit dem ersten</a:t>
            </a:r>
          </a:p>
          <a:p>
            <a:pPr>
              <a:lnSpc>
                <a:spcPts val="2713"/>
              </a:lnSpc>
              <a:spcBef>
                <a:spcPts val="0"/>
              </a:spcBef>
              <a:spcAft>
                <a:spcPts val="0"/>
              </a:spcAft>
              <a:defRPr sz="2300" b="0">
                <a:solidFill>
                  <a:srgbClr val="26332F"/>
                </a:solidFill>
                <a:latin typeface="Inter"/>
              </a:defRPr>
            </a:pPr>
            <a:r>
              <a:rPr lang="de-DE"/>
              <a:t>Schuh.“</a:t>
            </a:r>
          </a:p>
        </p:txBody>
      </p:sp>
      <p:sp>
        <p:nvSpPr>
          <p:cNvPr id="21" name="Rectangle 20"/>
          <p:cNvSpPr/>
          <p:nvPr/>
        </p:nvSpPr>
        <p:spPr>
          <a:xfrm>
            <a:off x="6528816" y="4827523"/>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 21"/>
          <p:cNvSpPr txBox="1"/>
          <p:nvPr/>
        </p:nvSpPr>
        <p:spPr>
          <a:xfrm>
            <a:off x="6748272" y="4704079"/>
            <a:ext cx="4553712" cy="739648"/>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26332F"/>
                </a:solidFill>
                <a:latin typeface="Inter"/>
              </a:defRPr>
            </a:pPr>
            <a:r>
              <a:rPr lang="de-DE"/>
              <a:t>„Du hast gewartet, bis ich fertig</a:t>
            </a:r>
          </a:p>
          <a:p>
            <a:pPr>
              <a:lnSpc>
                <a:spcPts val="2713"/>
              </a:lnSpc>
              <a:spcBef>
                <a:spcPts val="0"/>
              </a:spcBef>
              <a:spcAft>
                <a:spcPts val="0"/>
              </a:spcAft>
              <a:defRPr sz="2300" b="0">
                <a:solidFill>
                  <a:srgbClr val="26332F"/>
                </a:solidFill>
                <a:latin typeface="Inter"/>
              </a:defRPr>
            </a:pPr>
            <a:r>
              <a:rPr lang="de-DE"/>
              <a:t>war.“</a:t>
            </a:r>
          </a:p>
        </p:txBody>
      </p:sp>
    </p:spTree>
  </p:cSld>
  <p:clrMapOvr>
    <a:masterClrMapping/>
  </p:clrMapOvr>
  <p:transition spd="fast" advClick="1">
    <p:fade/>
  </p:transition>
</p:sld>
</file>

<file path=ppt/slides/slide35.xml><?xml version="1.0" encoding="utf-8"?>
<p:sld xmlns:a="http://schemas.openxmlformats.org/drawingml/2006/main" xmlns:p="http://schemas.openxmlformats.org/presentationml/2006/main" xmlns:r="http://schemas.openxmlformats.org/officeDocument/2006/relationships" showMasterSp="1">
  <p:cSld>
    <p:bg>
      <p:bgPr>
        <a:solidFill>
          <a:srgbClr val="F7F5EF"/>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35</a:t>
            </a:r>
          </a:p>
        </p:txBody>
      </p:sp>
      <p:sp>
        <p:nvSpPr>
          <p:cNvPr id="3" name="Text 2"/>
          <p:cNvSpPr txBox="1"/>
          <p:nvPr/>
        </p:nvSpPr>
        <p:spPr>
          <a:xfrm>
            <a:off x="594360" y="393192"/>
            <a:ext cx="10881360" cy="203644"/>
          </a:xfrm>
          <a:prstGeom prst="rect">
            <a:avLst/>
          </a:prstGeom>
          <a:noFill/>
        </p:spPr>
        <p:txBody>
          <a:bodyPr wrap="none" lIns="0" rIns="0" tIns="0" bIns="0" anchor="t">
            <a:spAutoFit/>
          </a:bodyPr>
          <a:lstStyle/>
          <a:p>
            <a:pPr>
              <a:lnSpc>
                <a:spcPts val="1207"/>
              </a:lnSpc>
              <a:spcBef>
                <a:spcPts val="0"/>
              </a:spcBef>
              <a:spcAft>
                <a:spcPts val="0"/>
              </a:spcAft>
              <a:defRPr sz="1150" b="1">
                <a:solidFill>
                  <a:srgbClr val="234B42"/>
                </a:solidFill>
                <a:latin typeface="Inter"/>
              </a:defRPr>
            </a:pPr>
            <a:r>
              <a:rPr lang="de-DE"/>
              <a:t>ZUSAMMENARBEIT</a:t>
            </a:r>
          </a:p>
        </p:txBody>
      </p:sp>
      <p:sp>
        <p:nvSpPr>
          <p:cNvPr id="4" name="Text 3"/>
          <p:cNvSpPr txBox="1"/>
          <p:nvPr/>
        </p:nvSpPr>
        <p:spPr>
          <a:xfrm>
            <a:off x="594360" y="804672"/>
            <a:ext cx="10991088"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Beobachtung und fachliche Unterstützung</a:t>
            </a:r>
          </a:p>
        </p:txBody>
      </p:sp>
      <p:sp>
        <p:nvSpPr>
          <p:cNvPr id="5" name="Rounded Rectangle 4"/>
          <p:cNvSpPr/>
          <p:nvPr/>
        </p:nvSpPr>
        <p:spPr>
          <a:xfrm>
            <a:off x="594360" y="1644396"/>
            <a:ext cx="5376672" cy="2071877"/>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22960" y="1872996"/>
            <a:ext cx="393192" cy="393192"/>
          </a:xfrm>
          <a:prstGeom prst="ellipse">
            <a:avLst/>
          </a:prstGeom>
          <a:solidFill>
            <a:srgbClr val="D68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6"/>
          <p:cNvSpPr txBox="1"/>
          <p:nvPr/>
        </p:nvSpPr>
        <p:spPr>
          <a:xfrm>
            <a:off x="822960" y="1946148"/>
            <a:ext cx="393192" cy="189992"/>
          </a:xfrm>
          <a:prstGeom prst="rect">
            <a:avLst/>
          </a:prstGeom>
          <a:noFill/>
        </p:spPr>
        <p:txBody>
          <a:bodyPr wrap="none" lIns="0" rIns="0" tIns="0" bIns="0" anchor="t">
            <a:spAutoFit/>
          </a:bodyPr>
          <a:lstStyle/>
          <a:p>
            <a:pPr algn="ctr">
              <a:lnSpc>
                <a:spcPts val="1100"/>
              </a:lnSpc>
              <a:spcBef>
                <a:spcPts val="0"/>
              </a:spcBef>
              <a:spcAft>
                <a:spcPts val="0"/>
              </a:spcAft>
              <a:defRPr sz="1100" b="1">
                <a:solidFill>
                  <a:srgbClr val="234B42"/>
                </a:solidFill>
                <a:latin typeface="Inter"/>
              </a:defRPr>
            </a:pPr>
            <a:r>
              <a:rPr lang="de-DE"/>
              <a:t>01</a:t>
            </a:r>
          </a:p>
        </p:txBody>
      </p:sp>
      <p:sp>
        <p:nvSpPr>
          <p:cNvPr id="8" name="Text 7"/>
          <p:cNvSpPr txBox="1"/>
          <p:nvPr/>
        </p:nvSpPr>
        <p:spPr>
          <a:xfrm>
            <a:off x="1353312" y="1872996"/>
            <a:ext cx="4370831" cy="372490"/>
          </a:xfrm>
          <a:prstGeom prst="rect">
            <a:avLst/>
          </a:prstGeom>
          <a:noFill/>
        </p:spPr>
        <p:txBody>
          <a:bodyPr wrap="none" lIns="0" rIns="0" tIns="0" bIns="0" anchor="t">
            <a:spAutoFit/>
          </a:bodyPr>
          <a:lstStyle/>
          <a:p>
            <a:pPr>
              <a:lnSpc>
                <a:spcPts val="2536"/>
              </a:lnSpc>
              <a:spcBef>
                <a:spcPts val="0"/>
              </a:spcBef>
              <a:spcAft>
                <a:spcPts val="0"/>
              </a:spcAft>
              <a:defRPr sz="2150" b="1">
                <a:solidFill>
                  <a:srgbClr val="234B42"/>
                </a:solidFill>
                <a:latin typeface="Manrope"/>
              </a:defRPr>
            </a:pPr>
            <a:r>
              <a:rPr lang="de-DE"/>
              <a:t>Kita</a:t>
            </a:r>
          </a:p>
        </p:txBody>
      </p:sp>
      <p:sp>
        <p:nvSpPr>
          <p:cNvPr id="9" name="Text 8"/>
          <p:cNvSpPr txBox="1"/>
          <p:nvPr/>
        </p:nvSpPr>
        <p:spPr>
          <a:xfrm>
            <a:off x="868680" y="2513076"/>
            <a:ext cx="4828032" cy="1002029"/>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konkrete Situationen, Stärken und</a:t>
            </a:r>
          </a:p>
          <a:p>
            <a:pPr>
              <a:lnSpc>
                <a:spcPts val="2477"/>
              </a:lnSpc>
              <a:spcBef>
                <a:spcPts val="0"/>
              </a:spcBef>
              <a:spcAft>
                <a:spcPts val="0"/>
              </a:spcAft>
              <a:defRPr sz="2100" b="0">
                <a:solidFill>
                  <a:srgbClr val="26332F"/>
                </a:solidFill>
                <a:latin typeface="Inter"/>
              </a:defRPr>
            </a:pPr>
            <a:r>
              <a:rPr lang="de-DE"/>
              <a:t>hilfreiche Bedingungen dokumentieren</a:t>
            </a:r>
          </a:p>
        </p:txBody>
      </p:sp>
      <p:sp>
        <p:nvSpPr>
          <p:cNvPr id="10" name="Rounded Rectangle 9"/>
          <p:cNvSpPr/>
          <p:nvPr/>
        </p:nvSpPr>
        <p:spPr>
          <a:xfrm>
            <a:off x="6217920" y="1644396"/>
            <a:ext cx="5376672" cy="2071877"/>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46520" y="1872996"/>
            <a:ext cx="393192" cy="393192"/>
          </a:xfrm>
          <a:prstGeom prst="ellipse">
            <a:avLst/>
          </a:prstGeom>
          <a:solidFill>
            <a:srgbClr val="D68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11"/>
          <p:cNvSpPr txBox="1"/>
          <p:nvPr/>
        </p:nvSpPr>
        <p:spPr>
          <a:xfrm>
            <a:off x="6446520" y="1946148"/>
            <a:ext cx="393192" cy="189992"/>
          </a:xfrm>
          <a:prstGeom prst="rect">
            <a:avLst/>
          </a:prstGeom>
          <a:noFill/>
        </p:spPr>
        <p:txBody>
          <a:bodyPr wrap="none" lIns="0" rIns="0" tIns="0" bIns="0" anchor="t">
            <a:spAutoFit/>
          </a:bodyPr>
          <a:lstStyle/>
          <a:p>
            <a:pPr algn="ctr">
              <a:lnSpc>
                <a:spcPts val="1100"/>
              </a:lnSpc>
              <a:spcBef>
                <a:spcPts val="0"/>
              </a:spcBef>
              <a:spcAft>
                <a:spcPts val="0"/>
              </a:spcAft>
              <a:defRPr sz="1100" b="1">
                <a:solidFill>
                  <a:srgbClr val="234B42"/>
                </a:solidFill>
                <a:latin typeface="Inter"/>
              </a:defRPr>
            </a:pPr>
            <a:r>
              <a:rPr lang="de-DE"/>
              <a:t>02</a:t>
            </a:r>
          </a:p>
        </p:txBody>
      </p:sp>
      <p:sp>
        <p:nvSpPr>
          <p:cNvPr id="13" name="Text 12"/>
          <p:cNvSpPr txBox="1"/>
          <p:nvPr/>
        </p:nvSpPr>
        <p:spPr>
          <a:xfrm>
            <a:off x="6976872" y="1872996"/>
            <a:ext cx="4370831" cy="372490"/>
          </a:xfrm>
          <a:prstGeom prst="rect">
            <a:avLst/>
          </a:prstGeom>
          <a:noFill/>
        </p:spPr>
        <p:txBody>
          <a:bodyPr wrap="none" lIns="0" rIns="0" tIns="0" bIns="0" anchor="t">
            <a:spAutoFit/>
          </a:bodyPr>
          <a:lstStyle/>
          <a:p>
            <a:pPr>
              <a:lnSpc>
                <a:spcPts val="2536"/>
              </a:lnSpc>
              <a:spcBef>
                <a:spcPts val="0"/>
              </a:spcBef>
              <a:spcAft>
                <a:spcPts val="0"/>
              </a:spcAft>
              <a:defRPr sz="2150" b="1">
                <a:solidFill>
                  <a:srgbClr val="234B42"/>
                </a:solidFill>
                <a:latin typeface="Manrope"/>
              </a:defRPr>
            </a:pPr>
            <a:r>
              <a:rPr lang="de-DE"/>
              <a:t>Eltern</a:t>
            </a:r>
          </a:p>
        </p:txBody>
      </p:sp>
      <p:sp>
        <p:nvSpPr>
          <p:cNvPr id="14" name="Text 13"/>
          <p:cNvSpPr txBox="1"/>
          <p:nvPr/>
        </p:nvSpPr>
        <p:spPr>
          <a:xfrm>
            <a:off x="6492240" y="2513076"/>
            <a:ext cx="4828032" cy="1002029"/>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Erfahrungen aus anderen</a:t>
            </a:r>
          </a:p>
          <a:p>
            <a:pPr>
              <a:lnSpc>
                <a:spcPts val="2477"/>
              </a:lnSpc>
              <a:spcBef>
                <a:spcPts val="0"/>
              </a:spcBef>
              <a:spcAft>
                <a:spcPts val="0"/>
              </a:spcAft>
              <a:defRPr sz="2100" b="0">
                <a:solidFill>
                  <a:srgbClr val="26332F"/>
                </a:solidFill>
                <a:latin typeface="Inter"/>
              </a:defRPr>
            </a:pPr>
            <a:r>
              <a:rPr lang="de-DE"/>
              <a:t>Lebensbereichen einbeziehen</a:t>
            </a:r>
          </a:p>
        </p:txBody>
      </p:sp>
      <p:sp>
        <p:nvSpPr>
          <p:cNvPr id="15" name="Rounded Rectangle 14"/>
          <p:cNvSpPr/>
          <p:nvPr/>
        </p:nvSpPr>
        <p:spPr>
          <a:xfrm>
            <a:off x="594360" y="3963162"/>
            <a:ext cx="5376672" cy="2071877"/>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22960" y="4191762"/>
            <a:ext cx="393192" cy="393192"/>
          </a:xfrm>
          <a:prstGeom prst="ellipse">
            <a:avLst/>
          </a:prstGeom>
          <a:solidFill>
            <a:srgbClr val="D68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16"/>
          <p:cNvSpPr txBox="1"/>
          <p:nvPr/>
        </p:nvSpPr>
        <p:spPr>
          <a:xfrm>
            <a:off x="822960" y="4264914"/>
            <a:ext cx="393192" cy="189992"/>
          </a:xfrm>
          <a:prstGeom prst="rect">
            <a:avLst/>
          </a:prstGeom>
          <a:noFill/>
        </p:spPr>
        <p:txBody>
          <a:bodyPr wrap="none" lIns="0" rIns="0" tIns="0" bIns="0" anchor="t">
            <a:spAutoFit/>
          </a:bodyPr>
          <a:lstStyle/>
          <a:p>
            <a:pPr algn="ctr">
              <a:lnSpc>
                <a:spcPts val="1100"/>
              </a:lnSpc>
              <a:spcBef>
                <a:spcPts val="0"/>
              </a:spcBef>
              <a:spcAft>
                <a:spcPts val="0"/>
              </a:spcAft>
              <a:defRPr sz="1100" b="1">
                <a:solidFill>
                  <a:srgbClr val="234B42"/>
                </a:solidFill>
                <a:latin typeface="Inter"/>
              </a:defRPr>
            </a:pPr>
            <a:r>
              <a:rPr lang="de-DE"/>
              <a:t>03</a:t>
            </a:r>
          </a:p>
        </p:txBody>
      </p:sp>
      <p:sp>
        <p:nvSpPr>
          <p:cNvPr id="18" name="Text 17"/>
          <p:cNvSpPr txBox="1"/>
          <p:nvPr/>
        </p:nvSpPr>
        <p:spPr>
          <a:xfrm>
            <a:off x="1353312" y="4191762"/>
            <a:ext cx="4370831" cy="372490"/>
          </a:xfrm>
          <a:prstGeom prst="rect">
            <a:avLst/>
          </a:prstGeom>
          <a:noFill/>
        </p:spPr>
        <p:txBody>
          <a:bodyPr wrap="none" lIns="0" rIns="0" tIns="0" bIns="0" anchor="t">
            <a:spAutoFit/>
          </a:bodyPr>
          <a:lstStyle/>
          <a:p>
            <a:pPr>
              <a:lnSpc>
                <a:spcPts val="2536"/>
              </a:lnSpc>
              <a:spcBef>
                <a:spcPts val="0"/>
              </a:spcBef>
              <a:spcAft>
                <a:spcPts val="0"/>
              </a:spcAft>
              <a:defRPr sz="2150" b="1">
                <a:solidFill>
                  <a:srgbClr val="234B42"/>
                </a:solidFill>
                <a:latin typeface="Manrope"/>
              </a:defRPr>
            </a:pPr>
            <a:r>
              <a:rPr lang="de-DE"/>
              <a:t>Fachpersonen</a:t>
            </a:r>
          </a:p>
        </p:txBody>
      </p:sp>
      <p:sp>
        <p:nvSpPr>
          <p:cNvPr id="19" name="Text 18"/>
          <p:cNvSpPr txBox="1"/>
          <p:nvPr/>
        </p:nvSpPr>
        <p:spPr>
          <a:xfrm>
            <a:off x="868680" y="4831842"/>
            <a:ext cx="4828032" cy="1002029"/>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Entwicklung und mögliche weitere</a:t>
            </a:r>
          </a:p>
          <a:p>
            <a:pPr>
              <a:lnSpc>
                <a:spcPts val="2477"/>
              </a:lnSpc>
              <a:spcBef>
                <a:spcPts val="0"/>
              </a:spcBef>
              <a:spcAft>
                <a:spcPts val="0"/>
              </a:spcAft>
              <a:defRPr sz="2100" b="0">
                <a:solidFill>
                  <a:srgbClr val="26332F"/>
                </a:solidFill>
                <a:latin typeface="Inter"/>
              </a:defRPr>
            </a:pPr>
            <a:r>
              <a:rPr lang="de-DE"/>
              <a:t>Ursachen abklären</a:t>
            </a:r>
          </a:p>
        </p:txBody>
      </p:sp>
      <p:sp>
        <p:nvSpPr>
          <p:cNvPr id="20" name="Rounded Rectangle 19"/>
          <p:cNvSpPr/>
          <p:nvPr/>
        </p:nvSpPr>
        <p:spPr>
          <a:xfrm>
            <a:off x="6217920" y="3963162"/>
            <a:ext cx="5376672" cy="2071877"/>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191762"/>
            <a:ext cx="393192" cy="393192"/>
          </a:xfrm>
          <a:prstGeom prst="ellipse">
            <a:avLst/>
          </a:prstGeom>
          <a:solidFill>
            <a:srgbClr val="D68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 21"/>
          <p:cNvSpPr txBox="1"/>
          <p:nvPr/>
        </p:nvSpPr>
        <p:spPr>
          <a:xfrm>
            <a:off x="6446520" y="4264914"/>
            <a:ext cx="393192" cy="189992"/>
          </a:xfrm>
          <a:prstGeom prst="rect">
            <a:avLst/>
          </a:prstGeom>
          <a:noFill/>
        </p:spPr>
        <p:txBody>
          <a:bodyPr wrap="none" lIns="0" rIns="0" tIns="0" bIns="0" anchor="t">
            <a:spAutoFit/>
          </a:bodyPr>
          <a:lstStyle/>
          <a:p>
            <a:pPr algn="ctr">
              <a:lnSpc>
                <a:spcPts val="1100"/>
              </a:lnSpc>
              <a:spcBef>
                <a:spcPts val="0"/>
              </a:spcBef>
              <a:spcAft>
                <a:spcPts val="0"/>
              </a:spcAft>
              <a:defRPr sz="1100" b="1">
                <a:solidFill>
                  <a:srgbClr val="234B42"/>
                </a:solidFill>
                <a:latin typeface="Inter"/>
              </a:defRPr>
            </a:pPr>
            <a:r>
              <a:rPr lang="de-DE"/>
              <a:t>04</a:t>
            </a:r>
          </a:p>
        </p:txBody>
      </p:sp>
      <p:sp>
        <p:nvSpPr>
          <p:cNvPr id="23" name="Text 22"/>
          <p:cNvSpPr txBox="1"/>
          <p:nvPr/>
        </p:nvSpPr>
        <p:spPr>
          <a:xfrm>
            <a:off x="6976872" y="4191762"/>
            <a:ext cx="4370831" cy="372490"/>
          </a:xfrm>
          <a:prstGeom prst="rect">
            <a:avLst/>
          </a:prstGeom>
          <a:noFill/>
        </p:spPr>
        <p:txBody>
          <a:bodyPr wrap="none" lIns="0" rIns="0" tIns="0" bIns="0" anchor="t">
            <a:spAutoFit/>
          </a:bodyPr>
          <a:lstStyle/>
          <a:p>
            <a:pPr>
              <a:lnSpc>
                <a:spcPts val="2536"/>
              </a:lnSpc>
              <a:spcBef>
                <a:spcPts val="0"/>
              </a:spcBef>
              <a:spcAft>
                <a:spcPts val="0"/>
              </a:spcAft>
              <a:defRPr sz="2150" b="1">
                <a:solidFill>
                  <a:srgbClr val="234B42"/>
                </a:solidFill>
                <a:latin typeface="Manrope"/>
              </a:defRPr>
            </a:pPr>
            <a:r>
              <a:rPr lang="de-DE"/>
              <a:t>Gemeinsam</a:t>
            </a:r>
          </a:p>
        </p:txBody>
      </p:sp>
      <p:sp>
        <p:nvSpPr>
          <p:cNvPr id="24" name="Text 23"/>
          <p:cNvSpPr txBox="1"/>
          <p:nvPr/>
        </p:nvSpPr>
        <p:spPr>
          <a:xfrm>
            <a:off x="6492240" y="4831842"/>
            <a:ext cx="4828032" cy="1002029"/>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pädagogische Hilfen abstimmen und</a:t>
            </a:r>
          </a:p>
          <a:p>
            <a:pPr>
              <a:lnSpc>
                <a:spcPts val="2477"/>
              </a:lnSpc>
              <a:spcBef>
                <a:spcPts val="0"/>
              </a:spcBef>
              <a:spcAft>
                <a:spcPts val="0"/>
              </a:spcAft>
              <a:defRPr sz="2100" b="0">
                <a:solidFill>
                  <a:srgbClr val="26332F"/>
                </a:solidFill>
                <a:latin typeface="Inter"/>
              </a:defRPr>
            </a:pPr>
            <a:r>
              <a:rPr lang="de-DE"/>
              <a:t>Wirkung überprüfen</a:t>
            </a:r>
          </a:p>
        </p:txBody>
      </p:sp>
    </p:spTree>
  </p:cSld>
  <p:clrMapOvr>
    <a:masterClrMapping/>
  </p:clrMapOvr>
  <p:transition spd="fast" advClick="1">
    <p:fade/>
  </p:transition>
</p:sld>
</file>

<file path=ppt/slides/slide36.xml><?xml version="1.0" encoding="utf-8"?>
<p:sld xmlns:a="http://schemas.openxmlformats.org/drawingml/2006/main" xmlns:p="http://schemas.openxmlformats.org/presentationml/2006/main" xmlns:r="http://schemas.openxmlformats.org/officeDocument/2006/relationships" showMasterSp="0">
  <p:cSld>
    <p:bg>
      <p:bgPr>
        <a:solidFill>
          <a:srgbClr val="234B42"/>
        </a:solidFill>
        <a:effectLst/>
      </p:bgPr>
    </p:bg>
    <p:spTree>
      <p:nvGrpSpPr>
        <p:cNvPr id="1" name=""/>
        <p:cNvGrpSpPr/>
        <p:nvPr/>
      </p:nvGrpSpPr>
      <p:grpSpPr/>
      <p:cxnSp>
        <p:nvCxnSpPr>
          <p:cNvPr id="2" name="Connector 1"/>
          <p:cNvCxnSpPr/>
          <p:nvPr/>
        </p:nvCxnSpPr>
        <p:spPr>
          <a:xfrm>
            <a:off x="594360" y="6400800"/>
            <a:ext cx="11000232" cy="0"/>
          </a:xfrm>
          <a:prstGeom prst="line">
            <a:avLst/>
          </a:prstGeom>
          <a:ln w="6985">
            <a:solidFill>
              <a:srgbClr val="537568"/>
            </a:solidFill>
          </a:ln>
        </p:spPr>
        <p:style>
          <a:lnRef idx="2">
            <a:schemeClr val="accent1"/>
          </a:lnRef>
          <a:fillRef idx="0">
            <a:schemeClr val="accent1"/>
          </a:fillRef>
          <a:effectRef idx="1">
            <a:schemeClr val="accent1"/>
          </a:effectRef>
          <a:fontRef idx="minor">
            <a:schemeClr val="tx1"/>
          </a:fontRef>
        </p:style>
      </p:cxnSp>
      <p:sp>
        <p:nvSpPr>
          <p:cNvPr id="3" name="Text 2"/>
          <p:cNvSpPr txBox="1"/>
          <p:nvPr/>
        </p:nvSpPr>
        <p:spPr>
          <a:xfrm>
            <a:off x="594360" y="6528816"/>
            <a:ext cx="9692640" cy="176974"/>
          </a:xfrm>
          <a:prstGeom prst="rect">
            <a:avLst/>
          </a:prstGeom>
          <a:noFill/>
        </p:spPr>
        <p:txBody>
          <a:bodyPr wrap="none" lIns="0" rIns="0" tIns="0" bIns="0" anchor="t">
            <a:spAutoFit/>
          </a:bodyPr>
          <a:lstStyle/>
          <a:p>
            <a:pPr>
              <a:lnSpc>
                <a:spcPts val="997"/>
              </a:lnSpc>
              <a:spcBef>
                <a:spcPts val="0"/>
              </a:spcBef>
              <a:spcAft>
                <a:spcPts val="0"/>
              </a:spcAft>
              <a:defRPr sz="950" b="0">
                <a:solidFill>
                  <a:srgbClr val="A8BFA9"/>
                </a:solidFill>
                <a:latin typeface="Inter"/>
              </a:defRPr>
            </a:pPr>
            <a:r>
              <a:rPr lang="de-DE"/>
              <a:t>PRAXIS SCHNECKE / FORTBILDUNG · 02.11.2026</a:t>
            </a:r>
          </a:p>
        </p:txBody>
      </p:sp>
      <p:sp>
        <p:nvSpPr>
          <p:cNvPr id="4" name="Text 3"/>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A8BFA9"/>
                </a:solidFill>
                <a:latin typeface="Inter"/>
              </a:defRPr>
            </a:pPr>
            <a:r>
              <a:rPr lang="de-DE"/>
              <a:t>36</a:t>
            </a:r>
          </a:p>
        </p:txBody>
      </p:sp>
      <p:pic>
        <p:nvPicPr>
          <p:cNvPr id="5" name="Picture 4" descr="03_rueckzug_beziehung.png"/>
          <p:cNvPicPr>
            <a:picLocks noChangeAspect="1"/>
          </p:cNvPicPr>
          <p:nvPr/>
        </p:nvPicPr>
        <p:blipFill>
          <a:blip r:embed="rId3"/>
          <a:srcRect l="30973" r="30973"/>
          <a:stretch>
            <a:fillRect/>
          </a:stretch>
        </p:blipFill>
        <p:spPr>
          <a:xfrm>
            <a:off x="7863840" y="0"/>
            <a:ext cx="4327855" cy="6400800"/>
          </a:xfrm>
          <a:prstGeom prst="rect">
            <a:avLst/>
          </a:prstGeom>
        </p:spPr>
      </p:pic>
      <p:sp>
        <p:nvSpPr>
          <p:cNvPr id="6" name="Text 5"/>
          <p:cNvSpPr txBox="1"/>
          <p:nvPr/>
        </p:nvSpPr>
        <p:spPr>
          <a:xfrm>
            <a:off x="594360" y="502920"/>
            <a:ext cx="6217920" cy="1320292"/>
          </a:xfrm>
          <a:prstGeom prst="rect">
            <a:avLst/>
          </a:prstGeom>
          <a:noFill/>
        </p:spPr>
        <p:txBody>
          <a:bodyPr wrap="none" lIns="0" rIns="0" tIns="0" bIns="0" anchor="t">
            <a:spAutoFit/>
          </a:bodyPr>
          <a:lstStyle/>
          <a:p>
            <a:pPr>
              <a:lnSpc>
                <a:spcPts val="10000"/>
              </a:lnSpc>
              <a:spcBef>
                <a:spcPts val="0"/>
              </a:spcBef>
              <a:spcAft>
                <a:spcPts val="0"/>
              </a:spcAft>
              <a:defRPr sz="10000" b="1">
                <a:solidFill>
                  <a:srgbClr val="B9AED4"/>
                </a:solidFill>
                <a:latin typeface="Manrope"/>
              </a:defRPr>
            </a:pPr>
            <a:r>
              <a:rPr lang="de-DE"/>
              <a:t>03</a:t>
            </a:r>
          </a:p>
        </p:txBody>
      </p:sp>
      <p:sp>
        <p:nvSpPr>
          <p:cNvPr id="7" name="Text 6"/>
          <p:cNvSpPr txBox="1"/>
          <p:nvPr/>
        </p:nvSpPr>
        <p:spPr>
          <a:xfrm>
            <a:off x="594360" y="2514600"/>
            <a:ext cx="6949440" cy="1508760"/>
          </a:xfrm>
          <a:prstGeom prst="rect">
            <a:avLst/>
          </a:prstGeom>
          <a:noFill/>
        </p:spPr>
        <p:txBody>
          <a:bodyPr wrap="none" lIns="0" rIns="0" tIns="0" bIns="0" anchor="t">
            <a:spAutoFit/>
          </a:bodyPr>
          <a:lstStyle/>
          <a:p>
            <a:pPr>
              <a:lnSpc>
                <a:spcPts val="5073"/>
              </a:lnSpc>
              <a:spcBef>
                <a:spcPts val="0"/>
              </a:spcBef>
              <a:spcAft>
                <a:spcPts val="0"/>
              </a:spcAft>
              <a:defRPr sz="4300" b="1">
                <a:solidFill>
                  <a:srgbClr val="F7F5EF"/>
                </a:solidFill>
                <a:latin typeface="Manrope"/>
              </a:defRPr>
            </a:pPr>
            <a:r>
              <a:rPr lang="de-DE"/>
              <a:t>Autismus-Spektrum</a:t>
            </a:r>
          </a:p>
        </p:txBody>
      </p:sp>
      <p:sp>
        <p:nvSpPr>
          <p:cNvPr id="8" name="Text 7"/>
          <p:cNvSpPr txBox="1"/>
          <p:nvPr/>
        </p:nvSpPr>
        <p:spPr>
          <a:xfrm>
            <a:off x="594360" y="4617720"/>
            <a:ext cx="6629400" cy="1097280"/>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F7F5EF"/>
                </a:solidFill>
                <a:latin typeface="Inter"/>
              </a:defRPr>
            </a:pPr>
            <a:r>
              <a:rPr lang="de-DE"/>
              <a:t>Kommunikation und Wahrnehmung verstehen</a:t>
            </a:r>
          </a:p>
        </p:txBody>
      </p:sp>
    </p:spTree>
  </p:cSld>
  <p:clrMapOvr>
    <a:masterClrMapping/>
  </p:clrMapOvr>
  <p:transition spd="fast" advClick="1">
    <p:fade/>
  </p:transition>
</p:sld>
</file>

<file path=ppt/slides/slide37.xml><?xml version="1.0" encoding="utf-8"?>
<p:sld xmlns:a="http://schemas.openxmlformats.org/drawingml/2006/main" xmlns:p="http://schemas.openxmlformats.org/presentationml/2006/main" xmlns:r="http://schemas.openxmlformats.org/officeDocument/2006/relationships" showMasterSp="1">
  <p:cSld>
    <p:bg>
      <p:bgPr>
        <a:solidFill>
          <a:srgbClr val="F7F5EF"/>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37</a:t>
            </a:r>
          </a:p>
        </p:txBody>
      </p:sp>
      <p:sp>
        <p:nvSpPr>
          <p:cNvPr id="3" name="Text 2"/>
          <p:cNvSpPr txBox="1"/>
          <p:nvPr/>
        </p:nvSpPr>
        <p:spPr>
          <a:xfrm>
            <a:off x="594360" y="393192"/>
            <a:ext cx="10881360" cy="203644"/>
          </a:xfrm>
          <a:prstGeom prst="rect">
            <a:avLst/>
          </a:prstGeom>
          <a:noFill/>
        </p:spPr>
        <p:txBody>
          <a:bodyPr wrap="none" lIns="0" rIns="0" tIns="0" bIns="0" anchor="t">
            <a:spAutoFit/>
          </a:bodyPr>
          <a:lstStyle/>
          <a:p>
            <a:pPr>
              <a:lnSpc>
                <a:spcPts val="1207"/>
              </a:lnSpc>
              <a:spcBef>
                <a:spcPts val="0"/>
              </a:spcBef>
              <a:spcAft>
                <a:spcPts val="0"/>
              </a:spcAft>
              <a:defRPr sz="1150" b="1">
                <a:solidFill>
                  <a:srgbClr val="234B42"/>
                </a:solidFill>
                <a:latin typeface="Inter"/>
              </a:defRPr>
            </a:pPr>
            <a:r>
              <a:rPr lang="de-DE"/>
              <a:t>BEGRIFFE DER ORIGINALVORLAGE</a:t>
            </a:r>
          </a:p>
        </p:txBody>
      </p:sp>
      <p:sp>
        <p:nvSpPr>
          <p:cNvPr id="4" name="Text 3"/>
          <p:cNvSpPr txBox="1"/>
          <p:nvPr/>
        </p:nvSpPr>
        <p:spPr>
          <a:xfrm>
            <a:off x="594360" y="804672"/>
            <a:ext cx="10991088"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Was ist Autismus?</a:t>
            </a:r>
          </a:p>
        </p:txBody>
      </p:sp>
      <p:sp>
        <p:nvSpPr>
          <p:cNvPr id="5" name="Rounded Rectangle 4"/>
          <p:cNvSpPr/>
          <p:nvPr/>
        </p:nvSpPr>
        <p:spPr>
          <a:xfrm>
            <a:off x="594360" y="1644396"/>
            <a:ext cx="5385816" cy="4390643"/>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644396"/>
            <a:ext cx="50292" cy="4390643"/>
          </a:xfrm>
          <a:prstGeom prst="rect">
            <a:avLst/>
          </a:prstGeom>
          <a:solidFill>
            <a:srgbClr val="B9AE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6"/>
          <p:cNvSpPr txBox="1"/>
          <p:nvPr/>
        </p:nvSpPr>
        <p:spPr>
          <a:xfrm>
            <a:off x="850392" y="1909572"/>
            <a:ext cx="4873752" cy="373189"/>
          </a:xfrm>
          <a:prstGeom prst="rect">
            <a:avLst/>
          </a:prstGeom>
          <a:noFill/>
        </p:spPr>
        <p:txBody>
          <a:bodyPr wrap="none" lIns="0" rIns="0" tIns="0" bIns="0" anchor="t">
            <a:spAutoFit/>
          </a:bodyPr>
          <a:lstStyle/>
          <a:p>
            <a:pPr>
              <a:lnSpc>
                <a:spcPts val="2542"/>
              </a:lnSpc>
              <a:spcBef>
                <a:spcPts val="0"/>
              </a:spcBef>
              <a:spcAft>
                <a:spcPts val="0"/>
              </a:spcAft>
              <a:defRPr sz="2250" b="1">
                <a:solidFill>
                  <a:srgbClr val="234B42"/>
                </a:solidFill>
                <a:latin typeface="Manrope"/>
              </a:defRPr>
            </a:pPr>
            <a:r>
              <a:rPr lang="de-DE"/>
              <a:t>Einordnung</a:t>
            </a:r>
          </a:p>
        </p:txBody>
      </p:sp>
      <p:sp>
        <p:nvSpPr>
          <p:cNvPr id="8" name="Text 7"/>
          <p:cNvSpPr txBox="1"/>
          <p:nvPr/>
        </p:nvSpPr>
        <p:spPr>
          <a:xfrm>
            <a:off x="850392" y="2483929"/>
            <a:ext cx="4873752" cy="3304222"/>
          </a:xfrm>
          <a:prstGeom prst="rect">
            <a:avLst/>
          </a:prstGeom>
          <a:noFill/>
        </p:spPr>
        <p:txBody>
          <a:bodyPr wrap="none" lIns="0" rIns="0" tIns="0" bIns="0" anchor="t">
            <a:spAutoFit/>
          </a:bodyPr>
          <a:lstStyle/>
          <a:p>
            <a:pPr>
              <a:lnSpc>
                <a:spcPts val="2595"/>
              </a:lnSpc>
              <a:spcBef>
                <a:spcPts val="0"/>
              </a:spcBef>
              <a:spcAft>
                <a:spcPts val="0"/>
              </a:spcAft>
              <a:defRPr sz="2200" b="0">
                <a:solidFill>
                  <a:srgbClr val="26332F"/>
                </a:solidFill>
                <a:latin typeface="Inter"/>
              </a:defRPr>
            </a:pPr>
            <a:r>
              <a:rPr lang="de-DE"/>
              <a:t>lebensbegleitende tiefgreifende</a:t>
            </a:r>
          </a:p>
          <a:p>
            <a:pPr>
              <a:lnSpc>
                <a:spcPts val="2595"/>
              </a:lnSpc>
              <a:spcBef>
                <a:spcPts val="0"/>
              </a:spcBef>
              <a:spcAft>
                <a:spcPts val="0"/>
              </a:spcAft>
              <a:defRPr sz="2200" b="0">
                <a:solidFill>
                  <a:srgbClr val="26332F"/>
                </a:solidFill>
                <a:latin typeface="Inter"/>
              </a:defRPr>
            </a:pPr>
            <a:r>
              <a:rPr lang="de-DE"/>
              <a:t>Entwicklungsstörung</a:t>
            </a:r>
          </a:p>
          <a:p>
            <a:pPr>
              <a:lnSpc>
                <a:spcPts val="2595"/>
              </a:lnSpc>
              <a:spcBef>
                <a:spcPts val="0"/>
              </a:spcBef>
              <a:spcAft>
                <a:spcPts val="0"/>
              </a:spcAft>
              <a:defRPr sz="2200" b="0">
                <a:solidFill>
                  <a:srgbClr val="26332F"/>
                </a:solidFill>
                <a:latin typeface="Inter"/>
              </a:defRPr>
            </a:pPr>
            <a:r>
              <a:rPr lang="de-DE"/>
              <a:t>Störung in der Informations- und</a:t>
            </a:r>
          </a:p>
          <a:p>
            <a:pPr>
              <a:lnSpc>
                <a:spcPts val="2595"/>
              </a:lnSpc>
              <a:spcBef>
                <a:spcPts val="0"/>
              </a:spcBef>
              <a:spcAft>
                <a:spcPts val="0"/>
              </a:spcAft>
              <a:defRPr sz="2200" b="0">
                <a:solidFill>
                  <a:srgbClr val="26332F"/>
                </a:solidFill>
                <a:latin typeface="Inter"/>
              </a:defRPr>
            </a:pPr>
            <a:r>
              <a:rPr lang="de-DE"/>
              <a:t>Wahrnehmungsverarbeitung</a:t>
            </a:r>
          </a:p>
        </p:txBody>
      </p:sp>
      <p:sp>
        <p:nvSpPr>
          <p:cNvPr id="9" name="Rounded Rectangle 8"/>
          <p:cNvSpPr/>
          <p:nvPr/>
        </p:nvSpPr>
        <p:spPr>
          <a:xfrm>
            <a:off x="6208776" y="1644396"/>
            <a:ext cx="5385816" cy="4390643"/>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08776" y="1644396"/>
            <a:ext cx="50292" cy="4390643"/>
          </a:xfrm>
          <a:prstGeom prst="rect">
            <a:avLst/>
          </a:prstGeom>
          <a:solidFill>
            <a:srgbClr val="B9AE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10"/>
          <p:cNvSpPr txBox="1"/>
          <p:nvPr/>
        </p:nvSpPr>
        <p:spPr>
          <a:xfrm>
            <a:off x="6464808" y="1909572"/>
            <a:ext cx="4873752" cy="373189"/>
          </a:xfrm>
          <a:prstGeom prst="rect">
            <a:avLst/>
          </a:prstGeom>
          <a:noFill/>
        </p:spPr>
        <p:txBody>
          <a:bodyPr wrap="none" lIns="0" rIns="0" tIns="0" bIns="0" anchor="t">
            <a:spAutoFit/>
          </a:bodyPr>
          <a:lstStyle/>
          <a:p>
            <a:pPr>
              <a:lnSpc>
                <a:spcPts val="2542"/>
              </a:lnSpc>
              <a:spcBef>
                <a:spcPts val="0"/>
              </a:spcBef>
              <a:spcAft>
                <a:spcPts val="0"/>
              </a:spcAft>
              <a:defRPr sz="2250" b="1">
                <a:solidFill>
                  <a:srgbClr val="234B42"/>
                </a:solidFill>
                <a:latin typeface="Manrope"/>
              </a:defRPr>
            </a:pPr>
            <a:r>
              <a:rPr lang="de-DE"/>
              <a:t>Autistische Symptomatik</a:t>
            </a:r>
          </a:p>
        </p:txBody>
      </p:sp>
      <p:sp>
        <p:nvSpPr>
          <p:cNvPr id="12" name="Text 11"/>
          <p:cNvSpPr txBox="1"/>
          <p:nvPr/>
        </p:nvSpPr>
        <p:spPr>
          <a:xfrm>
            <a:off x="6464808" y="2483929"/>
            <a:ext cx="4873752" cy="3304222"/>
          </a:xfrm>
          <a:prstGeom prst="rect">
            <a:avLst/>
          </a:prstGeom>
          <a:noFill/>
        </p:spPr>
        <p:txBody>
          <a:bodyPr wrap="none" lIns="0" rIns="0" tIns="0" bIns="0" anchor="t">
            <a:spAutoFit/>
          </a:bodyPr>
          <a:lstStyle/>
          <a:p>
            <a:pPr>
              <a:lnSpc>
                <a:spcPts val="2595"/>
              </a:lnSpc>
              <a:spcBef>
                <a:spcPts val="0"/>
              </a:spcBef>
              <a:spcAft>
                <a:spcPts val="0"/>
              </a:spcAft>
              <a:defRPr sz="2200" b="0">
                <a:solidFill>
                  <a:srgbClr val="26332F"/>
                </a:solidFill>
                <a:latin typeface="Inter"/>
              </a:defRPr>
            </a:pPr>
            <a:r>
              <a:rPr lang="de-DE"/>
              <a:t>qualitative Beeinträchtigung der</a:t>
            </a:r>
          </a:p>
          <a:p>
            <a:pPr>
              <a:lnSpc>
                <a:spcPts val="2595"/>
              </a:lnSpc>
              <a:spcBef>
                <a:spcPts val="0"/>
              </a:spcBef>
              <a:spcAft>
                <a:spcPts val="0"/>
              </a:spcAft>
              <a:defRPr sz="2200" b="0">
                <a:solidFill>
                  <a:srgbClr val="26332F"/>
                </a:solidFill>
                <a:latin typeface="Inter"/>
              </a:defRPr>
            </a:pPr>
            <a:r>
              <a:rPr lang="de-DE"/>
              <a:t>sozialen Interaktion</a:t>
            </a:r>
          </a:p>
          <a:p>
            <a:pPr>
              <a:lnSpc>
                <a:spcPts val="2595"/>
              </a:lnSpc>
              <a:spcBef>
                <a:spcPts val="0"/>
              </a:spcBef>
              <a:spcAft>
                <a:spcPts val="0"/>
              </a:spcAft>
              <a:defRPr sz="2200" b="0">
                <a:solidFill>
                  <a:srgbClr val="26332F"/>
                </a:solidFill>
                <a:latin typeface="Inter"/>
              </a:defRPr>
            </a:pPr>
            <a:r>
              <a:rPr lang="de-DE"/>
              <a:t>qualitative Beeinträchtigung der</a:t>
            </a:r>
          </a:p>
          <a:p>
            <a:pPr>
              <a:lnSpc>
                <a:spcPts val="2595"/>
              </a:lnSpc>
              <a:spcBef>
                <a:spcPts val="0"/>
              </a:spcBef>
              <a:spcAft>
                <a:spcPts val="0"/>
              </a:spcAft>
              <a:defRPr sz="2200" b="0">
                <a:solidFill>
                  <a:srgbClr val="26332F"/>
                </a:solidFill>
                <a:latin typeface="Inter"/>
              </a:defRPr>
            </a:pPr>
            <a:r>
              <a:rPr lang="de-DE"/>
              <a:t>Kommunikation</a:t>
            </a:r>
          </a:p>
          <a:p>
            <a:pPr>
              <a:lnSpc>
                <a:spcPts val="2595"/>
              </a:lnSpc>
              <a:spcBef>
                <a:spcPts val="0"/>
              </a:spcBef>
              <a:spcAft>
                <a:spcPts val="0"/>
              </a:spcAft>
              <a:defRPr sz="2200" b="0">
                <a:solidFill>
                  <a:srgbClr val="26332F"/>
                </a:solidFill>
                <a:latin typeface="Inter"/>
              </a:defRPr>
            </a:pPr>
            <a:r>
              <a:rPr lang="de-DE"/>
              <a:t>stereotype und repetitive</a:t>
            </a:r>
          </a:p>
          <a:p>
            <a:pPr>
              <a:lnSpc>
                <a:spcPts val="2595"/>
              </a:lnSpc>
              <a:spcBef>
                <a:spcPts val="0"/>
              </a:spcBef>
              <a:spcAft>
                <a:spcPts val="0"/>
              </a:spcAft>
              <a:defRPr sz="2200" b="0">
                <a:solidFill>
                  <a:srgbClr val="26332F"/>
                </a:solidFill>
                <a:latin typeface="Inter"/>
              </a:defRPr>
            </a:pPr>
            <a:r>
              <a:rPr lang="de-DE"/>
              <a:t>Verhaltensweisen</a:t>
            </a:r>
          </a:p>
        </p:txBody>
      </p:sp>
    </p:spTree>
  </p:cSld>
  <p:clrMapOvr>
    <a:masterClrMapping/>
  </p:clrMapOvr>
  <p:transition spd="fast" advClick="1">
    <p:fade/>
  </p:transition>
</p:sld>
</file>

<file path=ppt/slides/slide38.xml><?xml version="1.0" encoding="utf-8"?>
<p:sld xmlns:a="http://schemas.openxmlformats.org/drawingml/2006/main" xmlns:p="http://schemas.openxmlformats.org/presentationml/2006/main" xmlns:r="http://schemas.openxmlformats.org/officeDocument/2006/relationships" showMasterSp="1">
  <p:cSld>
    <p:bg>
      <p:bgPr>
        <a:solidFill>
          <a:srgbClr val="F7F5EF"/>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38</a:t>
            </a:r>
          </a:p>
        </p:txBody>
      </p:sp>
      <p:sp>
        <p:nvSpPr>
          <p:cNvPr id="3" name="Text 2"/>
          <p:cNvSpPr txBox="1"/>
          <p:nvPr/>
        </p:nvSpPr>
        <p:spPr>
          <a:xfrm>
            <a:off x="594360" y="393192"/>
            <a:ext cx="10881360" cy="203644"/>
          </a:xfrm>
          <a:prstGeom prst="rect">
            <a:avLst/>
          </a:prstGeom>
          <a:noFill/>
        </p:spPr>
        <p:txBody>
          <a:bodyPr wrap="none" lIns="0" rIns="0" tIns="0" bIns="0" anchor="t">
            <a:spAutoFit/>
          </a:bodyPr>
          <a:lstStyle/>
          <a:p>
            <a:pPr>
              <a:lnSpc>
                <a:spcPts val="1207"/>
              </a:lnSpc>
              <a:spcBef>
                <a:spcPts val="0"/>
              </a:spcBef>
              <a:spcAft>
                <a:spcPts val="0"/>
              </a:spcAft>
              <a:defRPr sz="1150" b="1">
                <a:solidFill>
                  <a:srgbClr val="234B42"/>
                </a:solidFill>
                <a:latin typeface="Inter"/>
              </a:defRPr>
            </a:pPr>
            <a:r>
              <a:rPr lang="de-DE"/>
              <a:t>BEGRIFFE DER ORIGINALVORLAGE</a:t>
            </a:r>
          </a:p>
        </p:txBody>
      </p:sp>
      <p:sp>
        <p:nvSpPr>
          <p:cNvPr id="4" name="Text 3"/>
          <p:cNvSpPr txBox="1"/>
          <p:nvPr/>
        </p:nvSpPr>
        <p:spPr>
          <a:xfrm>
            <a:off x="594360" y="804672"/>
            <a:ext cx="10991088"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Autismus: Ursache und Spektrum</a:t>
            </a:r>
          </a:p>
        </p:txBody>
      </p:sp>
      <p:grpSp>
        <p:nvGrpSpPr>
          <p:cNvPr id="5" name="Icon · focus"/>
          <p:cNvGrpSpPr/>
          <p:nvPr/>
        </p:nvGrpSpPr>
        <p:grpSpPr>
          <a:xfrm>
            <a:off x="1095451" y="2310079"/>
            <a:ext cx="543153" cy="543153"/>
            <a:chOff x="1095451" y="2310079"/>
            <a:chExt cx="543153" cy="543153"/>
          </a:xfrm>
        </p:grpSpPr>
        <p:sp>
          <p:nvSpPr>
            <p:cNvPr id="6" name="Oval 5"/>
            <p:cNvSpPr/>
            <p:nvPr/>
          </p:nvSpPr>
          <p:spPr>
            <a:xfrm>
              <a:off x="1095451" y="2310079"/>
              <a:ext cx="543153" cy="543153"/>
            </a:xfrm>
            <a:prstGeom prst="ellipse">
              <a:avLst/>
            </a:pr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305306" y="2519934"/>
              <a:ext cx="123444" cy="123444"/>
            </a:xfrm>
            <a:prstGeom prst="ellipse">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959663" y="2174291"/>
              <a:ext cx="209855" cy="209855"/>
            </a:xfrm>
            <a:custGeom>
              <a:avLst/>
              <a:gdLst/>
              <a:ahLst/>
              <a:cxnLst/>
              <a:rect l="l" t="t" r="r" b="b"/>
              <a:pathLst>
                <a:path w="170" h="170">
                  <a:moveTo>
                    <a:pt x="0" y="170"/>
                  </a:moveTo>
                  <a:lnTo>
                    <a:pt x="0" y="0"/>
                  </a:lnTo>
                  <a:lnTo>
                    <a:pt x="170" y="0"/>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1564538" y="2174291"/>
              <a:ext cx="209855" cy="209855"/>
            </a:xfrm>
            <a:custGeom>
              <a:avLst/>
              <a:gdLst/>
              <a:ahLst/>
              <a:cxnLst/>
              <a:rect l="l" t="t" r="r" b="b"/>
              <a:pathLst>
                <a:path w="170" h="170">
                  <a:moveTo>
                    <a:pt x="0" y="0"/>
                  </a:moveTo>
                  <a:lnTo>
                    <a:pt x="170" y="0"/>
                  </a:lnTo>
                  <a:lnTo>
                    <a:pt x="170" y="170"/>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1564538" y="2779166"/>
              <a:ext cx="209855" cy="209855"/>
            </a:xfrm>
            <a:custGeom>
              <a:avLst/>
              <a:gdLst/>
              <a:ahLst/>
              <a:cxnLst/>
              <a:rect l="l" t="t" r="r" b="b"/>
              <a:pathLst>
                <a:path w="170" h="170">
                  <a:moveTo>
                    <a:pt x="170" y="0"/>
                  </a:moveTo>
                  <a:lnTo>
                    <a:pt x="170" y="170"/>
                  </a:lnTo>
                  <a:lnTo>
                    <a:pt x="0" y="170"/>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959663" y="2779166"/>
              <a:ext cx="209855" cy="209855"/>
            </a:xfrm>
            <a:custGeom>
              <a:avLst/>
              <a:gdLst/>
              <a:ahLst/>
              <a:cxnLst/>
              <a:rect l="l" t="t" r="r" b="b"/>
              <a:pathLst>
                <a:path w="170" h="170">
                  <a:moveTo>
                    <a:pt x="170" y="170"/>
                  </a:moveTo>
                  <a:lnTo>
                    <a:pt x="0" y="170"/>
                  </a:lnTo>
                  <a:lnTo>
                    <a:pt x="0" y="0"/>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12" name="Text 5"/>
          <p:cNvSpPr txBox="1"/>
          <p:nvPr/>
        </p:nvSpPr>
        <p:spPr>
          <a:xfrm>
            <a:off x="2743200" y="1754124"/>
            <a:ext cx="8229600" cy="394969"/>
          </a:xfrm>
          <a:prstGeom prst="rect">
            <a:avLst/>
          </a:prstGeom>
          <a:noFill/>
        </p:spPr>
        <p:txBody>
          <a:bodyPr wrap="none" lIns="0" rIns="0" tIns="0" bIns="0" anchor="t">
            <a:spAutoFit/>
          </a:bodyPr>
          <a:lstStyle/>
          <a:p>
            <a:pPr>
              <a:lnSpc>
                <a:spcPts val="2713"/>
              </a:lnSpc>
              <a:spcBef>
                <a:spcPts val="0"/>
              </a:spcBef>
              <a:spcAft>
                <a:spcPts val="0"/>
              </a:spcAft>
              <a:defRPr sz="2300" b="1">
                <a:solidFill>
                  <a:srgbClr val="234B42"/>
                </a:solidFill>
                <a:latin typeface="Manrope"/>
              </a:defRPr>
            </a:pPr>
            <a:r>
              <a:rPr lang="de-DE"/>
              <a:t>Ursache und Spektrum</a:t>
            </a:r>
          </a:p>
        </p:txBody>
      </p:sp>
      <p:sp>
        <p:nvSpPr>
          <p:cNvPr id="13" name="Rectangle 12"/>
          <p:cNvSpPr/>
          <p:nvPr/>
        </p:nvSpPr>
        <p:spPr>
          <a:xfrm>
            <a:off x="2743200" y="2590799"/>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7"/>
          <p:cNvSpPr txBox="1"/>
          <p:nvPr/>
        </p:nvSpPr>
        <p:spPr>
          <a:xfrm>
            <a:off x="2962656" y="2467356"/>
            <a:ext cx="8010144" cy="424942"/>
          </a:xfrm>
          <a:prstGeom prst="rect">
            <a:avLst/>
          </a:prstGeom>
          <a:noFill/>
        </p:spPr>
        <p:txBody>
          <a:bodyPr wrap="none" lIns="0" rIns="0" tIns="0" bIns="0" anchor="t">
            <a:spAutoFit/>
          </a:bodyPr>
          <a:lstStyle/>
          <a:p>
            <a:pPr>
              <a:lnSpc>
                <a:spcPts val="2950"/>
              </a:lnSpc>
              <a:spcBef>
                <a:spcPts val="0"/>
              </a:spcBef>
              <a:spcAft>
                <a:spcPts val="0"/>
              </a:spcAft>
              <a:defRPr sz="2500" b="0">
                <a:solidFill>
                  <a:srgbClr val="26332F"/>
                </a:solidFill>
                <a:latin typeface="Inter"/>
              </a:defRPr>
            </a:pPr>
            <a:r>
              <a:rPr lang="de-DE"/>
              <a:t>ursächlich biologisch (vermutlich genetisch) bestimmt</a:t>
            </a:r>
          </a:p>
        </p:txBody>
      </p:sp>
      <p:sp>
        <p:nvSpPr>
          <p:cNvPr id="15" name="Rectangle 14"/>
          <p:cNvSpPr/>
          <p:nvPr/>
        </p:nvSpPr>
        <p:spPr>
          <a:xfrm>
            <a:off x="2743200" y="3363213"/>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9"/>
          <p:cNvSpPr txBox="1"/>
          <p:nvPr/>
        </p:nvSpPr>
        <p:spPr>
          <a:xfrm>
            <a:off x="2962656" y="3239769"/>
            <a:ext cx="8010144" cy="799592"/>
          </a:xfrm>
          <a:prstGeom prst="rect">
            <a:avLst/>
          </a:prstGeom>
          <a:noFill/>
        </p:spPr>
        <p:txBody>
          <a:bodyPr wrap="none" lIns="0" rIns="0" tIns="0" bIns="0" anchor="t">
            <a:spAutoFit/>
          </a:bodyPr>
          <a:lstStyle/>
          <a:p>
            <a:pPr>
              <a:lnSpc>
                <a:spcPts val="2950"/>
              </a:lnSpc>
              <a:spcBef>
                <a:spcPts val="0"/>
              </a:spcBef>
              <a:spcAft>
                <a:spcPts val="0"/>
              </a:spcAft>
              <a:defRPr sz="2500" b="0">
                <a:solidFill>
                  <a:srgbClr val="26332F"/>
                </a:solidFill>
                <a:latin typeface="Inter"/>
              </a:defRPr>
            </a:pPr>
            <a:r>
              <a:rPr lang="de-DE"/>
              <a:t>bezeichnet ein Spektrum an autistischen Störungen /</a:t>
            </a:r>
          </a:p>
          <a:p>
            <a:pPr>
              <a:lnSpc>
                <a:spcPts val="2950"/>
              </a:lnSpc>
              <a:spcBef>
                <a:spcPts val="0"/>
              </a:spcBef>
              <a:spcAft>
                <a:spcPts val="0"/>
              </a:spcAft>
              <a:defRPr sz="2500" b="0">
                <a:solidFill>
                  <a:srgbClr val="26332F"/>
                </a:solidFill>
                <a:latin typeface="Inter"/>
              </a:defRPr>
            </a:pPr>
            <a:r>
              <a:rPr lang="de-DE"/>
              <a:t>Autismus-Spektrum-Störung (ASS)</a:t>
            </a:r>
          </a:p>
        </p:txBody>
      </p:sp>
      <p:sp>
        <p:nvSpPr>
          <p:cNvPr id="17" name="Rectangle 16"/>
          <p:cNvSpPr/>
          <p:nvPr/>
        </p:nvSpPr>
        <p:spPr>
          <a:xfrm>
            <a:off x="2743200" y="4510277"/>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11"/>
          <p:cNvSpPr txBox="1"/>
          <p:nvPr/>
        </p:nvSpPr>
        <p:spPr>
          <a:xfrm>
            <a:off x="2962656" y="4386833"/>
            <a:ext cx="8010144" cy="799592"/>
          </a:xfrm>
          <a:prstGeom prst="rect">
            <a:avLst/>
          </a:prstGeom>
          <a:noFill/>
        </p:spPr>
        <p:txBody>
          <a:bodyPr wrap="none" lIns="0" rIns="0" tIns="0" bIns="0" anchor="t">
            <a:spAutoFit/>
          </a:bodyPr>
          <a:lstStyle/>
          <a:p>
            <a:pPr>
              <a:lnSpc>
                <a:spcPts val="2950"/>
              </a:lnSpc>
              <a:spcBef>
                <a:spcPts val="0"/>
              </a:spcBef>
              <a:spcAft>
                <a:spcPts val="0"/>
              </a:spcAft>
              <a:defRPr sz="2500" b="0">
                <a:solidFill>
                  <a:srgbClr val="26332F"/>
                </a:solidFill>
                <a:latin typeface="Inter"/>
              </a:defRPr>
            </a:pPr>
            <a:r>
              <a:rPr lang="de-DE"/>
              <a:t>Frühkindlicher Autismus, Asperger Autismus,</a:t>
            </a:r>
          </a:p>
          <a:p>
            <a:pPr>
              <a:lnSpc>
                <a:spcPts val="2950"/>
              </a:lnSpc>
              <a:spcBef>
                <a:spcPts val="0"/>
              </a:spcBef>
              <a:spcAft>
                <a:spcPts val="0"/>
              </a:spcAft>
              <a:defRPr sz="2500" b="0">
                <a:solidFill>
                  <a:srgbClr val="26332F"/>
                </a:solidFill>
                <a:latin typeface="Inter"/>
              </a:defRPr>
            </a:pPr>
            <a:r>
              <a:rPr lang="de-DE"/>
              <a:t>Aytpischer Autismus</a:t>
            </a:r>
          </a:p>
        </p:txBody>
      </p:sp>
    </p:spTree>
  </p:cSld>
  <p:clrMapOvr>
    <a:masterClrMapping/>
  </p:clrMapOvr>
  <p:transition spd="fast" advClick="1">
    <p:fade/>
  </p:transition>
</p:sld>
</file>

<file path=ppt/slides/slide39.xml><?xml version="1.0" encoding="utf-8"?>
<p:sld xmlns:a="http://schemas.openxmlformats.org/drawingml/2006/main" xmlns:p="http://schemas.openxmlformats.org/presentationml/2006/main" xmlns:r="http://schemas.openxmlformats.org/officeDocument/2006/relationships" showMasterSp="1">
  <p:cSld>
    <p:bg>
      <p:bgPr>
        <a:solidFill>
          <a:srgbClr val="F7F5EF"/>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39</a:t>
            </a:r>
          </a:p>
        </p:txBody>
      </p:sp>
      <p:sp>
        <p:nvSpPr>
          <p:cNvPr id="3" name="Text 2"/>
          <p:cNvSpPr txBox="1"/>
          <p:nvPr/>
        </p:nvSpPr>
        <p:spPr>
          <a:xfrm>
            <a:off x="594360" y="393192"/>
            <a:ext cx="10881360" cy="203644"/>
          </a:xfrm>
          <a:prstGeom prst="rect">
            <a:avLst/>
          </a:prstGeom>
          <a:noFill/>
        </p:spPr>
        <p:txBody>
          <a:bodyPr wrap="none" lIns="0" rIns="0" tIns="0" bIns="0" anchor="t">
            <a:spAutoFit/>
          </a:bodyPr>
          <a:lstStyle/>
          <a:p>
            <a:pPr>
              <a:lnSpc>
                <a:spcPts val="1207"/>
              </a:lnSpc>
              <a:spcBef>
                <a:spcPts val="0"/>
              </a:spcBef>
              <a:spcAft>
                <a:spcPts val="0"/>
              </a:spcAft>
              <a:defRPr sz="1150" b="1">
                <a:solidFill>
                  <a:srgbClr val="234B42"/>
                </a:solidFill>
                <a:latin typeface="Inter"/>
              </a:defRPr>
            </a:pPr>
            <a:r>
              <a:rPr lang="de-DE"/>
              <a:t>WENN EIN KIND …</a:t>
            </a:r>
          </a:p>
        </p:txBody>
      </p:sp>
      <p:sp>
        <p:nvSpPr>
          <p:cNvPr id="4" name="Text 3"/>
          <p:cNvSpPr txBox="1"/>
          <p:nvPr/>
        </p:nvSpPr>
        <p:spPr>
          <a:xfrm>
            <a:off x="594360" y="804672"/>
            <a:ext cx="10991088"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Frühe Anzeichen für Autismus</a:t>
            </a:r>
          </a:p>
        </p:txBody>
      </p:sp>
      <p:sp>
        <p:nvSpPr>
          <p:cNvPr id="5" name="Rectangle 4"/>
          <p:cNvSpPr/>
          <p:nvPr/>
        </p:nvSpPr>
        <p:spPr>
          <a:xfrm>
            <a:off x="594360" y="1644396"/>
            <a:ext cx="50292" cy="4389120"/>
          </a:xfrm>
          <a:prstGeom prst="rect">
            <a:avLst/>
          </a:prstGeom>
          <a:solidFill>
            <a:srgbClr val="B9AE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32104" y="1886712"/>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6"/>
          <p:cNvSpPr txBox="1"/>
          <p:nvPr/>
        </p:nvSpPr>
        <p:spPr>
          <a:xfrm>
            <a:off x="1051560" y="1763268"/>
            <a:ext cx="4901183" cy="379983"/>
          </a:xfrm>
          <a:prstGeom prst="rect">
            <a:avLst/>
          </a:prstGeom>
          <a:noFill/>
        </p:spPr>
        <p:txBody>
          <a:bodyPr wrap="none" lIns="0" rIns="0" tIns="0" bIns="0" anchor="t">
            <a:spAutoFit/>
          </a:bodyPr>
          <a:lstStyle/>
          <a:p>
            <a:pPr>
              <a:lnSpc>
                <a:spcPts val="2595"/>
              </a:lnSpc>
              <a:spcBef>
                <a:spcPts val="0"/>
              </a:spcBef>
              <a:spcAft>
                <a:spcPts val="0"/>
              </a:spcAft>
              <a:defRPr sz="2200" b="0">
                <a:solidFill>
                  <a:srgbClr val="26332F"/>
                </a:solidFill>
                <a:latin typeface="Inter"/>
              </a:defRPr>
            </a:pPr>
            <a:r>
              <a:rPr lang="de-DE"/>
              <a:t>mit einem Jahr nicht plappert;</a:t>
            </a:r>
          </a:p>
        </p:txBody>
      </p:sp>
      <p:sp>
        <p:nvSpPr>
          <p:cNvPr id="8" name="Rectangle 7"/>
          <p:cNvSpPr/>
          <p:nvPr/>
        </p:nvSpPr>
        <p:spPr>
          <a:xfrm>
            <a:off x="832104" y="2495295"/>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8"/>
          <p:cNvSpPr txBox="1"/>
          <p:nvPr/>
        </p:nvSpPr>
        <p:spPr>
          <a:xfrm>
            <a:off x="1051560" y="2371851"/>
            <a:ext cx="4901183" cy="709676"/>
          </a:xfrm>
          <a:prstGeom prst="rect">
            <a:avLst/>
          </a:prstGeom>
          <a:noFill/>
        </p:spPr>
        <p:txBody>
          <a:bodyPr wrap="none" lIns="0" rIns="0" tIns="0" bIns="0" anchor="t">
            <a:spAutoFit/>
          </a:bodyPr>
          <a:lstStyle/>
          <a:p>
            <a:pPr>
              <a:lnSpc>
                <a:spcPts val="2595"/>
              </a:lnSpc>
              <a:spcBef>
                <a:spcPts val="0"/>
              </a:spcBef>
              <a:spcAft>
                <a:spcPts val="0"/>
              </a:spcAft>
              <a:defRPr sz="2200" b="0">
                <a:solidFill>
                  <a:srgbClr val="26332F"/>
                </a:solidFill>
                <a:latin typeface="Inter"/>
              </a:defRPr>
            </a:pPr>
            <a:r>
              <a:rPr lang="de-DE"/>
              <a:t>keine Reaktion zeigt, wenn es mit</a:t>
            </a:r>
          </a:p>
          <a:p>
            <a:pPr>
              <a:lnSpc>
                <a:spcPts val="2595"/>
              </a:lnSpc>
              <a:spcBef>
                <a:spcPts val="0"/>
              </a:spcBef>
              <a:spcAft>
                <a:spcPts val="0"/>
              </a:spcAft>
              <a:defRPr sz="2200" b="0">
                <a:solidFill>
                  <a:srgbClr val="26332F"/>
                </a:solidFill>
                <a:latin typeface="Inter"/>
              </a:defRPr>
            </a:pPr>
            <a:r>
              <a:rPr lang="de-DE"/>
              <a:t>Namen angesprochen wird;</a:t>
            </a:r>
          </a:p>
        </p:txBody>
      </p:sp>
      <p:sp>
        <p:nvSpPr>
          <p:cNvPr id="10" name="Rectangle 9"/>
          <p:cNvSpPr/>
          <p:nvPr/>
        </p:nvSpPr>
        <p:spPr>
          <a:xfrm>
            <a:off x="832104" y="3433572"/>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10"/>
          <p:cNvSpPr txBox="1"/>
          <p:nvPr/>
        </p:nvSpPr>
        <p:spPr>
          <a:xfrm>
            <a:off x="1051560" y="3310127"/>
            <a:ext cx="4901183" cy="379983"/>
          </a:xfrm>
          <a:prstGeom prst="rect">
            <a:avLst/>
          </a:prstGeom>
          <a:noFill/>
        </p:spPr>
        <p:txBody>
          <a:bodyPr wrap="none" lIns="0" rIns="0" tIns="0" bIns="0" anchor="t">
            <a:spAutoFit/>
          </a:bodyPr>
          <a:lstStyle/>
          <a:p>
            <a:pPr>
              <a:lnSpc>
                <a:spcPts val="2595"/>
              </a:lnSpc>
              <a:spcBef>
                <a:spcPts val="0"/>
              </a:spcBef>
              <a:spcAft>
                <a:spcPts val="0"/>
              </a:spcAft>
              <a:defRPr sz="2200" b="0">
                <a:solidFill>
                  <a:srgbClr val="26332F"/>
                </a:solidFill>
                <a:latin typeface="Inter"/>
              </a:defRPr>
            </a:pPr>
            <a:r>
              <a:rPr lang="de-DE"/>
              <a:t>wenig oder keinen Blickkontakt hat;</a:t>
            </a:r>
          </a:p>
        </p:txBody>
      </p:sp>
      <p:sp>
        <p:nvSpPr>
          <p:cNvPr id="12" name="Rectangle 11"/>
          <p:cNvSpPr/>
          <p:nvPr/>
        </p:nvSpPr>
        <p:spPr>
          <a:xfrm>
            <a:off x="832104" y="4042155"/>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12"/>
          <p:cNvSpPr txBox="1"/>
          <p:nvPr/>
        </p:nvSpPr>
        <p:spPr>
          <a:xfrm>
            <a:off x="1051560" y="3918711"/>
            <a:ext cx="4901183" cy="379983"/>
          </a:xfrm>
          <a:prstGeom prst="rect">
            <a:avLst/>
          </a:prstGeom>
          <a:noFill/>
        </p:spPr>
        <p:txBody>
          <a:bodyPr wrap="none" lIns="0" rIns="0" tIns="0" bIns="0" anchor="t">
            <a:spAutoFit/>
          </a:bodyPr>
          <a:lstStyle/>
          <a:p>
            <a:pPr>
              <a:lnSpc>
                <a:spcPts val="2595"/>
              </a:lnSpc>
              <a:spcBef>
                <a:spcPts val="0"/>
              </a:spcBef>
              <a:spcAft>
                <a:spcPts val="0"/>
              </a:spcAft>
              <a:defRPr sz="2200" b="0">
                <a:solidFill>
                  <a:srgbClr val="26332F"/>
                </a:solidFill>
                <a:latin typeface="Inter"/>
              </a:defRPr>
            </a:pPr>
            <a:r>
              <a:rPr lang="de-DE"/>
              <a:t>heftige Wutanfälle hat;</a:t>
            </a:r>
          </a:p>
        </p:txBody>
      </p:sp>
      <p:sp>
        <p:nvSpPr>
          <p:cNvPr id="14" name="Rectangle 13"/>
          <p:cNvSpPr/>
          <p:nvPr/>
        </p:nvSpPr>
        <p:spPr>
          <a:xfrm>
            <a:off x="6236208" y="1644396"/>
            <a:ext cx="50292" cy="4389120"/>
          </a:xfrm>
          <a:prstGeom prst="rect">
            <a:avLst/>
          </a:prstGeom>
          <a:solidFill>
            <a:srgbClr val="B9AE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73952" y="1886712"/>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15"/>
          <p:cNvSpPr txBox="1"/>
          <p:nvPr/>
        </p:nvSpPr>
        <p:spPr>
          <a:xfrm>
            <a:off x="6693408" y="1763268"/>
            <a:ext cx="4901183" cy="379983"/>
          </a:xfrm>
          <a:prstGeom prst="rect">
            <a:avLst/>
          </a:prstGeom>
          <a:noFill/>
        </p:spPr>
        <p:txBody>
          <a:bodyPr wrap="none" lIns="0" rIns="0" tIns="0" bIns="0" anchor="t">
            <a:spAutoFit/>
          </a:bodyPr>
          <a:lstStyle/>
          <a:p>
            <a:pPr>
              <a:lnSpc>
                <a:spcPts val="2595"/>
              </a:lnSpc>
              <a:spcBef>
                <a:spcPts val="0"/>
              </a:spcBef>
              <a:spcAft>
                <a:spcPts val="0"/>
              </a:spcAft>
              <a:defRPr sz="2200" b="0">
                <a:solidFill>
                  <a:srgbClr val="26332F"/>
                </a:solidFill>
                <a:latin typeface="Inter"/>
              </a:defRPr>
            </a:pPr>
            <a:r>
              <a:rPr lang="de-DE"/>
              <a:t>auf einzelne Objekte fixiert ist;</a:t>
            </a:r>
          </a:p>
        </p:txBody>
      </p:sp>
      <p:sp>
        <p:nvSpPr>
          <p:cNvPr id="17" name="Rectangle 16"/>
          <p:cNvSpPr/>
          <p:nvPr/>
        </p:nvSpPr>
        <p:spPr>
          <a:xfrm>
            <a:off x="6473952" y="2495295"/>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17"/>
          <p:cNvSpPr txBox="1"/>
          <p:nvPr/>
        </p:nvSpPr>
        <p:spPr>
          <a:xfrm>
            <a:off x="6693408" y="2371851"/>
            <a:ext cx="4901183" cy="709676"/>
          </a:xfrm>
          <a:prstGeom prst="rect">
            <a:avLst/>
          </a:prstGeom>
          <a:noFill/>
        </p:spPr>
        <p:txBody>
          <a:bodyPr wrap="none" lIns="0" rIns="0" tIns="0" bIns="0" anchor="t">
            <a:spAutoFit/>
          </a:bodyPr>
          <a:lstStyle/>
          <a:p>
            <a:pPr>
              <a:lnSpc>
                <a:spcPts val="2595"/>
              </a:lnSpc>
              <a:spcBef>
                <a:spcPts val="0"/>
              </a:spcBef>
              <a:spcAft>
                <a:spcPts val="0"/>
              </a:spcAft>
              <a:defRPr sz="2200" b="0">
                <a:solidFill>
                  <a:srgbClr val="26332F"/>
                </a:solidFill>
                <a:latin typeface="Inter"/>
              </a:defRPr>
            </a:pPr>
            <a:r>
              <a:rPr lang="de-DE"/>
              <a:t>Schwierigkeiten bei der</a:t>
            </a:r>
          </a:p>
          <a:p>
            <a:pPr>
              <a:lnSpc>
                <a:spcPts val="2595"/>
              </a:lnSpc>
              <a:spcBef>
                <a:spcPts val="0"/>
              </a:spcBef>
              <a:spcAft>
                <a:spcPts val="0"/>
              </a:spcAft>
              <a:defRPr sz="2200" b="0">
                <a:solidFill>
                  <a:srgbClr val="26332F"/>
                </a:solidFill>
                <a:latin typeface="Inter"/>
              </a:defRPr>
            </a:pPr>
            <a:r>
              <a:rPr lang="de-DE"/>
              <a:t>Nahrungsaufnahme zeigt;</a:t>
            </a:r>
          </a:p>
        </p:txBody>
      </p:sp>
      <p:sp>
        <p:nvSpPr>
          <p:cNvPr id="19" name="Rectangle 18"/>
          <p:cNvSpPr/>
          <p:nvPr/>
        </p:nvSpPr>
        <p:spPr>
          <a:xfrm>
            <a:off x="6473952" y="3433572"/>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 19"/>
          <p:cNvSpPr txBox="1"/>
          <p:nvPr/>
        </p:nvSpPr>
        <p:spPr>
          <a:xfrm>
            <a:off x="6693408" y="3310127"/>
            <a:ext cx="4901183" cy="1039367"/>
          </a:xfrm>
          <a:prstGeom prst="rect">
            <a:avLst/>
          </a:prstGeom>
          <a:noFill/>
        </p:spPr>
        <p:txBody>
          <a:bodyPr wrap="none" lIns="0" rIns="0" tIns="0" bIns="0" anchor="t">
            <a:spAutoFit/>
          </a:bodyPr>
          <a:lstStyle/>
          <a:p>
            <a:pPr>
              <a:lnSpc>
                <a:spcPts val="2595"/>
              </a:lnSpc>
              <a:spcBef>
                <a:spcPts val="0"/>
              </a:spcBef>
              <a:spcAft>
                <a:spcPts val="0"/>
              </a:spcAft>
              <a:defRPr sz="2200" b="0">
                <a:solidFill>
                  <a:srgbClr val="26332F"/>
                </a:solidFill>
                <a:latin typeface="Inter"/>
              </a:defRPr>
            </a:pPr>
            <a:r>
              <a:rPr lang="de-DE"/>
              <a:t>früh das Sprechen lernt, dennoch</a:t>
            </a:r>
          </a:p>
          <a:p>
            <a:pPr>
              <a:lnSpc>
                <a:spcPts val="2595"/>
              </a:lnSpc>
              <a:spcBef>
                <a:spcPts val="0"/>
              </a:spcBef>
              <a:spcAft>
                <a:spcPts val="0"/>
              </a:spcAft>
              <a:defRPr sz="2200" b="0">
                <a:solidFill>
                  <a:srgbClr val="26332F"/>
                </a:solidFill>
                <a:latin typeface="Inter"/>
              </a:defRPr>
            </a:pPr>
            <a:r>
              <a:rPr lang="de-DE"/>
              <a:t>Kommunikationsschwierigkeiten hat</a:t>
            </a:r>
          </a:p>
          <a:p>
            <a:pPr>
              <a:lnSpc>
                <a:spcPts val="2595"/>
              </a:lnSpc>
              <a:spcBef>
                <a:spcPts val="0"/>
              </a:spcBef>
              <a:spcAft>
                <a:spcPts val="0"/>
              </a:spcAft>
              <a:defRPr sz="2200" b="0">
                <a:solidFill>
                  <a:srgbClr val="26332F"/>
                </a:solidFill>
                <a:latin typeface="Inter"/>
              </a:defRPr>
            </a:pPr>
            <a:r>
              <a:rPr lang="de-DE"/>
              <a:t>sowie</a:t>
            </a:r>
          </a:p>
        </p:txBody>
      </p:sp>
      <p:sp>
        <p:nvSpPr>
          <p:cNvPr id="21" name="Rectangle 20"/>
          <p:cNvSpPr/>
          <p:nvPr/>
        </p:nvSpPr>
        <p:spPr>
          <a:xfrm>
            <a:off x="6473952" y="4701539"/>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 21"/>
          <p:cNvSpPr txBox="1"/>
          <p:nvPr/>
        </p:nvSpPr>
        <p:spPr>
          <a:xfrm>
            <a:off x="6693408" y="4578095"/>
            <a:ext cx="4901183" cy="1039367"/>
          </a:xfrm>
          <a:prstGeom prst="rect">
            <a:avLst/>
          </a:prstGeom>
          <a:noFill/>
        </p:spPr>
        <p:txBody>
          <a:bodyPr wrap="none" lIns="0" rIns="0" tIns="0" bIns="0" anchor="t">
            <a:spAutoFit/>
          </a:bodyPr>
          <a:lstStyle/>
          <a:p>
            <a:pPr>
              <a:lnSpc>
                <a:spcPts val="2595"/>
              </a:lnSpc>
              <a:spcBef>
                <a:spcPts val="0"/>
              </a:spcBef>
              <a:spcAft>
                <a:spcPts val="0"/>
              </a:spcAft>
              <a:defRPr sz="2200" b="0">
                <a:solidFill>
                  <a:srgbClr val="26332F"/>
                </a:solidFill>
                <a:latin typeface="Inter"/>
              </a:defRPr>
            </a:pPr>
            <a:r>
              <a:rPr lang="de-DE"/>
              <a:t>sich motorisch ungeschickt bewegt</a:t>
            </a:r>
          </a:p>
          <a:p>
            <a:pPr>
              <a:lnSpc>
                <a:spcPts val="2595"/>
              </a:lnSpc>
              <a:spcBef>
                <a:spcPts val="0"/>
              </a:spcBef>
              <a:spcAft>
                <a:spcPts val="0"/>
              </a:spcAft>
              <a:defRPr sz="2200" b="0">
                <a:solidFill>
                  <a:srgbClr val="26332F"/>
                </a:solidFill>
                <a:latin typeface="Inter"/>
              </a:defRPr>
            </a:pPr>
            <a:r>
              <a:rPr lang="de-DE"/>
              <a:t>(teilweise hölzerne und unkoordinierte</a:t>
            </a:r>
          </a:p>
          <a:p>
            <a:pPr>
              <a:lnSpc>
                <a:spcPts val="2595"/>
              </a:lnSpc>
              <a:spcBef>
                <a:spcPts val="0"/>
              </a:spcBef>
              <a:spcAft>
                <a:spcPts val="0"/>
              </a:spcAft>
              <a:defRPr sz="2200" b="0">
                <a:solidFill>
                  <a:srgbClr val="26332F"/>
                </a:solidFill>
                <a:latin typeface="Inter"/>
              </a:defRPr>
            </a:pPr>
            <a:r>
              <a:rPr lang="de-DE"/>
              <a:t>Bewegungen).</a:t>
            </a:r>
          </a:p>
        </p:txBody>
      </p:sp>
    </p:spTree>
  </p:cSld>
  <p:clrMapOvr>
    <a:masterClrMapping/>
  </p:clrMapOvr>
  <p:transition spd="fast" advClick="1">
    <p:fade/>
  </p:transition>
</p:sld>
</file>

<file path=ppt/slides/slide40.xml><?xml version="1.0" encoding="utf-8"?>
<p:sld xmlns:a="http://schemas.openxmlformats.org/drawingml/2006/main" xmlns:p="http://schemas.openxmlformats.org/presentationml/2006/main" xmlns:r="http://schemas.openxmlformats.org/officeDocument/2006/relationships" showMasterSp="1">
  <p:cSld>
    <p:bg>
      <p:bgPr>
        <a:solidFill>
          <a:srgbClr val="F7F5EF"/>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40</a:t>
            </a:r>
          </a:p>
        </p:txBody>
      </p:sp>
      <p:sp>
        <p:nvSpPr>
          <p:cNvPr id="3" name="Text 2"/>
          <p:cNvSpPr txBox="1"/>
          <p:nvPr/>
        </p:nvSpPr>
        <p:spPr>
          <a:xfrm>
            <a:off x="594360" y="393192"/>
            <a:ext cx="10881360" cy="203644"/>
          </a:xfrm>
          <a:prstGeom prst="rect">
            <a:avLst/>
          </a:prstGeom>
          <a:noFill/>
        </p:spPr>
        <p:txBody>
          <a:bodyPr wrap="none" lIns="0" rIns="0" tIns="0" bIns="0" anchor="t">
            <a:spAutoFit/>
          </a:bodyPr>
          <a:lstStyle/>
          <a:p>
            <a:pPr>
              <a:lnSpc>
                <a:spcPts val="1207"/>
              </a:lnSpc>
              <a:spcBef>
                <a:spcPts val="0"/>
              </a:spcBef>
              <a:spcAft>
                <a:spcPts val="0"/>
              </a:spcAft>
              <a:defRPr sz="1150" b="1">
                <a:solidFill>
                  <a:srgbClr val="234B42"/>
                </a:solidFill>
                <a:latin typeface="Inter"/>
              </a:defRPr>
            </a:pPr>
            <a:r>
              <a:rPr lang="de-DE"/>
              <a:t>INDIVIDUELLE PROFILE</a:t>
            </a:r>
          </a:p>
        </p:txBody>
      </p:sp>
      <p:sp>
        <p:nvSpPr>
          <p:cNvPr id="4" name="Text 3"/>
          <p:cNvSpPr txBox="1"/>
          <p:nvPr/>
        </p:nvSpPr>
        <p:spPr>
          <a:xfrm>
            <a:off x="594360" y="804672"/>
            <a:ext cx="10991088"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Sensorische Besonderheiten</a:t>
            </a:r>
          </a:p>
        </p:txBody>
      </p:sp>
      <p:sp>
        <p:nvSpPr>
          <p:cNvPr id="5" name="Rounded Rectangle 4"/>
          <p:cNvSpPr/>
          <p:nvPr/>
        </p:nvSpPr>
        <p:spPr>
          <a:xfrm>
            <a:off x="594360" y="1644396"/>
            <a:ext cx="5358384" cy="3832860"/>
          </a:xfrm>
          <a:prstGeom prst="roundRect">
            <a:avLst>
              <a:gd name="adj" fmla="val 6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644396"/>
            <a:ext cx="5358384" cy="59436"/>
          </a:xfrm>
          <a:prstGeom prst="rect">
            <a:avLst/>
          </a:prstGeom>
          <a:solidFill>
            <a:srgbClr val="B9AE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6"/>
          <p:cNvSpPr txBox="1"/>
          <p:nvPr/>
        </p:nvSpPr>
        <p:spPr>
          <a:xfrm>
            <a:off x="886968" y="1937003"/>
            <a:ext cx="4773168" cy="409956"/>
          </a:xfrm>
          <a:prstGeom prst="rect">
            <a:avLst/>
          </a:prstGeom>
          <a:noFill/>
        </p:spPr>
        <p:txBody>
          <a:bodyPr wrap="none" lIns="0" rIns="0" tIns="0" bIns="0" anchor="t">
            <a:spAutoFit/>
          </a:bodyPr>
          <a:lstStyle/>
          <a:p>
            <a:pPr>
              <a:lnSpc>
                <a:spcPts val="2832"/>
              </a:lnSpc>
              <a:spcBef>
                <a:spcPts val="0"/>
              </a:spcBef>
              <a:spcAft>
                <a:spcPts val="0"/>
              </a:spcAft>
              <a:defRPr sz="2400" b="1">
                <a:solidFill>
                  <a:srgbClr val="234B42"/>
                </a:solidFill>
                <a:latin typeface="Manrope"/>
              </a:defRPr>
            </a:pPr>
            <a:r>
              <a:rPr lang="de-DE"/>
              <a:t>Reize können belasten</a:t>
            </a:r>
          </a:p>
        </p:txBody>
      </p:sp>
      <p:sp>
        <p:nvSpPr>
          <p:cNvPr id="8" name="Rectangle 7"/>
          <p:cNvSpPr/>
          <p:nvPr/>
        </p:nvSpPr>
        <p:spPr>
          <a:xfrm>
            <a:off x="886968" y="2799588"/>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8"/>
          <p:cNvSpPr txBox="1"/>
          <p:nvPr/>
        </p:nvSpPr>
        <p:spPr>
          <a:xfrm>
            <a:off x="1106424" y="2676143"/>
            <a:ext cx="4553712" cy="739648"/>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26332F"/>
                </a:solidFill>
                <a:latin typeface="Inter"/>
              </a:defRPr>
            </a:pPr>
            <a:r>
              <a:rPr lang="de-DE"/>
              <a:t>Laute oder unvorhersehbare</a:t>
            </a:r>
          </a:p>
          <a:p>
            <a:pPr>
              <a:lnSpc>
                <a:spcPts val="2713"/>
              </a:lnSpc>
              <a:spcBef>
                <a:spcPts val="0"/>
              </a:spcBef>
              <a:spcAft>
                <a:spcPts val="0"/>
              </a:spcAft>
              <a:defRPr sz="2300" b="0">
                <a:solidFill>
                  <a:srgbClr val="26332F"/>
                </a:solidFill>
                <a:latin typeface="Inter"/>
              </a:defRPr>
            </a:pPr>
            <a:r>
              <a:rPr lang="de-DE"/>
              <a:t>Geräusche</a:t>
            </a:r>
          </a:p>
        </p:txBody>
      </p:sp>
      <p:sp>
        <p:nvSpPr>
          <p:cNvPr id="10" name="Rectangle 9"/>
          <p:cNvSpPr/>
          <p:nvPr/>
        </p:nvSpPr>
        <p:spPr>
          <a:xfrm>
            <a:off x="886968" y="3813555"/>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10"/>
          <p:cNvSpPr txBox="1"/>
          <p:nvPr/>
        </p:nvSpPr>
        <p:spPr>
          <a:xfrm>
            <a:off x="1106424" y="3690111"/>
            <a:ext cx="4553712" cy="394969"/>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26332F"/>
                </a:solidFill>
                <a:latin typeface="Inter"/>
              </a:defRPr>
            </a:pPr>
            <a:r>
              <a:rPr lang="de-DE"/>
              <a:t>Gerüche und Konsistenzen</a:t>
            </a:r>
          </a:p>
        </p:txBody>
      </p:sp>
      <p:sp>
        <p:nvSpPr>
          <p:cNvPr id="12" name="Rectangle 11"/>
          <p:cNvSpPr/>
          <p:nvPr/>
        </p:nvSpPr>
        <p:spPr>
          <a:xfrm>
            <a:off x="886968" y="4482845"/>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12"/>
          <p:cNvSpPr txBox="1"/>
          <p:nvPr/>
        </p:nvSpPr>
        <p:spPr>
          <a:xfrm>
            <a:off x="1106424" y="4359401"/>
            <a:ext cx="4553712" cy="394969"/>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26332F"/>
                </a:solidFill>
                <a:latin typeface="Inter"/>
              </a:defRPr>
            </a:pPr>
            <a:r>
              <a:rPr lang="de-DE"/>
              <a:t>Berührung oder räumliche Enge</a:t>
            </a:r>
          </a:p>
        </p:txBody>
      </p:sp>
      <p:sp>
        <p:nvSpPr>
          <p:cNvPr id="14" name="Rounded Rectangle 13"/>
          <p:cNvSpPr/>
          <p:nvPr/>
        </p:nvSpPr>
        <p:spPr>
          <a:xfrm>
            <a:off x="6236208" y="1644396"/>
            <a:ext cx="5358384" cy="3832860"/>
          </a:xfrm>
          <a:prstGeom prst="roundRect">
            <a:avLst>
              <a:gd name="adj" fmla="val 6500"/>
            </a:avLst>
          </a:prstGeom>
          <a:solidFill>
            <a:srgbClr val="E9EE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6208" y="1644396"/>
            <a:ext cx="5358384" cy="59436"/>
          </a:xfrm>
          <a:prstGeom prst="rect">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15"/>
          <p:cNvSpPr txBox="1"/>
          <p:nvPr/>
        </p:nvSpPr>
        <p:spPr>
          <a:xfrm>
            <a:off x="6528816" y="1937003"/>
            <a:ext cx="4773168" cy="409956"/>
          </a:xfrm>
          <a:prstGeom prst="rect">
            <a:avLst/>
          </a:prstGeom>
          <a:noFill/>
        </p:spPr>
        <p:txBody>
          <a:bodyPr wrap="none" lIns="0" rIns="0" tIns="0" bIns="0" anchor="t">
            <a:spAutoFit/>
          </a:bodyPr>
          <a:lstStyle/>
          <a:p>
            <a:pPr>
              <a:lnSpc>
                <a:spcPts val="2832"/>
              </a:lnSpc>
              <a:spcBef>
                <a:spcPts val="0"/>
              </a:spcBef>
              <a:spcAft>
                <a:spcPts val="0"/>
              </a:spcAft>
              <a:defRPr sz="2400" b="1">
                <a:solidFill>
                  <a:srgbClr val="234B42"/>
                </a:solidFill>
                <a:latin typeface="Manrope"/>
              </a:defRPr>
            </a:pPr>
            <a:r>
              <a:rPr lang="de-DE"/>
              <a:t>Reize können gesucht werden</a:t>
            </a:r>
          </a:p>
        </p:txBody>
      </p:sp>
      <p:sp>
        <p:nvSpPr>
          <p:cNvPr id="17" name="Rectangle 16"/>
          <p:cNvSpPr/>
          <p:nvPr/>
        </p:nvSpPr>
        <p:spPr>
          <a:xfrm>
            <a:off x="6528816" y="2799588"/>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17"/>
          <p:cNvSpPr txBox="1"/>
          <p:nvPr/>
        </p:nvSpPr>
        <p:spPr>
          <a:xfrm>
            <a:off x="6748272" y="2676143"/>
            <a:ext cx="4553712" cy="394969"/>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26332F"/>
                </a:solidFill>
                <a:latin typeface="Inter"/>
              </a:defRPr>
            </a:pPr>
            <a:r>
              <a:rPr lang="de-DE"/>
              <a:t>Bestimmte Bewegungen</a:t>
            </a:r>
          </a:p>
        </p:txBody>
      </p:sp>
      <p:sp>
        <p:nvSpPr>
          <p:cNvPr id="19" name="Rectangle 18"/>
          <p:cNvSpPr/>
          <p:nvPr/>
        </p:nvSpPr>
        <p:spPr>
          <a:xfrm>
            <a:off x="6528816" y="3468877"/>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 19"/>
          <p:cNvSpPr txBox="1"/>
          <p:nvPr/>
        </p:nvSpPr>
        <p:spPr>
          <a:xfrm>
            <a:off x="6748272" y="3345433"/>
            <a:ext cx="4553712" cy="394969"/>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26332F"/>
                </a:solidFill>
                <a:latin typeface="Inter"/>
              </a:defRPr>
            </a:pPr>
            <a:r>
              <a:rPr lang="de-DE"/>
              <a:t>Wiederkehrende Klänge</a:t>
            </a:r>
          </a:p>
        </p:txBody>
      </p:sp>
      <p:sp>
        <p:nvSpPr>
          <p:cNvPr id="21" name="Rectangle 20"/>
          <p:cNvSpPr/>
          <p:nvPr/>
        </p:nvSpPr>
        <p:spPr>
          <a:xfrm>
            <a:off x="6528816" y="4138167"/>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 21"/>
          <p:cNvSpPr txBox="1"/>
          <p:nvPr/>
        </p:nvSpPr>
        <p:spPr>
          <a:xfrm>
            <a:off x="6748272" y="4014724"/>
            <a:ext cx="4553712" cy="739648"/>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26332F"/>
                </a:solidFill>
                <a:latin typeface="Inter"/>
              </a:defRPr>
            </a:pPr>
            <a:r>
              <a:rPr lang="de-DE"/>
              <a:t>Druck oder intensive</a:t>
            </a:r>
          </a:p>
          <a:p>
            <a:pPr>
              <a:lnSpc>
                <a:spcPts val="2713"/>
              </a:lnSpc>
              <a:spcBef>
                <a:spcPts val="0"/>
              </a:spcBef>
              <a:spcAft>
                <a:spcPts val="0"/>
              </a:spcAft>
              <a:defRPr sz="2300" b="0">
                <a:solidFill>
                  <a:srgbClr val="26332F"/>
                </a:solidFill>
                <a:latin typeface="Inter"/>
              </a:defRPr>
            </a:pPr>
            <a:r>
              <a:rPr lang="de-DE"/>
              <a:t>Körperwahrnehmung</a:t>
            </a:r>
          </a:p>
        </p:txBody>
      </p:sp>
      <p:cxnSp>
        <p:nvCxnSpPr>
          <p:cNvPr id="23" name="Connector 22"/>
          <p:cNvCxnSpPr/>
          <p:nvPr/>
        </p:nvCxnSpPr>
        <p:spPr>
          <a:xfrm>
            <a:off x="594360" y="5495544"/>
            <a:ext cx="502920" cy="0"/>
          </a:xfrm>
          <a:prstGeom prst="line">
            <a:avLst/>
          </a:prstGeom>
          <a:ln w="27940">
            <a:solidFill>
              <a:srgbClr val="D68B73"/>
            </a:solidFill>
          </a:ln>
        </p:spPr>
        <p:style>
          <a:lnRef idx="2">
            <a:schemeClr val="accent1"/>
          </a:lnRef>
          <a:fillRef idx="0">
            <a:schemeClr val="accent1"/>
          </a:fillRef>
          <a:effectRef idx="1">
            <a:schemeClr val="accent1"/>
          </a:effectRef>
          <a:fontRef idx="minor">
            <a:schemeClr val="tx1"/>
          </a:fontRef>
        </p:style>
      </p:cxnSp>
      <p:sp>
        <p:nvSpPr>
          <p:cNvPr id="24" name="Text 23"/>
          <p:cNvSpPr txBox="1"/>
          <p:nvPr/>
        </p:nvSpPr>
        <p:spPr>
          <a:xfrm>
            <a:off x="594360" y="5623560"/>
            <a:ext cx="10972800" cy="694944"/>
          </a:xfrm>
          <a:prstGeom prst="rect">
            <a:avLst/>
          </a:prstGeom>
          <a:noFill/>
        </p:spPr>
        <p:txBody>
          <a:bodyPr wrap="none" lIns="0" rIns="0" tIns="0" bIns="0" anchor="t">
            <a:spAutoFit/>
          </a:bodyPr>
          <a:lstStyle/>
          <a:p>
            <a:pPr>
              <a:lnSpc>
                <a:spcPts val="2419"/>
              </a:lnSpc>
              <a:spcBef>
                <a:spcPts val="0"/>
              </a:spcBef>
              <a:spcAft>
                <a:spcPts val="0"/>
              </a:spcAft>
              <a:defRPr sz="2050" b="1">
                <a:solidFill>
                  <a:srgbClr val="234B42"/>
                </a:solidFill>
                <a:latin typeface="Manrope"/>
              </a:defRPr>
            </a:pPr>
            <a:r>
              <a:rPr lang="de-DE"/>
              <a:t>Das Erleben unterscheidet sich je nach Kind und Situation.</a:t>
            </a:r>
          </a:p>
        </p:txBody>
      </p:sp>
    </p:spTree>
  </p:cSld>
  <p:clrMapOvr>
    <a:masterClrMapping/>
  </p:clrMapOvr>
  <p:transition spd="fast" advClick="1">
    <p:fade/>
  </p:transition>
</p:sld>
</file>

<file path=ppt/slides/slide41.xml><?xml version="1.0" encoding="utf-8"?>
<p:sld xmlns:a="http://schemas.openxmlformats.org/drawingml/2006/main" xmlns:p="http://schemas.openxmlformats.org/presentationml/2006/main" xmlns:r="http://schemas.openxmlformats.org/officeDocument/2006/relationships" showMasterSp="1">
  <p:cSld>
    <p:bg>
      <p:bgPr>
        <a:solidFill>
          <a:srgbClr val="F7F5EF"/>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41</a:t>
            </a:r>
          </a:p>
        </p:txBody>
      </p:sp>
      <p:sp>
        <p:nvSpPr>
          <p:cNvPr id="3" name="Text 2"/>
          <p:cNvSpPr txBox="1"/>
          <p:nvPr/>
        </p:nvSpPr>
        <p:spPr>
          <a:xfrm>
            <a:off x="594360" y="393192"/>
            <a:ext cx="10881360" cy="203644"/>
          </a:xfrm>
          <a:prstGeom prst="rect">
            <a:avLst/>
          </a:prstGeom>
          <a:noFill/>
        </p:spPr>
        <p:txBody>
          <a:bodyPr wrap="none" lIns="0" rIns="0" tIns="0" bIns="0" anchor="t">
            <a:spAutoFit/>
          </a:bodyPr>
          <a:lstStyle/>
          <a:p>
            <a:pPr>
              <a:lnSpc>
                <a:spcPts val="1207"/>
              </a:lnSpc>
              <a:spcBef>
                <a:spcPts val="0"/>
              </a:spcBef>
              <a:spcAft>
                <a:spcPts val="0"/>
              </a:spcAft>
              <a:defRPr sz="1150" b="1">
                <a:solidFill>
                  <a:srgbClr val="234B42"/>
                </a:solidFill>
                <a:latin typeface="Inter"/>
              </a:defRPr>
            </a:pPr>
            <a:r>
              <a:rPr lang="de-DE"/>
              <a:t>BEGRIFFE DER ORIGINALVORLAGE</a:t>
            </a:r>
          </a:p>
        </p:txBody>
      </p:sp>
      <p:sp>
        <p:nvSpPr>
          <p:cNvPr id="4" name="Text 3"/>
          <p:cNvSpPr txBox="1"/>
          <p:nvPr/>
        </p:nvSpPr>
        <p:spPr>
          <a:xfrm>
            <a:off x="594360" y="804672"/>
            <a:ext cx="10991088"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Reizüberflutung · Shutdown</a:t>
            </a:r>
          </a:p>
        </p:txBody>
      </p:sp>
      <p:sp>
        <p:nvSpPr>
          <p:cNvPr id="5" name="Rounded Rectangle 4"/>
          <p:cNvSpPr/>
          <p:nvPr/>
        </p:nvSpPr>
        <p:spPr>
          <a:xfrm>
            <a:off x="594360" y="1644396"/>
            <a:ext cx="3657600" cy="4343400"/>
          </a:xfrm>
          <a:prstGeom prst="roundRect">
            <a:avLst>
              <a:gd name="adj" fmla="val 6500"/>
            </a:avLst>
          </a:prstGeom>
          <a:solidFill>
            <a:srgbClr val="E9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6" name="Icon · calm"/>
          <p:cNvGrpSpPr/>
          <p:nvPr/>
        </p:nvGrpSpPr>
        <p:grpSpPr>
          <a:xfrm>
            <a:off x="0" y="0"/>
            <a:ext cx="0" cy="0"/>
            <a:chOff x="0" y="0"/>
            <a:chExt cx="0" cy="0"/>
          </a:xfrm>
        </p:grpSpPr>
        <p:sp>
          <p:nvSpPr>
            <p:cNvPr id="7" name="Freeform 6"/>
            <p:cNvSpPr/>
            <p:nvPr/>
          </p:nvSpPr>
          <p:spPr>
            <a:xfrm>
              <a:off x="1176924" y="2226869"/>
              <a:ext cx="513984" cy="581376"/>
            </a:xfrm>
            <a:custGeom>
              <a:avLst/>
              <a:gdLst/>
              <a:ahLst/>
              <a:cxnLst/>
              <a:rect l="l" t="t" r="r" b="b"/>
              <a:pathLst>
                <a:path w="511" h="578">
                  <a:moveTo>
                    <a:pt x="39" y="570"/>
                  </a:moveTo>
                  <a:lnTo>
                    <a:pt x="18" y="528"/>
                  </a:lnTo>
                  <a:lnTo>
                    <a:pt x="5" y="484"/>
                  </a:lnTo>
                  <a:lnTo>
                    <a:pt x="0" y="438"/>
                  </a:lnTo>
                  <a:lnTo>
                    <a:pt x="1" y="392"/>
                  </a:lnTo>
                  <a:lnTo>
                    <a:pt x="10" y="346"/>
                  </a:lnTo>
                  <a:lnTo>
                    <a:pt x="25" y="301"/>
                  </a:lnTo>
                  <a:lnTo>
                    <a:pt x="47" y="256"/>
                  </a:lnTo>
                  <a:lnTo>
                    <a:pt x="75" y="214"/>
                  </a:lnTo>
                  <a:lnTo>
                    <a:pt x="110" y="173"/>
                  </a:lnTo>
                  <a:lnTo>
                    <a:pt x="150" y="136"/>
                  </a:lnTo>
                  <a:lnTo>
                    <a:pt x="197" y="101"/>
                  </a:lnTo>
                  <a:lnTo>
                    <a:pt x="249" y="71"/>
                  </a:lnTo>
                  <a:lnTo>
                    <a:pt x="306" y="45"/>
                  </a:lnTo>
                  <a:lnTo>
                    <a:pt x="369" y="24"/>
                  </a:lnTo>
                  <a:lnTo>
                    <a:pt x="436" y="9"/>
                  </a:lnTo>
                  <a:lnTo>
                    <a:pt x="509" y="0"/>
                  </a:lnTo>
                  <a:lnTo>
                    <a:pt x="511" y="68"/>
                  </a:lnTo>
                  <a:lnTo>
                    <a:pt x="508" y="133"/>
                  </a:lnTo>
                  <a:lnTo>
                    <a:pt x="500" y="195"/>
                  </a:lnTo>
                  <a:lnTo>
                    <a:pt x="489" y="254"/>
                  </a:lnTo>
                  <a:lnTo>
                    <a:pt x="473" y="308"/>
                  </a:lnTo>
                  <a:lnTo>
                    <a:pt x="453" y="359"/>
                  </a:lnTo>
                  <a:lnTo>
                    <a:pt x="429" y="405"/>
                  </a:lnTo>
                  <a:lnTo>
                    <a:pt x="401" y="446"/>
                  </a:lnTo>
                  <a:lnTo>
                    <a:pt x="370" y="483"/>
                  </a:lnTo>
                  <a:lnTo>
                    <a:pt x="334" y="514"/>
                  </a:lnTo>
                  <a:lnTo>
                    <a:pt x="294" y="539"/>
                  </a:lnTo>
                  <a:lnTo>
                    <a:pt x="250" y="558"/>
                  </a:lnTo>
                  <a:lnTo>
                    <a:pt x="203" y="571"/>
                  </a:lnTo>
                  <a:lnTo>
                    <a:pt x="152" y="578"/>
                  </a:lnTo>
                  <a:lnTo>
                    <a:pt x="97" y="578"/>
                  </a:lnTo>
                  <a:lnTo>
                    <a:pt x="39" y="570"/>
                  </a:lnTo>
                  <a:close/>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135685" y="2367686"/>
              <a:ext cx="432511" cy="553212"/>
            </a:xfrm>
            <a:custGeom>
              <a:avLst/>
              <a:gdLst/>
              <a:ahLst/>
              <a:cxnLst/>
              <a:rect l="l" t="t" r="r" b="b"/>
              <a:pathLst>
                <a:path w="430" h="550">
                  <a:moveTo>
                    <a:pt x="0" y="550"/>
                  </a:moveTo>
                  <a:lnTo>
                    <a:pt x="28" y="507"/>
                  </a:lnTo>
                  <a:lnTo>
                    <a:pt x="54" y="466"/>
                  </a:lnTo>
                  <a:lnTo>
                    <a:pt x="80" y="426"/>
                  </a:lnTo>
                  <a:lnTo>
                    <a:pt x="105" y="387"/>
                  </a:lnTo>
                  <a:lnTo>
                    <a:pt x="130" y="349"/>
                  </a:lnTo>
                  <a:lnTo>
                    <a:pt x="155" y="312"/>
                  </a:lnTo>
                  <a:lnTo>
                    <a:pt x="179" y="276"/>
                  </a:lnTo>
                  <a:lnTo>
                    <a:pt x="204" y="241"/>
                  </a:lnTo>
                  <a:lnTo>
                    <a:pt x="229" y="208"/>
                  </a:lnTo>
                  <a:lnTo>
                    <a:pt x="254" y="175"/>
                  </a:lnTo>
                  <a:lnTo>
                    <a:pt x="281" y="143"/>
                  </a:lnTo>
                  <a:lnTo>
                    <a:pt x="308" y="113"/>
                  </a:lnTo>
                  <a:lnTo>
                    <a:pt x="336" y="83"/>
                  </a:lnTo>
                  <a:lnTo>
                    <a:pt x="366" y="54"/>
                  </a:lnTo>
                  <a:lnTo>
                    <a:pt x="397" y="27"/>
                  </a:lnTo>
                  <a:lnTo>
                    <a:pt x="430" y="0"/>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1336853" y="2649322"/>
              <a:ext cx="160934" cy="10058"/>
            </a:xfrm>
            <a:custGeom>
              <a:avLst/>
              <a:gdLst/>
              <a:ahLst/>
              <a:cxnLst/>
              <a:rect l="l" t="t" r="r" b="b"/>
              <a:pathLst>
                <a:path w="160" h="10">
                  <a:moveTo>
                    <a:pt x="0" y="10"/>
                  </a:moveTo>
                  <a:lnTo>
                    <a:pt x="160" y="0"/>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1427378" y="2377745"/>
              <a:ext cx="10058" cy="130759"/>
            </a:xfrm>
            <a:custGeom>
              <a:avLst/>
              <a:gdLst/>
              <a:ahLst/>
              <a:cxnLst/>
              <a:rect l="l" t="t" r="r" b="b"/>
              <a:pathLst>
                <a:path w="10" h="130">
                  <a:moveTo>
                    <a:pt x="10" y="130"/>
                  </a:moveTo>
                  <a:lnTo>
                    <a:pt x="0" y="0"/>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1467612" y="2880665"/>
              <a:ext cx="311810" cy="30175"/>
            </a:xfrm>
            <a:custGeom>
              <a:avLst/>
              <a:gdLst/>
              <a:ahLst/>
              <a:cxnLst/>
              <a:rect l="l" t="t" r="r" b="b"/>
              <a:pathLst>
                <a:path w="310" h="30">
                  <a:moveTo>
                    <a:pt x="0" y="20"/>
                  </a:moveTo>
                  <a:lnTo>
                    <a:pt x="24" y="25"/>
                  </a:lnTo>
                  <a:lnTo>
                    <a:pt x="47" y="28"/>
                  </a:lnTo>
                  <a:lnTo>
                    <a:pt x="68" y="29"/>
                  </a:lnTo>
                  <a:lnTo>
                    <a:pt x="89" y="30"/>
                  </a:lnTo>
                  <a:lnTo>
                    <a:pt x="109" y="29"/>
                  </a:lnTo>
                  <a:lnTo>
                    <a:pt x="129" y="27"/>
                  </a:lnTo>
                  <a:lnTo>
                    <a:pt x="148" y="24"/>
                  </a:lnTo>
                  <a:lnTo>
                    <a:pt x="166" y="21"/>
                  </a:lnTo>
                  <a:lnTo>
                    <a:pt x="184" y="18"/>
                  </a:lnTo>
                  <a:lnTo>
                    <a:pt x="202" y="14"/>
                  </a:lnTo>
                  <a:lnTo>
                    <a:pt x="220" y="11"/>
                  </a:lnTo>
                  <a:lnTo>
                    <a:pt x="238" y="7"/>
                  </a:lnTo>
                  <a:lnTo>
                    <a:pt x="255" y="4"/>
                  </a:lnTo>
                  <a:lnTo>
                    <a:pt x="273" y="2"/>
                  </a:lnTo>
                  <a:lnTo>
                    <a:pt x="291" y="1"/>
                  </a:lnTo>
                  <a:lnTo>
                    <a:pt x="310" y="0"/>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12" name="Text 6"/>
          <p:cNvSpPr txBox="1"/>
          <p:nvPr/>
        </p:nvSpPr>
        <p:spPr>
          <a:xfrm>
            <a:off x="914400" y="3473196"/>
            <a:ext cx="3017520" cy="514858"/>
          </a:xfrm>
          <a:prstGeom prst="rect">
            <a:avLst/>
          </a:prstGeom>
          <a:noFill/>
        </p:spPr>
        <p:txBody>
          <a:bodyPr wrap="none" lIns="0" rIns="0" tIns="0" bIns="0" anchor="t">
            <a:spAutoFit/>
          </a:bodyPr>
          <a:lstStyle/>
          <a:p>
            <a:pPr>
              <a:lnSpc>
                <a:spcPts val="3658"/>
              </a:lnSpc>
              <a:spcBef>
                <a:spcPts val="0"/>
              </a:spcBef>
              <a:spcAft>
                <a:spcPts val="0"/>
              </a:spcAft>
              <a:defRPr sz="3100" b="1">
                <a:solidFill>
                  <a:srgbClr val="234B42"/>
                </a:solidFill>
                <a:latin typeface="Manrope"/>
              </a:defRPr>
            </a:pPr>
            <a:r>
              <a:rPr lang="de-DE"/>
              <a:t>Shutdown</a:t>
            </a:r>
          </a:p>
        </p:txBody>
      </p:sp>
      <p:sp>
        <p:nvSpPr>
          <p:cNvPr id="13" name="Text 7"/>
          <p:cNvSpPr txBox="1"/>
          <p:nvPr/>
        </p:nvSpPr>
        <p:spPr>
          <a:xfrm>
            <a:off x="914400" y="4296156"/>
            <a:ext cx="3017520" cy="1371600"/>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34B42"/>
                </a:solidFill>
                <a:latin typeface="Inter"/>
              </a:defRPr>
            </a:pPr>
            <a:r>
              <a:rPr lang="de-DE"/>
              <a:t>→ Folge eines Overloads</a:t>
            </a:r>
          </a:p>
          <a:p>
            <a:pPr>
              <a:lnSpc>
                <a:spcPts val="2477"/>
              </a:lnSpc>
              <a:spcBef>
                <a:spcPts val="0"/>
              </a:spcBef>
              <a:spcAft>
                <a:spcPts val="0"/>
              </a:spcAft>
              <a:defRPr sz="2100" b="0">
                <a:solidFill>
                  <a:srgbClr val="234B42"/>
                </a:solidFill>
                <a:latin typeface="Inter"/>
              </a:defRPr>
            </a:pPr>
            <a:r>
              <a:rPr lang="de-DE"/>
              <a:t>oder Meltdowns</a:t>
            </a:r>
          </a:p>
        </p:txBody>
      </p:sp>
      <p:sp>
        <p:nvSpPr>
          <p:cNvPr id="14" name="Rectangle 13"/>
          <p:cNvSpPr/>
          <p:nvPr/>
        </p:nvSpPr>
        <p:spPr>
          <a:xfrm>
            <a:off x="4681728" y="2124456"/>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9"/>
          <p:cNvSpPr txBox="1"/>
          <p:nvPr/>
        </p:nvSpPr>
        <p:spPr>
          <a:xfrm>
            <a:off x="4901184" y="2001012"/>
            <a:ext cx="6291072" cy="829564"/>
          </a:xfrm>
          <a:prstGeom prst="rect">
            <a:avLst/>
          </a:prstGeom>
          <a:noFill/>
        </p:spPr>
        <p:txBody>
          <a:bodyPr wrap="none" lIns="0" rIns="0" tIns="0" bIns="0" anchor="t">
            <a:spAutoFit/>
          </a:bodyPr>
          <a:lstStyle/>
          <a:p>
            <a:pPr>
              <a:lnSpc>
                <a:spcPts val="3068"/>
              </a:lnSpc>
              <a:spcBef>
                <a:spcPts val="0"/>
              </a:spcBef>
              <a:spcAft>
                <a:spcPts val="0"/>
              </a:spcAft>
              <a:defRPr sz="2600" b="0">
                <a:solidFill>
                  <a:srgbClr val="26332F"/>
                </a:solidFill>
                <a:latin typeface="Inter"/>
              </a:defRPr>
            </a:pPr>
            <a:r>
              <a:rPr lang="de-DE"/>
              <a:t>Rückzug und Selbststimulation greifen</a:t>
            </a:r>
          </a:p>
          <a:p>
            <a:pPr>
              <a:lnSpc>
                <a:spcPts val="3068"/>
              </a:lnSpc>
              <a:spcBef>
                <a:spcPts val="0"/>
              </a:spcBef>
              <a:spcAft>
                <a:spcPts val="0"/>
              </a:spcAft>
              <a:defRPr sz="2600" b="0">
                <a:solidFill>
                  <a:srgbClr val="26332F"/>
                </a:solidFill>
                <a:latin typeface="Inter"/>
              </a:defRPr>
            </a:pPr>
            <a:r>
              <a:rPr lang="de-DE"/>
              <a:t>nicht</a:t>
            </a:r>
          </a:p>
        </p:txBody>
      </p:sp>
      <p:sp>
        <p:nvSpPr>
          <p:cNvPr id="16" name="Rectangle 15"/>
          <p:cNvSpPr/>
          <p:nvPr/>
        </p:nvSpPr>
        <p:spPr>
          <a:xfrm>
            <a:off x="4681728" y="3374644"/>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11"/>
          <p:cNvSpPr txBox="1"/>
          <p:nvPr/>
        </p:nvSpPr>
        <p:spPr>
          <a:xfrm>
            <a:off x="4901184" y="3251200"/>
            <a:ext cx="6291072" cy="1219200"/>
          </a:xfrm>
          <a:prstGeom prst="rect">
            <a:avLst/>
          </a:prstGeom>
          <a:noFill/>
        </p:spPr>
        <p:txBody>
          <a:bodyPr wrap="none" lIns="0" rIns="0" tIns="0" bIns="0" anchor="t">
            <a:spAutoFit/>
          </a:bodyPr>
          <a:lstStyle/>
          <a:p>
            <a:pPr>
              <a:lnSpc>
                <a:spcPts val="3068"/>
              </a:lnSpc>
              <a:spcBef>
                <a:spcPts val="0"/>
              </a:spcBef>
              <a:spcAft>
                <a:spcPts val="0"/>
              </a:spcAft>
              <a:defRPr sz="2600" b="0">
                <a:solidFill>
                  <a:srgbClr val="26332F"/>
                </a:solidFill>
                <a:latin typeface="Inter"/>
              </a:defRPr>
            </a:pPr>
            <a:r>
              <a:rPr lang="de-DE"/>
              <a:t>Reaktion: eingerolltes Liegen in der Ecke,</a:t>
            </a:r>
          </a:p>
          <a:p>
            <a:pPr>
              <a:lnSpc>
                <a:spcPts val="3068"/>
              </a:lnSpc>
              <a:spcBef>
                <a:spcPts val="0"/>
              </a:spcBef>
              <a:spcAft>
                <a:spcPts val="0"/>
              </a:spcAft>
              <a:defRPr sz="2600" b="0">
                <a:solidFill>
                  <a:srgbClr val="26332F"/>
                </a:solidFill>
                <a:latin typeface="Inter"/>
              </a:defRPr>
            </a:pPr>
            <a:r>
              <a:rPr lang="de-DE"/>
              <a:t>Decke über dem Kopf, intensives</a:t>
            </a:r>
          </a:p>
          <a:p>
            <a:pPr>
              <a:lnSpc>
                <a:spcPts val="3068"/>
              </a:lnSpc>
              <a:spcBef>
                <a:spcPts val="0"/>
              </a:spcBef>
              <a:spcAft>
                <a:spcPts val="0"/>
              </a:spcAft>
              <a:defRPr sz="2600" b="0">
                <a:solidFill>
                  <a:srgbClr val="26332F"/>
                </a:solidFill>
                <a:latin typeface="Inter"/>
              </a:defRPr>
            </a:pPr>
            <a:r>
              <a:rPr lang="de-DE"/>
              <a:t>Schaukeln, keine Ansprechbarkeit</a:t>
            </a:r>
          </a:p>
        </p:txBody>
      </p:sp>
    </p:spTree>
  </p:cSld>
  <p:clrMapOvr>
    <a:masterClrMapping/>
  </p:clrMapOvr>
  <p:transition spd="fast" advClick="1">
    <p:fade/>
  </p:transition>
</p:sld>
</file>

<file path=ppt/slides/slide42.xml><?xml version="1.0" encoding="utf-8"?>
<p:sld xmlns:a="http://schemas.openxmlformats.org/drawingml/2006/main" xmlns:p="http://schemas.openxmlformats.org/presentationml/2006/main" xmlns:r="http://schemas.openxmlformats.org/officeDocument/2006/relationships" showMasterSp="1">
  <p:cSld>
    <p:bg>
      <p:bgPr>
        <a:solidFill>
          <a:srgbClr val="F7F5EF"/>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42</a:t>
            </a:r>
          </a:p>
        </p:txBody>
      </p:sp>
      <p:sp>
        <p:nvSpPr>
          <p:cNvPr id="3" name="Text 2"/>
          <p:cNvSpPr txBox="1"/>
          <p:nvPr/>
        </p:nvSpPr>
        <p:spPr>
          <a:xfrm>
            <a:off x="594360" y="393192"/>
            <a:ext cx="10881360" cy="203644"/>
          </a:xfrm>
          <a:prstGeom prst="rect">
            <a:avLst/>
          </a:prstGeom>
          <a:noFill/>
        </p:spPr>
        <p:txBody>
          <a:bodyPr wrap="none" lIns="0" rIns="0" tIns="0" bIns="0" anchor="t">
            <a:spAutoFit/>
          </a:bodyPr>
          <a:lstStyle/>
          <a:p>
            <a:pPr>
              <a:lnSpc>
                <a:spcPts val="1207"/>
              </a:lnSpc>
              <a:spcBef>
                <a:spcPts val="0"/>
              </a:spcBef>
              <a:spcAft>
                <a:spcPts val="0"/>
              </a:spcAft>
              <a:defRPr sz="1150" b="1">
                <a:solidFill>
                  <a:srgbClr val="234B42"/>
                </a:solidFill>
                <a:latin typeface="Inter"/>
              </a:defRPr>
            </a:pPr>
            <a:r>
              <a:rPr lang="de-DE"/>
              <a:t>BEGRIFFE DER ORIGINALVORLAGE</a:t>
            </a:r>
          </a:p>
        </p:txBody>
      </p:sp>
      <p:sp>
        <p:nvSpPr>
          <p:cNvPr id="4" name="Text 3"/>
          <p:cNvSpPr txBox="1"/>
          <p:nvPr/>
        </p:nvSpPr>
        <p:spPr>
          <a:xfrm>
            <a:off x="594360" y="804672"/>
            <a:ext cx="10991088"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Reizüberflutung · Meltdown</a:t>
            </a:r>
          </a:p>
        </p:txBody>
      </p:sp>
      <p:sp>
        <p:nvSpPr>
          <p:cNvPr id="5" name="Rounded Rectangle 4"/>
          <p:cNvSpPr/>
          <p:nvPr/>
        </p:nvSpPr>
        <p:spPr>
          <a:xfrm>
            <a:off x="594360" y="1644396"/>
            <a:ext cx="3657600" cy="4343400"/>
          </a:xfrm>
          <a:prstGeom prst="roundRect">
            <a:avLst>
              <a:gd name="adj" fmla="val 6500"/>
            </a:avLst>
          </a:prstGeom>
          <a:solidFill>
            <a:srgbClr val="F1D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6" name="Icon · movement"/>
          <p:cNvGrpSpPr/>
          <p:nvPr/>
        </p:nvGrpSpPr>
        <p:grpSpPr>
          <a:xfrm>
            <a:off x="0" y="0"/>
            <a:ext cx="0" cy="0"/>
            <a:chOff x="0" y="0"/>
            <a:chExt cx="0" cy="0"/>
          </a:xfrm>
        </p:grpSpPr>
        <p:sp>
          <p:nvSpPr>
            <p:cNvPr id="7" name="Freeform 6"/>
            <p:cNvSpPr/>
            <p:nvPr/>
          </p:nvSpPr>
          <p:spPr>
            <a:xfrm>
              <a:off x="1065276" y="2260062"/>
              <a:ext cx="704088" cy="133777"/>
            </a:xfrm>
            <a:custGeom>
              <a:avLst/>
              <a:gdLst/>
              <a:ahLst/>
              <a:cxnLst/>
              <a:rect l="l" t="t" r="r" b="b"/>
              <a:pathLst>
                <a:path w="700" h="133">
                  <a:moveTo>
                    <a:pt x="0" y="87"/>
                  </a:moveTo>
                  <a:lnTo>
                    <a:pt x="24" y="62"/>
                  </a:lnTo>
                  <a:lnTo>
                    <a:pt x="48" y="48"/>
                  </a:lnTo>
                  <a:lnTo>
                    <a:pt x="71" y="41"/>
                  </a:lnTo>
                  <a:lnTo>
                    <a:pt x="95" y="42"/>
                  </a:lnTo>
                  <a:lnTo>
                    <a:pt x="118" y="48"/>
                  </a:lnTo>
                  <a:lnTo>
                    <a:pt x="140" y="59"/>
                  </a:lnTo>
                  <a:lnTo>
                    <a:pt x="163" y="72"/>
                  </a:lnTo>
                  <a:lnTo>
                    <a:pt x="186" y="87"/>
                  </a:lnTo>
                  <a:lnTo>
                    <a:pt x="209" y="102"/>
                  </a:lnTo>
                  <a:lnTo>
                    <a:pt x="233" y="115"/>
                  </a:lnTo>
                  <a:lnTo>
                    <a:pt x="256" y="126"/>
                  </a:lnTo>
                  <a:lnTo>
                    <a:pt x="280" y="132"/>
                  </a:lnTo>
                  <a:lnTo>
                    <a:pt x="304" y="133"/>
                  </a:lnTo>
                  <a:lnTo>
                    <a:pt x="329" y="126"/>
                  </a:lnTo>
                  <a:lnTo>
                    <a:pt x="354" y="112"/>
                  </a:lnTo>
                  <a:lnTo>
                    <a:pt x="380" y="87"/>
                  </a:lnTo>
                  <a:lnTo>
                    <a:pt x="402" y="63"/>
                  </a:lnTo>
                  <a:lnTo>
                    <a:pt x="423" y="43"/>
                  </a:lnTo>
                  <a:lnTo>
                    <a:pt x="444" y="27"/>
                  </a:lnTo>
                  <a:lnTo>
                    <a:pt x="464" y="15"/>
                  </a:lnTo>
                  <a:lnTo>
                    <a:pt x="483" y="7"/>
                  </a:lnTo>
                  <a:lnTo>
                    <a:pt x="502" y="2"/>
                  </a:lnTo>
                  <a:lnTo>
                    <a:pt x="521" y="0"/>
                  </a:lnTo>
                  <a:lnTo>
                    <a:pt x="540" y="1"/>
                  </a:lnTo>
                  <a:lnTo>
                    <a:pt x="559" y="4"/>
                  </a:lnTo>
                  <a:lnTo>
                    <a:pt x="578" y="11"/>
                  </a:lnTo>
                  <a:lnTo>
                    <a:pt x="597" y="19"/>
                  </a:lnTo>
                  <a:lnTo>
                    <a:pt x="616" y="29"/>
                  </a:lnTo>
                  <a:lnTo>
                    <a:pt x="636" y="42"/>
                  </a:lnTo>
                  <a:lnTo>
                    <a:pt x="657" y="55"/>
                  </a:lnTo>
                  <a:lnTo>
                    <a:pt x="678" y="71"/>
                  </a:lnTo>
                  <a:lnTo>
                    <a:pt x="700" y="87"/>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994867" y="2471288"/>
              <a:ext cx="704088" cy="133777"/>
            </a:xfrm>
            <a:custGeom>
              <a:avLst/>
              <a:gdLst/>
              <a:ahLst/>
              <a:cxnLst/>
              <a:rect l="l" t="t" r="r" b="b"/>
              <a:pathLst>
                <a:path w="700" h="133">
                  <a:moveTo>
                    <a:pt x="0" y="87"/>
                  </a:moveTo>
                  <a:lnTo>
                    <a:pt x="24" y="62"/>
                  </a:lnTo>
                  <a:lnTo>
                    <a:pt x="48" y="48"/>
                  </a:lnTo>
                  <a:lnTo>
                    <a:pt x="71" y="41"/>
                  </a:lnTo>
                  <a:lnTo>
                    <a:pt x="95" y="42"/>
                  </a:lnTo>
                  <a:lnTo>
                    <a:pt x="118" y="48"/>
                  </a:lnTo>
                  <a:lnTo>
                    <a:pt x="140" y="59"/>
                  </a:lnTo>
                  <a:lnTo>
                    <a:pt x="163" y="72"/>
                  </a:lnTo>
                  <a:lnTo>
                    <a:pt x="186" y="87"/>
                  </a:lnTo>
                  <a:lnTo>
                    <a:pt x="209" y="102"/>
                  </a:lnTo>
                  <a:lnTo>
                    <a:pt x="233" y="115"/>
                  </a:lnTo>
                  <a:lnTo>
                    <a:pt x="256" y="126"/>
                  </a:lnTo>
                  <a:lnTo>
                    <a:pt x="280" y="132"/>
                  </a:lnTo>
                  <a:lnTo>
                    <a:pt x="304" y="133"/>
                  </a:lnTo>
                  <a:lnTo>
                    <a:pt x="329" y="126"/>
                  </a:lnTo>
                  <a:lnTo>
                    <a:pt x="354" y="112"/>
                  </a:lnTo>
                  <a:lnTo>
                    <a:pt x="380" y="87"/>
                  </a:lnTo>
                  <a:lnTo>
                    <a:pt x="402" y="63"/>
                  </a:lnTo>
                  <a:lnTo>
                    <a:pt x="423" y="43"/>
                  </a:lnTo>
                  <a:lnTo>
                    <a:pt x="444" y="27"/>
                  </a:lnTo>
                  <a:lnTo>
                    <a:pt x="464" y="15"/>
                  </a:lnTo>
                  <a:lnTo>
                    <a:pt x="483" y="7"/>
                  </a:lnTo>
                  <a:lnTo>
                    <a:pt x="502" y="2"/>
                  </a:lnTo>
                  <a:lnTo>
                    <a:pt x="521" y="0"/>
                  </a:lnTo>
                  <a:lnTo>
                    <a:pt x="540" y="1"/>
                  </a:lnTo>
                  <a:lnTo>
                    <a:pt x="559" y="4"/>
                  </a:lnTo>
                  <a:lnTo>
                    <a:pt x="578" y="11"/>
                  </a:lnTo>
                  <a:lnTo>
                    <a:pt x="597" y="19"/>
                  </a:lnTo>
                  <a:lnTo>
                    <a:pt x="616" y="29"/>
                  </a:lnTo>
                  <a:lnTo>
                    <a:pt x="636" y="42"/>
                  </a:lnTo>
                  <a:lnTo>
                    <a:pt x="657" y="55"/>
                  </a:lnTo>
                  <a:lnTo>
                    <a:pt x="678" y="71"/>
                  </a:lnTo>
                  <a:lnTo>
                    <a:pt x="700" y="87"/>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1065276" y="2682514"/>
              <a:ext cx="704088" cy="133777"/>
            </a:xfrm>
            <a:custGeom>
              <a:avLst/>
              <a:gdLst/>
              <a:ahLst/>
              <a:cxnLst/>
              <a:rect l="l" t="t" r="r" b="b"/>
              <a:pathLst>
                <a:path w="700" h="133">
                  <a:moveTo>
                    <a:pt x="0" y="87"/>
                  </a:moveTo>
                  <a:lnTo>
                    <a:pt x="24" y="62"/>
                  </a:lnTo>
                  <a:lnTo>
                    <a:pt x="48" y="48"/>
                  </a:lnTo>
                  <a:lnTo>
                    <a:pt x="71" y="41"/>
                  </a:lnTo>
                  <a:lnTo>
                    <a:pt x="95" y="42"/>
                  </a:lnTo>
                  <a:lnTo>
                    <a:pt x="118" y="48"/>
                  </a:lnTo>
                  <a:lnTo>
                    <a:pt x="140" y="59"/>
                  </a:lnTo>
                  <a:lnTo>
                    <a:pt x="163" y="72"/>
                  </a:lnTo>
                  <a:lnTo>
                    <a:pt x="186" y="87"/>
                  </a:lnTo>
                  <a:lnTo>
                    <a:pt x="209" y="102"/>
                  </a:lnTo>
                  <a:lnTo>
                    <a:pt x="233" y="115"/>
                  </a:lnTo>
                  <a:lnTo>
                    <a:pt x="256" y="126"/>
                  </a:lnTo>
                  <a:lnTo>
                    <a:pt x="280" y="132"/>
                  </a:lnTo>
                  <a:lnTo>
                    <a:pt x="304" y="133"/>
                  </a:lnTo>
                  <a:lnTo>
                    <a:pt x="329" y="126"/>
                  </a:lnTo>
                  <a:lnTo>
                    <a:pt x="354" y="112"/>
                  </a:lnTo>
                  <a:lnTo>
                    <a:pt x="380" y="87"/>
                  </a:lnTo>
                  <a:lnTo>
                    <a:pt x="402" y="63"/>
                  </a:lnTo>
                  <a:lnTo>
                    <a:pt x="423" y="43"/>
                  </a:lnTo>
                  <a:lnTo>
                    <a:pt x="444" y="27"/>
                  </a:lnTo>
                  <a:lnTo>
                    <a:pt x="464" y="15"/>
                  </a:lnTo>
                  <a:lnTo>
                    <a:pt x="483" y="7"/>
                  </a:lnTo>
                  <a:lnTo>
                    <a:pt x="502" y="2"/>
                  </a:lnTo>
                  <a:lnTo>
                    <a:pt x="521" y="0"/>
                  </a:lnTo>
                  <a:lnTo>
                    <a:pt x="540" y="1"/>
                  </a:lnTo>
                  <a:lnTo>
                    <a:pt x="559" y="4"/>
                  </a:lnTo>
                  <a:lnTo>
                    <a:pt x="578" y="11"/>
                  </a:lnTo>
                  <a:lnTo>
                    <a:pt x="597" y="19"/>
                  </a:lnTo>
                  <a:lnTo>
                    <a:pt x="616" y="29"/>
                  </a:lnTo>
                  <a:lnTo>
                    <a:pt x="636" y="42"/>
                  </a:lnTo>
                  <a:lnTo>
                    <a:pt x="657" y="55"/>
                  </a:lnTo>
                  <a:lnTo>
                    <a:pt x="678" y="71"/>
                  </a:lnTo>
                  <a:lnTo>
                    <a:pt x="700" y="87"/>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1658722" y="2257044"/>
              <a:ext cx="110642" cy="191110"/>
            </a:xfrm>
            <a:custGeom>
              <a:avLst/>
              <a:gdLst/>
              <a:ahLst/>
              <a:cxnLst/>
              <a:rect l="l" t="t" r="r" b="b"/>
              <a:pathLst>
                <a:path w="110" h="190">
                  <a:moveTo>
                    <a:pt x="0" y="0"/>
                  </a:moveTo>
                  <a:lnTo>
                    <a:pt x="110" y="90"/>
                  </a:lnTo>
                  <a:lnTo>
                    <a:pt x="20" y="190"/>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1588313" y="2679497"/>
              <a:ext cx="110642" cy="191110"/>
            </a:xfrm>
            <a:custGeom>
              <a:avLst/>
              <a:gdLst/>
              <a:ahLst/>
              <a:cxnLst/>
              <a:rect l="l" t="t" r="r" b="b"/>
              <a:pathLst>
                <a:path w="110" h="190">
                  <a:moveTo>
                    <a:pt x="0" y="0"/>
                  </a:moveTo>
                  <a:lnTo>
                    <a:pt x="110" y="90"/>
                  </a:lnTo>
                  <a:lnTo>
                    <a:pt x="20" y="190"/>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12" name="Text 6"/>
          <p:cNvSpPr txBox="1"/>
          <p:nvPr/>
        </p:nvSpPr>
        <p:spPr>
          <a:xfrm>
            <a:off x="914400" y="3473196"/>
            <a:ext cx="3017520" cy="514858"/>
          </a:xfrm>
          <a:prstGeom prst="rect">
            <a:avLst/>
          </a:prstGeom>
          <a:noFill/>
        </p:spPr>
        <p:txBody>
          <a:bodyPr wrap="none" lIns="0" rIns="0" tIns="0" bIns="0" anchor="t">
            <a:spAutoFit/>
          </a:bodyPr>
          <a:lstStyle/>
          <a:p>
            <a:pPr>
              <a:lnSpc>
                <a:spcPts val="3658"/>
              </a:lnSpc>
              <a:spcBef>
                <a:spcPts val="0"/>
              </a:spcBef>
              <a:spcAft>
                <a:spcPts val="0"/>
              </a:spcAft>
              <a:defRPr sz="3100" b="1">
                <a:solidFill>
                  <a:srgbClr val="234B42"/>
                </a:solidFill>
                <a:latin typeface="Manrope"/>
              </a:defRPr>
            </a:pPr>
            <a:r>
              <a:rPr lang="de-DE"/>
              <a:t>Meltdown</a:t>
            </a:r>
          </a:p>
        </p:txBody>
      </p:sp>
      <p:sp>
        <p:nvSpPr>
          <p:cNvPr id="13" name="Text 7"/>
          <p:cNvSpPr txBox="1"/>
          <p:nvPr/>
        </p:nvSpPr>
        <p:spPr>
          <a:xfrm>
            <a:off x="914400" y="4296156"/>
            <a:ext cx="3017520" cy="1371600"/>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34B42"/>
                </a:solidFill>
                <a:latin typeface="Inter"/>
              </a:defRPr>
            </a:pPr>
            <a:r>
              <a:rPr lang="de-DE"/>
              <a:t>→ Folge eines Overloads</a:t>
            </a:r>
          </a:p>
        </p:txBody>
      </p:sp>
      <p:sp>
        <p:nvSpPr>
          <p:cNvPr id="14" name="Rectangle 13"/>
          <p:cNvSpPr/>
          <p:nvPr/>
        </p:nvSpPr>
        <p:spPr>
          <a:xfrm>
            <a:off x="4681728" y="2124456"/>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9"/>
          <p:cNvSpPr txBox="1"/>
          <p:nvPr/>
        </p:nvSpPr>
        <p:spPr>
          <a:xfrm>
            <a:off x="4901184" y="2001012"/>
            <a:ext cx="6291072" cy="439928"/>
          </a:xfrm>
          <a:prstGeom prst="rect">
            <a:avLst/>
          </a:prstGeom>
          <a:noFill/>
        </p:spPr>
        <p:txBody>
          <a:bodyPr wrap="none" lIns="0" rIns="0" tIns="0" bIns="0" anchor="t">
            <a:spAutoFit/>
          </a:bodyPr>
          <a:lstStyle/>
          <a:p>
            <a:pPr>
              <a:lnSpc>
                <a:spcPts val="3068"/>
              </a:lnSpc>
              <a:spcBef>
                <a:spcPts val="0"/>
              </a:spcBef>
              <a:spcAft>
                <a:spcPts val="0"/>
              </a:spcAft>
              <a:defRPr sz="2600" b="0">
                <a:solidFill>
                  <a:srgbClr val="26332F"/>
                </a:solidFill>
                <a:latin typeface="Inter"/>
              </a:defRPr>
            </a:pPr>
            <a:r>
              <a:rPr lang="de-DE"/>
              <a:t>Erscheinungsbild: Wutausbruch</a:t>
            </a:r>
          </a:p>
        </p:txBody>
      </p:sp>
      <p:sp>
        <p:nvSpPr>
          <p:cNvPr id="16" name="Rectangle 15"/>
          <p:cNvSpPr/>
          <p:nvPr/>
        </p:nvSpPr>
        <p:spPr>
          <a:xfrm>
            <a:off x="4681728" y="2985008"/>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11"/>
          <p:cNvSpPr txBox="1"/>
          <p:nvPr/>
        </p:nvSpPr>
        <p:spPr>
          <a:xfrm>
            <a:off x="4901184" y="2861564"/>
            <a:ext cx="6291072" cy="1608836"/>
          </a:xfrm>
          <a:prstGeom prst="rect">
            <a:avLst/>
          </a:prstGeom>
          <a:noFill/>
        </p:spPr>
        <p:txBody>
          <a:bodyPr wrap="none" lIns="0" rIns="0" tIns="0" bIns="0" anchor="t">
            <a:spAutoFit/>
          </a:bodyPr>
          <a:lstStyle/>
          <a:p>
            <a:pPr>
              <a:lnSpc>
                <a:spcPts val="3068"/>
              </a:lnSpc>
              <a:spcBef>
                <a:spcPts val="0"/>
              </a:spcBef>
              <a:spcAft>
                <a:spcPts val="0"/>
              </a:spcAft>
              <a:defRPr sz="2600" b="0">
                <a:solidFill>
                  <a:srgbClr val="26332F"/>
                </a:solidFill>
                <a:latin typeface="Inter"/>
              </a:defRPr>
            </a:pPr>
            <a:r>
              <a:rPr lang="de-DE"/>
              <a:t>Reaktion: lautes Schreien, Werfen von</a:t>
            </a:r>
          </a:p>
          <a:p>
            <a:pPr>
              <a:lnSpc>
                <a:spcPts val="3068"/>
              </a:lnSpc>
              <a:spcBef>
                <a:spcPts val="0"/>
              </a:spcBef>
              <a:spcAft>
                <a:spcPts val="0"/>
              </a:spcAft>
              <a:defRPr sz="2600" b="0">
                <a:solidFill>
                  <a:srgbClr val="26332F"/>
                </a:solidFill>
                <a:latin typeface="Inter"/>
              </a:defRPr>
            </a:pPr>
            <a:r>
              <a:rPr lang="de-DE"/>
              <a:t>Gegenständen, Kontrollverlust,</a:t>
            </a:r>
          </a:p>
          <a:p>
            <a:pPr>
              <a:lnSpc>
                <a:spcPts val="3068"/>
              </a:lnSpc>
              <a:spcBef>
                <a:spcPts val="0"/>
              </a:spcBef>
              <a:spcAft>
                <a:spcPts val="0"/>
              </a:spcAft>
              <a:defRPr sz="2600" b="0">
                <a:solidFill>
                  <a:srgbClr val="26332F"/>
                </a:solidFill>
                <a:latin typeface="Inter"/>
              </a:defRPr>
            </a:pPr>
            <a:r>
              <a:rPr lang="de-DE"/>
              <a:t>Selbstverletzung, vermindertes</a:t>
            </a:r>
          </a:p>
          <a:p>
            <a:pPr>
              <a:lnSpc>
                <a:spcPts val="3068"/>
              </a:lnSpc>
              <a:spcBef>
                <a:spcPts val="0"/>
              </a:spcBef>
              <a:spcAft>
                <a:spcPts val="0"/>
              </a:spcAft>
              <a:defRPr sz="2600" b="0">
                <a:solidFill>
                  <a:srgbClr val="26332F"/>
                </a:solidFill>
                <a:latin typeface="Inter"/>
              </a:defRPr>
            </a:pPr>
            <a:r>
              <a:rPr lang="de-DE"/>
              <a:t>Schmerzempfinden</a:t>
            </a:r>
          </a:p>
        </p:txBody>
      </p:sp>
    </p:spTree>
  </p:cSld>
  <p:clrMapOvr>
    <a:masterClrMapping/>
  </p:clrMapOvr>
  <p:transition spd="fast" advClick="1">
    <p:fade/>
  </p:transition>
</p:sld>
</file>

<file path=ppt/slides/slide43.xml><?xml version="1.0" encoding="utf-8"?>
<p:sld xmlns:a="http://schemas.openxmlformats.org/drawingml/2006/main" xmlns:p="http://schemas.openxmlformats.org/presentationml/2006/main" xmlns:r="http://schemas.openxmlformats.org/officeDocument/2006/relationships" showMasterSp="1">
  <p:cSld>
    <p:bg>
      <p:bgPr>
        <a:solidFill>
          <a:srgbClr val="F7F5EF"/>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43</a:t>
            </a:r>
          </a:p>
        </p:txBody>
      </p:sp>
      <p:sp>
        <p:nvSpPr>
          <p:cNvPr id="3" name="Text 2"/>
          <p:cNvSpPr txBox="1"/>
          <p:nvPr/>
        </p:nvSpPr>
        <p:spPr>
          <a:xfrm>
            <a:off x="594360" y="393192"/>
            <a:ext cx="10881360" cy="203644"/>
          </a:xfrm>
          <a:prstGeom prst="rect">
            <a:avLst/>
          </a:prstGeom>
          <a:noFill/>
        </p:spPr>
        <p:txBody>
          <a:bodyPr wrap="none" lIns="0" rIns="0" tIns="0" bIns="0" anchor="t">
            <a:spAutoFit/>
          </a:bodyPr>
          <a:lstStyle/>
          <a:p>
            <a:pPr>
              <a:lnSpc>
                <a:spcPts val="1207"/>
              </a:lnSpc>
              <a:spcBef>
                <a:spcPts val="0"/>
              </a:spcBef>
              <a:spcAft>
                <a:spcPts val="0"/>
              </a:spcAft>
              <a:defRPr sz="1150" b="1">
                <a:solidFill>
                  <a:srgbClr val="234B42"/>
                </a:solidFill>
                <a:latin typeface="Inter"/>
              </a:defRPr>
            </a:pPr>
            <a:r>
              <a:rPr lang="de-DE"/>
              <a:t>BEGRIFFE DER ORIGINALVORLAGE</a:t>
            </a:r>
          </a:p>
        </p:txBody>
      </p:sp>
      <p:sp>
        <p:nvSpPr>
          <p:cNvPr id="4" name="Text 3"/>
          <p:cNvSpPr txBox="1"/>
          <p:nvPr/>
        </p:nvSpPr>
        <p:spPr>
          <a:xfrm>
            <a:off x="594360" y="804672"/>
            <a:ext cx="10991088"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Reizüberflutung · Overload</a:t>
            </a:r>
          </a:p>
        </p:txBody>
      </p:sp>
      <p:sp>
        <p:nvSpPr>
          <p:cNvPr id="5" name="Rounded Rectangle 4"/>
          <p:cNvSpPr/>
          <p:nvPr/>
        </p:nvSpPr>
        <p:spPr>
          <a:xfrm>
            <a:off x="594360" y="1644396"/>
            <a:ext cx="3657600" cy="4343400"/>
          </a:xfrm>
          <a:prstGeom prst="roundRect">
            <a:avLst>
              <a:gd name="adj" fmla="val 6500"/>
            </a:avLst>
          </a:prstGeom>
          <a:solidFill>
            <a:srgbClr val="E4EE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6" name="Icon · ear"/>
          <p:cNvGrpSpPr/>
          <p:nvPr/>
        </p:nvGrpSpPr>
        <p:grpSpPr>
          <a:xfrm>
            <a:off x="0" y="0"/>
            <a:ext cx="0" cy="0"/>
            <a:chOff x="0" y="0"/>
            <a:chExt cx="0" cy="0"/>
          </a:xfrm>
        </p:grpSpPr>
        <p:sp>
          <p:nvSpPr>
            <p:cNvPr id="7" name="Freeform 6"/>
            <p:cNvSpPr/>
            <p:nvPr/>
          </p:nvSpPr>
          <p:spPr>
            <a:xfrm>
              <a:off x="1226210" y="2210775"/>
              <a:ext cx="472745" cy="715152"/>
            </a:xfrm>
            <a:custGeom>
              <a:avLst/>
              <a:gdLst/>
              <a:ahLst/>
              <a:cxnLst/>
              <a:rect l="l" t="t" r="r" b="b"/>
              <a:pathLst>
                <a:path w="470" h="711">
                  <a:moveTo>
                    <a:pt x="0" y="236"/>
                  </a:moveTo>
                  <a:lnTo>
                    <a:pt x="2" y="180"/>
                  </a:lnTo>
                  <a:lnTo>
                    <a:pt x="14" y="131"/>
                  </a:lnTo>
                  <a:lnTo>
                    <a:pt x="36" y="91"/>
                  </a:lnTo>
                  <a:lnTo>
                    <a:pt x="65" y="57"/>
                  </a:lnTo>
                  <a:lnTo>
                    <a:pt x="100" y="32"/>
                  </a:lnTo>
                  <a:lnTo>
                    <a:pt x="140" y="14"/>
                  </a:lnTo>
                  <a:lnTo>
                    <a:pt x="183" y="3"/>
                  </a:lnTo>
                  <a:lnTo>
                    <a:pt x="228" y="0"/>
                  </a:lnTo>
                  <a:lnTo>
                    <a:pt x="272" y="4"/>
                  </a:lnTo>
                  <a:lnTo>
                    <a:pt x="316" y="15"/>
                  </a:lnTo>
                  <a:lnTo>
                    <a:pt x="357" y="34"/>
                  </a:lnTo>
                  <a:lnTo>
                    <a:pt x="394" y="60"/>
                  </a:lnTo>
                  <a:lnTo>
                    <a:pt x="425" y="93"/>
                  </a:lnTo>
                  <a:lnTo>
                    <a:pt x="449" y="134"/>
                  </a:lnTo>
                  <a:lnTo>
                    <a:pt x="465" y="181"/>
                  </a:lnTo>
                  <a:lnTo>
                    <a:pt x="470" y="236"/>
                  </a:lnTo>
                  <a:lnTo>
                    <a:pt x="468" y="273"/>
                  </a:lnTo>
                  <a:lnTo>
                    <a:pt x="461" y="306"/>
                  </a:lnTo>
                  <a:lnTo>
                    <a:pt x="451" y="334"/>
                  </a:lnTo>
                  <a:lnTo>
                    <a:pt x="439" y="360"/>
                  </a:lnTo>
                  <a:lnTo>
                    <a:pt x="423" y="383"/>
                  </a:lnTo>
                  <a:lnTo>
                    <a:pt x="406" y="403"/>
                  </a:lnTo>
                  <a:lnTo>
                    <a:pt x="388" y="422"/>
                  </a:lnTo>
                  <a:lnTo>
                    <a:pt x="369" y="440"/>
                  </a:lnTo>
                  <a:lnTo>
                    <a:pt x="350" y="457"/>
                  </a:lnTo>
                  <a:lnTo>
                    <a:pt x="331" y="474"/>
                  </a:lnTo>
                  <a:lnTo>
                    <a:pt x="313" y="492"/>
                  </a:lnTo>
                  <a:lnTo>
                    <a:pt x="297" y="510"/>
                  </a:lnTo>
                  <a:lnTo>
                    <a:pt x="283" y="530"/>
                  </a:lnTo>
                  <a:lnTo>
                    <a:pt x="272" y="553"/>
                  </a:lnTo>
                  <a:lnTo>
                    <a:pt x="264" y="578"/>
                  </a:lnTo>
                  <a:lnTo>
                    <a:pt x="260" y="606"/>
                  </a:lnTo>
                  <a:lnTo>
                    <a:pt x="256" y="629"/>
                  </a:lnTo>
                  <a:lnTo>
                    <a:pt x="248" y="649"/>
                  </a:lnTo>
                  <a:lnTo>
                    <a:pt x="237" y="667"/>
                  </a:lnTo>
                  <a:lnTo>
                    <a:pt x="222" y="682"/>
                  </a:lnTo>
                  <a:lnTo>
                    <a:pt x="206" y="694"/>
                  </a:lnTo>
                  <a:lnTo>
                    <a:pt x="188" y="703"/>
                  </a:lnTo>
                  <a:lnTo>
                    <a:pt x="168" y="708"/>
                  </a:lnTo>
                  <a:lnTo>
                    <a:pt x="148" y="711"/>
                  </a:lnTo>
                  <a:lnTo>
                    <a:pt x="127" y="710"/>
                  </a:lnTo>
                  <a:lnTo>
                    <a:pt x="106" y="706"/>
                  </a:lnTo>
                  <a:lnTo>
                    <a:pt x="87" y="699"/>
                  </a:lnTo>
                  <a:lnTo>
                    <a:pt x="69" y="688"/>
                  </a:lnTo>
                  <a:lnTo>
                    <a:pt x="52" y="673"/>
                  </a:lnTo>
                  <a:lnTo>
                    <a:pt x="39" y="654"/>
                  </a:lnTo>
                  <a:lnTo>
                    <a:pt x="28" y="632"/>
                  </a:lnTo>
                  <a:lnTo>
                    <a:pt x="20" y="606"/>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346911" y="2318400"/>
              <a:ext cx="221285" cy="411389"/>
            </a:xfrm>
            <a:custGeom>
              <a:avLst/>
              <a:gdLst/>
              <a:ahLst/>
              <a:cxnLst/>
              <a:rect l="l" t="t" r="r" b="b"/>
              <a:pathLst>
                <a:path w="220" h="409">
                  <a:moveTo>
                    <a:pt x="0" y="119"/>
                  </a:moveTo>
                  <a:lnTo>
                    <a:pt x="1" y="91"/>
                  </a:lnTo>
                  <a:lnTo>
                    <a:pt x="7" y="67"/>
                  </a:lnTo>
                  <a:lnTo>
                    <a:pt x="17" y="46"/>
                  </a:lnTo>
                  <a:lnTo>
                    <a:pt x="30" y="29"/>
                  </a:lnTo>
                  <a:lnTo>
                    <a:pt x="47" y="16"/>
                  </a:lnTo>
                  <a:lnTo>
                    <a:pt x="65" y="7"/>
                  </a:lnTo>
                  <a:lnTo>
                    <a:pt x="85" y="2"/>
                  </a:lnTo>
                  <a:lnTo>
                    <a:pt x="106" y="0"/>
                  </a:lnTo>
                  <a:lnTo>
                    <a:pt x="127" y="3"/>
                  </a:lnTo>
                  <a:lnTo>
                    <a:pt x="148" y="9"/>
                  </a:lnTo>
                  <a:lnTo>
                    <a:pt x="167" y="19"/>
                  </a:lnTo>
                  <a:lnTo>
                    <a:pt x="184" y="33"/>
                  </a:lnTo>
                  <a:lnTo>
                    <a:pt x="199" y="51"/>
                  </a:lnTo>
                  <a:lnTo>
                    <a:pt x="210" y="73"/>
                  </a:lnTo>
                  <a:lnTo>
                    <a:pt x="217" y="99"/>
                  </a:lnTo>
                  <a:lnTo>
                    <a:pt x="220" y="129"/>
                  </a:lnTo>
                  <a:lnTo>
                    <a:pt x="219" y="147"/>
                  </a:lnTo>
                  <a:lnTo>
                    <a:pt x="215" y="163"/>
                  </a:lnTo>
                  <a:lnTo>
                    <a:pt x="209" y="177"/>
                  </a:lnTo>
                  <a:lnTo>
                    <a:pt x="200" y="189"/>
                  </a:lnTo>
                  <a:lnTo>
                    <a:pt x="190" y="200"/>
                  </a:lnTo>
                  <a:lnTo>
                    <a:pt x="179" y="210"/>
                  </a:lnTo>
                  <a:lnTo>
                    <a:pt x="166" y="219"/>
                  </a:lnTo>
                  <a:lnTo>
                    <a:pt x="152" y="228"/>
                  </a:lnTo>
                  <a:lnTo>
                    <a:pt x="138" y="235"/>
                  </a:lnTo>
                  <a:lnTo>
                    <a:pt x="123" y="243"/>
                  </a:lnTo>
                  <a:lnTo>
                    <a:pt x="108" y="250"/>
                  </a:lnTo>
                  <a:lnTo>
                    <a:pt x="93" y="257"/>
                  </a:lnTo>
                  <a:lnTo>
                    <a:pt x="79" y="264"/>
                  </a:lnTo>
                  <a:lnTo>
                    <a:pt x="65" y="272"/>
                  </a:lnTo>
                  <a:lnTo>
                    <a:pt x="52" y="280"/>
                  </a:lnTo>
                  <a:lnTo>
                    <a:pt x="40" y="289"/>
                  </a:lnTo>
                  <a:lnTo>
                    <a:pt x="31" y="297"/>
                  </a:lnTo>
                  <a:lnTo>
                    <a:pt x="24" y="305"/>
                  </a:lnTo>
                  <a:lnTo>
                    <a:pt x="19" y="314"/>
                  </a:lnTo>
                  <a:lnTo>
                    <a:pt x="15" y="323"/>
                  </a:lnTo>
                  <a:lnTo>
                    <a:pt x="13" y="333"/>
                  </a:lnTo>
                  <a:lnTo>
                    <a:pt x="12" y="342"/>
                  </a:lnTo>
                  <a:lnTo>
                    <a:pt x="12" y="351"/>
                  </a:lnTo>
                  <a:lnTo>
                    <a:pt x="14" y="360"/>
                  </a:lnTo>
                  <a:lnTo>
                    <a:pt x="17" y="369"/>
                  </a:lnTo>
                  <a:lnTo>
                    <a:pt x="21" y="377"/>
                  </a:lnTo>
                  <a:lnTo>
                    <a:pt x="26" y="385"/>
                  </a:lnTo>
                  <a:lnTo>
                    <a:pt x="33" y="392"/>
                  </a:lnTo>
                  <a:lnTo>
                    <a:pt x="41" y="398"/>
                  </a:lnTo>
                  <a:lnTo>
                    <a:pt x="49" y="403"/>
                  </a:lnTo>
                  <a:lnTo>
                    <a:pt x="59" y="406"/>
                  </a:lnTo>
                  <a:lnTo>
                    <a:pt x="70" y="409"/>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1055218" y="2448154"/>
              <a:ext cx="40234" cy="60350"/>
            </a:xfrm>
            <a:custGeom>
              <a:avLst/>
              <a:gdLst/>
              <a:ahLst/>
              <a:cxnLst/>
              <a:rect l="l" t="t" r="r" b="b"/>
              <a:pathLst>
                <a:path w="40" h="60">
                  <a:moveTo>
                    <a:pt x="40" y="0"/>
                  </a:moveTo>
                  <a:lnTo>
                    <a:pt x="0" y="60"/>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1025042" y="2414961"/>
              <a:ext cx="36210" cy="215250"/>
            </a:xfrm>
            <a:custGeom>
              <a:avLst/>
              <a:gdLst/>
              <a:ahLst/>
              <a:cxnLst/>
              <a:rect l="l" t="t" r="r" b="b"/>
              <a:pathLst>
                <a:path w="36" h="214">
                  <a:moveTo>
                    <a:pt x="36" y="214"/>
                  </a:moveTo>
                  <a:lnTo>
                    <a:pt x="26" y="198"/>
                  </a:lnTo>
                  <a:lnTo>
                    <a:pt x="17" y="181"/>
                  </a:lnTo>
                  <a:lnTo>
                    <a:pt x="10" y="164"/>
                  </a:lnTo>
                  <a:lnTo>
                    <a:pt x="5" y="146"/>
                  </a:lnTo>
                  <a:lnTo>
                    <a:pt x="1" y="127"/>
                  </a:lnTo>
                  <a:lnTo>
                    <a:pt x="0" y="108"/>
                  </a:lnTo>
                  <a:lnTo>
                    <a:pt x="1" y="89"/>
                  </a:lnTo>
                  <a:lnTo>
                    <a:pt x="3" y="70"/>
                  </a:lnTo>
                  <a:lnTo>
                    <a:pt x="7" y="51"/>
                  </a:lnTo>
                  <a:lnTo>
                    <a:pt x="13" y="33"/>
                  </a:lnTo>
                  <a:lnTo>
                    <a:pt x="21" y="16"/>
                  </a:lnTo>
                  <a:lnTo>
                    <a:pt x="31" y="0"/>
                  </a:lnTo>
                </a:path>
              </a:pathLst>
            </a:custGeom>
            <a:noFill/>
            <a:ln w="25400" cap="rnd">
              <a:solidFill>
                <a:srgbClr val="234B42"/>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11" name="Text 6"/>
          <p:cNvSpPr txBox="1"/>
          <p:nvPr/>
        </p:nvSpPr>
        <p:spPr>
          <a:xfrm>
            <a:off x="914400" y="3473196"/>
            <a:ext cx="3017520" cy="514858"/>
          </a:xfrm>
          <a:prstGeom prst="rect">
            <a:avLst/>
          </a:prstGeom>
          <a:noFill/>
        </p:spPr>
        <p:txBody>
          <a:bodyPr wrap="none" lIns="0" rIns="0" tIns="0" bIns="0" anchor="t">
            <a:spAutoFit/>
          </a:bodyPr>
          <a:lstStyle/>
          <a:p>
            <a:pPr>
              <a:lnSpc>
                <a:spcPts val="3658"/>
              </a:lnSpc>
              <a:spcBef>
                <a:spcPts val="0"/>
              </a:spcBef>
              <a:spcAft>
                <a:spcPts val="0"/>
              </a:spcAft>
              <a:defRPr sz="3100" b="1">
                <a:solidFill>
                  <a:srgbClr val="234B42"/>
                </a:solidFill>
                <a:latin typeface="Manrope"/>
              </a:defRPr>
            </a:pPr>
            <a:r>
              <a:rPr lang="de-DE"/>
              <a:t>Overload</a:t>
            </a:r>
          </a:p>
        </p:txBody>
      </p:sp>
      <p:sp>
        <p:nvSpPr>
          <p:cNvPr id="12" name="Text 7"/>
          <p:cNvSpPr txBox="1"/>
          <p:nvPr/>
        </p:nvSpPr>
        <p:spPr>
          <a:xfrm>
            <a:off x="914400" y="4296156"/>
            <a:ext cx="3017520" cy="1371600"/>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34B42"/>
                </a:solidFill>
                <a:latin typeface="Inter"/>
              </a:defRPr>
            </a:pPr>
            <a:r>
              <a:rPr lang="de-DE"/>
              <a:t>→ Folge eines Overloads</a:t>
            </a:r>
          </a:p>
        </p:txBody>
      </p:sp>
      <p:sp>
        <p:nvSpPr>
          <p:cNvPr id="13" name="Rectangle 12"/>
          <p:cNvSpPr/>
          <p:nvPr/>
        </p:nvSpPr>
        <p:spPr>
          <a:xfrm>
            <a:off x="4681728" y="2124456"/>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9"/>
          <p:cNvSpPr txBox="1"/>
          <p:nvPr/>
        </p:nvSpPr>
        <p:spPr>
          <a:xfrm>
            <a:off x="4901184" y="2001012"/>
            <a:ext cx="6291072" cy="439928"/>
          </a:xfrm>
          <a:prstGeom prst="rect">
            <a:avLst/>
          </a:prstGeom>
          <a:noFill/>
        </p:spPr>
        <p:txBody>
          <a:bodyPr wrap="none" lIns="0" rIns="0" tIns="0" bIns="0" anchor="t">
            <a:spAutoFit/>
          </a:bodyPr>
          <a:lstStyle/>
          <a:p>
            <a:pPr>
              <a:lnSpc>
                <a:spcPts val="3068"/>
              </a:lnSpc>
              <a:spcBef>
                <a:spcPts val="0"/>
              </a:spcBef>
              <a:spcAft>
                <a:spcPts val="0"/>
              </a:spcAft>
              <a:defRPr sz="2600" b="0">
                <a:solidFill>
                  <a:srgbClr val="26332F"/>
                </a:solidFill>
                <a:latin typeface="Inter"/>
              </a:defRPr>
            </a:pPr>
            <a:r>
              <a:rPr lang="de-DE"/>
              <a:t>Erscheinungsbild: Wutausbruch</a:t>
            </a:r>
          </a:p>
        </p:txBody>
      </p:sp>
      <p:sp>
        <p:nvSpPr>
          <p:cNvPr id="15" name="Rectangle 14"/>
          <p:cNvSpPr/>
          <p:nvPr/>
        </p:nvSpPr>
        <p:spPr>
          <a:xfrm>
            <a:off x="4681728" y="2985008"/>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11"/>
          <p:cNvSpPr txBox="1"/>
          <p:nvPr/>
        </p:nvSpPr>
        <p:spPr>
          <a:xfrm>
            <a:off x="4901184" y="2861564"/>
            <a:ext cx="6291072" cy="1608836"/>
          </a:xfrm>
          <a:prstGeom prst="rect">
            <a:avLst/>
          </a:prstGeom>
          <a:noFill/>
        </p:spPr>
        <p:txBody>
          <a:bodyPr wrap="none" lIns="0" rIns="0" tIns="0" bIns="0" anchor="t">
            <a:spAutoFit/>
          </a:bodyPr>
          <a:lstStyle/>
          <a:p>
            <a:pPr>
              <a:lnSpc>
                <a:spcPts val="3068"/>
              </a:lnSpc>
              <a:spcBef>
                <a:spcPts val="0"/>
              </a:spcBef>
              <a:spcAft>
                <a:spcPts val="0"/>
              </a:spcAft>
              <a:defRPr sz="2600" b="0">
                <a:solidFill>
                  <a:srgbClr val="26332F"/>
                </a:solidFill>
                <a:latin typeface="Inter"/>
              </a:defRPr>
            </a:pPr>
            <a:r>
              <a:rPr lang="de-DE"/>
              <a:t>Reaktion: lautes Schreien, Werfen von</a:t>
            </a:r>
          </a:p>
          <a:p>
            <a:pPr>
              <a:lnSpc>
                <a:spcPts val="3068"/>
              </a:lnSpc>
              <a:spcBef>
                <a:spcPts val="0"/>
              </a:spcBef>
              <a:spcAft>
                <a:spcPts val="0"/>
              </a:spcAft>
              <a:defRPr sz="2600" b="0">
                <a:solidFill>
                  <a:srgbClr val="26332F"/>
                </a:solidFill>
                <a:latin typeface="Inter"/>
              </a:defRPr>
            </a:pPr>
            <a:r>
              <a:rPr lang="de-DE"/>
              <a:t>Gegenständen, Kontrollverlust,</a:t>
            </a:r>
          </a:p>
          <a:p>
            <a:pPr>
              <a:lnSpc>
                <a:spcPts val="3068"/>
              </a:lnSpc>
              <a:spcBef>
                <a:spcPts val="0"/>
              </a:spcBef>
              <a:spcAft>
                <a:spcPts val="0"/>
              </a:spcAft>
              <a:defRPr sz="2600" b="0">
                <a:solidFill>
                  <a:srgbClr val="26332F"/>
                </a:solidFill>
                <a:latin typeface="Inter"/>
              </a:defRPr>
            </a:pPr>
            <a:r>
              <a:rPr lang="de-DE"/>
              <a:t>Selbstverletzung, vermindertes</a:t>
            </a:r>
          </a:p>
          <a:p>
            <a:pPr>
              <a:lnSpc>
                <a:spcPts val="3068"/>
              </a:lnSpc>
              <a:spcBef>
                <a:spcPts val="0"/>
              </a:spcBef>
              <a:spcAft>
                <a:spcPts val="0"/>
              </a:spcAft>
              <a:defRPr sz="2600" b="0">
                <a:solidFill>
                  <a:srgbClr val="26332F"/>
                </a:solidFill>
                <a:latin typeface="Inter"/>
              </a:defRPr>
            </a:pPr>
            <a:r>
              <a:rPr lang="de-DE"/>
              <a:t>Schmerzempfinden</a:t>
            </a:r>
          </a:p>
        </p:txBody>
      </p:sp>
    </p:spTree>
  </p:cSld>
  <p:clrMapOvr>
    <a:masterClrMapping/>
  </p:clrMapOvr>
  <p:transition spd="fast" advClick="1">
    <p:fade/>
  </p:transition>
</p:sld>
</file>

<file path=ppt/slides/slide44.xml><?xml version="1.0" encoding="utf-8"?>
<p:sld xmlns:a="http://schemas.openxmlformats.org/drawingml/2006/main" xmlns:p="http://schemas.openxmlformats.org/presentationml/2006/main" xmlns:r="http://schemas.openxmlformats.org/officeDocument/2006/relationships" showMasterSp="1">
  <p:cSld>
    <p:bg>
      <p:bgPr>
        <a:solidFill>
          <a:srgbClr val="F7F5EF"/>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44</a:t>
            </a:r>
          </a:p>
        </p:txBody>
      </p:sp>
      <p:sp>
        <p:nvSpPr>
          <p:cNvPr id="3" name="Text 2"/>
          <p:cNvSpPr txBox="1"/>
          <p:nvPr/>
        </p:nvSpPr>
        <p:spPr>
          <a:xfrm>
            <a:off x="594360" y="393192"/>
            <a:ext cx="10881360" cy="203644"/>
          </a:xfrm>
          <a:prstGeom prst="rect">
            <a:avLst/>
          </a:prstGeom>
          <a:noFill/>
        </p:spPr>
        <p:txBody>
          <a:bodyPr wrap="none" lIns="0" rIns="0" tIns="0" bIns="0" anchor="t">
            <a:spAutoFit/>
          </a:bodyPr>
          <a:lstStyle/>
          <a:p>
            <a:pPr>
              <a:lnSpc>
                <a:spcPts val="1207"/>
              </a:lnSpc>
              <a:spcBef>
                <a:spcPts val="0"/>
              </a:spcBef>
              <a:spcAft>
                <a:spcPts val="0"/>
              </a:spcAft>
              <a:defRPr sz="1150" b="1">
                <a:solidFill>
                  <a:srgbClr val="234B42"/>
                </a:solidFill>
                <a:latin typeface="Inter"/>
              </a:defRPr>
            </a:pPr>
            <a:r>
              <a:rPr lang="de-DE"/>
              <a:t>VERSTEHEN ERLEICHTERN</a:t>
            </a:r>
          </a:p>
        </p:txBody>
      </p:sp>
      <p:sp>
        <p:nvSpPr>
          <p:cNvPr id="4" name="Text 3"/>
          <p:cNvSpPr txBox="1"/>
          <p:nvPr/>
        </p:nvSpPr>
        <p:spPr>
          <a:xfrm>
            <a:off x="594360" y="804672"/>
            <a:ext cx="10991088"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Verständliche Kommunikation</a:t>
            </a:r>
          </a:p>
        </p:txBody>
      </p:sp>
      <p:sp>
        <p:nvSpPr>
          <p:cNvPr id="5" name="Rounded Rectangle 4"/>
          <p:cNvSpPr/>
          <p:nvPr/>
        </p:nvSpPr>
        <p:spPr>
          <a:xfrm>
            <a:off x="594360" y="1644396"/>
            <a:ext cx="5358384" cy="4372356"/>
          </a:xfrm>
          <a:prstGeom prst="roundRect">
            <a:avLst>
              <a:gd name="adj" fmla="val 6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644396"/>
            <a:ext cx="5358384" cy="59436"/>
          </a:xfrm>
          <a:prstGeom prst="rect">
            <a:avLst/>
          </a:prstGeom>
          <a:solidFill>
            <a:srgbClr val="B9AE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6"/>
          <p:cNvSpPr txBox="1"/>
          <p:nvPr/>
        </p:nvSpPr>
        <p:spPr>
          <a:xfrm>
            <a:off x="886968" y="1937003"/>
            <a:ext cx="4773168" cy="409956"/>
          </a:xfrm>
          <a:prstGeom prst="rect">
            <a:avLst/>
          </a:prstGeom>
          <a:noFill/>
        </p:spPr>
        <p:txBody>
          <a:bodyPr wrap="none" lIns="0" rIns="0" tIns="0" bIns="0" anchor="t">
            <a:spAutoFit/>
          </a:bodyPr>
          <a:lstStyle/>
          <a:p>
            <a:pPr>
              <a:lnSpc>
                <a:spcPts val="2832"/>
              </a:lnSpc>
              <a:spcBef>
                <a:spcPts val="0"/>
              </a:spcBef>
              <a:spcAft>
                <a:spcPts val="0"/>
              </a:spcAft>
              <a:defRPr sz="2400" b="1">
                <a:solidFill>
                  <a:srgbClr val="234B42"/>
                </a:solidFill>
                <a:latin typeface="Manrope"/>
              </a:defRPr>
            </a:pPr>
            <a:r>
              <a:rPr lang="de-DE"/>
              <a:t>Was wir sagen</a:t>
            </a:r>
          </a:p>
        </p:txBody>
      </p:sp>
      <p:sp>
        <p:nvSpPr>
          <p:cNvPr id="8" name="Rectangle 7"/>
          <p:cNvSpPr/>
          <p:nvPr/>
        </p:nvSpPr>
        <p:spPr>
          <a:xfrm>
            <a:off x="886968" y="2799588"/>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8"/>
          <p:cNvSpPr txBox="1"/>
          <p:nvPr/>
        </p:nvSpPr>
        <p:spPr>
          <a:xfrm>
            <a:off x="1106424" y="2676143"/>
            <a:ext cx="4553712" cy="394969"/>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26332F"/>
                </a:solidFill>
                <a:latin typeface="Inter"/>
              </a:defRPr>
            </a:pPr>
            <a:r>
              <a:rPr lang="de-DE"/>
              <a:t>Konkrete und kurze Aussagen</a:t>
            </a:r>
          </a:p>
        </p:txBody>
      </p:sp>
      <p:sp>
        <p:nvSpPr>
          <p:cNvPr id="10" name="Rectangle 9"/>
          <p:cNvSpPr/>
          <p:nvPr/>
        </p:nvSpPr>
        <p:spPr>
          <a:xfrm>
            <a:off x="886968" y="3468877"/>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10"/>
          <p:cNvSpPr txBox="1"/>
          <p:nvPr/>
        </p:nvSpPr>
        <p:spPr>
          <a:xfrm>
            <a:off x="1106424" y="3345433"/>
            <a:ext cx="4553712" cy="394969"/>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26332F"/>
                </a:solidFill>
                <a:latin typeface="Inter"/>
              </a:defRPr>
            </a:pPr>
            <a:r>
              <a:rPr lang="de-DE"/>
              <a:t>Ein erster Handlungsschritt</a:t>
            </a:r>
          </a:p>
        </p:txBody>
      </p:sp>
      <p:sp>
        <p:nvSpPr>
          <p:cNvPr id="12" name="Rectangle 11"/>
          <p:cNvSpPr/>
          <p:nvPr/>
        </p:nvSpPr>
        <p:spPr>
          <a:xfrm>
            <a:off x="886968" y="4138167"/>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12"/>
          <p:cNvSpPr txBox="1"/>
          <p:nvPr/>
        </p:nvSpPr>
        <p:spPr>
          <a:xfrm>
            <a:off x="1106424" y="4014724"/>
            <a:ext cx="4553712" cy="394969"/>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26332F"/>
                </a:solidFill>
                <a:latin typeface="Inter"/>
              </a:defRPr>
            </a:pPr>
            <a:r>
              <a:rPr lang="de-DE"/>
              <a:t>Erkennbare Wahlmöglichkeiten</a:t>
            </a:r>
          </a:p>
        </p:txBody>
      </p:sp>
      <p:sp>
        <p:nvSpPr>
          <p:cNvPr id="14" name="Rounded Rectangle 13"/>
          <p:cNvSpPr/>
          <p:nvPr/>
        </p:nvSpPr>
        <p:spPr>
          <a:xfrm>
            <a:off x="6236208" y="1644396"/>
            <a:ext cx="5358384" cy="4372356"/>
          </a:xfrm>
          <a:prstGeom prst="roundRect">
            <a:avLst>
              <a:gd name="adj" fmla="val 6500"/>
            </a:avLst>
          </a:prstGeom>
          <a:solidFill>
            <a:srgbClr val="E9EE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6208" y="1644396"/>
            <a:ext cx="5358384" cy="59436"/>
          </a:xfrm>
          <a:prstGeom prst="rect">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15"/>
          <p:cNvSpPr txBox="1"/>
          <p:nvPr/>
        </p:nvSpPr>
        <p:spPr>
          <a:xfrm>
            <a:off x="6528816" y="1937003"/>
            <a:ext cx="4773168" cy="409956"/>
          </a:xfrm>
          <a:prstGeom prst="rect">
            <a:avLst/>
          </a:prstGeom>
          <a:noFill/>
        </p:spPr>
        <p:txBody>
          <a:bodyPr wrap="none" lIns="0" rIns="0" tIns="0" bIns="0" anchor="t">
            <a:spAutoFit/>
          </a:bodyPr>
          <a:lstStyle/>
          <a:p>
            <a:pPr>
              <a:lnSpc>
                <a:spcPts val="2832"/>
              </a:lnSpc>
              <a:spcBef>
                <a:spcPts val="0"/>
              </a:spcBef>
              <a:spcAft>
                <a:spcPts val="0"/>
              </a:spcAft>
              <a:defRPr sz="2400" b="1">
                <a:solidFill>
                  <a:srgbClr val="234B42"/>
                </a:solidFill>
                <a:latin typeface="Manrope"/>
              </a:defRPr>
            </a:pPr>
            <a:r>
              <a:rPr lang="de-DE"/>
              <a:t>Wie wir begleiten</a:t>
            </a:r>
          </a:p>
        </p:txBody>
      </p:sp>
      <p:sp>
        <p:nvSpPr>
          <p:cNvPr id="17" name="Rectangle 16"/>
          <p:cNvSpPr/>
          <p:nvPr/>
        </p:nvSpPr>
        <p:spPr>
          <a:xfrm>
            <a:off x="6528816" y="2799588"/>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17"/>
          <p:cNvSpPr txBox="1"/>
          <p:nvPr/>
        </p:nvSpPr>
        <p:spPr>
          <a:xfrm>
            <a:off x="6748272" y="2676143"/>
            <a:ext cx="4553712" cy="394969"/>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26332F"/>
                </a:solidFill>
                <a:latin typeface="Inter"/>
              </a:defRPr>
            </a:pPr>
            <a:r>
              <a:rPr lang="de-DE"/>
              <a:t>Zeit zur Verarbeitung</a:t>
            </a:r>
          </a:p>
        </p:txBody>
      </p:sp>
      <p:sp>
        <p:nvSpPr>
          <p:cNvPr id="19" name="Rectangle 18"/>
          <p:cNvSpPr/>
          <p:nvPr/>
        </p:nvSpPr>
        <p:spPr>
          <a:xfrm>
            <a:off x="6528816" y="3468877"/>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 19"/>
          <p:cNvSpPr txBox="1"/>
          <p:nvPr/>
        </p:nvSpPr>
        <p:spPr>
          <a:xfrm>
            <a:off x="6748272" y="3345433"/>
            <a:ext cx="4553712" cy="394969"/>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26332F"/>
                </a:solidFill>
                <a:latin typeface="Inter"/>
              </a:defRPr>
            </a:pPr>
            <a:r>
              <a:rPr lang="de-DE"/>
              <a:t>Zeigen oder gemeinsam beginnen</a:t>
            </a:r>
          </a:p>
        </p:txBody>
      </p:sp>
      <p:sp>
        <p:nvSpPr>
          <p:cNvPr id="21" name="Rectangle 20"/>
          <p:cNvSpPr/>
          <p:nvPr/>
        </p:nvSpPr>
        <p:spPr>
          <a:xfrm>
            <a:off x="6528816" y="4138167"/>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 21"/>
          <p:cNvSpPr txBox="1"/>
          <p:nvPr/>
        </p:nvSpPr>
        <p:spPr>
          <a:xfrm>
            <a:off x="6748272" y="4014724"/>
            <a:ext cx="4553712" cy="739648"/>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26332F"/>
                </a:solidFill>
                <a:latin typeface="Inter"/>
              </a:defRPr>
            </a:pPr>
            <a:r>
              <a:rPr lang="de-DE"/>
              <a:t>Antworten auch über Gesten und</a:t>
            </a:r>
          </a:p>
          <a:p>
            <a:pPr>
              <a:lnSpc>
                <a:spcPts val="2713"/>
              </a:lnSpc>
              <a:spcBef>
                <a:spcPts val="0"/>
              </a:spcBef>
              <a:spcAft>
                <a:spcPts val="0"/>
              </a:spcAft>
              <a:defRPr sz="2300" b="0">
                <a:solidFill>
                  <a:srgbClr val="26332F"/>
                </a:solidFill>
                <a:latin typeface="Inter"/>
              </a:defRPr>
            </a:pPr>
            <a:r>
              <a:rPr lang="de-DE"/>
              <a:t>Bilder wahrnehmen</a:t>
            </a:r>
          </a:p>
        </p:txBody>
      </p:sp>
    </p:spTree>
  </p:cSld>
  <p:clrMapOvr>
    <a:masterClrMapping/>
  </p:clrMapOvr>
  <p:transition spd="fast" advClick="1">
    <p:fade/>
  </p:transition>
</p:sld>
</file>

<file path=ppt/slides/slide45.xml><?xml version="1.0" encoding="utf-8"?>
<p:sld xmlns:a="http://schemas.openxmlformats.org/drawingml/2006/main" xmlns:p="http://schemas.openxmlformats.org/presentationml/2006/main" xmlns:r="http://schemas.openxmlformats.org/officeDocument/2006/relationships" showMasterSp="1">
  <p:cSld>
    <p:bg>
      <p:bgPr>
        <a:solidFill>
          <a:srgbClr val="F7F5EF"/>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45</a:t>
            </a:r>
          </a:p>
        </p:txBody>
      </p:sp>
      <p:sp>
        <p:nvSpPr>
          <p:cNvPr id="3" name="Text 2"/>
          <p:cNvSpPr txBox="1"/>
          <p:nvPr/>
        </p:nvSpPr>
        <p:spPr>
          <a:xfrm>
            <a:off x="594360" y="393192"/>
            <a:ext cx="10881360" cy="203644"/>
          </a:xfrm>
          <a:prstGeom prst="rect">
            <a:avLst/>
          </a:prstGeom>
          <a:noFill/>
        </p:spPr>
        <p:txBody>
          <a:bodyPr wrap="none" lIns="0" rIns="0" tIns="0" bIns="0" anchor="t">
            <a:spAutoFit/>
          </a:bodyPr>
          <a:lstStyle/>
          <a:p>
            <a:pPr>
              <a:lnSpc>
                <a:spcPts val="1207"/>
              </a:lnSpc>
              <a:spcBef>
                <a:spcPts val="0"/>
              </a:spcBef>
              <a:spcAft>
                <a:spcPts val="0"/>
              </a:spcAft>
              <a:defRPr sz="1150" b="1">
                <a:solidFill>
                  <a:srgbClr val="234B42"/>
                </a:solidFill>
                <a:latin typeface="Inter"/>
              </a:defRPr>
            </a:pPr>
            <a:r>
              <a:rPr lang="de-DE"/>
              <a:t>KOMMUNIKATIONSWEGE ERWEITERN</a:t>
            </a:r>
          </a:p>
        </p:txBody>
      </p:sp>
      <p:sp>
        <p:nvSpPr>
          <p:cNvPr id="4" name="Text 3"/>
          <p:cNvSpPr txBox="1"/>
          <p:nvPr/>
        </p:nvSpPr>
        <p:spPr>
          <a:xfrm>
            <a:off x="594360" y="804672"/>
            <a:ext cx="10991088"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Unterstützte Kommunikation</a:t>
            </a:r>
          </a:p>
        </p:txBody>
      </p:sp>
      <p:sp>
        <p:nvSpPr>
          <p:cNvPr id="5" name="Rounded Rectangle 4"/>
          <p:cNvSpPr/>
          <p:nvPr/>
        </p:nvSpPr>
        <p:spPr>
          <a:xfrm>
            <a:off x="594360" y="1644396"/>
            <a:ext cx="5385816" cy="1802130"/>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644396"/>
            <a:ext cx="50292" cy="1802130"/>
          </a:xfrm>
          <a:prstGeom prst="rect">
            <a:avLst/>
          </a:prstGeom>
          <a:solidFill>
            <a:srgbClr val="B9AE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6"/>
          <p:cNvSpPr txBox="1"/>
          <p:nvPr/>
        </p:nvSpPr>
        <p:spPr>
          <a:xfrm>
            <a:off x="850392" y="1854708"/>
            <a:ext cx="4873752" cy="315785"/>
          </a:xfrm>
          <a:prstGeom prst="rect">
            <a:avLst/>
          </a:prstGeom>
          <a:noFill/>
        </p:spPr>
        <p:txBody>
          <a:bodyPr wrap="none" lIns="0" rIns="0" tIns="0" bIns="0" anchor="t">
            <a:spAutoFit/>
          </a:bodyPr>
          <a:lstStyle/>
          <a:p>
            <a:pPr>
              <a:lnSpc>
                <a:spcPts val="2090"/>
              </a:lnSpc>
              <a:spcBef>
                <a:spcPts val="0"/>
              </a:spcBef>
              <a:spcAft>
                <a:spcPts val="0"/>
              </a:spcAft>
              <a:defRPr sz="1850" b="1">
                <a:solidFill>
                  <a:srgbClr val="234B42"/>
                </a:solidFill>
                <a:latin typeface="Manrope"/>
              </a:defRPr>
            </a:pPr>
            <a:r>
              <a:rPr lang="de-DE"/>
              <a:t>Wege</a:t>
            </a:r>
          </a:p>
        </p:txBody>
      </p:sp>
      <p:sp>
        <p:nvSpPr>
          <p:cNvPr id="8" name="Text 7"/>
          <p:cNvSpPr txBox="1"/>
          <p:nvPr/>
        </p:nvSpPr>
        <p:spPr>
          <a:xfrm>
            <a:off x="850392" y="2298509"/>
            <a:ext cx="4873752" cy="983424"/>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6332F"/>
                </a:solidFill>
                <a:latin typeface="Inter"/>
              </a:defRPr>
            </a:pPr>
            <a:r>
              <a:rPr lang="de-DE"/>
              <a:t>Kommunikation kann über Gesten, Bilder,</a:t>
            </a:r>
          </a:p>
          <a:p>
            <a:pPr>
              <a:lnSpc>
                <a:spcPts val="2419"/>
              </a:lnSpc>
              <a:spcBef>
                <a:spcPts val="0"/>
              </a:spcBef>
              <a:spcAft>
                <a:spcPts val="0"/>
              </a:spcAft>
              <a:defRPr sz="2050" b="0">
                <a:solidFill>
                  <a:srgbClr val="26332F"/>
                </a:solidFill>
                <a:latin typeface="Inter"/>
              </a:defRPr>
            </a:pPr>
            <a:r>
              <a:rPr lang="de-DE"/>
              <a:t>Gegenstände oder Hilfsmittel erfolgen</a:t>
            </a:r>
          </a:p>
        </p:txBody>
      </p:sp>
      <p:sp>
        <p:nvSpPr>
          <p:cNvPr id="9" name="Rounded Rectangle 8"/>
          <p:cNvSpPr/>
          <p:nvPr/>
        </p:nvSpPr>
        <p:spPr>
          <a:xfrm>
            <a:off x="6208776" y="1644396"/>
            <a:ext cx="5385816" cy="1802130"/>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08776" y="1644396"/>
            <a:ext cx="50292" cy="1802130"/>
          </a:xfrm>
          <a:prstGeom prst="rect">
            <a:avLst/>
          </a:prstGeom>
          <a:solidFill>
            <a:srgbClr val="B9AE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10"/>
          <p:cNvSpPr txBox="1"/>
          <p:nvPr/>
        </p:nvSpPr>
        <p:spPr>
          <a:xfrm>
            <a:off x="6464808" y="1854708"/>
            <a:ext cx="4873752" cy="315785"/>
          </a:xfrm>
          <a:prstGeom prst="rect">
            <a:avLst/>
          </a:prstGeom>
          <a:noFill/>
        </p:spPr>
        <p:txBody>
          <a:bodyPr wrap="none" lIns="0" rIns="0" tIns="0" bIns="0" anchor="t">
            <a:spAutoFit/>
          </a:bodyPr>
          <a:lstStyle/>
          <a:p>
            <a:pPr>
              <a:lnSpc>
                <a:spcPts val="2090"/>
              </a:lnSpc>
              <a:spcBef>
                <a:spcPts val="0"/>
              </a:spcBef>
              <a:spcAft>
                <a:spcPts val="0"/>
              </a:spcAft>
              <a:defRPr sz="1850" b="1">
                <a:solidFill>
                  <a:srgbClr val="234B42"/>
                </a:solidFill>
                <a:latin typeface="Manrope"/>
              </a:defRPr>
            </a:pPr>
            <a:r>
              <a:rPr lang="de-DE"/>
              <a:t>Passung</a:t>
            </a:r>
          </a:p>
        </p:txBody>
      </p:sp>
      <p:sp>
        <p:nvSpPr>
          <p:cNvPr id="12" name="Text 11"/>
          <p:cNvSpPr txBox="1"/>
          <p:nvPr/>
        </p:nvSpPr>
        <p:spPr>
          <a:xfrm>
            <a:off x="6464808" y="2298509"/>
            <a:ext cx="4873752" cy="983424"/>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Ein Hilfsmittel braucht eine individuell</a:t>
            </a:r>
          </a:p>
          <a:p>
            <a:pPr>
              <a:lnSpc>
                <a:spcPts val="2477"/>
              </a:lnSpc>
              <a:spcBef>
                <a:spcPts val="0"/>
              </a:spcBef>
              <a:spcAft>
                <a:spcPts val="0"/>
              </a:spcAft>
              <a:defRPr sz="2100" b="0">
                <a:solidFill>
                  <a:srgbClr val="26332F"/>
                </a:solidFill>
                <a:latin typeface="Inter"/>
              </a:defRPr>
            </a:pPr>
            <a:r>
              <a:rPr lang="de-DE"/>
              <a:t>passende Auswahl</a:t>
            </a:r>
          </a:p>
        </p:txBody>
      </p:sp>
      <p:sp>
        <p:nvSpPr>
          <p:cNvPr id="13" name="Rounded Rectangle 12"/>
          <p:cNvSpPr/>
          <p:nvPr/>
        </p:nvSpPr>
        <p:spPr>
          <a:xfrm>
            <a:off x="594360" y="3675126"/>
            <a:ext cx="5385816" cy="1802130"/>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94360" y="3675126"/>
            <a:ext cx="50292" cy="1802130"/>
          </a:xfrm>
          <a:prstGeom prst="rect">
            <a:avLst/>
          </a:prstGeom>
          <a:solidFill>
            <a:srgbClr val="B9AE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14"/>
          <p:cNvSpPr txBox="1"/>
          <p:nvPr/>
        </p:nvSpPr>
        <p:spPr>
          <a:xfrm>
            <a:off x="850392" y="3885438"/>
            <a:ext cx="4873752" cy="315785"/>
          </a:xfrm>
          <a:prstGeom prst="rect">
            <a:avLst/>
          </a:prstGeom>
          <a:noFill/>
        </p:spPr>
        <p:txBody>
          <a:bodyPr wrap="none" lIns="0" rIns="0" tIns="0" bIns="0" anchor="t">
            <a:spAutoFit/>
          </a:bodyPr>
          <a:lstStyle/>
          <a:p>
            <a:pPr>
              <a:lnSpc>
                <a:spcPts val="2090"/>
              </a:lnSpc>
              <a:spcBef>
                <a:spcPts val="0"/>
              </a:spcBef>
              <a:spcAft>
                <a:spcPts val="0"/>
              </a:spcAft>
              <a:defRPr sz="1850" b="1">
                <a:solidFill>
                  <a:srgbClr val="234B42"/>
                </a:solidFill>
                <a:latin typeface="Manrope"/>
              </a:defRPr>
            </a:pPr>
            <a:r>
              <a:rPr lang="de-DE"/>
              <a:t>Gemeinsam lernen</a:t>
            </a:r>
          </a:p>
        </p:txBody>
      </p:sp>
      <p:sp>
        <p:nvSpPr>
          <p:cNvPr id="16" name="Text 15"/>
          <p:cNvSpPr txBox="1"/>
          <p:nvPr/>
        </p:nvSpPr>
        <p:spPr>
          <a:xfrm>
            <a:off x="850392" y="4329239"/>
            <a:ext cx="4873752" cy="983424"/>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Bezugspersonen lernen den Gebrauch</a:t>
            </a:r>
          </a:p>
          <a:p>
            <a:pPr>
              <a:lnSpc>
                <a:spcPts val="2477"/>
              </a:lnSpc>
              <a:spcBef>
                <a:spcPts val="0"/>
              </a:spcBef>
              <a:spcAft>
                <a:spcPts val="0"/>
              </a:spcAft>
              <a:defRPr sz="2100" b="0">
                <a:solidFill>
                  <a:srgbClr val="26332F"/>
                </a:solidFill>
                <a:latin typeface="Inter"/>
              </a:defRPr>
            </a:pPr>
            <a:r>
              <a:rPr lang="de-DE"/>
              <a:t>gemeinsam mit dem Kind</a:t>
            </a:r>
          </a:p>
        </p:txBody>
      </p:sp>
      <p:sp>
        <p:nvSpPr>
          <p:cNvPr id="17" name="Rounded Rectangle 16"/>
          <p:cNvSpPr/>
          <p:nvPr/>
        </p:nvSpPr>
        <p:spPr>
          <a:xfrm>
            <a:off x="6208776" y="3675126"/>
            <a:ext cx="5385816" cy="1802130"/>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08776" y="3675126"/>
            <a:ext cx="50292" cy="1802130"/>
          </a:xfrm>
          <a:prstGeom prst="rect">
            <a:avLst/>
          </a:prstGeom>
          <a:solidFill>
            <a:srgbClr val="B9AE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18"/>
          <p:cNvSpPr txBox="1"/>
          <p:nvPr/>
        </p:nvSpPr>
        <p:spPr>
          <a:xfrm>
            <a:off x="6464808" y="3885438"/>
            <a:ext cx="4873752" cy="315785"/>
          </a:xfrm>
          <a:prstGeom prst="rect">
            <a:avLst/>
          </a:prstGeom>
          <a:noFill/>
        </p:spPr>
        <p:txBody>
          <a:bodyPr wrap="none" lIns="0" rIns="0" tIns="0" bIns="0" anchor="t">
            <a:spAutoFit/>
          </a:bodyPr>
          <a:lstStyle/>
          <a:p>
            <a:pPr>
              <a:lnSpc>
                <a:spcPts val="2090"/>
              </a:lnSpc>
              <a:spcBef>
                <a:spcPts val="0"/>
              </a:spcBef>
              <a:spcAft>
                <a:spcPts val="0"/>
              </a:spcAft>
              <a:defRPr sz="1850" b="1">
                <a:solidFill>
                  <a:srgbClr val="234B42"/>
                </a:solidFill>
                <a:latin typeface="Manrope"/>
              </a:defRPr>
            </a:pPr>
            <a:r>
              <a:rPr lang="de-DE"/>
              <a:t>Eigene Anliegen</a:t>
            </a:r>
          </a:p>
        </p:txBody>
      </p:sp>
      <p:sp>
        <p:nvSpPr>
          <p:cNvPr id="20" name="Text 19"/>
          <p:cNvSpPr txBox="1"/>
          <p:nvPr/>
        </p:nvSpPr>
        <p:spPr>
          <a:xfrm>
            <a:off x="6464808" y="4329239"/>
            <a:ext cx="4873752" cy="983424"/>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6332F"/>
                </a:solidFill>
                <a:latin typeface="Inter"/>
              </a:defRPr>
            </a:pPr>
            <a:r>
              <a:rPr lang="de-DE"/>
              <a:t>Zustimmung, Ablehnung und</a:t>
            </a:r>
          </a:p>
          <a:p>
            <a:pPr>
              <a:lnSpc>
                <a:spcPts val="2419"/>
              </a:lnSpc>
              <a:spcBef>
                <a:spcPts val="0"/>
              </a:spcBef>
              <a:spcAft>
                <a:spcPts val="0"/>
              </a:spcAft>
              <a:defRPr sz="2050" b="0">
                <a:solidFill>
                  <a:srgbClr val="26332F"/>
                </a:solidFill>
                <a:latin typeface="Inter"/>
              </a:defRPr>
            </a:pPr>
            <a:r>
              <a:rPr lang="de-DE"/>
              <a:t>Pausenwünsche gehören zu wichtigen</a:t>
            </a:r>
          </a:p>
          <a:p>
            <a:pPr>
              <a:lnSpc>
                <a:spcPts val="2419"/>
              </a:lnSpc>
              <a:spcBef>
                <a:spcPts val="0"/>
              </a:spcBef>
              <a:spcAft>
                <a:spcPts val="0"/>
              </a:spcAft>
              <a:defRPr sz="2050" b="0">
                <a:solidFill>
                  <a:srgbClr val="26332F"/>
                </a:solidFill>
                <a:latin typeface="Inter"/>
              </a:defRPr>
            </a:pPr>
            <a:r>
              <a:rPr lang="de-DE"/>
              <a:t>Mitteilungen</a:t>
            </a:r>
          </a:p>
        </p:txBody>
      </p:sp>
      <p:cxnSp>
        <p:nvCxnSpPr>
          <p:cNvPr id="21" name="Connector 20"/>
          <p:cNvCxnSpPr/>
          <p:nvPr/>
        </p:nvCxnSpPr>
        <p:spPr>
          <a:xfrm>
            <a:off x="594360" y="5495544"/>
            <a:ext cx="502920" cy="0"/>
          </a:xfrm>
          <a:prstGeom prst="line">
            <a:avLst/>
          </a:prstGeom>
          <a:ln w="27940">
            <a:solidFill>
              <a:srgbClr val="D68B73"/>
            </a:solidFill>
          </a:ln>
        </p:spPr>
        <p:style>
          <a:lnRef idx="2">
            <a:schemeClr val="accent1"/>
          </a:lnRef>
          <a:fillRef idx="0">
            <a:schemeClr val="accent1"/>
          </a:fillRef>
          <a:effectRef idx="1">
            <a:schemeClr val="accent1"/>
          </a:effectRef>
          <a:fontRef idx="minor">
            <a:schemeClr val="tx1"/>
          </a:fontRef>
        </p:style>
      </p:cxnSp>
      <p:sp>
        <p:nvSpPr>
          <p:cNvPr id="22" name="Text 21"/>
          <p:cNvSpPr txBox="1"/>
          <p:nvPr/>
        </p:nvSpPr>
        <p:spPr>
          <a:xfrm>
            <a:off x="594360" y="5623560"/>
            <a:ext cx="10972800" cy="694944"/>
          </a:xfrm>
          <a:prstGeom prst="rect">
            <a:avLst/>
          </a:prstGeom>
          <a:noFill/>
        </p:spPr>
        <p:txBody>
          <a:bodyPr wrap="none" lIns="0" rIns="0" tIns="0" bIns="0" anchor="t">
            <a:spAutoFit/>
          </a:bodyPr>
          <a:lstStyle/>
          <a:p>
            <a:pPr>
              <a:lnSpc>
                <a:spcPts val="2419"/>
              </a:lnSpc>
              <a:spcBef>
                <a:spcPts val="0"/>
              </a:spcBef>
              <a:spcAft>
                <a:spcPts val="0"/>
              </a:spcAft>
              <a:defRPr sz="2050" b="1">
                <a:solidFill>
                  <a:srgbClr val="234B42"/>
                </a:solidFill>
                <a:latin typeface="Manrope"/>
              </a:defRPr>
            </a:pPr>
            <a:r>
              <a:rPr lang="de-DE"/>
              <a:t>Die Kommunikationsmöglichkeiten des Kindes erweitern.</a:t>
            </a:r>
          </a:p>
        </p:txBody>
      </p:sp>
    </p:spTree>
  </p:cSld>
  <p:clrMapOvr>
    <a:masterClrMapping/>
  </p:clrMapOvr>
  <p:transition spd="fast" advClick="1">
    <p:fade/>
  </p:transition>
</p:sld>
</file>

<file path=ppt/slides/slide46.xml><?xml version="1.0" encoding="utf-8"?>
<p:sld xmlns:a="http://schemas.openxmlformats.org/drawingml/2006/main" xmlns:p="http://schemas.openxmlformats.org/presentationml/2006/main" xmlns:r="http://schemas.openxmlformats.org/officeDocument/2006/relationships" showMasterSp="1">
  <p:cSld>
    <p:bg>
      <p:bgPr>
        <a:solidFill>
          <a:srgbClr val="F7F5EF"/>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46</a:t>
            </a:r>
          </a:p>
        </p:txBody>
      </p:sp>
      <p:sp>
        <p:nvSpPr>
          <p:cNvPr id="3" name="Text 2"/>
          <p:cNvSpPr txBox="1"/>
          <p:nvPr/>
        </p:nvSpPr>
        <p:spPr>
          <a:xfrm>
            <a:off x="594360" y="393192"/>
            <a:ext cx="10881360" cy="203644"/>
          </a:xfrm>
          <a:prstGeom prst="rect">
            <a:avLst/>
          </a:prstGeom>
          <a:noFill/>
        </p:spPr>
        <p:txBody>
          <a:bodyPr wrap="none" lIns="0" rIns="0" tIns="0" bIns="0" anchor="t">
            <a:spAutoFit/>
          </a:bodyPr>
          <a:lstStyle/>
          <a:p>
            <a:pPr>
              <a:lnSpc>
                <a:spcPts val="1207"/>
              </a:lnSpc>
              <a:spcBef>
                <a:spcPts val="0"/>
              </a:spcBef>
              <a:spcAft>
                <a:spcPts val="0"/>
              </a:spcAft>
              <a:defRPr sz="1150" b="1">
                <a:solidFill>
                  <a:srgbClr val="234B42"/>
                </a:solidFill>
                <a:latin typeface="Inter"/>
              </a:defRPr>
            </a:pPr>
            <a:r>
              <a:rPr lang="de-DE"/>
              <a:t>ZEITPUNKT → MÖGLICHE UNTERSTÜTZUNG</a:t>
            </a:r>
          </a:p>
        </p:txBody>
      </p:sp>
      <p:sp>
        <p:nvSpPr>
          <p:cNvPr id="4" name="Text 3"/>
          <p:cNvSpPr txBox="1"/>
          <p:nvPr/>
        </p:nvSpPr>
        <p:spPr>
          <a:xfrm>
            <a:off x="594360" y="804672"/>
            <a:ext cx="10991088"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Vorhersehbare Übergänge</a:t>
            </a:r>
          </a:p>
        </p:txBody>
      </p:sp>
      <p:sp>
        <p:nvSpPr>
          <p:cNvPr id="5" name="Rounded Rectangle 4"/>
          <p:cNvSpPr/>
          <p:nvPr/>
        </p:nvSpPr>
        <p:spPr>
          <a:xfrm>
            <a:off x="594360" y="1644396"/>
            <a:ext cx="3502151" cy="4390643"/>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22960" y="1872996"/>
            <a:ext cx="393192" cy="393192"/>
          </a:xfrm>
          <a:prstGeom prst="ellipse">
            <a:avLst/>
          </a:prstGeom>
          <a:solidFill>
            <a:srgbClr val="B9AE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6"/>
          <p:cNvSpPr txBox="1"/>
          <p:nvPr/>
        </p:nvSpPr>
        <p:spPr>
          <a:xfrm>
            <a:off x="822960" y="1946148"/>
            <a:ext cx="393192" cy="189992"/>
          </a:xfrm>
          <a:prstGeom prst="rect">
            <a:avLst/>
          </a:prstGeom>
          <a:noFill/>
        </p:spPr>
        <p:txBody>
          <a:bodyPr wrap="none" lIns="0" rIns="0" tIns="0" bIns="0" anchor="t">
            <a:spAutoFit/>
          </a:bodyPr>
          <a:lstStyle/>
          <a:p>
            <a:pPr algn="ctr">
              <a:lnSpc>
                <a:spcPts val="1100"/>
              </a:lnSpc>
              <a:spcBef>
                <a:spcPts val="0"/>
              </a:spcBef>
              <a:spcAft>
                <a:spcPts val="0"/>
              </a:spcAft>
              <a:defRPr sz="1100" b="1">
                <a:solidFill>
                  <a:srgbClr val="234B42"/>
                </a:solidFill>
                <a:latin typeface="Inter"/>
              </a:defRPr>
            </a:pPr>
            <a:r>
              <a:rPr lang="de-DE"/>
              <a:t>01</a:t>
            </a:r>
          </a:p>
        </p:txBody>
      </p:sp>
      <p:sp>
        <p:nvSpPr>
          <p:cNvPr id="8" name="Text 7"/>
          <p:cNvSpPr txBox="1"/>
          <p:nvPr/>
        </p:nvSpPr>
        <p:spPr>
          <a:xfrm>
            <a:off x="1353312" y="1872996"/>
            <a:ext cx="2496311" cy="372490"/>
          </a:xfrm>
          <a:prstGeom prst="rect">
            <a:avLst/>
          </a:prstGeom>
          <a:noFill/>
        </p:spPr>
        <p:txBody>
          <a:bodyPr wrap="none" lIns="0" rIns="0" tIns="0" bIns="0" anchor="t">
            <a:spAutoFit/>
          </a:bodyPr>
          <a:lstStyle/>
          <a:p>
            <a:pPr>
              <a:lnSpc>
                <a:spcPts val="2536"/>
              </a:lnSpc>
              <a:spcBef>
                <a:spcPts val="0"/>
              </a:spcBef>
              <a:spcAft>
                <a:spcPts val="0"/>
              </a:spcAft>
              <a:defRPr sz="2150" b="1">
                <a:solidFill>
                  <a:srgbClr val="234B42"/>
                </a:solidFill>
                <a:latin typeface="Manrope"/>
              </a:defRPr>
            </a:pPr>
            <a:r>
              <a:rPr lang="de-DE"/>
              <a:t>Vor dem Wechsel</a:t>
            </a:r>
          </a:p>
        </p:txBody>
      </p:sp>
      <p:sp>
        <p:nvSpPr>
          <p:cNvPr id="9" name="Text 8"/>
          <p:cNvSpPr txBox="1"/>
          <p:nvPr/>
        </p:nvSpPr>
        <p:spPr>
          <a:xfrm>
            <a:off x="868680" y="2513076"/>
            <a:ext cx="2953511" cy="3320795"/>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26332F"/>
                </a:solidFill>
                <a:latin typeface="Inter"/>
              </a:defRPr>
            </a:pPr>
            <a:r>
              <a:rPr lang="de-DE"/>
              <a:t>Mit verständlichem</a:t>
            </a:r>
          </a:p>
          <a:p>
            <a:pPr>
              <a:lnSpc>
                <a:spcPts val="2713"/>
              </a:lnSpc>
              <a:spcBef>
                <a:spcPts val="0"/>
              </a:spcBef>
              <a:spcAft>
                <a:spcPts val="0"/>
              </a:spcAft>
              <a:defRPr sz="2300" b="0">
                <a:solidFill>
                  <a:srgbClr val="26332F"/>
                </a:solidFill>
                <a:latin typeface="Inter"/>
              </a:defRPr>
            </a:pPr>
            <a:r>
              <a:rPr lang="de-DE"/>
              <a:t>Bild, Gegenstand oder</a:t>
            </a:r>
          </a:p>
          <a:p>
            <a:pPr>
              <a:lnSpc>
                <a:spcPts val="2713"/>
              </a:lnSpc>
              <a:spcBef>
                <a:spcPts val="0"/>
              </a:spcBef>
              <a:spcAft>
                <a:spcPts val="0"/>
              </a:spcAft>
              <a:defRPr sz="2300" b="0">
                <a:solidFill>
                  <a:srgbClr val="26332F"/>
                </a:solidFill>
                <a:latin typeface="Inter"/>
              </a:defRPr>
            </a:pPr>
            <a:r>
              <a:rPr lang="de-DE"/>
              <a:t>Sprache ankündigen</a:t>
            </a:r>
          </a:p>
        </p:txBody>
      </p:sp>
      <p:sp>
        <p:nvSpPr>
          <p:cNvPr id="10" name="Rounded Rectangle 9"/>
          <p:cNvSpPr/>
          <p:nvPr/>
        </p:nvSpPr>
        <p:spPr>
          <a:xfrm>
            <a:off x="4343400" y="1644396"/>
            <a:ext cx="3502151" cy="4390643"/>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72000" y="1872996"/>
            <a:ext cx="393192" cy="393192"/>
          </a:xfrm>
          <a:prstGeom prst="ellipse">
            <a:avLst/>
          </a:prstGeom>
          <a:solidFill>
            <a:srgbClr val="B9AE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11"/>
          <p:cNvSpPr txBox="1"/>
          <p:nvPr/>
        </p:nvSpPr>
        <p:spPr>
          <a:xfrm>
            <a:off x="4572000" y="1946148"/>
            <a:ext cx="393192" cy="189992"/>
          </a:xfrm>
          <a:prstGeom prst="rect">
            <a:avLst/>
          </a:prstGeom>
          <a:noFill/>
        </p:spPr>
        <p:txBody>
          <a:bodyPr wrap="none" lIns="0" rIns="0" tIns="0" bIns="0" anchor="t">
            <a:spAutoFit/>
          </a:bodyPr>
          <a:lstStyle/>
          <a:p>
            <a:pPr algn="ctr">
              <a:lnSpc>
                <a:spcPts val="1100"/>
              </a:lnSpc>
              <a:spcBef>
                <a:spcPts val="0"/>
              </a:spcBef>
              <a:spcAft>
                <a:spcPts val="0"/>
              </a:spcAft>
              <a:defRPr sz="1100" b="1">
                <a:solidFill>
                  <a:srgbClr val="234B42"/>
                </a:solidFill>
                <a:latin typeface="Inter"/>
              </a:defRPr>
            </a:pPr>
            <a:r>
              <a:rPr lang="de-DE"/>
              <a:t>02</a:t>
            </a:r>
          </a:p>
        </p:txBody>
      </p:sp>
      <p:sp>
        <p:nvSpPr>
          <p:cNvPr id="13" name="Text 12"/>
          <p:cNvSpPr txBox="1"/>
          <p:nvPr/>
        </p:nvSpPr>
        <p:spPr>
          <a:xfrm>
            <a:off x="5102352" y="1872996"/>
            <a:ext cx="2496311" cy="694690"/>
          </a:xfrm>
          <a:prstGeom prst="rect">
            <a:avLst/>
          </a:prstGeom>
          <a:noFill/>
        </p:spPr>
        <p:txBody>
          <a:bodyPr wrap="none" lIns="0" rIns="0" tIns="0" bIns="0" anchor="t">
            <a:spAutoFit/>
          </a:bodyPr>
          <a:lstStyle/>
          <a:p>
            <a:pPr>
              <a:lnSpc>
                <a:spcPts val="2536"/>
              </a:lnSpc>
              <a:spcBef>
                <a:spcPts val="0"/>
              </a:spcBef>
              <a:spcAft>
                <a:spcPts val="0"/>
              </a:spcAft>
              <a:defRPr sz="2150" b="1">
                <a:solidFill>
                  <a:srgbClr val="234B42"/>
                </a:solidFill>
                <a:latin typeface="Manrope"/>
              </a:defRPr>
            </a:pPr>
            <a:r>
              <a:rPr lang="de-DE"/>
              <a:t>Am Ende des</a:t>
            </a:r>
          </a:p>
          <a:p>
            <a:pPr>
              <a:lnSpc>
                <a:spcPts val="2536"/>
              </a:lnSpc>
              <a:spcBef>
                <a:spcPts val="0"/>
              </a:spcBef>
              <a:spcAft>
                <a:spcPts val="0"/>
              </a:spcAft>
              <a:defRPr sz="2150" b="1">
                <a:solidFill>
                  <a:srgbClr val="234B42"/>
                </a:solidFill>
                <a:latin typeface="Manrope"/>
              </a:defRPr>
            </a:pPr>
            <a:r>
              <a:rPr lang="de-DE"/>
              <a:t>Spiels</a:t>
            </a:r>
          </a:p>
        </p:txBody>
      </p:sp>
      <p:sp>
        <p:nvSpPr>
          <p:cNvPr id="14" name="Text 13"/>
          <p:cNvSpPr txBox="1"/>
          <p:nvPr/>
        </p:nvSpPr>
        <p:spPr>
          <a:xfrm>
            <a:off x="4617720" y="2768854"/>
            <a:ext cx="2953511" cy="3065017"/>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26332F"/>
                </a:solidFill>
                <a:latin typeface="Inter"/>
              </a:defRPr>
            </a:pPr>
            <a:r>
              <a:rPr lang="de-DE"/>
              <a:t>Einen Abschluss</a:t>
            </a:r>
          </a:p>
          <a:p>
            <a:pPr>
              <a:lnSpc>
                <a:spcPts val="2713"/>
              </a:lnSpc>
              <a:spcBef>
                <a:spcPts val="0"/>
              </a:spcBef>
              <a:spcAft>
                <a:spcPts val="0"/>
              </a:spcAft>
              <a:defRPr sz="2300" b="0">
                <a:solidFill>
                  <a:srgbClr val="26332F"/>
                </a:solidFill>
                <a:latin typeface="Inter"/>
              </a:defRPr>
            </a:pPr>
            <a:r>
              <a:rPr lang="de-DE"/>
              <a:t>ermöglichen oder das</a:t>
            </a:r>
          </a:p>
          <a:p>
            <a:pPr>
              <a:lnSpc>
                <a:spcPts val="2713"/>
              </a:lnSpc>
              <a:spcBef>
                <a:spcPts val="0"/>
              </a:spcBef>
              <a:spcAft>
                <a:spcPts val="0"/>
              </a:spcAft>
              <a:defRPr sz="2300" b="0">
                <a:solidFill>
                  <a:srgbClr val="26332F"/>
                </a:solidFill>
                <a:latin typeface="Inter"/>
              </a:defRPr>
            </a:pPr>
            <a:r>
              <a:rPr lang="de-DE"/>
              <a:t>Bauwerk fotografieren</a:t>
            </a:r>
          </a:p>
        </p:txBody>
      </p:sp>
      <p:sp>
        <p:nvSpPr>
          <p:cNvPr id="15" name="Rounded Rectangle 14"/>
          <p:cNvSpPr/>
          <p:nvPr/>
        </p:nvSpPr>
        <p:spPr>
          <a:xfrm>
            <a:off x="8092440" y="1644396"/>
            <a:ext cx="3502151" cy="4390643"/>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21040" y="1872996"/>
            <a:ext cx="393192" cy="393192"/>
          </a:xfrm>
          <a:prstGeom prst="ellipse">
            <a:avLst/>
          </a:prstGeom>
          <a:solidFill>
            <a:srgbClr val="B9AE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16"/>
          <p:cNvSpPr txBox="1"/>
          <p:nvPr/>
        </p:nvSpPr>
        <p:spPr>
          <a:xfrm>
            <a:off x="8321040" y="1946148"/>
            <a:ext cx="393192" cy="189992"/>
          </a:xfrm>
          <a:prstGeom prst="rect">
            <a:avLst/>
          </a:prstGeom>
          <a:noFill/>
        </p:spPr>
        <p:txBody>
          <a:bodyPr wrap="none" lIns="0" rIns="0" tIns="0" bIns="0" anchor="t">
            <a:spAutoFit/>
          </a:bodyPr>
          <a:lstStyle/>
          <a:p>
            <a:pPr algn="ctr">
              <a:lnSpc>
                <a:spcPts val="1100"/>
              </a:lnSpc>
              <a:spcBef>
                <a:spcPts val="0"/>
              </a:spcBef>
              <a:spcAft>
                <a:spcPts val="0"/>
              </a:spcAft>
              <a:defRPr sz="1100" b="1">
                <a:solidFill>
                  <a:srgbClr val="234B42"/>
                </a:solidFill>
                <a:latin typeface="Inter"/>
              </a:defRPr>
            </a:pPr>
            <a:r>
              <a:rPr lang="de-DE"/>
              <a:t>03</a:t>
            </a:r>
          </a:p>
        </p:txBody>
      </p:sp>
      <p:sp>
        <p:nvSpPr>
          <p:cNvPr id="18" name="Text 17"/>
          <p:cNvSpPr txBox="1"/>
          <p:nvPr/>
        </p:nvSpPr>
        <p:spPr>
          <a:xfrm>
            <a:off x="8851392" y="1872996"/>
            <a:ext cx="2496311" cy="694690"/>
          </a:xfrm>
          <a:prstGeom prst="rect">
            <a:avLst/>
          </a:prstGeom>
          <a:noFill/>
        </p:spPr>
        <p:txBody>
          <a:bodyPr wrap="none" lIns="0" rIns="0" tIns="0" bIns="0" anchor="t">
            <a:spAutoFit/>
          </a:bodyPr>
          <a:lstStyle/>
          <a:p>
            <a:pPr>
              <a:lnSpc>
                <a:spcPts val="2536"/>
              </a:lnSpc>
              <a:spcBef>
                <a:spcPts val="0"/>
              </a:spcBef>
              <a:spcAft>
                <a:spcPts val="0"/>
              </a:spcAft>
              <a:defRPr sz="2150" b="1">
                <a:solidFill>
                  <a:srgbClr val="234B42"/>
                </a:solidFill>
                <a:latin typeface="Manrope"/>
              </a:defRPr>
            </a:pPr>
            <a:r>
              <a:rPr lang="de-DE"/>
              <a:t>Beim nächsten</a:t>
            </a:r>
          </a:p>
          <a:p>
            <a:pPr>
              <a:lnSpc>
                <a:spcPts val="2536"/>
              </a:lnSpc>
              <a:spcBef>
                <a:spcPts val="0"/>
              </a:spcBef>
              <a:spcAft>
                <a:spcPts val="0"/>
              </a:spcAft>
              <a:defRPr sz="2150" b="1">
                <a:solidFill>
                  <a:srgbClr val="234B42"/>
                </a:solidFill>
                <a:latin typeface="Manrope"/>
              </a:defRPr>
            </a:pPr>
            <a:r>
              <a:rPr lang="de-DE"/>
              <a:t>Schritt</a:t>
            </a:r>
          </a:p>
        </p:txBody>
      </p:sp>
      <p:sp>
        <p:nvSpPr>
          <p:cNvPr id="19" name="Text 18"/>
          <p:cNvSpPr txBox="1"/>
          <p:nvPr/>
        </p:nvSpPr>
        <p:spPr>
          <a:xfrm>
            <a:off x="8366760" y="2768854"/>
            <a:ext cx="2953511" cy="3065017"/>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26332F"/>
                </a:solidFill>
                <a:latin typeface="Inter"/>
              </a:defRPr>
            </a:pPr>
            <a:r>
              <a:rPr lang="de-DE"/>
              <a:t>Mit vertrauter Person</a:t>
            </a:r>
          </a:p>
          <a:p>
            <a:pPr>
              <a:lnSpc>
                <a:spcPts val="2713"/>
              </a:lnSpc>
              <a:spcBef>
                <a:spcPts val="0"/>
              </a:spcBef>
              <a:spcAft>
                <a:spcPts val="0"/>
              </a:spcAft>
              <a:defRPr sz="2300" b="0">
                <a:solidFill>
                  <a:srgbClr val="26332F"/>
                </a:solidFill>
                <a:latin typeface="Inter"/>
              </a:defRPr>
            </a:pPr>
            <a:r>
              <a:rPr lang="de-DE"/>
              <a:t>in eine entzerrte</a:t>
            </a:r>
          </a:p>
          <a:p>
            <a:pPr>
              <a:lnSpc>
                <a:spcPts val="2713"/>
              </a:lnSpc>
              <a:spcBef>
                <a:spcPts val="0"/>
              </a:spcBef>
              <a:spcAft>
                <a:spcPts val="0"/>
              </a:spcAft>
              <a:defRPr sz="2300" b="0">
                <a:solidFill>
                  <a:srgbClr val="26332F"/>
                </a:solidFill>
                <a:latin typeface="Inter"/>
              </a:defRPr>
            </a:pPr>
            <a:r>
              <a:rPr lang="de-DE"/>
              <a:t>Garderobe gehen</a:t>
            </a:r>
          </a:p>
        </p:txBody>
      </p:sp>
    </p:spTree>
  </p:cSld>
  <p:clrMapOvr>
    <a:masterClrMapping/>
  </p:clrMapOvr>
  <p:transition spd="fast" advClick="1">
    <p:fade/>
  </p:transition>
</p:sld>
</file>

<file path=ppt/slides/slide47.xml><?xml version="1.0" encoding="utf-8"?>
<p:sld xmlns:a="http://schemas.openxmlformats.org/drawingml/2006/main" xmlns:p="http://schemas.openxmlformats.org/presentationml/2006/main" xmlns:r="http://schemas.openxmlformats.org/officeDocument/2006/relationships" showMasterSp="1">
  <p:cSld>
    <p:bg>
      <p:bgPr>
        <a:solidFill>
          <a:srgbClr val="F7F5EF"/>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47</a:t>
            </a:r>
          </a:p>
        </p:txBody>
      </p:sp>
      <p:sp>
        <p:nvSpPr>
          <p:cNvPr id="3" name="Text 2"/>
          <p:cNvSpPr txBox="1"/>
          <p:nvPr/>
        </p:nvSpPr>
        <p:spPr>
          <a:xfrm>
            <a:off x="594360" y="393192"/>
            <a:ext cx="10881360" cy="203644"/>
          </a:xfrm>
          <a:prstGeom prst="rect">
            <a:avLst/>
          </a:prstGeom>
          <a:noFill/>
        </p:spPr>
        <p:txBody>
          <a:bodyPr wrap="none" lIns="0" rIns="0" tIns="0" bIns="0" anchor="t">
            <a:spAutoFit/>
          </a:bodyPr>
          <a:lstStyle/>
          <a:p>
            <a:pPr>
              <a:lnSpc>
                <a:spcPts val="1207"/>
              </a:lnSpc>
              <a:spcBef>
                <a:spcPts val="0"/>
              </a:spcBef>
              <a:spcAft>
                <a:spcPts val="0"/>
              </a:spcAft>
              <a:defRPr sz="1150" b="1">
                <a:solidFill>
                  <a:srgbClr val="234B42"/>
                </a:solidFill>
                <a:latin typeface="Inter"/>
              </a:defRPr>
            </a:pPr>
            <a:r>
              <a:rPr lang="de-DE"/>
              <a:t>AUTISMUS · SPIEL &amp; BEZIEHUNG</a:t>
            </a:r>
          </a:p>
        </p:txBody>
      </p:sp>
      <p:sp>
        <p:nvSpPr>
          <p:cNvPr id="4" name="Text 3"/>
          <p:cNvSpPr txBox="1"/>
          <p:nvPr/>
        </p:nvSpPr>
        <p:spPr>
          <a:xfrm>
            <a:off x="594360" y="804672"/>
            <a:ext cx="10991088"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Spiel und Beziehung</a:t>
            </a:r>
          </a:p>
        </p:txBody>
      </p:sp>
      <p:pic>
        <p:nvPicPr>
          <p:cNvPr id="5" name="Picture 4" descr="01_kita_cover.png"/>
          <p:cNvPicPr>
            <a:picLocks noChangeAspect="1"/>
          </p:cNvPicPr>
          <p:nvPr/>
        </p:nvPicPr>
        <p:blipFill>
          <a:blip r:embed="rId3"/>
          <a:srcRect l="20977" r="20977"/>
          <a:stretch>
            <a:fillRect/>
          </a:stretch>
        </p:blipFill>
        <p:spPr>
          <a:xfrm>
            <a:off x="7086600" y="1644396"/>
            <a:ext cx="4507992" cy="4370832"/>
          </a:xfrm>
          <a:prstGeom prst="rect">
            <a:avLst/>
          </a:prstGeom>
        </p:spPr>
      </p:pic>
      <p:sp>
        <p:nvSpPr>
          <p:cNvPr id="6" name="Text 5"/>
          <p:cNvSpPr txBox="1"/>
          <p:nvPr/>
        </p:nvSpPr>
        <p:spPr>
          <a:xfrm>
            <a:off x="594360" y="1690116"/>
            <a:ext cx="6080760" cy="275082"/>
          </a:xfrm>
          <a:prstGeom prst="rect">
            <a:avLst/>
          </a:prstGeom>
          <a:noFill/>
        </p:spPr>
        <p:txBody>
          <a:bodyPr wrap="none" lIns="0" rIns="0" tIns="0" bIns="0" anchor="t">
            <a:spAutoFit/>
          </a:bodyPr>
          <a:lstStyle/>
          <a:p>
            <a:pPr>
              <a:lnSpc>
                <a:spcPts val="1770"/>
              </a:lnSpc>
              <a:spcBef>
                <a:spcPts val="0"/>
              </a:spcBef>
              <a:spcAft>
                <a:spcPts val="0"/>
              </a:spcAft>
              <a:defRPr sz="1500" b="1">
                <a:solidFill>
                  <a:srgbClr val="234B42"/>
                </a:solidFill>
                <a:latin typeface="Inter"/>
              </a:defRPr>
            </a:pPr>
            <a:r>
              <a:rPr lang="de-DE"/>
              <a:t>Kontakt beginnt beim Interesse</a:t>
            </a:r>
          </a:p>
        </p:txBody>
      </p:sp>
      <p:sp>
        <p:nvSpPr>
          <p:cNvPr id="7" name="Text 6"/>
          <p:cNvSpPr txBox="1"/>
          <p:nvPr/>
        </p:nvSpPr>
        <p:spPr>
          <a:xfrm>
            <a:off x="594360" y="2029206"/>
            <a:ext cx="6035040" cy="731520"/>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6332F"/>
                </a:solidFill>
                <a:latin typeface="Inter"/>
              </a:defRPr>
            </a:pPr>
            <a:r>
              <a:rPr lang="de-DE"/>
              <a:t>Bevorzugte Themen als Einstieg in Kontakt nutzen</a:t>
            </a:r>
          </a:p>
        </p:txBody>
      </p:sp>
      <p:sp>
        <p:nvSpPr>
          <p:cNvPr id="8" name="Text 7"/>
          <p:cNvSpPr txBox="1"/>
          <p:nvPr/>
        </p:nvSpPr>
        <p:spPr>
          <a:xfrm>
            <a:off x="594360" y="2523871"/>
            <a:ext cx="6080760" cy="275082"/>
          </a:xfrm>
          <a:prstGeom prst="rect">
            <a:avLst/>
          </a:prstGeom>
          <a:noFill/>
        </p:spPr>
        <p:txBody>
          <a:bodyPr wrap="none" lIns="0" rIns="0" tIns="0" bIns="0" anchor="t">
            <a:spAutoFit/>
          </a:bodyPr>
          <a:lstStyle/>
          <a:p>
            <a:pPr>
              <a:lnSpc>
                <a:spcPts val="1770"/>
              </a:lnSpc>
              <a:spcBef>
                <a:spcPts val="0"/>
              </a:spcBef>
              <a:spcAft>
                <a:spcPts val="0"/>
              </a:spcAft>
              <a:defRPr sz="1500" b="1">
                <a:solidFill>
                  <a:srgbClr val="234B42"/>
                </a:solidFill>
                <a:latin typeface="Inter"/>
              </a:defRPr>
            </a:pPr>
            <a:r>
              <a:rPr lang="de-DE"/>
              <a:t>Gemeinsame Momente</a:t>
            </a:r>
          </a:p>
        </p:txBody>
      </p:sp>
      <p:sp>
        <p:nvSpPr>
          <p:cNvPr id="9" name="Text 8"/>
          <p:cNvSpPr txBox="1"/>
          <p:nvPr/>
        </p:nvSpPr>
        <p:spPr>
          <a:xfrm>
            <a:off x="594360" y="2862961"/>
            <a:ext cx="6035040" cy="731520"/>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6332F"/>
                </a:solidFill>
                <a:latin typeface="Inter"/>
              </a:defRPr>
            </a:pPr>
            <a:r>
              <a:rPr lang="de-DE"/>
              <a:t>Parallelspiel und kurze gemeinsame Momente</a:t>
            </a:r>
          </a:p>
          <a:p>
            <a:pPr>
              <a:lnSpc>
                <a:spcPts val="2419"/>
              </a:lnSpc>
              <a:spcBef>
                <a:spcPts val="0"/>
              </a:spcBef>
              <a:spcAft>
                <a:spcPts val="0"/>
              </a:spcAft>
              <a:defRPr sz="2050" b="0">
                <a:solidFill>
                  <a:srgbClr val="26332F"/>
                </a:solidFill>
                <a:latin typeface="Inter"/>
              </a:defRPr>
            </a:pPr>
            <a:r>
              <a:rPr lang="de-DE"/>
              <a:t>beachten</a:t>
            </a:r>
          </a:p>
        </p:txBody>
      </p:sp>
      <p:sp>
        <p:nvSpPr>
          <p:cNvPr id="10" name="Text 9"/>
          <p:cNvSpPr txBox="1"/>
          <p:nvPr/>
        </p:nvSpPr>
        <p:spPr>
          <a:xfrm>
            <a:off x="594360" y="3664839"/>
            <a:ext cx="6080760" cy="275082"/>
          </a:xfrm>
          <a:prstGeom prst="rect">
            <a:avLst/>
          </a:prstGeom>
          <a:noFill/>
        </p:spPr>
        <p:txBody>
          <a:bodyPr wrap="none" lIns="0" rIns="0" tIns="0" bIns="0" anchor="t">
            <a:spAutoFit/>
          </a:bodyPr>
          <a:lstStyle/>
          <a:p>
            <a:pPr>
              <a:lnSpc>
                <a:spcPts val="1770"/>
              </a:lnSpc>
              <a:spcBef>
                <a:spcPts val="0"/>
              </a:spcBef>
              <a:spcAft>
                <a:spcPts val="0"/>
              </a:spcAft>
              <a:defRPr sz="1500" b="1">
                <a:solidFill>
                  <a:srgbClr val="234B42"/>
                </a:solidFill>
                <a:latin typeface="Inter"/>
              </a:defRPr>
            </a:pPr>
            <a:r>
              <a:rPr lang="de-DE"/>
              <a:t>Antwort abwarten</a:t>
            </a:r>
          </a:p>
        </p:txBody>
      </p:sp>
      <p:sp>
        <p:nvSpPr>
          <p:cNvPr id="11" name="Text 10"/>
          <p:cNvSpPr txBox="1"/>
          <p:nvPr/>
        </p:nvSpPr>
        <p:spPr>
          <a:xfrm>
            <a:off x="594360" y="4003929"/>
            <a:ext cx="6035040" cy="731520"/>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6332F"/>
                </a:solidFill>
                <a:latin typeface="Inter"/>
              </a:defRPr>
            </a:pPr>
            <a:r>
              <a:rPr lang="de-DE"/>
              <a:t>Ein Angebot machen und auf die Antwort des</a:t>
            </a:r>
          </a:p>
          <a:p>
            <a:pPr>
              <a:lnSpc>
                <a:spcPts val="2419"/>
              </a:lnSpc>
              <a:spcBef>
                <a:spcPts val="0"/>
              </a:spcBef>
              <a:spcAft>
                <a:spcPts val="0"/>
              </a:spcAft>
              <a:defRPr sz="2050" b="0">
                <a:solidFill>
                  <a:srgbClr val="26332F"/>
                </a:solidFill>
                <a:latin typeface="Inter"/>
              </a:defRPr>
            </a:pPr>
            <a:r>
              <a:rPr lang="de-DE"/>
              <a:t>Kindes warten</a:t>
            </a:r>
          </a:p>
        </p:txBody>
      </p:sp>
      <p:sp>
        <p:nvSpPr>
          <p:cNvPr id="12" name="Text 11"/>
          <p:cNvSpPr txBox="1"/>
          <p:nvPr/>
        </p:nvSpPr>
        <p:spPr>
          <a:xfrm>
            <a:off x="594360" y="4805807"/>
            <a:ext cx="6080760" cy="275082"/>
          </a:xfrm>
          <a:prstGeom prst="rect">
            <a:avLst/>
          </a:prstGeom>
          <a:noFill/>
        </p:spPr>
        <p:txBody>
          <a:bodyPr wrap="none" lIns="0" rIns="0" tIns="0" bIns="0" anchor="t">
            <a:spAutoFit/>
          </a:bodyPr>
          <a:lstStyle/>
          <a:p>
            <a:pPr>
              <a:lnSpc>
                <a:spcPts val="1770"/>
              </a:lnSpc>
              <a:spcBef>
                <a:spcPts val="0"/>
              </a:spcBef>
              <a:spcAft>
                <a:spcPts val="0"/>
              </a:spcAft>
              <a:defRPr sz="1500" b="1">
                <a:solidFill>
                  <a:srgbClr val="234B42"/>
                </a:solidFill>
                <a:latin typeface="Inter"/>
              </a:defRPr>
            </a:pPr>
            <a:r>
              <a:rPr lang="de-DE"/>
              <a:t>Vertrautes respektieren</a:t>
            </a:r>
          </a:p>
        </p:txBody>
      </p:sp>
      <p:sp>
        <p:nvSpPr>
          <p:cNvPr id="13" name="Text 12"/>
          <p:cNvSpPr txBox="1"/>
          <p:nvPr/>
        </p:nvSpPr>
        <p:spPr>
          <a:xfrm>
            <a:off x="594360" y="5144897"/>
            <a:ext cx="6035040" cy="731520"/>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6332F"/>
                </a:solidFill>
                <a:latin typeface="Inter"/>
              </a:defRPr>
            </a:pPr>
            <a:r>
              <a:rPr lang="de-DE"/>
              <a:t>Interessen erweitern, ohne vertraute Spielweisen</a:t>
            </a:r>
          </a:p>
          <a:p>
            <a:pPr>
              <a:lnSpc>
                <a:spcPts val="2419"/>
              </a:lnSpc>
              <a:spcBef>
                <a:spcPts val="0"/>
              </a:spcBef>
              <a:spcAft>
                <a:spcPts val="0"/>
              </a:spcAft>
              <a:defRPr sz="2050" b="0">
                <a:solidFill>
                  <a:srgbClr val="26332F"/>
                </a:solidFill>
                <a:latin typeface="Inter"/>
              </a:defRPr>
            </a:pPr>
            <a:r>
              <a:rPr lang="de-DE"/>
              <a:t>pauschal abzuwerten</a:t>
            </a:r>
          </a:p>
        </p:txBody>
      </p:sp>
    </p:spTree>
  </p:cSld>
  <p:clrMapOvr>
    <a:masterClrMapping/>
  </p:clrMapOvr>
  <p:transition spd="fast" advClick="1">
    <p:fade/>
  </p:transition>
</p:sld>
</file>

<file path=ppt/slides/slide48.xml><?xml version="1.0" encoding="utf-8"?>
<p:sld xmlns:a="http://schemas.openxmlformats.org/drawingml/2006/main" xmlns:p="http://schemas.openxmlformats.org/presentationml/2006/main" xmlns:r="http://schemas.openxmlformats.org/officeDocument/2006/relationships" showMasterSp="1">
  <p:cSld>
    <p:bg>
      <p:bgPr>
        <a:solidFill>
          <a:srgbClr val="F7F5EF"/>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48</a:t>
            </a:r>
          </a:p>
        </p:txBody>
      </p:sp>
      <p:sp>
        <p:nvSpPr>
          <p:cNvPr id="3" name="Text 2"/>
          <p:cNvSpPr txBox="1"/>
          <p:nvPr/>
        </p:nvSpPr>
        <p:spPr>
          <a:xfrm>
            <a:off x="594360" y="393192"/>
            <a:ext cx="10881360" cy="203644"/>
          </a:xfrm>
          <a:prstGeom prst="rect">
            <a:avLst/>
          </a:prstGeom>
          <a:noFill/>
        </p:spPr>
        <p:txBody>
          <a:bodyPr wrap="none" lIns="0" rIns="0" tIns="0" bIns="0" anchor="t">
            <a:spAutoFit/>
          </a:bodyPr>
          <a:lstStyle/>
          <a:p>
            <a:pPr>
              <a:lnSpc>
                <a:spcPts val="1207"/>
              </a:lnSpc>
              <a:spcBef>
                <a:spcPts val="0"/>
              </a:spcBef>
              <a:spcAft>
                <a:spcPts val="0"/>
              </a:spcAft>
              <a:defRPr sz="1150" b="1">
                <a:solidFill>
                  <a:srgbClr val="234B42"/>
                </a:solidFill>
                <a:latin typeface="Inter"/>
              </a:defRPr>
            </a:pPr>
            <a:r>
              <a:rPr lang="de-DE"/>
              <a:t>AUTISMUS · SELBSTREGULATION</a:t>
            </a:r>
          </a:p>
        </p:txBody>
      </p:sp>
      <p:sp>
        <p:nvSpPr>
          <p:cNvPr id="4" name="Text 3"/>
          <p:cNvSpPr txBox="1"/>
          <p:nvPr/>
        </p:nvSpPr>
        <p:spPr>
          <a:xfrm>
            <a:off x="594360" y="804672"/>
            <a:ext cx="10991088"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Stimming und Selbstregulation</a:t>
            </a:r>
          </a:p>
        </p:txBody>
      </p:sp>
      <p:sp>
        <p:nvSpPr>
          <p:cNvPr id="5" name="Rounded Rectangle 4"/>
          <p:cNvSpPr/>
          <p:nvPr/>
        </p:nvSpPr>
        <p:spPr>
          <a:xfrm>
            <a:off x="594360" y="1644396"/>
            <a:ext cx="5385816" cy="2081021"/>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644396"/>
            <a:ext cx="50292" cy="2081021"/>
          </a:xfrm>
          <a:prstGeom prst="rect">
            <a:avLst/>
          </a:prstGeom>
          <a:solidFill>
            <a:srgbClr val="B9AE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6"/>
          <p:cNvSpPr txBox="1"/>
          <p:nvPr/>
        </p:nvSpPr>
        <p:spPr>
          <a:xfrm>
            <a:off x="850392" y="1854708"/>
            <a:ext cx="4873752" cy="315785"/>
          </a:xfrm>
          <a:prstGeom prst="rect">
            <a:avLst/>
          </a:prstGeom>
          <a:noFill/>
        </p:spPr>
        <p:txBody>
          <a:bodyPr wrap="none" lIns="0" rIns="0" tIns="0" bIns="0" anchor="t">
            <a:spAutoFit/>
          </a:bodyPr>
          <a:lstStyle/>
          <a:p>
            <a:pPr>
              <a:lnSpc>
                <a:spcPts val="2090"/>
              </a:lnSpc>
              <a:spcBef>
                <a:spcPts val="0"/>
              </a:spcBef>
              <a:spcAft>
                <a:spcPts val="0"/>
              </a:spcAft>
              <a:defRPr sz="1850" b="1">
                <a:solidFill>
                  <a:srgbClr val="234B42"/>
                </a:solidFill>
                <a:latin typeface="Manrope"/>
              </a:defRPr>
            </a:pPr>
            <a:r>
              <a:rPr lang="de-DE"/>
              <a:t>Begriff</a:t>
            </a:r>
          </a:p>
        </p:txBody>
      </p:sp>
      <p:sp>
        <p:nvSpPr>
          <p:cNvPr id="8" name="Text 7"/>
          <p:cNvSpPr txBox="1"/>
          <p:nvPr/>
        </p:nvSpPr>
        <p:spPr>
          <a:xfrm>
            <a:off x="850392" y="2298509"/>
            <a:ext cx="4873752" cy="1262316"/>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Stimming bezeichnet wiederholte</a:t>
            </a:r>
          </a:p>
          <a:p>
            <a:pPr>
              <a:lnSpc>
                <a:spcPts val="2477"/>
              </a:lnSpc>
              <a:spcBef>
                <a:spcPts val="0"/>
              </a:spcBef>
              <a:spcAft>
                <a:spcPts val="0"/>
              </a:spcAft>
              <a:defRPr sz="2100" b="0">
                <a:solidFill>
                  <a:srgbClr val="26332F"/>
                </a:solidFill>
                <a:latin typeface="Inter"/>
              </a:defRPr>
            </a:pPr>
            <a:r>
              <a:rPr lang="de-DE"/>
              <a:t>Bewegungen oder Laute</a:t>
            </a:r>
          </a:p>
        </p:txBody>
      </p:sp>
      <p:sp>
        <p:nvSpPr>
          <p:cNvPr id="9" name="Rounded Rectangle 8"/>
          <p:cNvSpPr/>
          <p:nvPr/>
        </p:nvSpPr>
        <p:spPr>
          <a:xfrm>
            <a:off x="6208776" y="1644396"/>
            <a:ext cx="5385816" cy="2081021"/>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08776" y="1644396"/>
            <a:ext cx="50292" cy="2081021"/>
          </a:xfrm>
          <a:prstGeom prst="rect">
            <a:avLst/>
          </a:prstGeom>
          <a:solidFill>
            <a:srgbClr val="B9AE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10"/>
          <p:cNvSpPr txBox="1"/>
          <p:nvPr/>
        </p:nvSpPr>
        <p:spPr>
          <a:xfrm>
            <a:off x="6464808" y="1854708"/>
            <a:ext cx="4873752" cy="315785"/>
          </a:xfrm>
          <a:prstGeom prst="rect">
            <a:avLst/>
          </a:prstGeom>
          <a:noFill/>
        </p:spPr>
        <p:txBody>
          <a:bodyPr wrap="none" lIns="0" rIns="0" tIns="0" bIns="0" anchor="t">
            <a:spAutoFit/>
          </a:bodyPr>
          <a:lstStyle/>
          <a:p>
            <a:pPr>
              <a:lnSpc>
                <a:spcPts val="2090"/>
              </a:lnSpc>
              <a:spcBef>
                <a:spcPts val="0"/>
              </a:spcBef>
              <a:spcAft>
                <a:spcPts val="0"/>
              </a:spcAft>
              <a:defRPr sz="1850" b="1">
                <a:solidFill>
                  <a:srgbClr val="234B42"/>
                </a:solidFill>
                <a:latin typeface="Manrope"/>
              </a:defRPr>
            </a:pPr>
            <a:r>
              <a:rPr lang="de-DE"/>
              <a:t>Mögliche Funktion</a:t>
            </a:r>
          </a:p>
        </p:txBody>
      </p:sp>
      <p:sp>
        <p:nvSpPr>
          <p:cNvPr id="12" name="Text 11"/>
          <p:cNvSpPr txBox="1"/>
          <p:nvPr/>
        </p:nvSpPr>
        <p:spPr>
          <a:xfrm>
            <a:off x="6464808" y="2298509"/>
            <a:ext cx="4873752" cy="1262316"/>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Solche Handlungen können zur</a:t>
            </a:r>
          </a:p>
          <a:p>
            <a:pPr>
              <a:lnSpc>
                <a:spcPts val="2477"/>
              </a:lnSpc>
              <a:spcBef>
                <a:spcPts val="0"/>
              </a:spcBef>
              <a:spcAft>
                <a:spcPts val="0"/>
              </a:spcAft>
              <a:defRPr sz="2100" b="0">
                <a:solidFill>
                  <a:srgbClr val="26332F"/>
                </a:solidFill>
                <a:latin typeface="Inter"/>
              </a:defRPr>
            </a:pPr>
            <a:r>
              <a:rPr lang="de-DE"/>
              <a:t>Regulation beitragen</a:t>
            </a:r>
          </a:p>
        </p:txBody>
      </p:sp>
      <p:sp>
        <p:nvSpPr>
          <p:cNvPr id="13" name="Rounded Rectangle 12"/>
          <p:cNvSpPr/>
          <p:nvPr/>
        </p:nvSpPr>
        <p:spPr>
          <a:xfrm>
            <a:off x="594360" y="3954018"/>
            <a:ext cx="5385816" cy="2081021"/>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94360" y="3954018"/>
            <a:ext cx="50292" cy="2081021"/>
          </a:xfrm>
          <a:prstGeom prst="rect">
            <a:avLst/>
          </a:prstGeom>
          <a:solidFill>
            <a:srgbClr val="B9AE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14"/>
          <p:cNvSpPr txBox="1"/>
          <p:nvPr/>
        </p:nvSpPr>
        <p:spPr>
          <a:xfrm>
            <a:off x="850392" y="4164330"/>
            <a:ext cx="4873752" cy="315785"/>
          </a:xfrm>
          <a:prstGeom prst="rect">
            <a:avLst/>
          </a:prstGeom>
          <a:noFill/>
        </p:spPr>
        <p:txBody>
          <a:bodyPr wrap="none" lIns="0" rIns="0" tIns="0" bIns="0" anchor="t">
            <a:spAutoFit/>
          </a:bodyPr>
          <a:lstStyle/>
          <a:p>
            <a:pPr>
              <a:lnSpc>
                <a:spcPts val="2090"/>
              </a:lnSpc>
              <a:spcBef>
                <a:spcPts val="0"/>
              </a:spcBef>
              <a:spcAft>
                <a:spcPts val="0"/>
              </a:spcAft>
              <a:defRPr sz="1850" b="1">
                <a:solidFill>
                  <a:srgbClr val="234B42"/>
                </a:solidFill>
                <a:latin typeface="Manrope"/>
              </a:defRPr>
            </a:pPr>
            <a:r>
              <a:rPr lang="de-DE"/>
              <a:t>Individuell verstehen</a:t>
            </a:r>
          </a:p>
        </p:txBody>
      </p:sp>
      <p:sp>
        <p:nvSpPr>
          <p:cNvPr id="16" name="Text 15"/>
          <p:cNvSpPr txBox="1"/>
          <p:nvPr/>
        </p:nvSpPr>
        <p:spPr>
          <a:xfrm>
            <a:off x="850392" y="4608131"/>
            <a:ext cx="4873752" cy="1262316"/>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Bedeutung und Wirkung sind individuell</a:t>
            </a:r>
          </a:p>
        </p:txBody>
      </p:sp>
      <p:sp>
        <p:nvSpPr>
          <p:cNvPr id="17" name="Rounded Rectangle 16"/>
          <p:cNvSpPr/>
          <p:nvPr/>
        </p:nvSpPr>
        <p:spPr>
          <a:xfrm>
            <a:off x="6208776" y="3954018"/>
            <a:ext cx="5385816" cy="2081021"/>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08776" y="3954018"/>
            <a:ext cx="50292" cy="2081021"/>
          </a:xfrm>
          <a:prstGeom prst="rect">
            <a:avLst/>
          </a:prstGeom>
          <a:solidFill>
            <a:srgbClr val="B9AE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18"/>
          <p:cNvSpPr txBox="1"/>
          <p:nvPr/>
        </p:nvSpPr>
        <p:spPr>
          <a:xfrm>
            <a:off x="6464808" y="4164330"/>
            <a:ext cx="4873752" cy="315785"/>
          </a:xfrm>
          <a:prstGeom prst="rect">
            <a:avLst/>
          </a:prstGeom>
          <a:noFill/>
        </p:spPr>
        <p:txBody>
          <a:bodyPr wrap="none" lIns="0" rIns="0" tIns="0" bIns="0" anchor="t">
            <a:spAutoFit/>
          </a:bodyPr>
          <a:lstStyle/>
          <a:p>
            <a:pPr>
              <a:lnSpc>
                <a:spcPts val="2090"/>
              </a:lnSpc>
              <a:spcBef>
                <a:spcPts val="0"/>
              </a:spcBef>
              <a:spcAft>
                <a:spcPts val="0"/>
              </a:spcAft>
              <a:defRPr sz="1850" b="1">
                <a:solidFill>
                  <a:srgbClr val="234B42"/>
                </a:solidFill>
                <a:latin typeface="Manrope"/>
              </a:defRPr>
            </a:pPr>
            <a:r>
              <a:rPr lang="de-DE"/>
              <a:t>Sicher begleiten</a:t>
            </a:r>
          </a:p>
        </p:txBody>
      </p:sp>
      <p:sp>
        <p:nvSpPr>
          <p:cNvPr id="20" name="Text 19"/>
          <p:cNvSpPr txBox="1"/>
          <p:nvPr/>
        </p:nvSpPr>
        <p:spPr>
          <a:xfrm>
            <a:off x="6464808" y="4608131"/>
            <a:ext cx="4873752" cy="1262316"/>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Bei Verletzungsgefahr sind Schutz und</a:t>
            </a:r>
          </a:p>
          <a:p>
            <a:pPr>
              <a:lnSpc>
                <a:spcPts val="2477"/>
              </a:lnSpc>
              <a:spcBef>
                <a:spcPts val="0"/>
              </a:spcBef>
              <a:spcAft>
                <a:spcPts val="0"/>
              </a:spcAft>
              <a:defRPr sz="2100" b="0">
                <a:solidFill>
                  <a:srgbClr val="26332F"/>
                </a:solidFill>
                <a:latin typeface="Inter"/>
              </a:defRPr>
            </a:pPr>
            <a:r>
              <a:rPr lang="de-DE"/>
              <a:t>passende Alternativen nötig</a:t>
            </a:r>
          </a:p>
        </p:txBody>
      </p:sp>
    </p:spTree>
  </p:cSld>
  <p:clrMapOvr>
    <a:masterClrMapping/>
  </p:clrMapOvr>
  <p:transition spd="fast" advClick="1">
    <p:fade/>
  </p:transition>
</p:sld>
</file>

<file path=ppt/slides/slide49.xml><?xml version="1.0" encoding="utf-8"?>
<p:sld xmlns:a="http://schemas.openxmlformats.org/drawingml/2006/main" xmlns:p="http://schemas.openxmlformats.org/presentationml/2006/main" xmlns:r="http://schemas.openxmlformats.org/officeDocument/2006/relationships" showMasterSp="1">
  <p:cSld>
    <p:bg>
      <p:bgPr>
        <a:solidFill>
          <a:srgbClr val="F7F5EF"/>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49</a:t>
            </a:r>
          </a:p>
        </p:txBody>
      </p:sp>
      <p:sp>
        <p:nvSpPr>
          <p:cNvPr id="3" name="Text 2"/>
          <p:cNvSpPr txBox="1"/>
          <p:nvPr/>
        </p:nvSpPr>
        <p:spPr>
          <a:xfrm>
            <a:off x="594360" y="393192"/>
            <a:ext cx="10881360" cy="203644"/>
          </a:xfrm>
          <a:prstGeom prst="rect">
            <a:avLst/>
          </a:prstGeom>
          <a:noFill/>
        </p:spPr>
        <p:txBody>
          <a:bodyPr wrap="none" lIns="0" rIns="0" tIns="0" bIns="0" anchor="t">
            <a:spAutoFit/>
          </a:bodyPr>
          <a:lstStyle/>
          <a:p>
            <a:pPr>
              <a:lnSpc>
                <a:spcPts val="1207"/>
              </a:lnSpc>
              <a:spcBef>
                <a:spcPts val="0"/>
              </a:spcBef>
              <a:spcAft>
                <a:spcPts val="0"/>
              </a:spcAft>
              <a:defRPr sz="1150" b="1">
                <a:solidFill>
                  <a:srgbClr val="234B42"/>
                </a:solidFill>
                <a:latin typeface="Inter"/>
              </a:defRPr>
            </a:pPr>
            <a:r>
              <a:rPr lang="de-DE"/>
              <a:t>AUTISMUS · INDIVIDUELLE PROFILE</a:t>
            </a:r>
          </a:p>
        </p:txBody>
      </p:sp>
      <p:sp>
        <p:nvSpPr>
          <p:cNvPr id="4" name="Text 3"/>
          <p:cNvSpPr txBox="1"/>
          <p:nvPr/>
        </p:nvSpPr>
        <p:spPr>
          <a:xfrm>
            <a:off x="594360" y="804672"/>
            <a:ext cx="10991088"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Unsichtbarer Unterstützungsbedarf</a:t>
            </a:r>
          </a:p>
        </p:txBody>
      </p:sp>
      <p:sp>
        <p:nvSpPr>
          <p:cNvPr id="5" name="Rounded Rectangle 4"/>
          <p:cNvSpPr/>
          <p:nvPr/>
        </p:nvSpPr>
        <p:spPr>
          <a:xfrm>
            <a:off x="594360" y="1644396"/>
            <a:ext cx="5358384" cy="4372356"/>
          </a:xfrm>
          <a:prstGeom prst="roundRect">
            <a:avLst>
              <a:gd name="adj" fmla="val 6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644396"/>
            <a:ext cx="5358384" cy="59436"/>
          </a:xfrm>
          <a:prstGeom prst="rect">
            <a:avLst/>
          </a:prstGeom>
          <a:solidFill>
            <a:srgbClr val="B9AE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6"/>
          <p:cNvSpPr txBox="1"/>
          <p:nvPr/>
        </p:nvSpPr>
        <p:spPr>
          <a:xfrm>
            <a:off x="886968" y="1937003"/>
            <a:ext cx="4773168" cy="409956"/>
          </a:xfrm>
          <a:prstGeom prst="rect">
            <a:avLst/>
          </a:prstGeom>
          <a:noFill/>
        </p:spPr>
        <p:txBody>
          <a:bodyPr wrap="none" lIns="0" rIns="0" tIns="0" bIns="0" anchor="t">
            <a:spAutoFit/>
          </a:bodyPr>
          <a:lstStyle/>
          <a:p>
            <a:pPr>
              <a:lnSpc>
                <a:spcPts val="2832"/>
              </a:lnSpc>
              <a:spcBef>
                <a:spcPts val="0"/>
              </a:spcBef>
              <a:spcAft>
                <a:spcPts val="0"/>
              </a:spcAft>
              <a:defRPr sz="2400" b="1">
                <a:solidFill>
                  <a:srgbClr val="234B42"/>
                </a:solidFill>
                <a:latin typeface="Manrope"/>
              </a:defRPr>
            </a:pPr>
            <a:r>
              <a:rPr lang="de-DE"/>
              <a:t>Was sichtbar ist</a:t>
            </a:r>
          </a:p>
        </p:txBody>
      </p:sp>
      <p:sp>
        <p:nvSpPr>
          <p:cNvPr id="8" name="Rectangle 7"/>
          <p:cNvSpPr/>
          <p:nvPr/>
        </p:nvSpPr>
        <p:spPr>
          <a:xfrm>
            <a:off x="886968" y="2799588"/>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8"/>
          <p:cNvSpPr txBox="1"/>
          <p:nvPr/>
        </p:nvSpPr>
        <p:spPr>
          <a:xfrm>
            <a:off x="1106424" y="2676143"/>
            <a:ext cx="4553712" cy="1084326"/>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26332F"/>
                </a:solidFill>
                <a:latin typeface="Inter"/>
              </a:defRPr>
            </a:pPr>
            <a:r>
              <a:rPr lang="de-DE"/>
              <a:t>Gesprochene Sprache sagt wenig</a:t>
            </a:r>
          </a:p>
          <a:p>
            <a:pPr>
              <a:lnSpc>
                <a:spcPts val="2713"/>
              </a:lnSpc>
              <a:spcBef>
                <a:spcPts val="0"/>
              </a:spcBef>
              <a:spcAft>
                <a:spcPts val="0"/>
              </a:spcAft>
              <a:defRPr sz="2300" b="0">
                <a:solidFill>
                  <a:srgbClr val="26332F"/>
                </a:solidFill>
                <a:latin typeface="Inter"/>
              </a:defRPr>
            </a:pPr>
            <a:r>
              <a:rPr lang="de-DE"/>
              <a:t>über das Verständnis komplexer</a:t>
            </a:r>
          </a:p>
          <a:p>
            <a:pPr>
              <a:lnSpc>
                <a:spcPts val="2713"/>
              </a:lnSpc>
              <a:spcBef>
                <a:spcPts val="0"/>
              </a:spcBef>
              <a:spcAft>
                <a:spcPts val="0"/>
              </a:spcAft>
              <a:defRPr sz="2300" b="0">
                <a:solidFill>
                  <a:srgbClr val="26332F"/>
                </a:solidFill>
                <a:latin typeface="Inter"/>
              </a:defRPr>
            </a:pPr>
            <a:r>
              <a:rPr lang="de-DE"/>
              <a:t>Situationen</a:t>
            </a:r>
          </a:p>
        </p:txBody>
      </p:sp>
      <p:sp>
        <p:nvSpPr>
          <p:cNvPr id="10" name="Rectangle 9"/>
          <p:cNvSpPr/>
          <p:nvPr/>
        </p:nvSpPr>
        <p:spPr>
          <a:xfrm>
            <a:off x="886968" y="4158233"/>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10"/>
          <p:cNvSpPr txBox="1"/>
          <p:nvPr/>
        </p:nvSpPr>
        <p:spPr>
          <a:xfrm>
            <a:off x="1106424" y="4034789"/>
            <a:ext cx="4553712" cy="739648"/>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26332F"/>
                </a:solidFill>
                <a:latin typeface="Inter"/>
              </a:defRPr>
            </a:pPr>
            <a:r>
              <a:rPr lang="de-DE"/>
              <a:t>Unauffällige Teilnahme kann</a:t>
            </a:r>
          </a:p>
          <a:p>
            <a:pPr>
              <a:lnSpc>
                <a:spcPts val="2713"/>
              </a:lnSpc>
              <a:spcBef>
                <a:spcPts val="0"/>
              </a:spcBef>
              <a:spcAft>
                <a:spcPts val="0"/>
              </a:spcAft>
              <a:defRPr sz="2300" b="0">
                <a:solidFill>
                  <a:srgbClr val="26332F"/>
                </a:solidFill>
                <a:latin typeface="Inter"/>
              </a:defRPr>
            </a:pPr>
            <a:r>
              <a:rPr lang="de-DE"/>
              <a:t>anstrengend sein</a:t>
            </a:r>
          </a:p>
        </p:txBody>
      </p:sp>
      <p:sp>
        <p:nvSpPr>
          <p:cNvPr id="12" name="Rounded Rectangle 11"/>
          <p:cNvSpPr/>
          <p:nvPr/>
        </p:nvSpPr>
        <p:spPr>
          <a:xfrm>
            <a:off x="6236208" y="1644396"/>
            <a:ext cx="5358384" cy="4372356"/>
          </a:xfrm>
          <a:prstGeom prst="roundRect">
            <a:avLst>
              <a:gd name="adj" fmla="val 6500"/>
            </a:avLst>
          </a:prstGeom>
          <a:solidFill>
            <a:srgbClr val="E9EE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644396"/>
            <a:ext cx="5358384" cy="59436"/>
          </a:xfrm>
          <a:prstGeom prst="rect">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13"/>
          <p:cNvSpPr txBox="1"/>
          <p:nvPr/>
        </p:nvSpPr>
        <p:spPr>
          <a:xfrm>
            <a:off x="6528816" y="1937003"/>
            <a:ext cx="4773168" cy="409956"/>
          </a:xfrm>
          <a:prstGeom prst="rect">
            <a:avLst/>
          </a:prstGeom>
          <a:noFill/>
        </p:spPr>
        <p:txBody>
          <a:bodyPr wrap="none" lIns="0" rIns="0" tIns="0" bIns="0" anchor="t">
            <a:spAutoFit/>
          </a:bodyPr>
          <a:lstStyle/>
          <a:p>
            <a:pPr>
              <a:lnSpc>
                <a:spcPts val="2832"/>
              </a:lnSpc>
              <a:spcBef>
                <a:spcPts val="0"/>
              </a:spcBef>
              <a:spcAft>
                <a:spcPts val="0"/>
              </a:spcAft>
              <a:defRPr sz="2400" b="1">
                <a:solidFill>
                  <a:srgbClr val="234B42"/>
                </a:solidFill>
                <a:latin typeface="Manrope"/>
              </a:defRPr>
            </a:pPr>
            <a:r>
              <a:rPr lang="de-DE"/>
              <a:t>Was wir gemeinsam erkunden</a:t>
            </a:r>
          </a:p>
        </p:txBody>
      </p:sp>
      <p:sp>
        <p:nvSpPr>
          <p:cNvPr id="15" name="Rectangle 14"/>
          <p:cNvSpPr/>
          <p:nvPr/>
        </p:nvSpPr>
        <p:spPr>
          <a:xfrm>
            <a:off x="6528816" y="2799588"/>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15"/>
          <p:cNvSpPr txBox="1"/>
          <p:nvPr/>
        </p:nvSpPr>
        <p:spPr>
          <a:xfrm>
            <a:off x="6748272" y="2676143"/>
            <a:ext cx="4553712" cy="739648"/>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26332F"/>
                </a:solidFill>
                <a:latin typeface="Inter"/>
              </a:defRPr>
            </a:pPr>
            <a:r>
              <a:rPr lang="de-DE"/>
              <a:t>Beobachtungen aus Kita und</a:t>
            </a:r>
          </a:p>
          <a:p>
            <a:pPr>
              <a:lnSpc>
                <a:spcPts val="2713"/>
              </a:lnSpc>
              <a:spcBef>
                <a:spcPts val="0"/>
              </a:spcBef>
              <a:spcAft>
                <a:spcPts val="0"/>
              </a:spcAft>
              <a:defRPr sz="2300" b="0">
                <a:solidFill>
                  <a:srgbClr val="26332F"/>
                </a:solidFill>
                <a:latin typeface="Inter"/>
              </a:defRPr>
            </a:pPr>
            <a:r>
              <a:rPr lang="de-DE"/>
              <a:t>Familie können sich unterscheiden</a:t>
            </a:r>
          </a:p>
        </p:txBody>
      </p:sp>
      <p:sp>
        <p:nvSpPr>
          <p:cNvPr id="17" name="Rectangle 16"/>
          <p:cNvSpPr/>
          <p:nvPr/>
        </p:nvSpPr>
        <p:spPr>
          <a:xfrm>
            <a:off x="6528816" y="3813555"/>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17"/>
          <p:cNvSpPr txBox="1"/>
          <p:nvPr/>
        </p:nvSpPr>
        <p:spPr>
          <a:xfrm>
            <a:off x="6748272" y="3690111"/>
            <a:ext cx="4553712" cy="1084326"/>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26332F"/>
                </a:solidFill>
                <a:latin typeface="Inter"/>
              </a:defRPr>
            </a:pPr>
            <a:r>
              <a:rPr lang="de-DE"/>
              <a:t>Rückzug, Erschöpfung und</a:t>
            </a:r>
          </a:p>
          <a:p>
            <a:pPr>
              <a:lnSpc>
                <a:spcPts val="2713"/>
              </a:lnSpc>
              <a:spcBef>
                <a:spcPts val="0"/>
              </a:spcBef>
              <a:spcAft>
                <a:spcPts val="0"/>
              </a:spcAft>
              <a:defRPr sz="2300" b="0">
                <a:solidFill>
                  <a:srgbClr val="26332F"/>
                </a:solidFill>
                <a:latin typeface="Inter"/>
              </a:defRPr>
            </a:pPr>
            <a:r>
              <a:rPr lang="de-DE"/>
              <a:t>gelingende Momente gemeinsam</a:t>
            </a:r>
          </a:p>
          <a:p>
            <a:pPr>
              <a:lnSpc>
                <a:spcPts val="2713"/>
              </a:lnSpc>
              <a:spcBef>
                <a:spcPts val="0"/>
              </a:spcBef>
              <a:spcAft>
                <a:spcPts val="0"/>
              </a:spcAft>
              <a:defRPr sz="2300" b="0">
                <a:solidFill>
                  <a:srgbClr val="26332F"/>
                </a:solidFill>
                <a:latin typeface="Inter"/>
              </a:defRPr>
            </a:pPr>
            <a:r>
              <a:rPr lang="de-DE"/>
              <a:t>erkunden</a:t>
            </a:r>
          </a:p>
        </p:txBody>
      </p:sp>
    </p:spTree>
  </p:cSld>
  <p:clrMapOvr>
    <a:masterClrMapping/>
  </p:clrMapOvr>
  <p:transition spd="fast" advClick="1">
    <p:fade/>
  </p:transition>
</p:sld>
</file>

<file path=ppt/slides/slide50.xml><?xml version="1.0" encoding="utf-8"?>
<p:sld xmlns:a="http://schemas.openxmlformats.org/drawingml/2006/main" xmlns:p="http://schemas.openxmlformats.org/presentationml/2006/main" xmlns:r="http://schemas.openxmlformats.org/officeDocument/2006/relationships" showMasterSp="1">
  <p:cSld>
    <p:bg>
      <p:bgPr>
        <a:solidFill>
          <a:srgbClr val="F7F5EF"/>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50</a:t>
            </a:r>
          </a:p>
        </p:txBody>
      </p:sp>
      <p:sp>
        <p:nvSpPr>
          <p:cNvPr id="3" name="Text 2"/>
          <p:cNvSpPr txBox="1"/>
          <p:nvPr/>
        </p:nvSpPr>
        <p:spPr>
          <a:xfrm>
            <a:off x="594360" y="393192"/>
            <a:ext cx="10881360" cy="203644"/>
          </a:xfrm>
          <a:prstGeom prst="rect">
            <a:avLst/>
          </a:prstGeom>
          <a:noFill/>
        </p:spPr>
        <p:txBody>
          <a:bodyPr wrap="none" lIns="0" rIns="0" tIns="0" bIns="0" anchor="t">
            <a:spAutoFit/>
          </a:bodyPr>
          <a:lstStyle/>
          <a:p>
            <a:pPr>
              <a:lnSpc>
                <a:spcPts val="1207"/>
              </a:lnSpc>
              <a:spcBef>
                <a:spcPts val="0"/>
              </a:spcBef>
              <a:spcAft>
                <a:spcPts val="0"/>
              </a:spcAft>
              <a:defRPr sz="1150" b="1">
                <a:solidFill>
                  <a:srgbClr val="234B42"/>
                </a:solidFill>
                <a:latin typeface="Inter"/>
              </a:defRPr>
            </a:pPr>
            <a:r>
              <a:rPr lang="de-DE"/>
              <a:t>BEOBACHTEN &amp; VERSTEHEN</a:t>
            </a:r>
          </a:p>
        </p:txBody>
      </p:sp>
      <p:sp>
        <p:nvSpPr>
          <p:cNvPr id="4" name="Text 3"/>
          <p:cNvSpPr txBox="1"/>
          <p:nvPr/>
        </p:nvSpPr>
        <p:spPr>
          <a:xfrm>
            <a:off x="594360" y="804672"/>
            <a:ext cx="10991088"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Ähnliche Signale und verschiedene Ursachen</a:t>
            </a:r>
          </a:p>
        </p:txBody>
      </p:sp>
      <p:sp>
        <p:nvSpPr>
          <p:cNvPr id="5" name="Rounded Rectangle 4"/>
          <p:cNvSpPr/>
          <p:nvPr/>
        </p:nvSpPr>
        <p:spPr>
          <a:xfrm>
            <a:off x="594360" y="1644396"/>
            <a:ext cx="5358384" cy="4372356"/>
          </a:xfrm>
          <a:prstGeom prst="roundRect">
            <a:avLst>
              <a:gd name="adj" fmla="val 6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644396"/>
            <a:ext cx="5358384" cy="59436"/>
          </a:xfrm>
          <a:prstGeom prst="rect">
            <a:avLst/>
          </a:prstGeom>
          <a:solidFill>
            <a:srgbClr val="B9AE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6"/>
          <p:cNvSpPr txBox="1"/>
          <p:nvPr/>
        </p:nvSpPr>
        <p:spPr>
          <a:xfrm>
            <a:off x="886968" y="1937003"/>
            <a:ext cx="4773168" cy="769620"/>
          </a:xfrm>
          <a:prstGeom prst="rect">
            <a:avLst/>
          </a:prstGeom>
          <a:noFill/>
        </p:spPr>
        <p:txBody>
          <a:bodyPr wrap="none" lIns="0" rIns="0" tIns="0" bIns="0" anchor="t">
            <a:spAutoFit/>
          </a:bodyPr>
          <a:lstStyle/>
          <a:p>
            <a:pPr>
              <a:lnSpc>
                <a:spcPts val="2832"/>
              </a:lnSpc>
              <a:spcBef>
                <a:spcPts val="0"/>
              </a:spcBef>
              <a:spcAft>
                <a:spcPts val="0"/>
              </a:spcAft>
              <a:defRPr sz="2400" b="1">
                <a:solidFill>
                  <a:srgbClr val="234B42"/>
                </a:solidFill>
                <a:latin typeface="Manrope"/>
              </a:defRPr>
            </a:pPr>
            <a:r>
              <a:rPr lang="de-DE"/>
              <a:t>Ein Signal – mehrere mögliche</a:t>
            </a:r>
          </a:p>
          <a:p>
            <a:pPr>
              <a:lnSpc>
                <a:spcPts val="2832"/>
              </a:lnSpc>
              <a:spcBef>
                <a:spcPts val="0"/>
              </a:spcBef>
              <a:spcAft>
                <a:spcPts val="0"/>
              </a:spcAft>
              <a:defRPr sz="2400" b="1">
                <a:solidFill>
                  <a:srgbClr val="234B42"/>
                </a:solidFill>
                <a:latin typeface="Manrope"/>
              </a:defRPr>
            </a:pPr>
            <a:r>
              <a:rPr lang="de-DE"/>
              <a:t>Erklärungen</a:t>
            </a:r>
          </a:p>
        </p:txBody>
      </p:sp>
      <p:sp>
        <p:nvSpPr>
          <p:cNvPr id="8" name="Rectangle 7"/>
          <p:cNvSpPr/>
          <p:nvPr/>
        </p:nvSpPr>
        <p:spPr>
          <a:xfrm>
            <a:off x="886968" y="3159252"/>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8"/>
          <p:cNvSpPr txBox="1"/>
          <p:nvPr/>
        </p:nvSpPr>
        <p:spPr>
          <a:xfrm>
            <a:off x="1106424" y="3035808"/>
            <a:ext cx="4553712" cy="1084326"/>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26332F"/>
                </a:solidFill>
                <a:latin typeface="Inter"/>
              </a:defRPr>
            </a:pPr>
            <a:r>
              <a:rPr lang="de-DE"/>
              <a:t>Aufstehen kann mit Bewegung,</a:t>
            </a:r>
          </a:p>
          <a:p>
            <a:pPr>
              <a:lnSpc>
                <a:spcPts val="2713"/>
              </a:lnSpc>
              <a:spcBef>
                <a:spcPts val="0"/>
              </a:spcBef>
              <a:spcAft>
                <a:spcPts val="0"/>
              </a:spcAft>
              <a:defRPr sz="2300" b="0">
                <a:solidFill>
                  <a:srgbClr val="26332F"/>
                </a:solidFill>
                <a:latin typeface="Inter"/>
              </a:defRPr>
            </a:pPr>
            <a:r>
              <a:rPr lang="de-DE"/>
              <a:t>Lärm oder einem unklaren Auftrag</a:t>
            </a:r>
          </a:p>
          <a:p>
            <a:pPr>
              <a:lnSpc>
                <a:spcPts val="2713"/>
              </a:lnSpc>
              <a:spcBef>
                <a:spcPts val="0"/>
              </a:spcBef>
              <a:spcAft>
                <a:spcPts val="0"/>
              </a:spcAft>
              <a:defRPr sz="2300" b="0">
                <a:solidFill>
                  <a:srgbClr val="26332F"/>
                </a:solidFill>
                <a:latin typeface="Inter"/>
              </a:defRPr>
            </a:pPr>
            <a:r>
              <a:rPr lang="de-DE"/>
              <a:t>zusammenhängen</a:t>
            </a:r>
          </a:p>
        </p:txBody>
      </p:sp>
      <p:sp>
        <p:nvSpPr>
          <p:cNvPr id="10" name="Rectangle 9"/>
          <p:cNvSpPr/>
          <p:nvPr/>
        </p:nvSpPr>
        <p:spPr>
          <a:xfrm>
            <a:off x="886968" y="4517898"/>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10"/>
          <p:cNvSpPr txBox="1"/>
          <p:nvPr/>
        </p:nvSpPr>
        <p:spPr>
          <a:xfrm>
            <a:off x="1106424" y="4394454"/>
            <a:ext cx="4553712" cy="739648"/>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26332F"/>
                </a:solidFill>
                <a:latin typeface="Inter"/>
              </a:defRPr>
            </a:pPr>
            <a:r>
              <a:rPr lang="de-DE"/>
              <a:t>Rückzug kann Sicherheit schaffen</a:t>
            </a:r>
          </a:p>
          <a:p>
            <a:pPr>
              <a:lnSpc>
                <a:spcPts val="2713"/>
              </a:lnSpc>
              <a:spcBef>
                <a:spcPts val="0"/>
              </a:spcBef>
              <a:spcAft>
                <a:spcPts val="0"/>
              </a:spcAft>
              <a:defRPr sz="2300" b="0">
                <a:solidFill>
                  <a:srgbClr val="26332F"/>
                </a:solidFill>
                <a:latin typeface="Inter"/>
              </a:defRPr>
            </a:pPr>
            <a:r>
              <a:rPr lang="de-DE"/>
              <a:t>oder auf Beschwerden hinweisen</a:t>
            </a:r>
          </a:p>
        </p:txBody>
      </p:sp>
      <p:sp>
        <p:nvSpPr>
          <p:cNvPr id="12" name="Rounded Rectangle 11"/>
          <p:cNvSpPr/>
          <p:nvPr/>
        </p:nvSpPr>
        <p:spPr>
          <a:xfrm>
            <a:off x="6236208" y="1644396"/>
            <a:ext cx="5358384" cy="4372356"/>
          </a:xfrm>
          <a:prstGeom prst="roundRect">
            <a:avLst>
              <a:gd name="adj" fmla="val 6500"/>
            </a:avLst>
          </a:prstGeom>
          <a:solidFill>
            <a:srgbClr val="E9EE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644396"/>
            <a:ext cx="5358384" cy="59436"/>
          </a:xfrm>
          <a:prstGeom prst="rect">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13"/>
          <p:cNvSpPr txBox="1"/>
          <p:nvPr/>
        </p:nvSpPr>
        <p:spPr>
          <a:xfrm>
            <a:off x="6528816" y="1937003"/>
            <a:ext cx="4773168" cy="409956"/>
          </a:xfrm>
          <a:prstGeom prst="rect">
            <a:avLst/>
          </a:prstGeom>
          <a:noFill/>
        </p:spPr>
        <p:txBody>
          <a:bodyPr wrap="none" lIns="0" rIns="0" tIns="0" bIns="0" anchor="t">
            <a:spAutoFit/>
          </a:bodyPr>
          <a:lstStyle/>
          <a:p>
            <a:pPr>
              <a:lnSpc>
                <a:spcPts val="2832"/>
              </a:lnSpc>
              <a:spcBef>
                <a:spcPts val="0"/>
              </a:spcBef>
              <a:spcAft>
                <a:spcPts val="0"/>
              </a:spcAft>
              <a:defRPr sz="2400" b="1">
                <a:solidFill>
                  <a:srgbClr val="234B42"/>
                </a:solidFill>
                <a:latin typeface="Manrope"/>
              </a:defRPr>
            </a:pPr>
            <a:r>
              <a:rPr lang="de-DE"/>
              <a:t>Pädagogische Einordnung</a:t>
            </a:r>
          </a:p>
        </p:txBody>
      </p:sp>
      <p:sp>
        <p:nvSpPr>
          <p:cNvPr id="15" name="Rectangle 14"/>
          <p:cNvSpPr/>
          <p:nvPr/>
        </p:nvSpPr>
        <p:spPr>
          <a:xfrm>
            <a:off x="6528816" y="2799588"/>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15"/>
          <p:cNvSpPr txBox="1"/>
          <p:nvPr/>
        </p:nvSpPr>
        <p:spPr>
          <a:xfrm>
            <a:off x="6748272" y="2676143"/>
            <a:ext cx="4553712" cy="739648"/>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26332F"/>
                </a:solidFill>
                <a:latin typeface="Inter"/>
              </a:defRPr>
            </a:pPr>
            <a:r>
              <a:rPr lang="de-DE"/>
              <a:t>Mehrere Erklärungen bleiben</a:t>
            </a:r>
          </a:p>
          <a:p>
            <a:pPr>
              <a:lnSpc>
                <a:spcPts val="2713"/>
              </a:lnSpc>
              <a:spcBef>
                <a:spcPts val="0"/>
              </a:spcBef>
              <a:spcAft>
                <a:spcPts val="0"/>
              </a:spcAft>
              <a:defRPr sz="2300" b="0">
                <a:solidFill>
                  <a:srgbClr val="26332F"/>
                </a:solidFill>
                <a:latin typeface="Inter"/>
              </a:defRPr>
            </a:pPr>
            <a:r>
              <a:rPr lang="de-DE"/>
              <a:t>zunächst offen</a:t>
            </a:r>
          </a:p>
        </p:txBody>
      </p:sp>
      <p:sp>
        <p:nvSpPr>
          <p:cNvPr id="17" name="Rectangle 16"/>
          <p:cNvSpPr/>
          <p:nvPr/>
        </p:nvSpPr>
        <p:spPr>
          <a:xfrm>
            <a:off x="6528816" y="3813555"/>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17"/>
          <p:cNvSpPr txBox="1"/>
          <p:nvPr/>
        </p:nvSpPr>
        <p:spPr>
          <a:xfrm>
            <a:off x="6748272" y="3690111"/>
            <a:ext cx="4553712" cy="1084326"/>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26332F"/>
                </a:solidFill>
                <a:latin typeface="Inter"/>
              </a:defRPr>
            </a:pPr>
            <a:r>
              <a:rPr lang="de-DE"/>
              <a:t>Beobachtungen in</a:t>
            </a:r>
          </a:p>
          <a:p>
            <a:pPr>
              <a:lnSpc>
                <a:spcPts val="2713"/>
              </a:lnSpc>
              <a:spcBef>
                <a:spcPts val="0"/>
              </a:spcBef>
              <a:spcAft>
                <a:spcPts val="0"/>
              </a:spcAft>
              <a:defRPr sz="2300" b="0">
                <a:solidFill>
                  <a:srgbClr val="26332F"/>
                </a:solidFill>
                <a:latin typeface="Inter"/>
              </a:defRPr>
            </a:pPr>
            <a:r>
              <a:rPr lang="de-DE"/>
              <a:t>unterschiedlichen Situationen</a:t>
            </a:r>
          </a:p>
          <a:p>
            <a:pPr>
              <a:lnSpc>
                <a:spcPts val="2713"/>
              </a:lnSpc>
              <a:spcBef>
                <a:spcPts val="0"/>
              </a:spcBef>
              <a:spcAft>
                <a:spcPts val="0"/>
              </a:spcAft>
              <a:defRPr sz="2300" b="0">
                <a:solidFill>
                  <a:srgbClr val="26332F"/>
                </a:solidFill>
                <a:latin typeface="Inter"/>
              </a:defRPr>
            </a:pPr>
            <a:r>
              <a:rPr lang="de-DE"/>
              <a:t>helfen beim Einordnen</a:t>
            </a:r>
          </a:p>
        </p:txBody>
      </p:sp>
    </p:spTree>
  </p:cSld>
  <p:clrMapOvr>
    <a:masterClrMapping/>
  </p:clrMapOvr>
  <p:transition spd="fast" advClick="1">
    <p:fade/>
  </p:transition>
</p:sld>
</file>

<file path=ppt/slides/slide51.xml><?xml version="1.0" encoding="utf-8"?>
<p:sld xmlns:a="http://schemas.openxmlformats.org/drawingml/2006/main" xmlns:p="http://schemas.openxmlformats.org/presentationml/2006/main" xmlns:r="http://schemas.openxmlformats.org/officeDocument/2006/relationships" showMasterSp="1">
  <p:cSld>
    <p:bg>
      <p:bgPr>
        <a:solidFill>
          <a:srgbClr val="F7F5EF"/>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51</a:t>
            </a:r>
          </a:p>
        </p:txBody>
      </p:sp>
      <p:sp>
        <p:nvSpPr>
          <p:cNvPr id="3" name="Text 2"/>
          <p:cNvSpPr txBox="1"/>
          <p:nvPr/>
        </p:nvSpPr>
        <p:spPr>
          <a:xfrm>
            <a:off x="594360" y="393192"/>
            <a:ext cx="10881360" cy="203644"/>
          </a:xfrm>
          <a:prstGeom prst="rect">
            <a:avLst/>
          </a:prstGeom>
          <a:noFill/>
        </p:spPr>
        <p:txBody>
          <a:bodyPr wrap="none" lIns="0" rIns="0" tIns="0" bIns="0" anchor="t">
            <a:spAutoFit/>
          </a:bodyPr>
          <a:lstStyle/>
          <a:p>
            <a:pPr>
              <a:lnSpc>
                <a:spcPts val="1207"/>
              </a:lnSpc>
              <a:spcBef>
                <a:spcPts val="0"/>
              </a:spcBef>
              <a:spcAft>
                <a:spcPts val="0"/>
              </a:spcAft>
              <a:defRPr sz="1150" b="1">
                <a:solidFill>
                  <a:srgbClr val="234B42"/>
                </a:solidFill>
                <a:latin typeface="Inter"/>
              </a:defRPr>
            </a:pPr>
            <a:r>
              <a:rPr lang="de-DE"/>
              <a:t>ADHS &amp; AUTISMUS</a:t>
            </a:r>
          </a:p>
        </p:txBody>
      </p:sp>
      <p:sp>
        <p:nvSpPr>
          <p:cNvPr id="4" name="Text 3"/>
          <p:cNvSpPr txBox="1"/>
          <p:nvPr/>
        </p:nvSpPr>
        <p:spPr>
          <a:xfrm>
            <a:off x="594360" y="804672"/>
            <a:ext cx="10991088"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ADHS und Autismus gemeinsam</a:t>
            </a:r>
          </a:p>
        </p:txBody>
      </p:sp>
      <p:sp>
        <p:nvSpPr>
          <p:cNvPr id="5" name="Text 4"/>
          <p:cNvSpPr txBox="1"/>
          <p:nvPr/>
        </p:nvSpPr>
        <p:spPr>
          <a:xfrm>
            <a:off x="896112" y="1644396"/>
            <a:ext cx="4681728" cy="245110"/>
          </a:xfrm>
          <a:prstGeom prst="rect">
            <a:avLst/>
          </a:prstGeom>
          <a:noFill/>
        </p:spPr>
        <p:txBody>
          <a:bodyPr wrap="none" lIns="0" rIns="0" tIns="0" bIns="0" anchor="t">
            <a:spAutoFit/>
          </a:bodyPr>
          <a:lstStyle/>
          <a:p>
            <a:pPr>
              <a:lnSpc>
                <a:spcPts val="1534"/>
              </a:lnSpc>
              <a:spcBef>
                <a:spcPts val="0"/>
              </a:spcBef>
              <a:spcAft>
                <a:spcPts val="0"/>
              </a:spcAft>
              <a:defRPr sz="1300" b="1">
                <a:solidFill>
                  <a:srgbClr val="63736A"/>
                </a:solidFill>
                <a:latin typeface="Inter"/>
              </a:defRPr>
            </a:pPr>
            <a:r>
              <a:rPr lang="de-DE"/>
              <a:t>Möglicher Bedarf</a:t>
            </a:r>
          </a:p>
        </p:txBody>
      </p:sp>
      <p:sp>
        <p:nvSpPr>
          <p:cNvPr id="6" name="Text 5"/>
          <p:cNvSpPr txBox="1"/>
          <p:nvPr/>
        </p:nvSpPr>
        <p:spPr>
          <a:xfrm>
            <a:off x="6080760" y="1644396"/>
            <a:ext cx="5166360" cy="245110"/>
          </a:xfrm>
          <a:prstGeom prst="rect">
            <a:avLst/>
          </a:prstGeom>
          <a:noFill/>
        </p:spPr>
        <p:txBody>
          <a:bodyPr wrap="none" lIns="0" rIns="0" tIns="0" bIns="0" anchor="t">
            <a:spAutoFit/>
          </a:bodyPr>
          <a:lstStyle/>
          <a:p>
            <a:pPr>
              <a:lnSpc>
                <a:spcPts val="1534"/>
              </a:lnSpc>
              <a:spcBef>
                <a:spcPts val="0"/>
              </a:spcBef>
              <a:spcAft>
                <a:spcPts val="0"/>
              </a:spcAft>
              <a:defRPr sz="1300" b="1">
                <a:solidFill>
                  <a:srgbClr val="63736A"/>
                </a:solidFill>
                <a:latin typeface="Inter"/>
              </a:defRPr>
            </a:pPr>
            <a:r>
              <a:rPr lang="de-DE"/>
              <a:t>Passende Frage</a:t>
            </a:r>
          </a:p>
        </p:txBody>
      </p:sp>
      <p:sp>
        <p:nvSpPr>
          <p:cNvPr id="7" name="Rounded Rectangle 6"/>
          <p:cNvSpPr/>
          <p:nvPr/>
        </p:nvSpPr>
        <p:spPr>
          <a:xfrm>
            <a:off x="594360" y="2037588"/>
            <a:ext cx="11000232" cy="1055116"/>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2037588"/>
            <a:ext cx="50292" cy="1055116"/>
          </a:xfrm>
          <a:prstGeom prst="rect">
            <a:avLst/>
          </a:prstGeom>
          <a:solidFill>
            <a:srgbClr val="B9AE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8"/>
          <p:cNvSpPr txBox="1"/>
          <p:nvPr/>
        </p:nvSpPr>
        <p:spPr>
          <a:xfrm>
            <a:off x="896112" y="2156460"/>
            <a:ext cx="4681728" cy="844804"/>
          </a:xfrm>
          <a:prstGeom prst="rect">
            <a:avLst/>
          </a:prstGeom>
          <a:noFill/>
        </p:spPr>
        <p:txBody>
          <a:bodyPr wrap="none" lIns="0" rIns="0" tIns="0" bIns="0" anchor="t">
            <a:spAutoFit/>
          </a:bodyPr>
          <a:lstStyle/>
          <a:p>
            <a:pPr>
              <a:lnSpc>
                <a:spcPts val="2536"/>
              </a:lnSpc>
              <a:spcBef>
                <a:spcPts val="0"/>
              </a:spcBef>
              <a:spcAft>
                <a:spcPts val="0"/>
              </a:spcAft>
              <a:defRPr sz="2150" b="1">
                <a:solidFill>
                  <a:srgbClr val="234B42"/>
                </a:solidFill>
                <a:latin typeface="Manrope"/>
              </a:defRPr>
            </a:pPr>
            <a:r>
              <a:rPr lang="de-DE"/>
              <a:t>Bewegung und vorhersehbarer</a:t>
            </a:r>
          </a:p>
          <a:p>
            <a:pPr>
              <a:lnSpc>
                <a:spcPts val="2536"/>
              </a:lnSpc>
              <a:spcBef>
                <a:spcPts val="0"/>
              </a:spcBef>
              <a:spcAft>
                <a:spcPts val="0"/>
              </a:spcAft>
              <a:defRPr sz="2150" b="1">
                <a:solidFill>
                  <a:srgbClr val="234B42"/>
                </a:solidFill>
                <a:latin typeface="Manrope"/>
              </a:defRPr>
            </a:pPr>
            <a:r>
              <a:rPr lang="de-DE"/>
              <a:t>Ablauf</a:t>
            </a:r>
          </a:p>
        </p:txBody>
      </p:sp>
      <p:sp>
        <p:nvSpPr>
          <p:cNvPr id="10" name="Text 9"/>
          <p:cNvSpPr txBox="1"/>
          <p:nvPr/>
        </p:nvSpPr>
        <p:spPr>
          <a:xfrm>
            <a:off x="6080760" y="2156460"/>
            <a:ext cx="5166360" cy="844804"/>
          </a:xfrm>
          <a:prstGeom prst="rect">
            <a:avLst/>
          </a:prstGeom>
          <a:noFill/>
        </p:spPr>
        <p:txBody>
          <a:bodyPr wrap="none" lIns="0" rIns="0" tIns="0" bIns="0" anchor="t">
            <a:spAutoFit/>
          </a:bodyPr>
          <a:lstStyle/>
          <a:p>
            <a:pPr>
              <a:lnSpc>
                <a:spcPts val="2536"/>
              </a:lnSpc>
              <a:spcBef>
                <a:spcPts val="0"/>
              </a:spcBef>
              <a:spcAft>
                <a:spcPts val="0"/>
              </a:spcAft>
              <a:defRPr sz="2150" b="0">
                <a:solidFill>
                  <a:srgbClr val="26332F"/>
                </a:solidFill>
                <a:latin typeface="Inter"/>
              </a:defRPr>
            </a:pPr>
            <a:r>
              <a:rPr lang="de-DE"/>
              <a:t>Welche aktive Aufgabe passt in eine</a:t>
            </a:r>
          </a:p>
          <a:p>
            <a:pPr>
              <a:lnSpc>
                <a:spcPts val="2536"/>
              </a:lnSpc>
              <a:spcBef>
                <a:spcPts val="0"/>
              </a:spcBef>
              <a:spcAft>
                <a:spcPts val="0"/>
              </a:spcAft>
              <a:defRPr sz="2150" b="0">
                <a:solidFill>
                  <a:srgbClr val="26332F"/>
                </a:solidFill>
                <a:latin typeface="Inter"/>
              </a:defRPr>
            </a:pPr>
            <a:r>
              <a:rPr lang="de-DE"/>
              <a:t>verlässliche Struktur?</a:t>
            </a:r>
          </a:p>
        </p:txBody>
      </p:sp>
      <p:sp>
        <p:nvSpPr>
          <p:cNvPr id="11" name="Rounded Rectangle 10"/>
          <p:cNvSpPr/>
          <p:nvPr/>
        </p:nvSpPr>
        <p:spPr>
          <a:xfrm>
            <a:off x="594360" y="3211576"/>
            <a:ext cx="11000232" cy="1055116"/>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94360" y="3211576"/>
            <a:ext cx="50292" cy="1055116"/>
          </a:xfrm>
          <a:prstGeom prst="rect">
            <a:avLst/>
          </a:prstGeom>
          <a:solidFill>
            <a:srgbClr val="B9AE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12"/>
          <p:cNvSpPr txBox="1"/>
          <p:nvPr/>
        </p:nvSpPr>
        <p:spPr>
          <a:xfrm>
            <a:off x="896112" y="3330448"/>
            <a:ext cx="4681728" cy="844804"/>
          </a:xfrm>
          <a:prstGeom prst="rect">
            <a:avLst/>
          </a:prstGeom>
          <a:noFill/>
        </p:spPr>
        <p:txBody>
          <a:bodyPr wrap="none" lIns="0" rIns="0" tIns="0" bIns="0" anchor="t">
            <a:spAutoFit/>
          </a:bodyPr>
          <a:lstStyle/>
          <a:p>
            <a:pPr>
              <a:lnSpc>
                <a:spcPts val="2536"/>
              </a:lnSpc>
              <a:spcBef>
                <a:spcPts val="0"/>
              </a:spcBef>
              <a:spcAft>
                <a:spcPts val="0"/>
              </a:spcAft>
              <a:defRPr sz="2150" b="1">
                <a:solidFill>
                  <a:srgbClr val="234B42"/>
                </a:solidFill>
                <a:latin typeface="Manrope"/>
              </a:defRPr>
            </a:pPr>
            <a:r>
              <a:rPr lang="de-DE"/>
              <a:t>Kurze Aufträge und visuelle</a:t>
            </a:r>
          </a:p>
          <a:p>
            <a:pPr>
              <a:lnSpc>
                <a:spcPts val="2536"/>
              </a:lnSpc>
              <a:spcBef>
                <a:spcPts val="0"/>
              </a:spcBef>
              <a:spcAft>
                <a:spcPts val="0"/>
              </a:spcAft>
              <a:defRPr sz="2150" b="1">
                <a:solidFill>
                  <a:srgbClr val="234B42"/>
                </a:solidFill>
                <a:latin typeface="Manrope"/>
              </a:defRPr>
            </a:pPr>
            <a:r>
              <a:rPr lang="de-DE"/>
              <a:t>Orientierung</a:t>
            </a:r>
          </a:p>
        </p:txBody>
      </p:sp>
      <p:sp>
        <p:nvSpPr>
          <p:cNvPr id="14" name="Text 13"/>
          <p:cNvSpPr txBox="1"/>
          <p:nvPr/>
        </p:nvSpPr>
        <p:spPr>
          <a:xfrm>
            <a:off x="6080760" y="3330448"/>
            <a:ext cx="5166360" cy="844804"/>
          </a:xfrm>
          <a:prstGeom prst="rect">
            <a:avLst/>
          </a:prstGeom>
          <a:noFill/>
        </p:spPr>
        <p:txBody>
          <a:bodyPr wrap="none" lIns="0" rIns="0" tIns="0" bIns="0" anchor="t">
            <a:spAutoFit/>
          </a:bodyPr>
          <a:lstStyle/>
          <a:p>
            <a:pPr>
              <a:lnSpc>
                <a:spcPts val="2536"/>
              </a:lnSpc>
              <a:spcBef>
                <a:spcPts val="0"/>
              </a:spcBef>
              <a:spcAft>
                <a:spcPts val="0"/>
              </a:spcAft>
              <a:defRPr sz="2150" b="0">
                <a:solidFill>
                  <a:srgbClr val="26332F"/>
                </a:solidFill>
                <a:latin typeface="Inter"/>
              </a:defRPr>
            </a:pPr>
            <a:r>
              <a:rPr lang="de-DE"/>
              <a:t>Welcher erste Schritt ist verständlich?</a:t>
            </a:r>
          </a:p>
        </p:txBody>
      </p:sp>
      <p:sp>
        <p:nvSpPr>
          <p:cNvPr id="15" name="Rounded Rectangle 14"/>
          <p:cNvSpPr/>
          <p:nvPr/>
        </p:nvSpPr>
        <p:spPr>
          <a:xfrm>
            <a:off x="594360" y="4385564"/>
            <a:ext cx="11000232" cy="1055116"/>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4360" y="4385564"/>
            <a:ext cx="50292" cy="1055116"/>
          </a:xfrm>
          <a:prstGeom prst="rect">
            <a:avLst/>
          </a:prstGeom>
          <a:solidFill>
            <a:srgbClr val="B9AE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16"/>
          <p:cNvSpPr txBox="1"/>
          <p:nvPr/>
        </p:nvSpPr>
        <p:spPr>
          <a:xfrm>
            <a:off x="896112" y="4504436"/>
            <a:ext cx="4681728" cy="844804"/>
          </a:xfrm>
          <a:prstGeom prst="rect">
            <a:avLst/>
          </a:prstGeom>
          <a:noFill/>
        </p:spPr>
        <p:txBody>
          <a:bodyPr wrap="none" lIns="0" rIns="0" tIns="0" bIns="0" anchor="t">
            <a:spAutoFit/>
          </a:bodyPr>
          <a:lstStyle/>
          <a:p>
            <a:pPr>
              <a:lnSpc>
                <a:spcPts val="2536"/>
              </a:lnSpc>
              <a:spcBef>
                <a:spcPts val="0"/>
              </a:spcBef>
              <a:spcAft>
                <a:spcPts val="0"/>
              </a:spcAft>
              <a:defRPr sz="2150" b="1">
                <a:solidFill>
                  <a:srgbClr val="234B42"/>
                </a:solidFill>
                <a:latin typeface="Manrope"/>
              </a:defRPr>
            </a:pPr>
            <a:r>
              <a:rPr lang="de-DE"/>
              <a:t>Kontakt und reizärmere Umgebung</a:t>
            </a:r>
          </a:p>
        </p:txBody>
      </p:sp>
      <p:sp>
        <p:nvSpPr>
          <p:cNvPr id="18" name="Text 17"/>
          <p:cNvSpPr txBox="1"/>
          <p:nvPr/>
        </p:nvSpPr>
        <p:spPr>
          <a:xfrm>
            <a:off x="6080760" y="4504436"/>
            <a:ext cx="5166360" cy="844804"/>
          </a:xfrm>
          <a:prstGeom prst="rect">
            <a:avLst/>
          </a:prstGeom>
          <a:noFill/>
        </p:spPr>
        <p:txBody>
          <a:bodyPr wrap="none" lIns="0" rIns="0" tIns="0" bIns="0" anchor="t">
            <a:spAutoFit/>
          </a:bodyPr>
          <a:lstStyle/>
          <a:p>
            <a:pPr>
              <a:lnSpc>
                <a:spcPts val="2536"/>
              </a:lnSpc>
              <a:spcBef>
                <a:spcPts val="0"/>
              </a:spcBef>
              <a:spcAft>
                <a:spcPts val="0"/>
              </a:spcAft>
              <a:defRPr sz="2150" b="0">
                <a:solidFill>
                  <a:srgbClr val="26332F"/>
                </a:solidFill>
                <a:latin typeface="Inter"/>
              </a:defRPr>
            </a:pPr>
            <a:r>
              <a:rPr lang="de-DE"/>
              <a:t>Wie gelingt gemeinsame Teilnahme ohne</a:t>
            </a:r>
          </a:p>
          <a:p>
            <a:pPr>
              <a:lnSpc>
                <a:spcPts val="2536"/>
              </a:lnSpc>
              <a:spcBef>
                <a:spcPts val="0"/>
              </a:spcBef>
              <a:spcAft>
                <a:spcPts val="0"/>
              </a:spcAft>
              <a:defRPr sz="2150" b="0">
                <a:solidFill>
                  <a:srgbClr val="26332F"/>
                </a:solidFill>
                <a:latin typeface="Inter"/>
              </a:defRPr>
            </a:pPr>
            <a:r>
              <a:rPr lang="de-DE"/>
              <a:t>zu hohe Belastung?</a:t>
            </a:r>
          </a:p>
        </p:txBody>
      </p:sp>
      <p:cxnSp>
        <p:nvCxnSpPr>
          <p:cNvPr id="19" name="Connector 18"/>
          <p:cNvCxnSpPr/>
          <p:nvPr/>
        </p:nvCxnSpPr>
        <p:spPr>
          <a:xfrm>
            <a:off x="594360" y="5495544"/>
            <a:ext cx="502920" cy="0"/>
          </a:xfrm>
          <a:prstGeom prst="line">
            <a:avLst/>
          </a:prstGeom>
          <a:ln w="27940">
            <a:solidFill>
              <a:srgbClr val="D68B73"/>
            </a:solidFill>
          </a:ln>
        </p:spPr>
        <p:style>
          <a:lnRef idx="2">
            <a:schemeClr val="accent1"/>
          </a:lnRef>
          <a:fillRef idx="0">
            <a:schemeClr val="accent1"/>
          </a:fillRef>
          <a:effectRef idx="1">
            <a:schemeClr val="accent1"/>
          </a:effectRef>
          <a:fontRef idx="minor">
            <a:schemeClr val="tx1"/>
          </a:fontRef>
        </p:style>
      </p:cxnSp>
      <p:sp>
        <p:nvSpPr>
          <p:cNvPr id="20" name="Text 19"/>
          <p:cNvSpPr txBox="1"/>
          <p:nvPr/>
        </p:nvSpPr>
        <p:spPr>
          <a:xfrm>
            <a:off x="594360" y="5623560"/>
            <a:ext cx="10972800" cy="694944"/>
          </a:xfrm>
          <a:prstGeom prst="rect">
            <a:avLst/>
          </a:prstGeom>
          <a:noFill/>
        </p:spPr>
        <p:txBody>
          <a:bodyPr wrap="none" lIns="0" rIns="0" tIns="0" bIns="0" anchor="t">
            <a:spAutoFit/>
          </a:bodyPr>
          <a:lstStyle/>
          <a:p>
            <a:pPr>
              <a:lnSpc>
                <a:spcPts val="2419"/>
              </a:lnSpc>
              <a:spcBef>
                <a:spcPts val="0"/>
              </a:spcBef>
              <a:spcAft>
                <a:spcPts val="0"/>
              </a:spcAft>
              <a:defRPr sz="2050" b="1">
                <a:solidFill>
                  <a:srgbClr val="234B42"/>
                </a:solidFill>
                <a:latin typeface="Manrope"/>
              </a:defRPr>
            </a:pPr>
            <a:r>
              <a:rPr lang="de-DE"/>
              <a:t>ADHS und Autismus können gleichzeitig auftreten.</a:t>
            </a:r>
          </a:p>
        </p:txBody>
      </p:sp>
    </p:spTree>
  </p:cSld>
  <p:clrMapOvr>
    <a:masterClrMapping/>
  </p:clrMapOvr>
  <p:transition spd="fast" advClick="1">
    <p:fade/>
  </p:transition>
</p:sld>
</file>

<file path=ppt/slides/slide52.xml><?xml version="1.0" encoding="utf-8"?>
<p:sld xmlns:a="http://schemas.openxmlformats.org/drawingml/2006/main" xmlns:p="http://schemas.openxmlformats.org/presentationml/2006/main" xmlns:r="http://schemas.openxmlformats.org/officeDocument/2006/relationships" showMasterSp="0">
  <p:cSld>
    <p:bg>
      <p:bgPr>
        <a:solidFill>
          <a:srgbClr val="234B42"/>
        </a:solidFill>
        <a:effectLst/>
      </p:bgPr>
    </p:bg>
    <p:spTree>
      <p:nvGrpSpPr>
        <p:cNvPr id="1" name=""/>
        <p:cNvGrpSpPr/>
        <p:nvPr/>
      </p:nvGrpSpPr>
      <p:grpSpPr/>
      <p:cxnSp>
        <p:nvCxnSpPr>
          <p:cNvPr id="2" name="Connector 1"/>
          <p:cNvCxnSpPr/>
          <p:nvPr/>
        </p:nvCxnSpPr>
        <p:spPr>
          <a:xfrm>
            <a:off x="594360" y="6400800"/>
            <a:ext cx="11000232" cy="0"/>
          </a:xfrm>
          <a:prstGeom prst="line">
            <a:avLst/>
          </a:prstGeom>
          <a:ln w="6985">
            <a:solidFill>
              <a:srgbClr val="537568"/>
            </a:solidFill>
          </a:ln>
        </p:spPr>
        <p:style>
          <a:lnRef idx="2">
            <a:schemeClr val="accent1"/>
          </a:lnRef>
          <a:fillRef idx="0">
            <a:schemeClr val="accent1"/>
          </a:fillRef>
          <a:effectRef idx="1">
            <a:schemeClr val="accent1"/>
          </a:effectRef>
          <a:fontRef idx="minor">
            <a:schemeClr val="tx1"/>
          </a:fontRef>
        </p:style>
      </p:cxnSp>
      <p:sp>
        <p:nvSpPr>
          <p:cNvPr id="3" name="Text 2"/>
          <p:cNvSpPr txBox="1"/>
          <p:nvPr/>
        </p:nvSpPr>
        <p:spPr>
          <a:xfrm>
            <a:off x="594360" y="6528816"/>
            <a:ext cx="9692640" cy="176974"/>
          </a:xfrm>
          <a:prstGeom prst="rect">
            <a:avLst/>
          </a:prstGeom>
          <a:noFill/>
        </p:spPr>
        <p:txBody>
          <a:bodyPr wrap="none" lIns="0" rIns="0" tIns="0" bIns="0" anchor="t">
            <a:spAutoFit/>
          </a:bodyPr>
          <a:lstStyle/>
          <a:p>
            <a:pPr>
              <a:lnSpc>
                <a:spcPts val="997"/>
              </a:lnSpc>
              <a:spcBef>
                <a:spcPts val="0"/>
              </a:spcBef>
              <a:spcAft>
                <a:spcPts val="0"/>
              </a:spcAft>
              <a:defRPr sz="950" b="0">
                <a:solidFill>
                  <a:srgbClr val="A8BFA9"/>
                </a:solidFill>
                <a:latin typeface="Inter"/>
              </a:defRPr>
            </a:pPr>
            <a:r>
              <a:rPr lang="de-DE"/>
              <a:t>PRAXIS SCHNECKE / FORTBILDUNG · 02.11.2026</a:t>
            </a:r>
          </a:p>
        </p:txBody>
      </p:sp>
      <p:sp>
        <p:nvSpPr>
          <p:cNvPr id="4" name="Text 3"/>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A8BFA9"/>
                </a:solidFill>
                <a:latin typeface="Inter"/>
              </a:defRPr>
            </a:pPr>
            <a:r>
              <a:rPr lang="de-DE"/>
              <a:t>52</a:t>
            </a:r>
          </a:p>
        </p:txBody>
      </p:sp>
      <p:pic>
        <p:nvPicPr>
          <p:cNvPr id="5" name="Picture 4" descr="02_garderobe_vergleich.png"/>
          <p:cNvPicPr>
            <a:picLocks noChangeAspect="1"/>
          </p:cNvPicPr>
          <p:nvPr/>
        </p:nvPicPr>
        <p:blipFill>
          <a:blip r:embed="rId3"/>
          <a:srcRect l="30973" r="30973"/>
          <a:stretch>
            <a:fillRect/>
          </a:stretch>
        </p:blipFill>
        <p:spPr>
          <a:xfrm>
            <a:off x="7863840" y="0"/>
            <a:ext cx="4327855" cy="6400800"/>
          </a:xfrm>
          <a:prstGeom prst="rect">
            <a:avLst/>
          </a:prstGeom>
        </p:spPr>
      </p:pic>
      <p:sp>
        <p:nvSpPr>
          <p:cNvPr id="6" name="Text 5"/>
          <p:cNvSpPr txBox="1"/>
          <p:nvPr/>
        </p:nvSpPr>
        <p:spPr>
          <a:xfrm>
            <a:off x="594360" y="502920"/>
            <a:ext cx="6217920" cy="1320292"/>
          </a:xfrm>
          <a:prstGeom prst="rect">
            <a:avLst/>
          </a:prstGeom>
          <a:noFill/>
        </p:spPr>
        <p:txBody>
          <a:bodyPr wrap="none" lIns="0" rIns="0" tIns="0" bIns="0" anchor="t">
            <a:spAutoFit/>
          </a:bodyPr>
          <a:lstStyle/>
          <a:p>
            <a:pPr>
              <a:lnSpc>
                <a:spcPts val="10000"/>
              </a:lnSpc>
              <a:spcBef>
                <a:spcPts val="0"/>
              </a:spcBef>
              <a:spcAft>
                <a:spcPts val="0"/>
              </a:spcAft>
              <a:defRPr sz="10000" b="1">
                <a:solidFill>
                  <a:srgbClr val="B6D5E5"/>
                </a:solidFill>
                <a:latin typeface="Manrope"/>
              </a:defRPr>
            </a:pPr>
            <a:r>
              <a:rPr lang="de-DE"/>
              <a:t>04</a:t>
            </a:r>
          </a:p>
        </p:txBody>
      </p:sp>
      <p:sp>
        <p:nvSpPr>
          <p:cNvPr id="7" name="Text 6"/>
          <p:cNvSpPr txBox="1"/>
          <p:nvPr/>
        </p:nvSpPr>
        <p:spPr>
          <a:xfrm>
            <a:off x="594360" y="2514600"/>
            <a:ext cx="6949440" cy="1508760"/>
          </a:xfrm>
          <a:prstGeom prst="rect">
            <a:avLst/>
          </a:prstGeom>
          <a:noFill/>
        </p:spPr>
        <p:txBody>
          <a:bodyPr wrap="none" lIns="0" rIns="0" tIns="0" bIns="0" anchor="t">
            <a:spAutoFit/>
          </a:bodyPr>
          <a:lstStyle/>
          <a:p>
            <a:pPr>
              <a:lnSpc>
                <a:spcPts val="5073"/>
              </a:lnSpc>
              <a:spcBef>
                <a:spcPts val="0"/>
              </a:spcBef>
              <a:spcAft>
                <a:spcPts val="0"/>
              </a:spcAft>
              <a:defRPr sz="4300" b="1">
                <a:solidFill>
                  <a:srgbClr val="F7F5EF"/>
                </a:solidFill>
                <a:latin typeface="Manrope"/>
              </a:defRPr>
            </a:pPr>
            <a:r>
              <a:rPr lang="de-DE"/>
              <a:t>Pädagogische</a:t>
            </a:r>
          </a:p>
          <a:p>
            <a:pPr>
              <a:lnSpc>
                <a:spcPts val="5073"/>
              </a:lnSpc>
              <a:spcBef>
                <a:spcPts val="0"/>
              </a:spcBef>
              <a:spcAft>
                <a:spcPts val="0"/>
              </a:spcAft>
              <a:defRPr sz="4300" b="1">
                <a:solidFill>
                  <a:srgbClr val="F7F5EF"/>
                </a:solidFill>
                <a:latin typeface="Manrope"/>
              </a:defRPr>
            </a:pPr>
            <a:r>
              <a:rPr lang="de-DE"/>
              <a:t>Unterstützung</a:t>
            </a:r>
          </a:p>
        </p:txBody>
      </p:sp>
      <p:sp>
        <p:nvSpPr>
          <p:cNvPr id="8" name="Text 7"/>
          <p:cNvSpPr txBox="1"/>
          <p:nvPr/>
        </p:nvSpPr>
        <p:spPr>
          <a:xfrm>
            <a:off x="594360" y="4617720"/>
            <a:ext cx="6629400" cy="1097280"/>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F7F5EF"/>
                </a:solidFill>
                <a:latin typeface="Inter"/>
              </a:defRPr>
            </a:pPr>
            <a:r>
              <a:rPr lang="de-DE"/>
              <a:t>Alltagssituationen gemeinsam gestalten</a:t>
            </a:r>
          </a:p>
        </p:txBody>
      </p:sp>
    </p:spTree>
  </p:cSld>
  <p:clrMapOvr>
    <a:masterClrMapping/>
  </p:clrMapOvr>
  <p:transition spd="fast" advClick="1">
    <p:fade/>
  </p:transition>
</p:sld>
</file>

<file path=ppt/slides/slide53.xml><?xml version="1.0" encoding="utf-8"?>
<p:sld xmlns:a="http://schemas.openxmlformats.org/drawingml/2006/main" xmlns:p="http://schemas.openxmlformats.org/presentationml/2006/main" xmlns:r="http://schemas.openxmlformats.org/officeDocument/2006/relationships" showMasterSp="1">
  <p:cSld>
    <p:bg>
      <p:bgPr>
        <a:solidFill>
          <a:srgbClr val="F7F5EF"/>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53</a:t>
            </a:r>
          </a:p>
        </p:txBody>
      </p:sp>
      <p:sp>
        <p:nvSpPr>
          <p:cNvPr id="3" name="Text 2"/>
          <p:cNvSpPr txBox="1"/>
          <p:nvPr/>
        </p:nvSpPr>
        <p:spPr>
          <a:xfrm>
            <a:off x="594360" y="393192"/>
            <a:ext cx="10881360" cy="203644"/>
          </a:xfrm>
          <a:prstGeom prst="rect">
            <a:avLst/>
          </a:prstGeom>
          <a:noFill/>
        </p:spPr>
        <p:txBody>
          <a:bodyPr wrap="none" lIns="0" rIns="0" tIns="0" bIns="0" anchor="t">
            <a:spAutoFit/>
          </a:bodyPr>
          <a:lstStyle/>
          <a:p>
            <a:pPr>
              <a:lnSpc>
                <a:spcPts val="1207"/>
              </a:lnSpc>
              <a:spcBef>
                <a:spcPts val="0"/>
              </a:spcBef>
              <a:spcAft>
                <a:spcPts val="0"/>
              </a:spcAft>
              <a:defRPr sz="1150" b="1">
                <a:solidFill>
                  <a:srgbClr val="234B42"/>
                </a:solidFill>
                <a:latin typeface="Inter"/>
              </a:defRPr>
            </a:pPr>
            <a:r>
              <a:rPr lang="de-DE"/>
              <a:t>BEOBACHTUNGSRASTER · BLICKRICHTUNG → LEITFRAGE</a:t>
            </a:r>
          </a:p>
        </p:txBody>
      </p:sp>
      <p:sp>
        <p:nvSpPr>
          <p:cNvPr id="4" name="Text 3"/>
          <p:cNvSpPr txBox="1"/>
          <p:nvPr/>
        </p:nvSpPr>
        <p:spPr>
          <a:xfrm>
            <a:off x="594360" y="804672"/>
            <a:ext cx="10991088"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Ein einfaches Beobachtungsraster</a:t>
            </a:r>
          </a:p>
        </p:txBody>
      </p:sp>
      <p:sp>
        <p:nvSpPr>
          <p:cNvPr id="5" name="Rounded Rectangle 4"/>
          <p:cNvSpPr/>
          <p:nvPr/>
        </p:nvSpPr>
        <p:spPr>
          <a:xfrm>
            <a:off x="594360" y="1644396"/>
            <a:ext cx="5376672" cy="2071877"/>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22960" y="1872996"/>
            <a:ext cx="393192" cy="393192"/>
          </a:xfrm>
          <a:prstGeom prst="ellipse">
            <a:avLst/>
          </a:prstGeom>
          <a:solidFill>
            <a:srgbClr val="B6D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6"/>
          <p:cNvSpPr txBox="1"/>
          <p:nvPr/>
        </p:nvSpPr>
        <p:spPr>
          <a:xfrm>
            <a:off x="822960" y="1946148"/>
            <a:ext cx="393192" cy="189992"/>
          </a:xfrm>
          <a:prstGeom prst="rect">
            <a:avLst/>
          </a:prstGeom>
          <a:noFill/>
        </p:spPr>
        <p:txBody>
          <a:bodyPr wrap="none" lIns="0" rIns="0" tIns="0" bIns="0" anchor="t">
            <a:spAutoFit/>
          </a:bodyPr>
          <a:lstStyle/>
          <a:p>
            <a:pPr algn="ctr">
              <a:lnSpc>
                <a:spcPts val="1100"/>
              </a:lnSpc>
              <a:spcBef>
                <a:spcPts val="0"/>
              </a:spcBef>
              <a:spcAft>
                <a:spcPts val="0"/>
              </a:spcAft>
              <a:defRPr sz="1100" b="1">
                <a:solidFill>
                  <a:srgbClr val="234B42"/>
                </a:solidFill>
                <a:latin typeface="Inter"/>
              </a:defRPr>
            </a:pPr>
            <a:r>
              <a:rPr lang="de-DE"/>
              <a:t>01</a:t>
            </a:r>
          </a:p>
        </p:txBody>
      </p:sp>
      <p:sp>
        <p:nvSpPr>
          <p:cNvPr id="8" name="Text 7"/>
          <p:cNvSpPr txBox="1"/>
          <p:nvPr/>
        </p:nvSpPr>
        <p:spPr>
          <a:xfrm>
            <a:off x="1353312" y="1872996"/>
            <a:ext cx="4370831" cy="372490"/>
          </a:xfrm>
          <a:prstGeom prst="rect">
            <a:avLst/>
          </a:prstGeom>
          <a:noFill/>
        </p:spPr>
        <p:txBody>
          <a:bodyPr wrap="none" lIns="0" rIns="0" tIns="0" bIns="0" anchor="t">
            <a:spAutoFit/>
          </a:bodyPr>
          <a:lstStyle/>
          <a:p>
            <a:pPr>
              <a:lnSpc>
                <a:spcPts val="2536"/>
              </a:lnSpc>
              <a:spcBef>
                <a:spcPts val="0"/>
              </a:spcBef>
              <a:spcAft>
                <a:spcPts val="0"/>
              </a:spcAft>
              <a:defRPr sz="2150" b="1">
                <a:solidFill>
                  <a:srgbClr val="234B42"/>
                </a:solidFill>
                <a:latin typeface="Manrope"/>
              </a:defRPr>
            </a:pPr>
            <a:r>
              <a:rPr lang="de-DE"/>
              <a:t>Davor</a:t>
            </a:r>
          </a:p>
        </p:txBody>
      </p:sp>
      <p:sp>
        <p:nvSpPr>
          <p:cNvPr id="9" name="Text 8"/>
          <p:cNvSpPr txBox="1"/>
          <p:nvPr/>
        </p:nvSpPr>
        <p:spPr>
          <a:xfrm>
            <a:off x="868680" y="2513076"/>
            <a:ext cx="4828032" cy="1002029"/>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Welche Menschen, Reize und</a:t>
            </a:r>
          </a:p>
          <a:p>
            <a:pPr>
              <a:lnSpc>
                <a:spcPts val="2477"/>
              </a:lnSpc>
              <a:spcBef>
                <a:spcPts val="0"/>
              </a:spcBef>
              <a:spcAft>
                <a:spcPts val="0"/>
              </a:spcAft>
              <a:defRPr sz="2100" b="0">
                <a:solidFill>
                  <a:srgbClr val="26332F"/>
                </a:solidFill>
                <a:latin typeface="Inter"/>
              </a:defRPr>
            </a:pPr>
            <a:r>
              <a:rPr lang="de-DE"/>
              <a:t>Anforderungen waren da?</a:t>
            </a:r>
          </a:p>
        </p:txBody>
      </p:sp>
      <p:sp>
        <p:nvSpPr>
          <p:cNvPr id="10" name="Rounded Rectangle 9"/>
          <p:cNvSpPr/>
          <p:nvPr/>
        </p:nvSpPr>
        <p:spPr>
          <a:xfrm>
            <a:off x="6217920" y="1644396"/>
            <a:ext cx="5376672" cy="2071877"/>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46520" y="1872996"/>
            <a:ext cx="393192" cy="393192"/>
          </a:xfrm>
          <a:prstGeom prst="ellipse">
            <a:avLst/>
          </a:prstGeom>
          <a:solidFill>
            <a:srgbClr val="B6D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11"/>
          <p:cNvSpPr txBox="1"/>
          <p:nvPr/>
        </p:nvSpPr>
        <p:spPr>
          <a:xfrm>
            <a:off x="6446520" y="1946148"/>
            <a:ext cx="393192" cy="189992"/>
          </a:xfrm>
          <a:prstGeom prst="rect">
            <a:avLst/>
          </a:prstGeom>
          <a:noFill/>
        </p:spPr>
        <p:txBody>
          <a:bodyPr wrap="none" lIns="0" rIns="0" tIns="0" bIns="0" anchor="t">
            <a:spAutoFit/>
          </a:bodyPr>
          <a:lstStyle/>
          <a:p>
            <a:pPr algn="ctr">
              <a:lnSpc>
                <a:spcPts val="1100"/>
              </a:lnSpc>
              <a:spcBef>
                <a:spcPts val="0"/>
              </a:spcBef>
              <a:spcAft>
                <a:spcPts val="0"/>
              </a:spcAft>
              <a:defRPr sz="1100" b="1">
                <a:solidFill>
                  <a:srgbClr val="234B42"/>
                </a:solidFill>
                <a:latin typeface="Inter"/>
              </a:defRPr>
            </a:pPr>
            <a:r>
              <a:rPr lang="de-DE"/>
              <a:t>02</a:t>
            </a:r>
          </a:p>
        </p:txBody>
      </p:sp>
      <p:sp>
        <p:nvSpPr>
          <p:cNvPr id="13" name="Text 12"/>
          <p:cNvSpPr txBox="1"/>
          <p:nvPr/>
        </p:nvSpPr>
        <p:spPr>
          <a:xfrm>
            <a:off x="6976872" y="1872996"/>
            <a:ext cx="4370831" cy="372490"/>
          </a:xfrm>
          <a:prstGeom prst="rect">
            <a:avLst/>
          </a:prstGeom>
          <a:noFill/>
        </p:spPr>
        <p:txBody>
          <a:bodyPr wrap="none" lIns="0" rIns="0" tIns="0" bIns="0" anchor="t">
            <a:spAutoFit/>
          </a:bodyPr>
          <a:lstStyle/>
          <a:p>
            <a:pPr>
              <a:lnSpc>
                <a:spcPts val="2536"/>
              </a:lnSpc>
              <a:spcBef>
                <a:spcPts val="0"/>
              </a:spcBef>
              <a:spcAft>
                <a:spcPts val="0"/>
              </a:spcAft>
              <a:defRPr sz="2150" b="1">
                <a:solidFill>
                  <a:srgbClr val="234B42"/>
                </a:solidFill>
                <a:latin typeface="Manrope"/>
              </a:defRPr>
            </a:pPr>
            <a:r>
              <a:rPr lang="de-DE"/>
              <a:t>Verhalten</a:t>
            </a:r>
          </a:p>
        </p:txBody>
      </p:sp>
      <p:sp>
        <p:nvSpPr>
          <p:cNvPr id="14" name="Text 13"/>
          <p:cNvSpPr txBox="1"/>
          <p:nvPr/>
        </p:nvSpPr>
        <p:spPr>
          <a:xfrm>
            <a:off x="6492240" y="2513076"/>
            <a:ext cx="4828032" cy="1002029"/>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Was war genau zu sehen und zu hören?</a:t>
            </a:r>
          </a:p>
        </p:txBody>
      </p:sp>
      <p:sp>
        <p:nvSpPr>
          <p:cNvPr id="15" name="Rounded Rectangle 14"/>
          <p:cNvSpPr/>
          <p:nvPr/>
        </p:nvSpPr>
        <p:spPr>
          <a:xfrm>
            <a:off x="594360" y="3963162"/>
            <a:ext cx="5376672" cy="2071877"/>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22960" y="4191762"/>
            <a:ext cx="393192" cy="393192"/>
          </a:xfrm>
          <a:prstGeom prst="ellipse">
            <a:avLst/>
          </a:prstGeom>
          <a:solidFill>
            <a:srgbClr val="B6D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16"/>
          <p:cNvSpPr txBox="1"/>
          <p:nvPr/>
        </p:nvSpPr>
        <p:spPr>
          <a:xfrm>
            <a:off x="822960" y="4264914"/>
            <a:ext cx="393192" cy="189992"/>
          </a:xfrm>
          <a:prstGeom prst="rect">
            <a:avLst/>
          </a:prstGeom>
          <a:noFill/>
        </p:spPr>
        <p:txBody>
          <a:bodyPr wrap="none" lIns="0" rIns="0" tIns="0" bIns="0" anchor="t">
            <a:spAutoFit/>
          </a:bodyPr>
          <a:lstStyle/>
          <a:p>
            <a:pPr algn="ctr">
              <a:lnSpc>
                <a:spcPts val="1100"/>
              </a:lnSpc>
              <a:spcBef>
                <a:spcPts val="0"/>
              </a:spcBef>
              <a:spcAft>
                <a:spcPts val="0"/>
              </a:spcAft>
              <a:defRPr sz="1100" b="1">
                <a:solidFill>
                  <a:srgbClr val="234B42"/>
                </a:solidFill>
                <a:latin typeface="Inter"/>
              </a:defRPr>
            </a:pPr>
            <a:r>
              <a:rPr lang="de-DE"/>
              <a:t>03</a:t>
            </a:r>
          </a:p>
        </p:txBody>
      </p:sp>
      <p:sp>
        <p:nvSpPr>
          <p:cNvPr id="18" name="Text 17"/>
          <p:cNvSpPr txBox="1"/>
          <p:nvPr/>
        </p:nvSpPr>
        <p:spPr>
          <a:xfrm>
            <a:off x="1353312" y="4191762"/>
            <a:ext cx="4370831" cy="372490"/>
          </a:xfrm>
          <a:prstGeom prst="rect">
            <a:avLst/>
          </a:prstGeom>
          <a:noFill/>
        </p:spPr>
        <p:txBody>
          <a:bodyPr wrap="none" lIns="0" rIns="0" tIns="0" bIns="0" anchor="t">
            <a:spAutoFit/>
          </a:bodyPr>
          <a:lstStyle/>
          <a:p>
            <a:pPr>
              <a:lnSpc>
                <a:spcPts val="2536"/>
              </a:lnSpc>
              <a:spcBef>
                <a:spcPts val="0"/>
              </a:spcBef>
              <a:spcAft>
                <a:spcPts val="0"/>
              </a:spcAft>
              <a:defRPr sz="2150" b="1">
                <a:solidFill>
                  <a:srgbClr val="234B42"/>
                </a:solidFill>
                <a:latin typeface="Manrope"/>
              </a:defRPr>
            </a:pPr>
            <a:r>
              <a:rPr lang="de-DE"/>
              <a:t>Danach</a:t>
            </a:r>
          </a:p>
        </p:txBody>
      </p:sp>
      <p:sp>
        <p:nvSpPr>
          <p:cNvPr id="19" name="Text 18"/>
          <p:cNvSpPr txBox="1"/>
          <p:nvPr/>
        </p:nvSpPr>
        <p:spPr>
          <a:xfrm>
            <a:off x="868680" y="4831842"/>
            <a:ext cx="4828032" cy="1002029"/>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Wie reagierte die Umgebung und wie</a:t>
            </a:r>
          </a:p>
          <a:p>
            <a:pPr>
              <a:lnSpc>
                <a:spcPts val="2477"/>
              </a:lnSpc>
              <a:spcBef>
                <a:spcPts val="0"/>
              </a:spcBef>
              <a:spcAft>
                <a:spcPts val="0"/>
              </a:spcAft>
              <a:defRPr sz="2100" b="0">
                <a:solidFill>
                  <a:srgbClr val="26332F"/>
                </a:solidFill>
                <a:latin typeface="Inter"/>
              </a:defRPr>
            </a:pPr>
            <a:r>
              <a:rPr lang="de-DE"/>
              <a:t>verlief es weiter?</a:t>
            </a:r>
          </a:p>
        </p:txBody>
      </p:sp>
      <p:sp>
        <p:nvSpPr>
          <p:cNvPr id="20" name="Rounded Rectangle 19"/>
          <p:cNvSpPr/>
          <p:nvPr/>
        </p:nvSpPr>
        <p:spPr>
          <a:xfrm>
            <a:off x="6217920" y="3963162"/>
            <a:ext cx="5376672" cy="2071877"/>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191762"/>
            <a:ext cx="393192" cy="393192"/>
          </a:xfrm>
          <a:prstGeom prst="ellipse">
            <a:avLst/>
          </a:prstGeom>
          <a:solidFill>
            <a:srgbClr val="B6D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 21"/>
          <p:cNvSpPr txBox="1"/>
          <p:nvPr/>
        </p:nvSpPr>
        <p:spPr>
          <a:xfrm>
            <a:off x="6446520" y="4264914"/>
            <a:ext cx="393192" cy="189992"/>
          </a:xfrm>
          <a:prstGeom prst="rect">
            <a:avLst/>
          </a:prstGeom>
          <a:noFill/>
        </p:spPr>
        <p:txBody>
          <a:bodyPr wrap="none" lIns="0" rIns="0" tIns="0" bIns="0" anchor="t">
            <a:spAutoFit/>
          </a:bodyPr>
          <a:lstStyle/>
          <a:p>
            <a:pPr algn="ctr">
              <a:lnSpc>
                <a:spcPts val="1100"/>
              </a:lnSpc>
              <a:spcBef>
                <a:spcPts val="0"/>
              </a:spcBef>
              <a:spcAft>
                <a:spcPts val="0"/>
              </a:spcAft>
              <a:defRPr sz="1100" b="1">
                <a:solidFill>
                  <a:srgbClr val="234B42"/>
                </a:solidFill>
                <a:latin typeface="Inter"/>
              </a:defRPr>
            </a:pPr>
            <a:r>
              <a:rPr lang="de-DE"/>
              <a:t>04</a:t>
            </a:r>
          </a:p>
        </p:txBody>
      </p:sp>
      <p:sp>
        <p:nvSpPr>
          <p:cNvPr id="23" name="Text 22"/>
          <p:cNvSpPr txBox="1"/>
          <p:nvPr/>
        </p:nvSpPr>
        <p:spPr>
          <a:xfrm>
            <a:off x="6976872" y="4191762"/>
            <a:ext cx="4370831" cy="372490"/>
          </a:xfrm>
          <a:prstGeom prst="rect">
            <a:avLst/>
          </a:prstGeom>
          <a:noFill/>
        </p:spPr>
        <p:txBody>
          <a:bodyPr wrap="none" lIns="0" rIns="0" tIns="0" bIns="0" anchor="t">
            <a:spAutoFit/>
          </a:bodyPr>
          <a:lstStyle/>
          <a:p>
            <a:pPr>
              <a:lnSpc>
                <a:spcPts val="2536"/>
              </a:lnSpc>
              <a:spcBef>
                <a:spcPts val="0"/>
              </a:spcBef>
              <a:spcAft>
                <a:spcPts val="0"/>
              </a:spcAft>
              <a:defRPr sz="2150" b="1">
                <a:solidFill>
                  <a:srgbClr val="234B42"/>
                </a:solidFill>
                <a:latin typeface="Manrope"/>
              </a:defRPr>
            </a:pPr>
            <a:r>
              <a:rPr lang="de-DE"/>
              <a:t>Gelingende Momente</a:t>
            </a:r>
          </a:p>
        </p:txBody>
      </p:sp>
      <p:sp>
        <p:nvSpPr>
          <p:cNvPr id="24" name="Text 23"/>
          <p:cNvSpPr txBox="1"/>
          <p:nvPr/>
        </p:nvSpPr>
        <p:spPr>
          <a:xfrm>
            <a:off x="6492240" y="4831842"/>
            <a:ext cx="4828032" cy="1002029"/>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Wann ist dieselbe Situation leichter?</a:t>
            </a:r>
          </a:p>
        </p:txBody>
      </p:sp>
    </p:spTree>
  </p:cSld>
  <p:clrMapOvr>
    <a:masterClrMapping/>
  </p:clrMapOvr>
  <p:transition spd="fast" advClick="1">
    <p:fade/>
  </p:transition>
</p:sld>
</file>

<file path=ppt/slides/slide54.xml><?xml version="1.0" encoding="utf-8"?>
<p:sld xmlns:a="http://schemas.openxmlformats.org/drawingml/2006/main" xmlns:p="http://schemas.openxmlformats.org/presentationml/2006/main" xmlns:r="http://schemas.openxmlformats.org/officeDocument/2006/relationships" showMasterSp="1">
  <p:cSld>
    <p:bg>
      <p:bgPr>
        <a:solidFill>
          <a:srgbClr val="E5BD70"/>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54</a:t>
            </a:r>
          </a:p>
        </p:txBody>
      </p:sp>
      <p:sp>
        <p:nvSpPr>
          <p:cNvPr id="3" name="Rounded Rectangle 2"/>
          <p:cNvSpPr/>
          <p:nvPr/>
        </p:nvSpPr>
        <p:spPr>
          <a:xfrm>
            <a:off x="9646920" y="384048"/>
            <a:ext cx="1947672" cy="1280160"/>
          </a:xfrm>
          <a:prstGeom prst="roundRect">
            <a:avLst>
              <a:gd name="adj" fmla="val 6500"/>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3"/>
          <p:cNvSpPr txBox="1"/>
          <p:nvPr/>
        </p:nvSpPr>
        <p:spPr>
          <a:xfrm>
            <a:off x="9829800" y="493776"/>
            <a:ext cx="1572768" cy="634746"/>
          </a:xfrm>
          <a:prstGeom prst="rect">
            <a:avLst/>
          </a:prstGeom>
          <a:noFill/>
        </p:spPr>
        <p:txBody>
          <a:bodyPr wrap="none" lIns="0" rIns="0" tIns="0" bIns="0" anchor="t">
            <a:spAutoFit/>
          </a:bodyPr>
          <a:lstStyle/>
          <a:p>
            <a:pPr algn="ctr">
              <a:lnSpc>
                <a:spcPts val="4602"/>
              </a:lnSpc>
              <a:spcBef>
                <a:spcPts val="0"/>
              </a:spcBef>
              <a:spcAft>
                <a:spcPts val="0"/>
              </a:spcAft>
              <a:defRPr sz="3900" b="1">
                <a:solidFill>
                  <a:srgbClr val="F7F5EF"/>
                </a:solidFill>
                <a:latin typeface="Manrope"/>
              </a:defRPr>
            </a:pPr>
            <a:r>
              <a:rPr lang="de-DE"/>
              <a:t>8</a:t>
            </a:r>
          </a:p>
        </p:txBody>
      </p:sp>
      <p:sp>
        <p:nvSpPr>
          <p:cNvPr id="5" name="Text 4"/>
          <p:cNvSpPr txBox="1"/>
          <p:nvPr/>
        </p:nvSpPr>
        <p:spPr>
          <a:xfrm>
            <a:off x="9829800" y="1161288"/>
            <a:ext cx="1572768" cy="215137"/>
          </a:xfrm>
          <a:prstGeom prst="rect">
            <a:avLst/>
          </a:prstGeom>
          <a:noFill/>
        </p:spPr>
        <p:txBody>
          <a:bodyPr wrap="none" lIns="0" rIns="0" tIns="0" bIns="0" anchor="t">
            <a:spAutoFit/>
          </a:bodyPr>
          <a:lstStyle/>
          <a:p>
            <a:pPr algn="ctr">
              <a:lnSpc>
                <a:spcPts val="1297"/>
              </a:lnSpc>
              <a:spcBef>
                <a:spcPts val="0"/>
              </a:spcBef>
              <a:spcAft>
                <a:spcPts val="0"/>
              </a:spcAft>
              <a:defRPr sz="1100" b="1">
                <a:solidFill>
                  <a:srgbClr val="F7F5EF"/>
                </a:solidFill>
                <a:latin typeface="Inter"/>
              </a:defRPr>
            </a:pPr>
            <a:r>
              <a:rPr lang="de-DE"/>
              <a:t>MINUTEN</a:t>
            </a:r>
          </a:p>
        </p:txBody>
      </p:sp>
      <p:sp>
        <p:nvSpPr>
          <p:cNvPr id="6" name="Text 5"/>
          <p:cNvSpPr txBox="1"/>
          <p:nvPr/>
        </p:nvSpPr>
        <p:spPr>
          <a:xfrm>
            <a:off x="594360" y="393192"/>
            <a:ext cx="8686800" cy="222630"/>
          </a:xfrm>
          <a:prstGeom prst="rect">
            <a:avLst/>
          </a:prstGeom>
          <a:noFill/>
        </p:spPr>
        <p:txBody>
          <a:bodyPr wrap="none" lIns="0" rIns="0" tIns="0" bIns="0" anchor="t">
            <a:spAutoFit/>
          </a:bodyPr>
          <a:lstStyle/>
          <a:p>
            <a:pPr>
              <a:lnSpc>
                <a:spcPts val="1356"/>
              </a:lnSpc>
              <a:spcBef>
                <a:spcPts val="0"/>
              </a:spcBef>
              <a:spcAft>
                <a:spcPts val="0"/>
              </a:spcAft>
              <a:defRPr sz="1150" b="1">
                <a:solidFill>
                  <a:srgbClr val="234B42"/>
                </a:solidFill>
                <a:latin typeface="Inter"/>
              </a:defRPr>
            </a:pPr>
            <a:r>
              <a:rPr lang="de-DE"/>
              <a:t>ÜBUNG</a:t>
            </a:r>
          </a:p>
        </p:txBody>
      </p:sp>
      <p:sp>
        <p:nvSpPr>
          <p:cNvPr id="7" name="Text 6"/>
          <p:cNvSpPr txBox="1"/>
          <p:nvPr/>
        </p:nvSpPr>
        <p:spPr>
          <a:xfrm>
            <a:off x="594360" y="804672"/>
            <a:ext cx="8503920"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Beobachtung und Zuschreibung</a:t>
            </a:r>
          </a:p>
        </p:txBody>
      </p:sp>
      <p:sp>
        <p:nvSpPr>
          <p:cNvPr id="8" name="Text 7"/>
          <p:cNvSpPr txBox="1"/>
          <p:nvPr/>
        </p:nvSpPr>
        <p:spPr>
          <a:xfrm>
            <a:off x="594360" y="1470659"/>
            <a:ext cx="8458200" cy="282574"/>
          </a:xfrm>
          <a:prstGeom prst="rect">
            <a:avLst/>
          </a:prstGeom>
          <a:noFill/>
        </p:spPr>
        <p:txBody>
          <a:bodyPr wrap="none" lIns="0" rIns="0" tIns="0" bIns="0" anchor="t">
            <a:spAutoFit/>
          </a:bodyPr>
          <a:lstStyle/>
          <a:p>
            <a:pPr>
              <a:lnSpc>
                <a:spcPts val="1829"/>
              </a:lnSpc>
              <a:spcBef>
                <a:spcPts val="0"/>
              </a:spcBef>
              <a:spcAft>
                <a:spcPts val="0"/>
              </a:spcAft>
              <a:defRPr sz="1550" b="1">
                <a:solidFill>
                  <a:srgbClr val="234B42"/>
                </a:solidFill>
                <a:latin typeface="Inter"/>
              </a:defRPr>
            </a:pPr>
            <a:r>
              <a:rPr lang="de-DE"/>
              <a:t>Einzelarbeit → Partnerarbeit → Plenum</a:t>
            </a:r>
          </a:p>
        </p:txBody>
      </p:sp>
      <p:sp>
        <p:nvSpPr>
          <p:cNvPr id="9" name="Rounded Rectangle 8"/>
          <p:cNvSpPr/>
          <p:nvPr/>
        </p:nvSpPr>
        <p:spPr>
          <a:xfrm>
            <a:off x="594360" y="1965960"/>
            <a:ext cx="3514344" cy="3474720"/>
          </a:xfrm>
          <a:prstGeom prst="roundRect">
            <a:avLst>
              <a:gd name="adj" fmla="val 6500"/>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9"/>
          <p:cNvSpPr txBox="1"/>
          <p:nvPr/>
        </p:nvSpPr>
        <p:spPr>
          <a:xfrm>
            <a:off x="868680" y="2231136"/>
            <a:ext cx="2965704" cy="342519"/>
          </a:xfrm>
          <a:prstGeom prst="rect">
            <a:avLst/>
          </a:prstGeom>
          <a:noFill/>
        </p:spPr>
        <p:txBody>
          <a:bodyPr wrap="none" lIns="0" rIns="0" tIns="0" bIns="0" anchor="t">
            <a:spAutoFit/>
          </a:bodyPr>
          <a:lstStyle/>
          <a:p>
            <a:pPr>
              <a:lnSpc>
                <a:spcPts val="2301"/>
              </a:lnSpc>
              <a:spcBef>
                <a:spcPts val="0"/>
              </a:spcBef>
              <a:spcAft>
                <a:spcPts val="0"/>
              </a:spcAft>
              <a:defRPr sz="1950" b="1">
                <a:solidFill>
                  <a:srgbClr val="234B42"/>
                </a:solidFill>
                <a:latin typeface="Manrope"/>
              </a:defRPr>
            </a:pPr>
            <a:r>
              <a:rPr lang="de-DE"/>
              <a:t>2 Minuten einzeln</a:t>
            </a:r>
          </a:p>
        </p:txBody>
      </p:sp>
      <p:sp>
        <p:nvSpPr>
          <p:cNvPr id="11" name="Text 10"/>
          <p:cNvSpPr txBox="1"/>
          <p:nvPr/>
        </p:nvSpPr>
        <p:spPr>
          <a:xfrm>
            <a:off x="868680" y="2783967"/>
            <a:ext cx="2965704" cy="2400681"/>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26332F"/>
                </a:solidFill>
                <a:latin typeface="Inter"/>
              </a:defRPr>
            </a:pPr>
            <a:r>
              <a:rPr lang="de-DE"/>
              <a:t>eine Zuschreibung</a:t>
            </a:r>
          </a:p>
          <a:p>
            <a:pPr>
              <a:lnSpc>
                <a:spcPts val="2713"/>
              </a:lnSpc>
              <a:spcBef>
                <a:spcPts val="0"/>
              </a:spcBef>
              <a:spcAft>
                <a:spcPts val="0"/>
              </a:spcAft>
              <a:defRPr sz="2300" b="0">
                <a:solidFill>
                  <a:srgbClr val="26332F"/>
                </a:solidFill>
                <a:latin typeface="Inter"/>
              </a:defRPr>
            </a:pPr>
            <a:r>
              <a:rPr lang="de-DE"/>
              <a:t>auswählen</a:t>
            </a:r>
          </a:p>
        </p:txBody>
      </p:sp>
      <p:sp>
        <p:nvSpPr>
          <p:cNvPr id="12" name="Rounded Rectangle 11"/>
          <p:cNvSpPr/>
          <p:nvPr/>
        </p:nvSpPr>
        <p:spPr>
          <a:xfrm>
            <a:off x="4337304" y="1965960"/>
            <a:ext cx="3514344" cy="3474720"/>
          </a:xfrm>
          <a:prstGeom prst="roundRect">
            <a:avLst>
              <a:gd name="adj" fmla="val 6500"/>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12"/>
          <p:cNvSpPr txBox="1"/>
          <p:nvPr/>
        </p:nvSpPr>
        <p:spPr>
          <a:xfrm>
            <a:off x="4611624" y="2231136"/>
            <a:ext cx="2965704" cy="342519"/>
          </a:xfrm>
          <a:prstGeom prst="rect">
            <a:avLst/>
          </a:prstGeom>
          <a:noFill/>
        </p:spPr>
        <p:txBody>
          <a:bodyPr wrap="none" lIns="0" rIns="0" tIns="0" bIns="0" anchor="t">
            <a:spAutoFit/>
          </a:bodyPr>
          <a:lstStyle/>
          <a:p>
            <a:pPr>
              <a:lnSpc>
                <a:spcPts val="2301"/>
              </a:lnSpc>
              <a:spcBef>
                <a:spcPts val="0"/>
              </a:spcBef>
              <a:spcAft>
                <a:spcPts val="0"/>
              </a:spcAft>
              <a:defRPr sz="1950" b="1">
                <a:solidFill>
                  <a:srgbClr val="234B42"/>
                </a:solidFill>
                <a:latin typeface="Manrope"/>
              </a:defRPr>
            </a:pPr>
            <a:r>
              <a:rPr lang="de-DE"/>
              <a:t>3 Minuten zu zweit</a:t>
            </a:r>
          </a:p>
        </p:txBody>
      </p:sp>
      <p:sp>
        <p:nvSpPr>
          <p:cNvPr id="14" name="Text 13"/>
          <p:cNvSpPr txBox="1"/>
          <p:nvPr/>
        </p:nvSpPr>
        <p:spPr>
          <a:xfrm>
            <a:off x="4611624" y="2783967"/>
            <a:ext cx="2965704" cy="2400681"/>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26332F"/>
                </a:solidFill>
                <a:latin typeface="Inter"/>
              </a:defRPr>
            </a:pPr>
            <a:r>
              <a:rPr lang="de-DE"/>
              <a:t>eine beobachtbare</a:t>
            </a:r>
          </a:p>
          <a:p>
            <a:pPr>
              <a:lnSpc>
                <a:spcPts val="2713"/>
              </a:lnSpc>
              <a:spcBef>
                <a:spcPts val="0"/>
              </a:spcBef>
              <a:spcAft>
                <a:spcPts val="0"/>
              </a:spcAft>
              <a:defRPr sz="2300" b="0">
                <a:solidFill>
                  <a:srgbClr val="26332F"/>
                </a:solidFill>
                <a:latin typeface="Inter"/>
              </a:defRPr>
            </a:pPr>
            <a:r>
              <a:rPr lang="de-DE"/>
              <a:t>Beschreibung</a:t>
            </a:r>
          </a:p>
          <a:p>
            <a:pPr>
              <a:lnSpc>
                <a:spcPts val="2713"/>
              </a:lnSpc>
              <a:spcBef>
                <a:spcPts val="0"/>
              </a:spcBef>
              <a:spcAft>
                <a:spcPts val="0"/>
              </a:spcAft>
              <a:defRPr sz="2300" b="0">
                <a:solidFill>
                  <a:srgbClr val="26332F"/>
                </a:solidFill>
                <a:latin typeface="Inter"/>
              </a:defRPr>
            </a:pPr>
            <a:r>
              <a:rPr lang="de-DE"/>
              <a:t>formulieren</a:t>
            </a:r>
          </a:p>
        </p:txBody>
      </p:sp>
      <p:sp>
        <p:nvSpPr>
          <p:cNvPr id="15" name="Rounded Rectangle 14"/>
          <p:cNvSpPr/>
          <p:nvPr/>
        </p:nvSpPr>
        <p:spPr>
          <a:xfrm>
            <a:off x="8080248" y="1965960"/>
            <a:ext cx="3514344" cy="3474720"/>
          </a:xfrm>
          <a:prstGeom prst="roundRect">
            <a:avLst>
              <a:gd name="adj" fmla="val 6500"/>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15"/>
          <p:cNvSpPr txBox="1"/>
          <p:nvPr/>
        </p:nvSpPr>
        <p:spPr>
          <a:xfrm>
            <a:off x="8354568" y="2231136"/>
            <a:ext cx="2965704" cy="342519"/>
          </a:xfrm>
          <a:prstGeom prst="rect">
            <a:avLst/>
          </a:prstGeom>
          <a:noFill/>
        </p:spPr>
        <p:txBody>
          <a:bodyPr wrap="none" lIns="0" rIns="0" tIns="0" bIns="0" anchor="t">
            <a:spAutoFit/>
          </a:bodyPr>
          <a:lstStyle/>
          <a:p>
            <a:pPr>
              <a:lnSpc>
                <a:spcPts val="2301"/>
              </a:lnSpc>
              <a:spcBef>
                <a:spcPts val="0"/>
              </a:spcBef>
              <a:spcAft>
                <a:spcPts val="0"/>
              </a:spcAft>
              <a:defRPr sz="1950" b="1">
                <a:solidFill>
                  <a:srgbClr val="234B42"/>
                </a:solidFill>
                <a:latin typeface="Manrope"/>
              </a:defRPr>
            </a:pPr>
            <a:r>
              <a:rPr lang="de-DE"/>
              <a:t>3 Minuten im Plenum</a:t>
            </a:r>
          </a:p>
        </p:txBody>
      </p:sp>
      <p:sp>
        <p:nvSpPr>
          <p:cNvPr id="17" name="Text 16"/>
          <p:cNvSpPr txBox="1"/>
          <p:nvPr/>
        </p:nvSpPr>
        <p:spPr>
          <a:xfrm>
            <a:off x="8354568" y="2783967"/>
            <a:ext cx="2965704" cy="2400681"/>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26332F"/>
                </a:solidFill>
                <a:latin typeface="Inter"/>
              </a:defRPr>
            </a:pPr>
            <a:r>
              <a:rPr lang="de-DE"/>
              <a:t>mindestens zwei</a:t>
            </a:r>
          </a:p>
          <a:p>
            <a:pPr>
              <a:lnSpc>
                <a:spcPts val="2713"/>
              </a:lnSpc>
              <a:spcBef>
                <a:spcPts val="0"/>
              </a:spcBef>
              <a:spcAft>
                <a:spcPts val="0"/>
              </a:spcAft>
              <a:defRPr sz="2300" b="0">
                <a:solidFill>
                  <a:srgbClr val="26332F"/>
                </a:solidFill>
                <a:latin typeface="Inter"/>
              </a:defRPr>
            </a:pPr>
            <a:r>
              <a:rPr lang="de-DE"/>
              <a:t>Erklärungen sammeln</a:t>
            </a:r>
          </a:p>
        </p:txBody>
      </p:sp>
      <p:cxnSp>
        <p:nvCxnSpPr>
          <p:cNvPr id="18" name="Connector 17"/>
          <p:cNvCxnSpPr/>
          <p:nvPr/>
        </p:nvCxnSpPr>
        <p:spPr>
          <a:xfrm>
            <a:off x="594360" y="5495544"/>
            <a:ext cx="502920" cy="0"/>
          </a:xfrm>
          <a:prstGeom prst="line">
            <a:avLst/>
          </a:prstGeom>
          <a:ln w="27940">
            <a:solidFill>
              <a:srgbClr val="D68B73"/>
            </a:solidFill>
          </a:ln>
        </p:spPr>
        <p:style>
          <a:lnRef idx="2">
            <a:schemeClr val="accent1"/>
          </a:lnRef>
          <a:fillRef idx="0">
            <a:schemeClr val="accent1"/>
          </a:fillRef>
          <a:effectRef idx="1">
            <a:schemeClr val="accent1"/>
          </a:effectRef>
          <a:fontRef idx="minor">
            <a:schemeClr val="tx1"/>
          </a:fontRef>
        </p:style>
      </p:cxnSp>
      <p:sp>
        <p:nvSpPr>
          <p:cNvPr id="19" name="Text 18"/>
          <p:cNvSpPr txBox="1"/>
          <p:nvPr/>
        </p:nvSpPr>
        <p:spPr>
          <a:xfrm>
            <a:off x="594360" y="5623560"/>
            <a:ext cx="10972800" cy="694944"/>
          </a:xfrm>
          <a:prstGeom prst="rect">
            <a:avLst/>
          </a:prstGeom>
          <a:noFill/>
        </p:spPr>
        <p:txBody>
          <a:bodyPr wrap="none" lIns="0" rIns="0" tIns="0" bIns="0" anchor="t">
            <a:spAutoFit/>
          </a:bodyPr>
          <a:lstStyle/>
          <a:p>
            <a:pPr>
              <a:lnSpc>
                <a:spcPts val="2419"/>
              </a:lnSpc>
              <a:spcBef>
                <a:spcPts val="0"/>
              </a:spcBef>
              <a:spcAft>
                <a:spcPts val="0"/>
              </a:spcAft>
              <a:defRPr sz="2050" b="1">
                <a:solidFill>
                  <a:srgbClr val="234B42"/>
                </a:solidFill>
                <a:latin typeface="Manrope"/>
              </a:defRPr>
            </a:pPr>
            <a:r>
              <a:rPr lang="de-DE"/>
              <a:t>„Er provoziert.“ „Sie macht nie mit.“</a:t>
            </a:r>
          </a:p>
        </p:txBody>
      </p:sp>
    </p:spTree>
  </p:cSld>
  <p:clrMapOvr>
    <a:masterClrMapping/>
  </p:clrMapOvr>
  <p:transition spd="fast" advClick="1">
    <p:fade/>
  </p:transition>
</p:sld>
</file>

<file path=ppt/slides/slide55.xml><?xml version="1.0" encoding="utf-8"?>
<p:sld xmlns:a="http://schemas.openxmlformats.org/drawingml/2006/main" xmlns:p="http://schemas.openxmlformats.org/presentationml/2006/main" xmlns:r="http://schemas.openxmlformats.org/officeDocument/2006/relationships" showMasterSp="1">
  <p:cSld>
    <p:bg>
      <p:bgPr>
        <a:solidFill>
          <a:srgbClr val="F7F5EF"/>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55</a:t>
            </a:r>
          </a:p>
        </p:txBody>
      </p:sp>
      <p:sp>
        <p:nvSpPr>
          <p:cNvPr id="3" name="Text 2"/>
          <p:cNvSpPr txBox="1"/>
          <p:nvPr/>
        </p:nvSpPr>
        <p:spPr>
          <a:xfrm>
            <a:off x="594360" y="393192"/>
            <a:ext cx="10881360" cy="203644"/>
          </a:xfrm>
          <a:prstGeom prst="rect">
            <a:avLst/>
          </a:prstGeom>
          <a:noFill/>
        </p:spPr>
        <p:txBody>
          <a:bodyPr wrap="none" lIns="0" rIns="0" tIns="0" bIns="0" anchor="t">
            <a:spAutoFit/>
          </a:bodyPr>
          <a:lstStyle/>
          <a:p>
            <a:pPr>
              <a:lnSpc>
                <a:spcPts val="1207"/>
              </a:lnSpc>
              <a:spcBef>
                <a:spcPts val="0"/>
              </a:spcBef>
              <a:spcAft>
                <a:spcPts val="0"/>
              </a:spcAft>
              <a:defRPr sz="1150" b="1">
                <a:solidFill>
                  <a:srgbClr val="234B42"/>
                </a:solidFill>
                <a:latin typeface="Inter"/>
              </a:defRPr>
            </a:pPr>
            <a:r>
              <a:rPr lang="de-DE"/>
              <a:t>PÄDAGOGISCHE UNTERSTÜTZUNG</a:t>
            </a:r>
          </a:p>
        </p:txBody>
      </p:sp>
      <p:sp>
        <p:nvSpPr>
          <p:cNvPr id="4" name="Text 3"/>
          <p:cNvSpPr txBox="1"/>
          <p:nvPr/>
        </p:nvSpPr>
        <p:spPr>
          <a:xfrm>
            <a:off x="594360" y="804672"/>
            <a:ext cx="10991088"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Eine Unterstützung planen</a:t>
            </a:r>
          </a:p>
        </p:txBody>
      </p:sp>
      <p:sp>
        <p:nvSpPr>
          <p:cNvPr id="5" name="Rounded Rectangle 4"/>
          <p:cNvSpPr/>
          <p:nvPr/>
        </p:nvSpPr>
        <p:spPr>
          <a:xfrm>
            <a:off x="594360" y="1644396"/>
            <a:ext cx="5376672" cy="2071877"/>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22960" y="1872996"/>
            <a:ext cx="393192" cy="393192"/>
          </a:xfrm>
          <a:prstGeom prst="ellipse">
            <a:avLst/>
          </a:prstGeom>
          <a:solidFill>
            <a:srgbClr val="B6D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6"/>
          <p:cNvSpPr txBox="1"/>
          <p:nvPr/>
        </p:nvSpPr>
        <p:spPr>
          <a:xfrm>
            <a:off x="822960" y="1946148"/>
            <a:ext cx="393192" cy="189992"/>
          </a:xfrm>
          <a:prstGeom prst="rect">
            <a:avLst/>
          </a:prstGeom>
          <a:noFill/>
        </p:spPr>
        <p:txBody>
          <a:bodyPr wrap="none" lIns="0" rIns="0" tIns="0" bIns="0" anchor="t">
            <a:spAutoFit/>
          </a:bodyPr>
          <a:lstStyle/>
          <a:p>
            <a:pPr algn="ctr">
              <a:lnSpc>
                <a:spcPts val="1100"/>
              </a:lnSpc>
              <a:spcBef>
                <a:spcPts val="0"/>
              </a:spcBef>
              <a:spcAft>
                <a:spcPts val="0"/>
              </a:spcAft>
              <a:defRPr sz="1100" b="1">
                <a:solidFill>
                  <a:srgbClr val="234B42"/>
                </a:solidFill>
                <a:latin typeface="Inter"/>
              </a:defRPr>
            </a:pPr>
            <a:r>
              <a:rPr lang="de-DE"/>
              <a:t>01</a:t>
            </a:r>
          </a:p>
        </p:txBody>
      </p:sp>
      <p:sp>
        <p:nvSpPr>
          <p:cNvPr id="8" name="Text 7"/>
          <p:cNvSpPr txBox="1"/>
          <p:nvPr/>
        </p:nvSpPr>
        <p:spPr>
          <a:xfrm>
            <a:off x="1353312" y="1872996"/>
            <a:ext cx="4370831" cy="372490"/>
          </a:xfrm>
          <a:prstGeom prst="rect">
            <a:avLst/>
          </a:prstGeom>
          <a:noFill/>
        </p:spPr>
        <p:txBody>
          <a:bodyPr wrap="none" lIns="0" rIns="0" tIns="0" bIns="0" anchor="t">
            <a:spAutoFit/>
          </a:bodyPr>
          <a:lstStyle/>
          <a:p>
            <a:pPr>
              <a:lnSpc>
                <a:spcPts val="2536"/>
              </a:lnSpc>
              <a:spcBef>
                <a:spcPts val="0"/>
              </a:spcBef>
              <a:spcAft>
                <a:spcPts val="0"/>
              </a:spcAft>
              <a:defRPr sz="2150" b="1">
                <a:solidFill>
                  <a:srgbClr val="234B42"/>
                </a:solidFill>
                <a:latin typeface="Manrope"/>
              </a:defRPr>
            </a:pPr>
            <a:r>
              <a:rPr lang="de-DE"/>
              <a:t>Situation wählen</a:t>
            </a:r>
          </a:p>
        </p:txBody>
      </p:sp>
      <p:sp>
        <p:nvSpPr>
          <p:cNvPr id="9" name="Text 8"/>
          <p:cNvSpPr txBox="1"/>
          <p:nvPr/>
        </p:nvSpPr>
        <p:spPr>
          <a:xfrm>
            <a:off x="868680" y="2513076"/>
            <a:ext cx="4828032" cy="1002029"/>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Eine konkrete Alltagssituation</a:t>
            </a:r>
          </a:p>
          <a:p>
            <a:pPr>
              <a:lnSpc>
                <a:spcPts val="2477"/>
              </a:lnSpc>
              <a:spcBef>
                <a:spcPts val="0"/>
              </a:spcBef>
              <a:spcAft>
                <a:spcPts val="0"/>
              </a:spcAft>
              <a:defRPr sz="2100" b="0">
                <a:solidFill>
                  <a:srgbClr val="26332F"/>
                </a:solidFill>
                <a:latin typeface="Inter"/>
              </a:defRPr>
            </a:pPr>
            <a:r>
              <a:rPr lang="de-DE"/>
              <a:t>auswählen</a:t>
            </a:r>
          </a:p>
        </p:txBody>
      </p:sp>
      <p:sp>
        <p:nvSpPr>
          <p:cNvPr id="10" name="Rounded Rectangle 9"/>
          <p:cNvSpPr/>
          <p:nvPr/>
        </p:nvSpPr>
        <p:spPr>
          <a:xfrm>
            <a:off x="6217920" y="1644396"/>
            <a:ext cx="5376672" cy="2071877"/>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46520" y="1872996"/>
            <a:ext cx="393192" cy="393192"/>
          </a:xfrm>
          <a:prstGeom prst="ellipse">
            <a:avLst/>
          </a:prstGeom>
          <a:solidFill>
            <a:srgbClr val="B6D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11"/>
          <p:cNvSpPr txBox="1"/>
          <p:nvPr/>
        </p:nvSpPr>
        <p:spPr>
          <a:xfrm>
            <a:off x="6446520" y="1946148"/>
            <a:ext cx="393192" cy="189992"/>
          </a:xfrm>
          <a:prstGeom prst="rect">
            <a:avLst/>
          </a:prstGeom>
          <a:noFill/>
        </p:spPr>
        <p:txBody>
          <a:bodyPr wrap="none" lIns="0" rIns="0" tIns="0" bIns="0" anchor="t">
            <a:spAutoFit/>
          </a:bodyPr>
          <a:lstStyle/>
          <a:p>
            <a:pPr algn="ctr">
              <a:lnSpc>
                <a:spcPts val="1100"/>
              </a:lnSpc>
              <a:spcBef>
                <a:spcPts val="0"/>
              </a:spcBef>
              <a:spcAft>
                <a:spcPts val="0"/>
              </a:spcAft>
              <a:defRPr sz="1100" b="1">
                <a:solidFill>
                  <a:srgbClr val="234B42"/>
                </a:solidFill>
                <a:latin typeface="Inter"/>
              </a:defRPr>
            </a:pPr>
            <a:r>
              <a:rPr lang="de-DE"/>
              <a:t>02</a:t>
            </a:r>
          </a:p>
        </p:txBody>
      </p:sp>
      <p:sp>
        <p:nvSpPr>
          <p:cNvPr id="13" name="Text 12"/>
          <p:cNvSpPr txBox="1"/>
          <p:nvPr/>
        </p:nvSpPr>
        <p:spPr>
          <a:xfrm>
            <a:off x="6976872" y="1872996"/>
            <a:ext cx="4370831" cy="372490"/>
          </a:xfrm>
          <a:prstGeom prst="rect">
            <a:avLst/>
          </a:prstGeom>
          <a:noFill/>
        </p:spPr>
        <p:txBody>
          <a:bodyPr wrap="none" lIns="0" rIns="0" tIns="0" bIns="0" anchor="t">
            <a:spAutoFit/>
          </a:bodyPr>
          <a:lstStyle/>
          <a:p>
            <a:pPr>
              <a:lnSpc>
                <a:spcPts val="2536"/>
              </a:lnSpc>
              <a:spcBef>
                <a:spcPts val="0"/>
              </a:spcBef>
              <a:spcAft>
                <a:spcPts val="0"/>
              </a:spcAft>
              <a:defRPr sz="2150" b="1">
                <a:solidFill>
                  <a:srgbClr val="234B42"/>
                </a:solidFill>
                <a:latin typeface="Manrope"/>
              </a:defRPr>
            </a:pPr>
            <a:r>
              <a:rPr lang="de-DE"/>
              <a:t>Genau beschreiben</a:t>
            </a:r>
          </a:p>
        </p:txBody>
      </p:sp>
      <p:sp>
        <p:nvSpPr>
          <p:cNvPr id="14" name="Text 13"/>
          <p:cNvSpPr txBox="1"/>
          <p:nvPr/>
        </p:nvSpPr>
        <p:spPr>
          <a:xfrm>
            <a:off x="6492240" y="2513076"/>
            <a:ext cx="4828032" cy="1002029"/>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Belastungen und vorhandene</a:t>
            </a:r>
          </a:p>
          <a:p>
            <a:pPr>
              <a:lnSpc>
                <a:spcPts val="2477"/>
              </a:lnSpc>
              <a:spcBef>
                <a:spcPts val="0"/>
              </a:spcBef>
              <a:spcAft>
                <a:spcPts val="0"/>
              </a:spcAft>
              <a:defRPr sz="2100" b="0">
                <a:solidFill>
                  <a:srgbClr val="26332F"/>
                </a:solidFill>
                <a:latin typeface="Inter"/>
              </a:defRPr>
            </a:pPr>
            <a:r>
              <a:rPr lang="de-DE"/>
              <a:t>Fähigkeiten beschreiben</a:t>
            </a:r>
          </a:p>
        </p:txBody>
      </p:sp>
      <p:sp>
        <p:nvSpPr>
          <p:cNvPr id="15" name="Rounded Rectangle 14"/>
          <p:cNvSpPr/>
          <p:nvPr/>
        </p:nvSpPr>
        <p:spPr>
          <a:xfrm>
            <a:off x="594360" y="3963162"/>
            <a:ext cx="5376672" cy="2071877"/>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22960" y="4191762"/>
            <a:ext cx="393192" cy="393192"/>
          </a:xfrm>
          <a:prstGeom prst="ellipse">
            <a:avLst/>
          </a:prstGeom>
          <a:solidFill>
            <a:srgbClr val="B6D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16"/>
          <p:cNvSpPr txBox="1"/>
          <p:nvPr/>
        </p:nvSpPr>
        <p:spPr>
          <a:xfrm>
            <a:off x="822960" y="4264914"/>
            <a:ext cx="393192" cy="189992"/>
          </a:xfrm>
          <a:prstGeom prst="rect">
            <a:avLst/>
          </a:prstGeom>
          <a:noFill/>
        </p:spPr>
        <p:txBody>
          <a:bodyPr wrap="none" lIns="0" rIns="0" tIns="0" bIns="0" anchor="t">
            <a:spAutoFit/>
          </a:bodyPr>
          <a:lstStyle/>
          <a:p>
            <a:pPr algn="ctr">
              <a:lnSpc>
                <a:spcPts val="1100"/>
              </a:lnSpc>
              <a:spcBef>
                <a:spcPts val="0"/>
              </a:spcBef>
              <a:spcAft>
                <a:spcPts val="0"/>
              </a:spcAft>
              <a:defRPr sz="1100" b="1">
                <a:solidFill>
                  <a:srgbClr val="234B42"/>
                </a:solidFill>
                <a:latin typeface="Inter"/>
              </a:defRPr>
            </a:pPr>
            <a:r>
              <a:rPr lang="de-DE"/>
              <a:t>03</a:t>
            </a:r>
          </a:p>
        </p:txBody>
      </p:sp>
      <p:sp>
        <p:nvSpPr>
          <p:cNvPr id="18" name="Text 17"/>
          <p:cNvSpPr txBox="1"/>
          <p:nvPr/>
        </p:nvSpPr>
        <p:spPr>
          <a:xfrm>
            <a:off x="1353312" y="4191762"/>
            <a:ext cx="4370831" cy="372490"/>
          </a:xfrm>
          <a:prstGeom prst="rect">
            <a:avLst/>
          </a:prstGeom>
          <a:noFill/>
        </p:spPr>
        <p:txBody>
          <a:bodyPr wrap="none" lIns="0" rIns="0" tIns="0" bIns="0" anchor="t">
            <a:spAutoFit/>
          </a:bodyPr>
          <a:lstStyle/>
          <a:p>
            <a:pPr>
              <a:lnSpc>
                <a:spcPts val="2536"/>
              </a:lnSpc>
              <a:spcBef>
                <a:spcPts val="0"/>
              </a:spcBef>
              <a:spcAft>
                <a:spcPts val="0"/>
              </a:spcAft>
              <a:defRPr sz="2150" b="1">
                <a:solidFill>
                  <a:srgbClr val="234B42"/>
                </a:solidFill>
                <a:latin typeface="Manrope"/>
              </a:defRPr>
            </a:pPr>
            <a:r>
              <a:rPr lang="de-DE"/>
              <a:t>Veränderung vereinbaren</a:t>
            </a:r>
          </a:p>
        </p:txBody>
      </p:sp>
      <p:sp>
        <p:nvSpPr>
          <p:cNvPr id="19" name="Text 18"/>
          <p:cNvSpPr txBox="1"/>
          <p:nvPr/>
        </p:nvSpPr>
        <p:spPr>
          <a:xfrm>
            <a:off x="868680" y="4831842"/>
            <a:ext cx="4828032" cy="1002029"/>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Eine überschaubare Veränderung</a:t>
            </a:r>
          </a:p>
          <a:p>
            <a:pPr>
              <a:lnSpc>
                <a:spcPts val="2477"/>
              </a:lnSpc>
              <a:spcBef>
                <a:spcPts val="0"/>
              </a:spcBef>
              <a:spcAft>
                <a:spcPts val="0"/>
              </a:spcAft>
              <a:defRPr sz="2100" b="0">
                <a:solidFill>
                  <a:srgbClr val="26332F"/>
                </a:solidFill>
                <a:latin typeface="Inter"/>
              </a:defRPr>
            </a:pPr>
            <a:r>
              <a:rPr lang="de-DE"/>
              <a:t>vereinbaren</a:t>
            </a:r>
          </a:p>
        </p:txBody>
      </p:sp>
      <p:sp>
        <p:nvSpPr>
          <p:cNvPr id="20" name="Rounded Rectangle 19"/>
          <p:cNvSpPr/>
          <p:nvPr/>
        </p:nvSpPr>
        <p:spPr>
          <a:xfrm>
            <a:off x="6217920" y="3963162"/>
            <a:ext cx="5376672" cy="2071877"/>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191762"/>
            <a:ext cx="393192" cy="393192"/>
          </a:xfrm>
          <a:prstGeom prst="ellipse">
            <a:avLst/>
          </a:prstGeom>
          <a:solidFill>
            <a:srgbClr val="B6D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 21"/>
          <p:cNvSpPr txBox="1"/>
          <p:nvPr/>
        </p:nvSpPr>
        <p:spPr>
          <a:xfrm>
            <a:off x="6446520" y="4264914"/>
            <a:ext cx="393192" cy="189992"/>
          </a:xfrm>
          <a:prstGeom prst="rect">
            <a:avLst/>
          </a:prstGeom>
          <a:noFill/>
        </p:spPr>
        <p:txBody>
          <a:bodyPr wrap="none" lIns="0" rIns="0" tIns="0" bIns="0" anchor="t">
            <a:spAutoFit/>
          </a:bodyPr>
          <a:lstStyle/>
          <a:p>
            <a:pPr algn="ctr">
              <a:lnSpc>
                <a:spcPts val="1100"/>
              </a:lnSpc>
              <a:spcBef>
                <a:spcPts val="0"/>
              </a:spcBef>
              <a:spcAft>
                <a:spcPts val="0"/>
              </a:spcAft>
              <a:defRPr sz="1100" b="1">
                <a:solidFill>
                  <a:srgbClr val="234B42"/>
                </a:solidFill>
                <a:latin typeface="Inter"/>
              </a:defRPr>
            </a:pPr>
            <a:r>
              <a:rPr lang="de-DE"/>
              <a:t>04</a:t>
            </a:r>
          </a:p>
        </p:txBody>
      </p:sp>
      <p:sp>
        <p:nvSpPr>
          <p:cNvPr id="23" name="Text 22"/>
          <p:cNvSpPr txBox="1"/>
          <p:nvPr/>
        </p:nvSpPr>
        <p:spPr>
          <a:xfrm>
            <a:off x="6976872" y="4191762"/>
            <a:ext cx="4370831" cy="372490"/>
          </a:xfrm>
          <a:prstGeom prst="rect">
            <a:avLst/>
          </a:prstGeom>
          <a:noFill/>
        </p:spPr>
        <p:txBody>
          <a:bodyPr wrap="none" lIns="0" rIns="0" tIns="0" bIns="0" anchor="t">
            <a:spAutoFit/>
          </a:bodyPr>
          <a:lstStyle/>
          <a:p>
            <a:pPr>
              <a:lnSpc>
                <a:spcPts val="2536"/>
              </a:lnSpc>
              <a:spcBef>
                <a:spcPts val="0"/>
              </a:spcBef>
              <a:spcAft>
                <a:spcPts val="0"/>
              </a:spcAft>
              <a:defRPr sz="2150" b="1">
                <a:solidFill>
                  <a:srgbClr val="234B42"/>
                </a:solidFill>
                <a:latin typeface="Manrope"/>
              </a:defRPr>
            </a:pPr>
            <a:r>
              <a:rPr lang="de-DE"/>
              <a:t>Wirkung beobachten</a:t>
            </a:r>
          </a:p>
        </p:txBody>
      </p:sp>
      <p:sp>
        <p:nvSpPr>
          <p:cNvPr id="24" name="Text 23"/>
          <p:cNvSpPr txBox="1"/>
          <p:nvPr/>
        </p:nvSpPr>
        <p:spPr>
          <a:xfrm>
            <a:off x="6492240" y="4831842"/>
            <a:ext cx="4828032" cy="1002029"/>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Wohlbefinden und Beteiligung im</a:t>
            </a:r>
          </a:p>
          <a:p>
            <a:pPr>
              <a:lnSpc>
                <a:spcPts val="2477"/>
              </a:lnSpc>
              <a:spcBef>
                <a:spcPts val="0"/>
              </a:spcBef>
              <a:spcAft>
                <a:spcPts val="0"/>
              </a:spcAft>
              <a:defRPr sz="2100" b="0">
                <a:solidFill>
                  <a:srgbClr val="26332F"/>
                </a:solidFill>
                <a:latin typeface="Inter"/>
              </a:defRPr>
            </a:pPr>
            <a:r>
              <a:rPr lang="de-DE"/>
              <a:t>Verlauf beobachten</a:t>
            </a:r>
          </a:p>
        </p:txBody>
      </p:sp>
    </p:spTree>
  </p:cSld>
  <p:clrMapOvr>
    <a:masterClrMapping/>
  </p:clrMapOvr>
  <p:transition spd="fast" advClick="1">
    <p:fade/>
  </p:transition>
</p:sld>
</file>

<file path=ppt/slides/slide56.xml><?xml version="1.0" encoding="utf-8"?>
<p:sld xmlns:a="http://schemas.openxmlformats.org/drawingml/2006/main" xmlns:p="http://schemas.openxmlformats.org/presentationml/2006/main" xmlns:r="http://schemas.openxmlformats.org/officeDocument/2006/relationships" showMasterSp="1">
  <p:cSld>
    <p:bg>
      <p:bgPr>
        <a:solidFill>
          <a:srgbClr val="F7F5EF"/>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56</a:t>
            </a:r>
          </a:p>
        </p:txBody>
      </p:sp>
      <p:sp>
        <p:nvSpPr>
          <p:cNvPr id="3" name="Text 2"/>
          <p:cNvSpPr txBox="1"/>
          <p:nvPr/>
        </p:nvSpPr>
        <p:spPr>
          <a:xfrm>
            <a:off x="594360" y="393192"/>
            <a:ext cx="10881360" cy="203644"/>
          </a:xfrm>
          <a:prstGeom prst="rect">
            <a:avLst/>
          </a:prstGeom>
          <a:noFill/>
        </p:spPr>
        <p:txBody>
          <a:bodyPr wrap="none" lIns="0" rIns="0" tIns="0" bIns="0" anchor="t">
            <a:spAutoFit/>
          </a:bodyPr>
          <a:lstStyle/>
          <a:p>
            <a:pPr>
              <a:lnSpc>
                <a:spcPts val="1207"/>
              </a:lnSpc>
              <a:spcBef>
                <a:spcPts val="0"/>
              </a:spcBef>
              <a:spcAft>
                <a:spcPts val="0"/>
              </a:spcAft>
              <a:defRPr sz="1150" b="1">
                <a:solidFill>
                  <a:srgbClr val="234B42"/>
                </a:solidFill>
                <a:latin typeface="Inter"/>
              </a:defRPr>
            </a:pPr>
            <a:r>
              <a:rPr lang="de-DE"/>
              <a:t>PRAXIS · MORGENKREIS</a:t>
            </a:r>
          </a:p>
        </p:txBody>
      </p:sp>
      <p:sp>
        <p:nvSpPr>
          <p:cNvPr id="4" name="Text 3"/>
          <p:cNvSpPr txBox="1"/>
          <p:nvPr/>
        </p:nvSpPr>
        <p:spPr>
          <a:xfrm>
            <a:off x="594360" y="804672"/>
            <a:ext cx="10991088"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Morgenkreis</a:t>
            </a:r>
          </a:p>
        </p:txBody>
      </p:sp>
      <p:pic>
        <p:nvPicPr>
          <p:cNvPr id="5" name="Picture 4" descr="04_morgenkreis_teilhabe.png"/>
          <p:cNvPicPr>
            <a:picLocks noChangeAspect="1"/>
          </p:cNvPicPr>
          <p:nvPr/>
        </p:nvPicPr>
        <p:blipFill>
          <a:blip r:embed="rId3"/>
          <a:srcRect l="20977" r="20977"/>
          <a:stretch>
            <a:fillRect/>
          </a:stretch>
        </p:blipFill>
        <p:spPr>
          <a:xfrm>
            <a:off x="7086600" y="1644396"/>
            <a:ext cx="4507992" cy="4370832"/>
          </a:xfrm>
          <a:prstGeom prst="rect">
            <a:avLst/>
          </a:prstGeom>
        </p:spPr>
      </p:pic>
      <p:sp>
        <p:nvSpPr>
          <p:cNvPr id="6" name="Text 5"/>
          <p:cNvSpPr txBox="1"/>
          <p:nvPr/>
        </p:nvSpPr>
        <p:spPr>
          <a:xfrm>
            <a:off x="594360" y="1690116"/>
            <a:ext cx="6080760" cy="275082"/>
          </a:xfrm>
          <a:prstGeom prst="rect">
            <a:avLst/>
          </a:prstGeom>
          <a:noFill/>
        </p:spPr>
        <p:txBody>
          <a:bodyPr wrap="none" lIns="0" rIns="0" tIns="0" bIns="0" anchor="t">
            <a:spAutoFit/>
          </a:bodyPr>
          <a:lstStyle/>
          <a:p>
            <a:pPr>
              <a:lnSpc>
                <a:spcPts val="1770"/>
              </a:lnSpc>
              <a:spcBef>
                <a:spcPts val="0"/>
              </a:spcBef>
              <a:spcAft>
                <a:spcPts val="0"/>
              </a:spcAft>
              <a:defRPr sz="1500" b="1">
                <a:solidFill>
                  <a:srgbClr val="234B42"/>
                </a:solidFill>
                <a:latin typeface="Inter"/>
              </a:defRPr>
            </a:pPr>
            <a:r>
              <a:rPr lang="de-DE"/>
              <a:t>Rahmen anpassen</a:t>
            </a:r>
          </a:p>
        </p:txBody>
      </p:sp>
      <p:sp>
        <p:nvSpPr>
          <p:cNvPr id="7" name="Text 6"/>
          <p:cNvSpPr txBox="1"/>
          <p:nvPr/>
        </p:nvSpPr>
        <p:spPr>
          <a:xfrm>
            <a:off x="594360" y="2029206"/>
            <a:ext cx="6035040" cy="731520"/>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Dauer und Gruppengröße auf die Situation</a:t>
            </a:r>
          </a:p>
          <a:p>
            <a:pPr>
              <a:lnSpc>
                <a:spcPts val="2477"/>
              </a:lnSpc>
              <a:spcBef>
                <a:spcPts val="0"/>
              </a:spcBef>
              <a:spcAft>
                <a:spcPts val="0"/>
              </a:spcAft>
              <a:defRPr sz="2100" b="0">
                <a:solidFill>
                  <a:srgbClr val="26332F"/>
                </a:solidFill>
                <a:latin typeface="Inter"/>
              </a:defRPr>
            </a:pPr>
            <a:r>
              <a:rPr lang="de-DE"/>
              <a:t>abstimmen</a:t>
            </a:r>
          </a:p>
        </p:txBody>
      </p:sp>
      <p:sp>
        <p:nvSpPr>
          <p:cNvPr id="8" name="Text 7"/>
          <p:cNvSpPr txBox="1"/>
          <p:nvPr/>
        </p:nvSpPr>
        <p:spPr>
          <a:xfrm>
            <a:off x="594360" y="2846070"/>
            <a:ext cx="6080760" cy="275082"/>
          </a:xfrm>
          <a:prstGeom prst="rect">
            <a:avLst/>
          </a:prstGeom>
          <a:noFill/>
        </p:spPr>
        <p:txBody>
          <a:bodyPr wrap="none" lIns="0" rIns="0" tIns="0" bIns="0" anchor="t">
            <a:spAutoFit/>
          </a:bodyPr>
          <a:lstStyle/>
          <a:p>
            <a:pPr>
              <a:lnSpc>
                <a:spcPts val="1770"/>
              </a:lnSpc>
              <a:spcBef>
                <a:spcPts val="0"/>
              </a:spcBef>
              <a:spcAft>
                <a:spcPts val="0"/>
              </a:spcAft>
              <a:defRPr sz="1500" b="1">
                <a:solidFill>
                  <a:srgbClr val="234B42"/>
                </a:solidFill>
                <a:latin typeface="Inter"/>
              </a:defRPr>
            </a:pPr>
            <a:r>
              <a:rPr lang="de-DE"/>
              <a:t>Aktive Beteiligung</a:t>
            </a:r>
          </a:p>
        </p:txBody>
      </p:sp>
      <p:sp>
        <p:nvSpPr>
          <p:cNvPr id="9" name="Text 8"/>
          <p:cNvSpPr txBox="1"/>
          <p:nvPr/>
        </p:nvSpPr>
        <p:spPr>
          <a:xfrm>
            <a:off x="594360" y="3185160"/>
            <a:ext cx="6035040" cy="731520"/>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Kurze aktive Aufgaben anbieten</a:t>
            </a:r>
          </a:p>
        </p:txBody>
      </p:sp>
      <p:sp>
        <p:nvSpPr>
          <p:cNvPr id="10" name="Text 9"/>
          <p:cNvSpPr txBox="1"/>
          <p:nvPr/>
        </p:nvSpPr>
        <p:spPr>
          <a:xfrm>
            <a:off x="594360" y="3687318"/>
            <a:ext cx="6080760" cy="275082"/>
          </a:xfrm>
          <a:prstGeom prst="rect">
            <a:avLst/>
          </a:prstGeom>
          <a:noFill/>
        </p:spPr>
        <p:txBody>
          <a:bodyPr wrap="none" lIns="0" rIns="0" tIns="0" bIns="0" anchor="t">
            <a:spAutoFit/>
          </a:bodyPr>
          <a:lstStyle/>
          <a:p>
            <a:pPr>
              <a:lnSpc>
                <a:spcPts val="1770"/>
              </a:lnSpc>
              <a:spcBef>
                <a:spcPts val="0"/>
              </a:spcBef>
              <a:spcAft>
                <a:spcPts val="0"/>
              </a:spcAft>
              <a:defRPr sz="1500" b="1">
                <a:solidFill>
                  <a:srgbClr val="234B42"/>
                </a:solidFill>
                <a:latin typeface="Inter"/>
              </a:defRPr>
            </a:pPr>
            <a:r>
              <a:rPr lang="de-DE"/>
              <a:t>Wahlmöglichkeiten</a:t>
            </a:r>
          </a:p>
        </p:txBody>
      </p:sp>
      <p:sp>
        <p:nvSpPr>
          <p:cNvPr id="11" name="Text 10"/>
          <p:cNvSpPr txBox="1"/>
          <p:nvPr/>
        </p:nvSpPr>
        <p:spPr>
          <a:xfrm>
            <a:off x="594360" y="4026408"/>
            <a:ext cx="6035040" cy="731520"/>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Randplatz oder kürzere Teilnahme ermöglichen</a:t>
            </a:r>
          </a:p>
        </p:txBody>
      </p:sp>
      <p:sp>
        <p:nvSpPr>
          <p:cNvPr id="12" name="Text 11"/>
          <p:cNvSpPr txBox="1"/>
          <p:nvPr/>
        </p:nvSpPr>
        <p:spPr>
          <a:xfrm>
            <a:off x="594360" y="4528566"/>
            <a:ext cx="6080760" cy="275082"/>
          </a:xfrm>
          <a:prstGeom prst="rect">
            <a:avLst/>
          </a:prstGeom>
          <a:noFill/>
        </p:spPr>
        <p:txBody>
          <a:bodyPr wrap="none" lIns="0" rIns="0" tIns="0" bIns="0" anchor="t">
            <a:spAutoFit/>
          </a:bodyPr>
          <a:lstStyle/>
          <a:p>
            <a:pPr>
              <a:lnSpc>
                <a:spcPts val="1770"/>
              </a:lnSpc>
              <a:spcBef>
                <a:spcPts val="0"/>
              </a:spcBef>
              <a:spcAft>
                <a:spcPts val="0"/>
              </a:spcAft>
              <a:defRPr sz="1500" b="1">
                <a:solidFill>
                  <a:srgbClr val="234B42"/>
                </a:solidFill>
                <a:latin typeface="Inter"/>
              </a:defRPr>
            </a:pPr>
            <a:r>
              <a:rPr lang="de-DE"/>
              <a:t>Verlässlich begleiten</a:t>
            </a:r>
          </a:p>
        </p:txBody>
      </p:sp>
      <p:sp>
        <p:nvSpPr>
          <p:cNvPr id="13" name="Text 12"/>
          <p:cNvSpPr txBox="1"/>
          <p:nvPr/>
        </p:nvSpPr>
        <p:spPr>
          <a:xfrm>
            <a:off x="594360" y="4867656"/>
            <a:ext cx="6035040" cy="731520"/>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Rückzug und Rückkehr verlässlich begleiten</a:t>
            </a:r>
          </a:p>
        </p:txBody>
      </p:sp>
    </p:spTree>
  </p:cSld>
  <p:clrMapOvr>
    <a:masterClrMapping/>
  </p:clrMapOvr>
  <p:transition spd="fast" advClick="1">
    <p:fade/>
  </p:transition>
</p:sld>
</file>

<file path=ppt/slides/slide57.xml><?xml version="1.0" encoding="utf-8"?>
<p:sld xmlns:a="http://schemas.openxmlformats.org/drawingml/2006/main" xmlns:p="http://schemas.openxmlformats.org/presentationml/2006/main" xmlns:r="http://schemas.openxmlformats.org/officeDocument/2006/relationships" showMasterSp="1">
  <p:cSld>
    <p:bg>
      <p:bgPr>
        <a:solidFill>
          <a:srgbClr val="F7F5EF"/>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57</a:t>
            </a:r>
          </a:p>
        </p:txBody>
      </p:sp>
      <p:sp>
        <p:nvSpPr>
          <p:cNvPr id="3" name="Text 2"/>
          <p:cNvSpPr txBox="1"/>
          <p:nvPr/>
        </p:nvSpPr>
        <p:spPr>
          <a:xfrm>
            <a:off x="594360" y="393192"/>
            <a:ext cx="10881360" cy="203644"/>
          </a:xfrm>
          <a:prstGeom prst="rect">
            <a:avLst/>
          </a:prstGeom>
          <a:noFill/>
        </p:spPr>
        <p:txBody>
          <a:bodyPr wrap="none" lIns="0" rIns="0" tIns="0" bIns="0" anchor="t">
            <a:spAutoFit/>
          </a:bodyPr>
          <a:lstStyle/>
          <a:p>
            <a:pPr>
              <a:lnSpc>
                <a:spcPts val="1207"/>
              </a:lnSpc>
              <a:spcBef>
                <a:spcPts val="0"/>
              </a:spcBef>
              <a:spcAft>
                <a:spcPts val="0"/>
              </a:spcAft>
              <a:defRPr sz="1150" b="1">
                <a:solidFill>
                  <a:srgbClr val="234B42"/>
                </a:solidFill>
                <a:latin typeface="Inter"/>
              </a:defRPr>
            </a:pPr>
            <a:r>
              <a:rPr lang="de-DE"/>
              <a:t>PRAXIS · ÜBERGÄNGE</a:t>
            </a:r>
          </a:p>
        </p:txBody>
      </p:sp>
      <p:sp>
        <p:nvSpPr>
          <p:cNvPr id="4" name="Text 3"/>
          <p:cNvSpPr txBox="1"/>
          <p:nvPr/>
        </p:nvSpPr>
        <p:spPr>
          <a:xfrm>
            <a:off x="594360" y="804672"/>
            <a:ext cx="10991088"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Aufräumen und Garderobe</a:t>
            </a:r>
          </a:p>
        </p:txBody>
      </p:sp>
      <p:pic>
        <p:nvPicPr>
          <p:cNvPr id="5" name="Picture 4" descr="02_garderobe_vergleich.png"/>
          <p:cNvPicPr>
            <a:picLocks noChangeAspect="1"/>
          </p:cNvPicPr>
          <p:nvPr/>
        </p:nvPicPr>
        <p:blipFill>
          <a:blip r:embed="rId3"/>
          <a:srcRect t="27697" b="27697"/>
          <a:stretch>
            <a:fillRect/>
          </a:stretch>
        </p:blipFill>
        <p:spPr>
          <a:xfrm>
            <a:off x="594360" y="1644396"/>
            <a:ext cx="11000232" cy="2761488"/>
          </a:xfrm>
          <a:prstGeom prst="rect">
            <a:avLst/>
          </a:prstGeom>
        </p:spPr>
      </p:pic>
      <p:sp>
        <p:nvSpPr>
          <p:cNvPr id="6" name="Rectangle 5"/>
          <p:cNvSpPr/>
          <p:nvPr/>
        </p:nvSpPr>
        <p:spPr>
          <a:xfrm>
            <a:off x="594360" y="1644396"/>
            <a:ext cx="2743200" cy="329184"/>
          </a:xfrm>
          <a:prstGeom prst="rect">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6"/>
          <p:cNvSpPr txBox="1"/>
          <p:nvPr/>
        </p:nvSpPr>
        <p:spPr>
          <a:xfrm>
            <a:off x="740664" y="1726692"/>
            <a:ext cx="2468880" cy="200151"/>
          </a:xfrm>
          <a:prstGeom prst="rect">
            <a:avLst/>
          </a:prstGeom>
          <a:noFill/>
        </p:spPr>
        <p:txBody>
          <a:bodyPr wrap="none" lIns="0" rIns="0" tIns="0" bIns="0" anchor="t">
            <a:spAutoFit/>
          </a:bodyPr>
          <a:lstStyle/>
          <a:p>
            <a:pPr>
              <a:lnSpc>
                <a:spcPts val="1180"/>
              </a:lnSpc>
              <a:spcBef>
                <a:spcPts val="0"/>
              </a:spcBef>
              <a:spcAft>
                <a:spcPts val="0"/>
              </a:spcAft>
              <a:defRPr sz="1000" b="1">
                <a:solidFill>
                  <a:srgbClr val="F7F5EF"/>
                </a:solidFill>
                <a:latin typeface="Inter"/>
              </a:defRPr>
            </a:pPr>
            <a:r>
              <a:rPr lang="de-DE"/>
              <a:t>VIELE ANFORDERUNGEN</a:t>
            </a:r>
          </a:p>
        </p:txBody>
      </p:sp>
      <p:sp>
        <p:nvSpPr>
          <p:cNvPr id="8" name="Rectangle 7"/>
          <p:cNvSpPr/>
          <p:nvPr/>
        </p:nvSpPr>
        <p:spPr>
          <a:xfrm>
            <a:off x="6236208" y="1644396"/>
            <a:ext cx="2862072" cy="329184"/>
          </a:xfrm>
          <a:prstGeom prst="rect">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8"/>
          <p:cNvSpPr txBox="1"/>
          <p:nvPr/>
        </p:nvSpPr>
        <p:spPr>
          <a:xfrm>
            <a:off x="6382512" y="1726692"/>
            <a:ext cx="2560320" cy="200151"/>
          </a:xfrm>
          <a:prstGeom prst="rect">
            <a:avLst/>
          </a:prstGeom>
          <a:noFill/>
        </p:spPr>
        <p:txBody>
          <a:bodyPr wrap="none" lIns="0" rIns="0" tIns="0" bIns="0" anchor="t">
            <a:spAutoFit/>
          </a:bodyPr>
          <a:lstStyle/>
          <a:p>
            <a:pPr>
              <a:lnSpc>
                <a:spcPts val="1180"/>
              </a:lnSpc>
              <a:spcBef>
                <a:spcPts val="0"/>
              </a:spcBef>
              <a:spcAft>
                <a:spcPts val="0"/>
              </a:spcAft>
              <a:defRPr sz="1000" b="1">
                <a:solidFill>
                  <a:srgbClr val="F7F5EF"/>
                </a:solidFill>
                <a:latin typeface="Inter"/>
              </a:defRPr>
            </a:pPr>
            <a:r>
              <a:rPr lang="de-DE"/>
              <a:t>UNTERSTÜTZEND ANGEPASST</a:t>
            </a:r>
          </a:p>
        </p:txBody>
      </p:sp>
      <p:sp>
        <p:nvSpPr>
          <p:cNvPr id="10" name="Text 9"/>
          <p:cNvSpPr txBox="1"/>
          <p:nvPr/>
        </p:nvSpPr>
        <p:spPr>
          <a:xfrm>
            <a:off x="594360" y="4634484"/>
            <a:ext cx="5358384" cy="320040"/>
          </a:xfrm>
          <a:prstGeom prst="rect">
            <a:avLst/>
          </a:prstGeom>
          <a:noFill/>
        </p:spPr>
        <p:txBody>
          <a:bodyPr wrap="none" lIns="0" rIns="0" tIns="0" bIns="0" anchor="t">
            <a:spAutoFit/>
          </a:bodyPr>
          <a:lstStyle/>
          <a:p>
            <a:pPr>
              <a:lnSpc>
                <a:spcPts val="2124"/>
              </a:lnSpc>
              <a:spcBef>
                <a:spcPts val="0"/>
              </a:spcBef>
              <a:spcAft>
                <a:spcPts val="0"/>
              </a:spcAft>
              <a:defRPr sz="1800" b="1">
                <a:solidFill>
                  <a:srgbClr val="234B42"/>
                </a:solidFill>
                <a:latin typeface="Manrope"/>
              </a:defRPr>
            </a:pPr>
            <a:r>
              <a:rPr lang="de-DE"/>
              <a:t>Orientierung beim Aufräumen</a:t>
            </a:r>
          </a:p>
        </p:txBody>
      </p:sp>
      <p:sp>
        <p:nvSpPr>
          <p:cNvPr id="11" name="Rectangle 10"/>
          <p:cNvSpPr/>
          <p:nvPr/>
        </p:nvSpPr>
        <p:spPr>
          <a:xfrm>
            <a:off x="594360" y="5196840"/>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11"/>
          <p:cNvSpPr txBox="1"/>
          <p:nvPr/>
        </p:nvSpPr>
        <p:spPr>
          <a:xfrm>
            <a:off x="813816" y="5073396"/>
            <a:ext cx="5138928" cy="342519"/>
          </a:xfrm>
          <a:prstGeom prst="rect">
            <a:avLst/>
          </a:prstGeom>
          <a:noFill/>
        </p:spPr>
        <p:txBody>
          <a:bodyPr wrap="none" lIns="0" rIns="0" tIns="0" bIns="0" anchor="t">
            <a:spAutoFit/>
          </a:bodyPr>
          <a:lstStyle/>
          <a:p>
            <a:pPr>
              <a:lnSpc>
                <a:spcPts val="2301"/>
              </a:lnSpc>
              <a:spcBef>
                <a:spcPts val="0"/>
              </a:spcBef>
              <a:spcAft>
                <a:spcPts val="0"/>
              </a:spcAft>
              <a:defRPr sz="1950" b="0">
                <a:solidFill>
                  <a:srgbClr val="26332F"/>
                </a:solidFill>
                <a:latin typeface="Inter"/>
              </a:defRPr>
            </a:pPr>
            <a:r>
              <a:rPr lang="de-DE"/>
              <a:t>Materialplätze verständlich kennzeichnen</a:t>
            </a:r>
          </a:p>
        </p:txBody>
      </p:sp>
      <p:sp>
        <p:nvSpPr>
          <p:cNvPr id="13" name="Rectangle 12"/>
          <p:cNvSpPr/>
          <p:nvPr/>
        </p:nvSpPr>
        <p:spPr>
          <a:xfrm>
            <a:off x="594360" y="5612511"/>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13"/>
          <p:cNvSpPr txBox="1"/>
          <p:nvPr/>
        </p:nvSpPr>
        <p:spPr>
          <a:xfrm>
            <a:off x="813816" y="5489067"/>
            <a:ext cx="5138928" cy="634746"/>
          </a:xfrm>
          <a:prstGeom prst="rect">
            <a:avLst/>
          </a:prstGeom>
          <a:noFill/>
        </p:spPr>
        <p:txBody>
          <a:bodyPr wrap="none" lIns="0" rIns="0" tIns="0" bIns="0" anchor="t">
            <a:spAutoFit/>
          </a:bodyPr>
          <a:lstStyle/>
          <a:p>
            <a:pPr>
              <a:lnSpc>
                <a:spcPts val="2301"/>
              </a:lnSpc>
              <a:spcBef>
                <a:spcPts val="0"/>
              </a:spcBef>
              <a:spcAft>
                <a:spcPts val="0"/>
              </a:spcAft>
              <a:defRPr sz="1950" b="0">
                <a:solidFill>
                  <a:srgbClr val="26332F"/>
                </a:solidFill>
                <a:latin typeface="Inter"/>
              </a:defRPr>
            </a:pPr>
            <a:r>
              <a:rPr lang="de-DE"/>
              <a:t>Einen ersten Schritt zeigen und gemeinsam</a:t>
            </a:r>
          </a:p>
          <a:p>
            <a:pPr>
              <a:lnSpc>
                <a:spcPts val="2301"/>
              </a:lnSpc>
              <a:spcBef>
                <a:spcPts val="0"/>
              </a:spcBef>
              <a:spcAft>
                <a:spcPts val="0"/>
              </a:spcAft>
              <a:defRPr sz="1950" b="0">
                <a:solidFill>
                  <a:srgbClr val="26332F"/>
                </a:solidFill>
                <a:latin typeface="Inter"/>
              </a:defRPr>
            </a:pPr>
            <a:r>
              <a:rPr lang="de-DE"/>
              <a:t>beginnen</a:t>
            </a:r>
          </a:p>
        </p:txBody>
      </p:sp>
      <p:sp>
        <p:nvSpPr>
          <p:cNvPr id="15" name="Text 14"/>
          <p:cNvSpPr txBox="1"/>
          <p:nvPr/>
        </p:nvSpPr>
        <p:spPr>
          <a:xfrm>
            <a:off x="6236208" y="4634484"/>
            <a:ext cx="5358384" cy="320040"/>
          </a:xfrm>
          <a:prstGeom prst="rect">
            <a:avLst/>
          </a:prstGeom>
          <a:noFill/>
        </p:spPr>
        <p:txBody>
          <a:bodyPr wrap="none" lIns="0" rIns="0" tIns="0" bIns="0" anchor="t">
            <a:spAutoFit/>
          </a:bodyPr>
          <a:lstStyle/>
          <a:p>
            <a:pPr>
              <a:lnSpc>
                <a:spcPts val="2124"/>
              </a:lnSpc>
              <a:spcBef>
                <a:spcPts val="0"/>
              </a:spcBef>
              <a:spcAft>
                <a:spcPts val="0"/>
              </a:spcAft>
              <a:defRPr sz="1800" b="1">
                <a:solidFill>
                  <a:srgbClr val="234B42"/>
                </a:solidFill>
                <a:latin typeface="Manrope"/>
              </a:defRPr>
            </a:pPr>
            <a:r>
              <a:rPr lang="de-DE"/>
              <a:t>Übergang in die Garderobe</a:t>
            </a:r>
          </a:p>
        </p:txBody>
      </p:sp>
      <p:sp>
        <p:nvSpPr>
          <p:cNvPr id="16" name="Rectangle 15"/>
          <p:cNvSpPr/>
          <p:nvPr/>
        </p:nvSpPr>
        <p:spPr>
          <a:xfrm>
            <a:off x="6236208" y="5196840"/>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16"/>
          <p:cNvSpPr txBox="1"/>
          <p:nvPr/>
        </p:nvSpPr>
        <p:spPr>
          <a:xfrm>
            <a:off x="6455664" y="5073396"/>
            <a:ext cx="5138928" cy="342519"/>
          </a:xfrm>
          <a:prstGeom prst="rect">
            <a:avLst/>
          </a:prstGeom>
          <a:noFill/>
        </p:spPr>
        <p:txBody>
          <a:bodyPr wrap="none" lIns="0" rIns="0" tIns="0" bIns="0" anchor="t">
            <a:spAutoFit/>
          </a:bodyPr>
          <a:lstStyle/>
          <a:p>
            <a:pPr>
              <a:lnSpc>
                <a:spcPts val="2301"/>
              </a:lnSpc>
              <a:spcBef>
                <a:spcPts val="0"/>
              </a:spcBef>
              <a:spcAft>
                <a:spcPts val="0"/>
              </a:spcAft>
              <a:defRPr sz="1950" b="0">
                <a:solidFill>
                  <a:srgbClr val="26332F"/>
                </a:solidFill>
                <a:latin typeface="Inter"/>
              </a:defRPr>
            </a:pPr>
            <a:r>
              <a:rPr lang="de-DE"/>
              <a:t>Wartezeiten und Gedränge entzerren</a:t>
            </a:r>
          </a:p>
        </p:txBody>
      </p:sp>
      <p:sp>
        <p:nvSpPr>
          <p:cNvPr id="18" name="Rectangle 17"/>
          <p:cNvSpPr/>
          <p:nvPr/>
        </p:nvSpPr>
        <p:spPr>
          <a:xfrm>
            <a:off x="6236208" y="5612511"/>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18"/>
          <p:cNvSpPr txBox="1"/>
          <p:nvPr/>
        </p:nvSpPr>
        <p:spPr>
          <a:xfrm>
            <a:off x="6455664" y="5489067"/>
            <a:ext cx="5138928" cy="634746"/>
          </a:xfrm>
          <a:prstGeom prst="rect">
            <a:avLst/>
          </a:prstGeom>
          <a:noFill/>
        </p:spPr>
        <p:txBody>
          <a:bodyPr wrap="none" lIns="0" rIns="0" tIns="0" bIns="0" anchor="t">
            <a:spAutoFit/>
          </a:bodyPr>
          <a:lstStyle/>
          <a:p>
            <a:pPr>
              <a:lnSpc>
                <a:spcPts val="2301"/>
              </a:lnSpc>
              <a:spcBef>
                <a:spcPts val="0"/>
              </a:spcBef>
              <a:spcAft>
                <a:spcPts val="0"/>
              </a:spcAft>
              <a:defRPr sz="1950" b="0">
                <a:solidFill>
                  <a:srgbClr val="26332F"/>
                </a:solidFill>
                <a:latin typeface="Inter"/>
              </a:defRPr>
            </a:pPr>
            <a:r>
              <a:rPr lang="de-DE"/>
              <a:t>Den Abschluss des Spiels und den nächsten</a:t>
            </a:r>
          </a:p>
          <a:p>
            <a:pPr>
              <a:lnSpc>
                <a:spcPts val="2301"/>
              </a:lnSpc>
              <a:spcBef>
                <a:spcPts val="0"/>
              </a:spcBef>
              <a:spcAft>
                <a:spcPts val="0"/>
              </a:spcAft>
              <a:defRPr sz="1950" b="0">
                <a:solidFill>
                  <a:srgbClr val="26332F"/>
                </a:solidFill>
                <a:latin typeface="Inter"/>
              </a:defRPr>
            </a:pPr>
            <a:r>
              <a:rPr lang="de-DE"/>
              <a:t>Ort erkennbar machen</a:t>
            </a:r>
          </a:p>
        </p:txBody>
      </p:sp>
    </p:spTree>
  </p:cSld>
  <p:clrMapOvr>
    <a:masterClrMapping/>
  </p:clrMapOvr>
  <p:transition spd="fast" advClick="1">
    <p:fade/>
  </p:transition>
</p:sld>
</file>

<file path=ppt/slides/slide58.xml><?xml version="1.0" encoding="utf-8"?>
<p:sld xmlns:a="http://schemas.openxmlformats.org/drawingml/2006/main" xmlns:p="http://schemas.openxmlformats.org/presentationml/2006/main" xmlns:r="http://schemas.openxmlformats.org/officeDocument/2006/relationships" showMasterSp="1">
  <p:cSld>
    <p:bg>
      <p:bgPr>
        <a:solidFill>
          <a:srgbClr val="F7F5EF"/>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58</a:t>
            </a:r>
          </a:p>
        </p:txBody>
      </p:sp>
      <p:sp>
        <p:nvSpPr>
          <p:cNvPr id="3" name="Text 2"/>
          <p:cNvSpPr txBox="1"/>
          <p:nvPr/>
        </p:nvSpPr>
        <p:spPr>
          <a:xfrm>
            <a:off x="594360" y="393192"/>
            <a:ext cx="10881360" cy="203644"/>
          </a:xfrm>
          <a:prstGeom prst="rect">
            <a:avLst/>
          </a:prstGeom>
          <a:noFill/>
        </p:spPr>
        <p:txBody>
          <a:bodyPr wrap="none" lIns="0" rIns="0" tIns="0" bIns="0" anchor="t">
            <a:spAutoFit/>
          </a:bodyPr>
          <a:lstStyle/>
          <a:p>
            <a:pPr>
              <a:lnSpc>
                <a:spcPts val="1207"/>
              </a:lnSpc>
              <a:spcBef>
                <a:spcPts val="0"/>
              </a:spcBef>
              <a:spcAft>
                <a:spcPts val="0"/>
              </a:spcAft>
              <a:defRPr sz="1150" b="1">
                <a:solidFill>
                  <a:srgbClr val="234B42"/>
                </a:solidFill>
                <a:latin typeface="Inter"/>
              </a:defRPr>
            </a:pPr>
            <a:r>
              <a:rPr lang="de-DE"/>
              <a:t>PRAXIS · ESSEN &amp; RÜCKZUG</a:t>
            </a:r>
          </a:p>
        </p:txBody>
      </p:sp>
      <p:sp>
        <p:nvSpPr>
          <p:cNvPr id="4" name="Text 3"/>
          <p:cNvSpPr txBox="1"/>
          <p:nvPr/>
        </p:nvSpPr>
        <p:spPr>
          <a:xfrm>
            <a:off x="594360" y="804672"/>
            <a:ext cx="10991088"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Essen und Rückzug</a:t>
            </a:r>
          </a:p>
        </p:txBody>
      </p:sp>
      <p:pic>
        <p:nvPicPr>
          <p:cNvPr id="5" name="Picture 4" descr="05_essen.png"/>
          <p:cNvPicPr>
            <a:picLocks noChangeAspect="1"/>
          </p:cNvPicPr>
          <p:nvPr/>
        </p:nvPicPr>
        <p:blipFill>
          <a:blip r:embed="rId3"/>
          <a:srcRect l="2466" r="2466"/>
          <a:stretch>
            <a:fillRect/>
          </a:stretch>
        </p:blipFill>
        <p:spPr>
          <a:xfrm>
            <a:off x="594360" y="1644396"/>
            <a:ext cx="3429000" cy="2029968"/>
          </a:xfrm>
          <a:prstGeom prst="rect">
            <a:avLst/>
          </a:prstGeom>
        </p:spPr>
      </p:pic>
      <p:sp>
        <p:nvSpPr>
          <p:cNvPr id="6" name="Text 5"/>
          <p:cNvSpPr txBox="1"/>
          <p:nvPr/>
        </p:nvSpPr>
        <p:spPr>
          <a:xfrm>
            <a:off x="4343400" y="1699260"/>
            <a:ext cx="7132320" cy="364997"/>
          </a:xfrm>
          <a:prstGeom prst="rect">
            <a:avLst/>
          </a:prstGeom>
          <a:noFill/>
        </p:spPr>
        <p:txBody>
          <a:bodyPr wrap="none" lIns="0" rIns="0" tIns="0" bIns="0" anchor="t">
            <a:spAutoFit/>
          </a:bodyPr>
          <a:lstStyle/>
          <a:p>
            <a:pPr>
              <a:lnSpc>
                <a:spcPts val="2477"/>
              </a:lnSpc>
              <a:spcBef>
                <a:spcPts val="0"/>
              </a:spcBef>
              <a:spcAft>
                <a:spcPts val="0"/>
              </a:spcAft>
              <a:defRPr sz="2100" b="1">
                <a:solidFill>
                  <a:srgbClr val="234B42"/>
                </a:solidFill>
                <a:latin typeface="Manrope"/>
              </a:defRPr>
            </a:pPr>
            <a:r>
              <a:rPr lang="de-DE"/>
              <a:t>Beim Essen</a:t>
            </a:r>
          </a:p>
        </p:txBody>
      </p:sp>
      <p:sp>
        <p:nvSpPr>
          <p:cNvPr id="7" name="Rectangle 6"/>
          <p:cNvSpPr/>
          <p:nvPr/>
        </p:nvSpPr>
        <p:spPr>
          <a:xfrm>
            <a:off x="4343400" y="2343912"/>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 7"/>
          <p:cNvSpPr txBox="1"/>
          <p:nvPr/>
        </p:nvSpPr>
        <p:spPr>
          <a:xfrm>
            <a:off x="4562856" y="2220468"/>
            <a:ext cx="6958583" cy="364997"/>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Geruch, Konsistenz und Lautstärke beachten</a:t>
            </a:r>
          </a:p>
        </p:txBody>
      </p:sp>
      <p:sp>
        <p:nvSpPr>
          <p:cNvPr id="9" name="Rectangle 8"/>
          <p:cNvSpPr/>
          <p:nvPr/>
        </p:nvSpPr>
        <p:spPr>
          <a:xfrm>
            <a:off x="4343400" y="2818637"/>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9"/>
          <p:cNvSpPr txBox="1"/>
          <p:nvPr/>
        </p:nvSpPr>
        <p:spPr>
          <a:xfrm>
            <a:off x="4562856" y="2695194"/>
            <a:ext cx="6958583" cy="364997"/>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Druck reduzieren und Beschwerden abklären</a:t>
            </a:r>
          </a:p>
        </p:txBody>
      </p:sp>
      <p:sp>
        <p:nvSpPr>
          <p:cNvPr id="11" name="Rectangle 10"/>
          <p:cNvSpPr/>
          <p:nvPr/>
        </p:nvSpPr>
        <p:spPr>
          <a:xfrm>
            <a:off x="4343400" y="3293364"/>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11"/>
          <p:cNvSpPr txBox="1"/>
          <p:nvPr/>
        </p:nvSpPr>
        <p:spPr>
          <a:xfrm>
            <a:off x="4562856" y="3169919"/>
            <a:ext cx="6958583" cy="364997"/>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Passende Sitzbedingungen prüfen</a:t>
            </a:r>
          </a:p>
        </p:txBody>
      </p:sp>
      <p:pic>
        <p:nvPicPr>
          <p:cNvPr id="13" name="Picture 12" descr="03_rueckzug_beziehung.png"/>
          <p:cNvPicPr>
            <a:picLocks noChangeAspect="1"/>
          </p:cNvPicPr>
          <p:nvPr/>
        </p:nvPicPr>
        <p:blipFill>
          <a:blip r:embed="rId4"/>
          <a:srcRect l="2466" r="2466"/>
          <a:stretch>
            <a:fillRect/>
          </a:stretch>
        </p:blipFill>
        <p:spPr>
          <a:xfrm>
            <a:off x="594360" y="3921252"/>
            <a:ext cx="3429000" cy="2029968"/>
          </a:xfrm>
          <a:prstGeom prst="rect">
            <a:avLst/>
          </a:prstGeom>
        </p:spPr>
      </p:pic>
      <p:sp>
        <p:nvSpPr>
          <p:cNvPr id="14" name="Text 13"/>
          <p:cNvSpPr txBox="1"/>
          <p:nvPr/>
        </p:nvSpPr>
        <p:spPr>
          <a:xfrm>
            <a:off x="4343400" y="3976116"/>
            <a:ext cx="7132320" cy="364997"/>
          </a:xfrm>
          <a:prstGeom prst="rect">
            <a:avLst/>
          </a:prstGeom>
          <a:noFill/>
        </p:spPr>
        <p:txBody>
          <a:bodyPr wrap="none" lIns="0" rIns="0" tIns="0" bIns="0" anchor="t">
            <a:spAutoFit/>
          </a:bodyPr>
          <a:lstStyle/>
          <a:p>
            <a:pPr>
              <a:lnSpc>
                <a:spcPts val="2477"/>
              </a:lnSpc>
              <a:spcBef>
                <a:spcPts val="0"/>
              </a:spcBef>
              <a:spcAft>
                <a:spcPts val="0"/>
              </a:spcAft>
              <a:defRPr sz="2100" b="1">
                <a:solidFill>
                  <a:srgbClr val="234B42"/>
                </a:solidFill>
                <a:latin typeface="Manrope"/>
              </a:defRPr>
            </a:pPr>
            <a:r>
              <a:rPr lang="de-DE"/>
              <a:t>Beim Rückzug</a:t>
            </a:r>
          </a:p>
        </p:txBody>
      </p:sp>
      <p:sp>
        <p:nvSpPr>
          <p:cNvPr id="15" name="Rectangle 14"/>
          <p:cNvSpPr/>
          <p:nvPr/>
        </p:nvSpPr>
        <p:spPr>
          <a:xfrm>
            <a:off x="4343400" y="4620768"/>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15"/>
          <p:cNvSpPr txBox="1"/>
          <p:nvPr/>
        </p:nvSpPr>
        <p:spPr>
          <a:xfrm>
            <a:off x="4562856" y="4497324"/>
            <a:ext cx="6958583" cy="364997"/>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Erreichbaren sicheren Ort anbieten</a:t>
            </a:r>
          </a:p>
        </p:txBody>
      </p:sp>
      <p:sp>
        <p:nvSpPr>
          <p:cNvPr id="17" name="Rectangle 16"/>
          <p:cNvSpPr/>
          <p:nvPr/>
        </p:nvSpPr>
        <p:spPr>
          <a:xfrm>
            <a:off x="4343400" y="5095494"/>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17"/>
          <p:cNvSpPr txBox="1"/>
          <p:nvPr/>
        </p:nvSpPr>
        <p:spPr>
          <a:xfrm>
            <a:off x="4562856" y="4972050"/>
            <a:ext cx="6958583" cy="364997"/>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Vertraute Begleitung ermöglichen</a:t>
            </a:r>
          </a:p>
        </p:txBody>
      </p:sp>
      <p:sp>
        <p:nvSpPr>
          <p:cNvPr id="19" name="Rectangle 18"/>
          <p:cNvSpPr/>
          <p:nvPr/>
        </p:nvSpPr>
        <p:spPr>
          <a:xfrm>
            <a:off x="4343400" y="5570220"/>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 19"/>
          <p:cNvSpPr txBox="1"/>
          <p:nvPr/>
        </p:nvSpPr>
        <p:spPr>
          <a:xfrm>
            <a:off x="4562856" y="5446776"/>
            <a:ext cx="6958583" cy="364997"/>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Rückkehr verständlich gestalten</a:t>
            </a:r>
          </a:p>
        </p:txBody>
      </p:sp>
    </p:spTree>
  </p:cSld>
  <p:clrMapOvr>
    <a:masterClrMapping/>
  </p:clrMapOvr>
  <p:transition spd="fast" advClick="1">
    <p:fade/>
  </p:transition>
</p:sld>
</file>

<file path=ppt/slides/slide59.xml><?xml version="1.0" encoding="utf-8"?>
<p:sld xmlns:a="http://schemas.openxmlformats.org/drawingml/2006/main" xmlns:p="http://schemas.openxmlformats.org/presentationml/2006/main" xmlns:r="http://schemas.openxmlformats.org/officeDocument/2006/relationships" showMasterSp="1">
  <p:cSld>
    <p:bg>
      <p:bgPr>
        <a:solidFill>
          <a:srgbClr val="F7F5EF"/>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59</a:t>
            </a:r>
          </a:p>
        </p:txBody>
      </p:sp>
      <p:sp>
        <p:nvSpPr>
          <p:cNvPr id="3" name="Text 2"/>
          <p:cNvSpPr txBox="1"/>
          <p:nvPr/>
        </p:nvSpPr>
        <p:spPr>
          <a:xfrm>
            <a:off x="594360" y="393192"/>
            <a:ext cx="10881360" cy="203644"/>
          </a:xfrm>
          <a:prstGeom prst="rect">
            <a:avLst/>
          </a:prstGeom>
          <a:noFill/>
        </p:spPr>
        <p:txBody>
          <a:bodyPr wrap="none" lIns="0" rIns="0" tIns="0" bIns="0" anchor="t">
            <a:spAutoFit/>
          </a:bodyPr>
          <a:lstStyle/>
          <a:p>
            <a:pPr>
              <a:lnSpc>
                <a:spcPts val="1207"/>
              </a:lnSpc>
              <a:spcBef>
                <a:spcPts val="0"/>
              </a:spcBef>
              <a:spcAft>
                <a:spcPts val="0"/>
              </a:spcAft>
              <a:defRPr sz="1150" b="1">
                <a:solidFill>
                  <a:srgbClr val="234B42"/>
                </a:solidFill>
                <a:latin typeface="Inter"/>
              </a:defRPr>
            </a:pPr>
            <a:r>
              <a:rPr lang="de-DE"/>
              <a:t>PRAXIS · CO-REGULATION</a:t>
            </a:r>
          </a:p>
        </p:txBody>
      </p:sp>
      <p:sp>
        <p:nvSpPr>
          <p:cNvPr id="4" name="Text 3"/>
          <p:cNvSpPr txBox="1"/>
          <p:nvPr/>
        </p:nvSpPr>
        <p:spPr>
          <a:xfrm>
            <a:off x="594360" y="804672"/>
            <a:ext cx="10991088"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Co-Regulation bei hoher Belastung</a:t>
            </a:r>
          </a:p>
        </p:txBody>
      </p:sp>
      <p:pic>
        <p:nvPicPr>
          <p:cNvPr id="5" name="Picture 4" descr="03_rueckzug_beziehung.png"/>
          <p:cNvPicPr>
            <a:picLocks noChangeAspect="1"/>
          </p:cNvPicPr>
          <p:nvPr/>
        </p:nvPicPr>
        <p:blipFill>
          <a:blip r:embed="rId3"/>
          <a:srcRect l="20977" r="20977"/>
          <a:stretch>
            <a:fillRect/>
          </a:stretch>
        </p:blipFill>
        <p:spPr>
          <a:xfrm>
            <a:off x="7086600" y="1644396"/>
            <a:ext cx="4507992" cy="4370832"/>
          </a:xfrm>
          <a:prstGeom prst="rect">
            <a:avLst/>
          </a:prstGeom>
        </p:spPr>
      </p:pic>
      <p:sp>
        <p:nvSpPr>
          <p:cNvPr id="6" name="Text 5"/>
          <p:cNvSpPr txBox="1"/>
          <p:nvPr/>
        </p:nvSpPr>
        <p:spPr>
          <a:xfrm>
            <a:off x="594360" y="1690116"/>
            <a:ext cx="6080760" cy="275082"/>
          </a:xfrm>
          <a:prstGeom prst="rect">
            <a:avLst/>
          </a:prstGeom>
          <a:noFill/>
        </p:spPr>
        <p:txBody>
          <a:bodyPr wrap="none" lIns="0" rIns="0" tIns="0" bIns="0" anchor="t">
            <a:spAutoFit/>
          </a:bodyPr>
          <a:lstStyle/>
          <a:p>
            <a:pPr>
              <a:lnSpc>
                <a:spcPts val="1770"/>
              </a:lnSpc>
              <a:spcBef>
                <a:spcPts val="0"/>
              </a:spcBef>
              <a:spcAft>
                <a:spcPts val="0"/>
              </a:spcAft>
              <a:defRPr sz="1500" b="1">
                <a:solidFill>
                  <a:srgbClr val="234B42"/>
                </a:solidFill>
                <a:latin typeface="Inter"/>
              </a:defRPr>
            </a:pPr>
            <a:r>
              <a:rPr lang="de-DE"/>
              <a:t>Stimme &amp; Tempo</a:t>
            </a:r>
          </a:p>
        </p:txBody>
      </p:sp>
      <p:sp>
        <p:nvSpPr>
          <p:cNvPr id="7" name="Text 6"/>
          <p:cNvSpPr txBox="1"/>
          <p:nvPr/>
        </p:nvSpPr>
        <p:spPr>
          <a:xfrm>
            <a:off x="594360" y="2029206"/>
            <a:ext cx="6035040" cy="731520"/>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6332F"/>
                </a:solidFill>
                <a:latin typeface="Inter"/>
              </a:defRPr>
            </a:pPr>
            <a:r>
              <a:rPr lang="de-DE"/>
              <a:t>Die eigene Stimme und das Tempo reduzieren</a:t>
            </a:r>
          </a:p>
        </p:txBody>
      </p:sp>
      <p:sp>
        <p:nvSpPr>
          <p:cNvPr id="8" name="Text 7"/>
          <p:cNvSpPr txBox="1"/>
          <p:nvPr/>
        </p:nvSpPr>
        <p:spPr>
          <a:xfrm>
            <a:off x="594360" y="2523871"/>
            <a:ext cx="6080760" cy="275082"/>
          </a:xfrm>
          <a:prstGeom prst="rect">
            <a:avLst/>
          </a:prstGeom>
          <a:noFill/>
        </p:spPr>
        <p:txBody>
          <a:bodyPr wrap="none" lIns="0" rIns="0" tIns="0" bIns="0" anchor="t">
            <a:spAutoFit/>
          </a:bodyPr>
          <a:lstStyle/>
          <a:p>
            <a:pPr>
              <a:lnSpc>
                <a:spcPts val="1770"/>
              </a:lnSpc>
              <a:spcBef>
                <a:spcPts val="0"/>
              </a:spcBef>
              <a:spcAft>
                <a:spcPts val="0"/>
              </a:spcAft>
              <a:defRPr sz="1500" b="1">
                <a:solidFill>
                  <a:srgbClr val="234B42"/>
                </a:solidFill>
                <a:latin typeface="Inter"/>
              </a:defRPr>
            </a:pPr>
            <a:r>
              <a:rPr lang="de-DE"/>
              <a:t>Sprache &amp; Anforderungen</a:t>
            </a:r>
          </a:p>
        </p:txBody>
      </p:sp>
      <p:sp>
        <p:nvSpPr>
          <p:cNvPr id="9" name="Text 8"/>
          <p:cNvSpPr txBox="1"/>
          <p:nvPr/>
        </p:nvSpPr>
        <p:spPr>
          <a:xfrm>
            <a:off x="594360" y="2862961"/>
            <a:ext cx="6035040" cy="731520"/>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6332F"/>
                </a:solidFill>
                <a:latin typeface="Inter"/>
              </a:defRPr>
            </a:pPr>
            <a:r>
              <a:rPr lang="de-DE"/>
              <a:t>Sprache und Anforderungen vereinfachen</a:t>
            </a:r>
          </a:p>
        </p:txBody>
      </p:sp>
      <p:sp>
        <p:nvSpPr>
          <p:cNvPr id="10" name="Text 9"/>
          <p:cNvSpPr txBox="1"/>
          <p:nvPr/>
        </p:nvSpPr>
        <p:spPr>
          <a:xfrm>
            <a:off x="594360" y="3357626"/>
            <a:ext cx="6080760" cy="275082"/>
          </a:xfrm>
          <a:prstGeom prst="rect">
            <a:avLst/>
          </a:prstGeom>
          <a:noFill/>
        </p:spPr>
        <p:txBody>
          <a:bodyPr wrap="none" lIns="0" rIns="0" tIns="0" bIns="0" anchor="t">
            <a:spAutoFit/>
          </a:bodyPr>
          <a:lstStyle/>
          <a:p>
            <a:pPr>
              <a:lnSpc>
                <a:spcPts val="1770"/>
              </a:lnSpc>
              <a:spcBef>
                <a:spcPts val="0"/>
              </a:spcBef>
              <a:spcAft>
                <a:spcPts val="0"/>
              </a:spcAft>
              <a:defRPr sz="1500" b="1">
                <a:solidFill>
                  <a:srgbClr val="234B42"/>
                </a:solidFill>
                <a:latin typeface="Inter"/>
              </a:defRPr>
            </a:pPr>
            <a:r>
              <a:rPr lang="de-DE"/>
              <a:t>Umgebung</a:t>
            </a:r>
          </a:p>
        </p:txBody>
      </p:sp>
      <p:sp>
        <p:nvSpPr>
          <p:cNvPr id="11" name="Text 10"/>
          <p:cNvSpPr txBox="1"/>
          <p:nvPr/>
        </p:nvSpPr>
        <p:spPr>
          <a:xfrm>
            <a:off x="594360" y="3696716"/>
            <a:ext cx="6035040" cy="731520"/>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6332F"/>
                </a:solidFill>
                <a:latin typeface="Inter"/>
              </a:defRPr>
            </a:pPr>
            <a:r>
              <a:rPr lang="de-DE"/>
              <a:t>Reize und Publikum möglichst verringern</a:t>
            </a:r>
          </a:p>
        </p:txBody>
      </p:sp>
      <p:sp>
        <p:nvSpPr>
          <p:cNvPr id="12" name="Text 11"/>
          <p:cNvSpPr txBox="1"/>
          <p:nvPr/>
        </p:nvSpPr>
        <p:spPr>
          <a:xfrm>
            <a:off x="594360" y="4191381"/>
            <a:ext cx="6080760" cy="275082"/>
          </a:xfrm>
          <a:prstGeom prst="rect">
            <a:avLst/>
          </a:prstGeom>
          <a:noFill/>
        </p:spPr>
        <p:txBody>
          <a:bodyPr wrap="none" lIns="0" rIns="0" tIns="0" bIns="0" anchor="t">
            <a:spAutoFit/>
          </a:bodyPr>
          <a:lstStyle/>
          <a:p>
            <a:pPr>
              <a:lnSpc>
                <a:spcPts val="1770"/>
              </a:lnSpc>
              <a:spcBef>
                <a:spcPts val="0"/>
              </a:spcBef>
              <a:spcAft>
                <a:spcPts val="0"/>
              </a:spcAft>
              <a:defRPr sz="1500" b="1">
                <a:solidFill>
                  <a:srgbClr val="234B42"/>
                </a:solidFill>
                <a:latin typeface="Inter"/>
              </a:defRPr>
            </a:pPr>
            <a:r>
              <a:rPr lang="de-DE"/>
              <a:t>Beziehung</a:t>
            </a:r>
          </a:p>
        </p:txBody>
      </p:sp>
      <p:sp>
        <p:nvSpPr>
          <p:cNvPr id="13" name="Text 12"/>
          <p:cNvSpPr txBox="1"/>
          <p:nvPr/>
        </p:nvSpPr>
        <p:spPr>
          <a:xfrm>
            <a:off x="594360" y="4530471"/>
            <a:ext cx="6035040" cy="731520"/>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6332F"/>
                </a:solidFill>
                <a:latin typeface="Inter"/>
              </a:defRPr>
            </a:pPr>
            <a:r>
              <a:rPr lang="de-DE"/>
              <a:t>Eine vertraute Begleitung anbieten und Berührung</a:t>
            </a:r>
          </a:p>
          <a:p>
            <a:pPr>
              <a:lnSpc>
                <a:spcPts val="2419"/>
              </a:lnSpc>
              <a:spcBef>
                <a:spcPts val="0"/>
              </a:spcBef>
              <a:spcAft>
                <a:spcPts val="0"/>
              </a:spcAft>
              <a:defRPr sz="2050" b="0">
                <a:solidFill>
                  <a:srgbClr val="26332F"/>
                </a:solidFill>
                <a:latin typeface="Inter"/>
              </a:defRPr>
            </a:pPr>
            <a:r>
              <a:rPr lang="de-DE"/>
              <a:t>abstimmen</a:t>
            </a:r>
          </a:p>
        </p:txBody>
      </p:sp>
      <p:sp>
        <p:nvSpPr>
          <p:cNvPr id="14" name="Text 13"/>
          <p:cNvSpPr txBox="1"/>
          <p:nvPr/>
        </p:nvSpPr>
        <p:spPr>
          <a:xfrm>
            <a:off x="594360" y="5806440"/>
            <a:ext cx="10972800" cy="457200"/>
          </a:xfrm>
          <a:prstGeom prst="rect">
            <a:avLst/>
          </a:prstGeom>
          <a:noFill/>
        </p:spPr>
        <p:txBody>
          <a:bodyPr wrap="none" lIns="0" rIns="0" tIns="0" bIns="0" anchor="t">
            <a:spAutoFit/>
          </a:bodyPr>
          <a:lstStyle/>
          <a:p>
            <a:pPr>
              <a:lnSpc>
                <a:spcPts val="2301"/>
              </a:lnSpc>
              <a:spcBef>
                <a:spcPts val="0"/>
              </a:spcBef>
              <a:spcAft>
                <a:spcPts val="0"/>
              </a:spcAft>
              <a:defRPr sz="1950" b="1">
                <a:solidFill>
                  <a:srgbClr val="234B42"/>
                </a:solidFill>
                <a:latin typeface="Manrope"/>
              </a:defRPr>
            </a:pPr>
            <a:r>
              <a:rPr lang="de-DE"/>
              <a:t>„Ich bin hier. Wir gehen an einen ruhigeren Ort.“</a:t>
            </a:r>
          </a:p>
        </p:txBody>
      </p:sp>
    </p:spTree>
  </p:cSld>
  <p:clrMapOvr>
    <a:masterClrMapping/>
  </p:clrMapOvr>
  <p:transition spd="fast" advClick="1">
    <p:fade/>
  </p:transition>
</p:sld>
</file>

<file path=ppt/slides/slide60.xml><?xml version="1.0" encoding="utf-8"?>
<p:sld xmlns:a="http://schemas.openxmlformats.org/drawingml/2006/main" xmlns:p="http://schemas.openxmlformats.org/presentationml/2006/main" xmlns:r="http://schemas.openxmlformats.org/officeDocument/2006/relationships" showMasterSp="1">
  <p:cSld>
    <p:bg>
      <p:bgPr>
        <a:solidFill>
          <a:srgbClr val="F7F5EF"/>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60</a:t>
            </a:r>
          </a:p>
        </p:txBody>
      </p:sp>
      <p:sp>
        <p:nvSpPr>
          <p:cNvPr id="3" name="Text 2"/>
          <p:cNvSpPr txBox="1"/>
          <p:nvPr/>
        </p:nvSpPr>
        <p:spPr>
          <a:xfrm>
            <a:off x="594360" y="393192"/>
            <a:ext cx="10881360" cy="203644"/>
          </a:xfrm>
          <a:prstGeom prst="rect">
            <a:avLst/>
          </a:prstGeom>
          <a:noFill/>
        </p:spPr>
        <p:txBody>
          <a:bodyPr wrap="none" lIns="0" rIns="0" tIns="0" bIns="0" anchor="t">
            <a:spAutoFit/>
          </a:bodyPr>
          <a:lstStyle/>
          <a:p>
            <a:pPr>
              <a:lnSpc>
                <a:spcPts val="1207"/>
              </a:lnSpc>
              <a:spcBef>
                <a:spcPts val="0"/>
              </a:spcBef>
              <a:spcAft>
                <a:spcPts val="0"/>
              </a:spcAft>
              <a:defRPr sz="1150" b="1">
                <a:solidFill>
                  <a:srgbClr val="234B42"/>
                </a:solidFill>
                <a:latin typeface="Inter"/>
              </a:defRPr>
            </a:pPr>
            <a:r>
              <a:rPr lang="de-DE"/>
              <a:t>PRAXIS · SCHUTZ</a:t>
            </a:r>
          </a:p>
        </p:txBody>
      </p:sp>
      <p:sp>
        <p:nvSpPr>
          <p:cNvPr id="4" name="Text 3"/>
          <p:cNvSpPr txBox="1"/>
          <p:nvPr/>
        </p:nvSpPr>
        <p:spPr>
          <a:xfrm>
            <a:off x="594360" y="804672"/>
            <a:ext cx="10991088"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Schutz und klare Grenzen</a:t>
            </a:r>
          </a:p>
        </p:txBody>
      </p:sp>
      <p:sp>
        <p:nvSpPr>
          <p:cNvPr id="5" name="Rounded Rectangle 4"/>
          <p:cNvSpPr/>
          <p:nvPr/>
        </p:nvSpPr>
        <p:spPr>
          <a:xfrm>
            <a:off x="594360" y="1644396"/>
            <a:ext cx="5376672" cy="1797557"/>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22960" y="1872996"/>
            <a:ext cx="393192" cy="393192"/>
          </a:xfrm>
          <a:prstGeom prst="ellipse">
            <a:avLst/>
          </a:prstGeom>
          <a:solidFill>
            <a:srgbClr val="B6D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6"/>
          <p:cNvSpPr txBox="1"/>
          <p:nvPr/>
        </p:nvSpPr>
        <p:spPr>
          <a:xfrm>
            <a:off x="822960" y="1946148"/>
            <a:ext cx="393192" cy="189992"/>
          </a:xfrm>
          <a:prstGeom prst="rect">
            <a:avLst/>
          </a:prstGeom>
          <a:noFill/>
        </p:spPr>
        <p:txBody>
          <a:bodyPr wrap="none" lIns="0" rIns="0" tIns="0" bIns="0" anchor="t">
            <a:spAutoFit/>
          </a:bodyPr>
          <a:lstStyle/>
          <a:p>
            <a:pPr algn="ctr">
              <a:lnSpc>
                <a:spcPts val="1100"/>
              </a:lnSpc>
              <a:spcBef>
                <a:spcPts val="0"/>
              </a:spcBef>
              <a:spcAft>
                <a:spcPts val="0"/>
              </a:spcAft>
              <a:defRPr sz="1100" b="1">
                <a:solidFill>
                  <a:srgbClr val="234B42"/>
                </a:solidFill>
                <a:latin typeface="Inter"/>
              </a:defRPr>
            </a:pPr>
            <a:r>
              <a:rPr lang="de-DE"/>
              <a:t>01</a:t>
            </a:r>
          </a:p>
        </p:txBody>
      </p:sp>
      <p:sp>
        <p:nvSpPr>
          <p:cNvPr id="8" name="Text 7"/>
          <p:cNvSpPr txBox="1"/>
          <p:nvPr/>
        </p:nvSpPr>
        <p:spPr>
          <a:xfrm>
            <a:off x="1353312" y="1872996"/>
            <a:ext cx="4370831" cy="372490"/>
          </a:xfrm>
          <a:prstGeom prst="rect">
            <a:avLst/>
          </a:prstGeom>
          <a:noFill/>
        </p:spPr>
        <p:txBody>
          <a:bodyPr wrap="none" lIns="0" rIns="0" tIns="0" bIns="0" anchor="t">
            <a:spAutoFit/>
          </a:bodyPr>
          <a:lstStyle/>
          <a:p>
            <a:pPr>
              <a:lnSpc>
                <a:spcPts val="2536"/>
              </a:lnSpc>
              <a:spcBef>
                <a:spcPts val="0"/>
              </a:spcBef>
              <a:spcAft>
                <a:spcPts val="0"/>
              </a:spcAft>
              <a:defRPr sz="2150" b="1">
                <a:solidFill>
                  <a:srgbClr val="234B42"/>
                </a:solidFill>
                <a:latin typeface="Manrope"/>
              </a:defRPr>
            </a:pPr>
            <a:r>
              <a:rPr lang="de-DE"/>
              <a:t>Unterbrechen</a:t>
            </a:r>
          </a:p>
        </p:txBody>
      </p:sp>
      <p:sp>
        <p:nvSpPr>
          <p:cNvPr id="9" name="Text 8"/>
          <p:cNvSpPr txBox="1"/>
          <p:nvPr/>
        </p:nvSpPr>
        <p:spPr>
          <a:xfrm>
            <a:off x="868680" y="2513076"/>
            <a:ext cx="4828032" cy="727709"/>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Gefährdende Handlungen ruhig</a:t>
            </a:r>
          </a:p>
          <a:p>
            <a:pPr>
              <a:lnSpc>
                <a:spcPts val="2477"/>
              </a:lnSpc>
              <a:spcBef>
                <a:spcPts val="0"/>
              </a:spcBef>
              <a:spcAft>
                <a:spcPts val="0"/>
              </a:spcAft>
              <a:defRPr sz="2100" b="0">
                <a:solidFill>
                  <a:srgbClr val="26332F"/>
                </a:solidFill>
                <a:latin typeface="Inter"/>
              </a:defRPr>
            </a:pPr>
            <a:r>
              <a:rPr lang="de-DE"/>
              <a:t>unterbrechen</a:t>
            </a:r>
          </a:p>
        </p:txBody>
      </p:sp>
      <p:sp>
        <p:nvSpPr>
          <p:cNvPr id="10" name="Rounded Rectangle 9"/>
          <p:cNvSpPr/>
          <p:nvPr/>
        </p:nvSpPr>
        <p:spPr>
          <a:xfrm>
            <a:off x="6217920" y="1644396"/>
            <a:ext cx="5376672" cy="1797557"/>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46520" y="1872996"/>
            <a:ext cx="393192" cy="393192"/>
          </a:xfrm>
          <a:prstGeom prst="ellipse">
            <a:avLst/>
          </a:prstGeom>
          <a:solidFill>
            <a:srgbClr val="B6D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11"/>
          <p:cNvSpPr txBox="1"/>
          <p:nvPr/>
        </p:nvSpPr>
        <p:spPr>
          <a:xfrm>
            <a:off x="6446520" y="1946148"/>
            <a:ext cx="393192" cy="189992"/>
          </a:xfrm>
          <a:prstGeom prst="rect">
            <a:avLst/>
          </a:prstGeom>
          <a:noFill/>
        </p:spPr>
        <p:txBody>
          <a:bodyPr wrap="none" lIns="0" rIns="0" tIns="0" bIns="0" anchor="t">
            <a:spAutoFit/>
          </a:bodyPr>
          <a:lstStyle/>
          <a:p>
            <a:pPr algn="ctr">
              <a:lnSpc>
                <a:spcPts val="1100"/>
              </a:lnSpc>
              <a:spcBef>
                <a:spcPts val="0"/>
              </a:spcBef>
              <a:spcAft>
                <a:spcPts val="0"/>
              </a:spcAft>
              <a:defRPr sz="1100" b="1">
                <a:solidFill>
                  <a:srgbClr val="234B42"/>
                </a:solidFill>
                <a:latin typeface="Inter"/>
              </a:defRPr>
            </a:pPr>
            <a:r>
              <a:rPr lang="de-DE"/>
              <a:t>02</a:t>
            </a:r>
          </a:p>
        </p:txBody>
      </p:sp>
      <p:sp>
        <p:nvSpPr>
          <p:cNvPr id="13" name="Text 12"/>
          <p:cNvSpPr txBox="1"/>
          <p:nvPr/>
        </p:nvSpPr>
        <p:spPr>
          <a:xfrm>
            <a:off x="6976872" y="1872996"/>
            <a:ext cx="4370831" cy="372490"/>
          </a:xfrm>
          <a:prstGeom prst="rect">
            <a:avLst/>
          </a:prstGeom>
          <a:noFill/>
        </p:spPr>
        <p:txBody>
          <a:bodyPr wrap="none" lIns="0" rIns="0" tIns="0" bIns="0" anchor="t">
            <a:spAutoFit/>
          </a:bodyPr>
          <a:lstStyle/>
          <a:p>
            <a:pPr>
              <a:lnSpc>
                <a:spcPts val="2536"/>
              </a:lnSpc>
              <a:spcBef>
                <a:spcPts val="0"/>
              </a:spcBef>
              <a:spcAft>
                <a:spcPts val="0"/>
              </a:spcAft>
              <a:defRPr sz="2150" b="1">
                <a:solidFill>
                  <a:srgbClr val="234B42"/>
                </a:solidFill>
                <a:latin typeface="Manrope"/>
              </a:defRPr>
            </a:pPr>
            <a:r>
              <a:rPr lang="de-DE"/>
              <a:t>Schützen</a:t>
            </a:r>
          </a:p>
        </p:txBody>
      </p:sp>
      <p:sp>
        <p:nvSpPr>
          <p:cNvPr id="14" name="Text 13"/>
          <p:cNvSpPr txBox="1"/>
          <p:nvPr/>
        </p:nvSpPr>
        <p:spPr>
          <a:xfrm>
            <a:off x="6492240" y="2513076"/>
            <a:ext cx="4828032" cy="727709"/>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Betroffene Kinder schützen und</a:t>
            </a:r>
          </a:p>
          <a:p>
            <a:pPr>
              <a:lnSpc>
                <a:spcPts val="2477"/>
              </a:lnSpc>
              <a:spcBef>
                <a:spcPts val="0"/>
              </a:spcBef>
              <a:spcAft>
                <a:spcPts val="0"/>
              </a:spcAft>
              <a:defRPr sz="2100" b="0">
                <a:solidFill>
                  <a:srgbClr val="26332F"/>
                </a:solidFill>
                <a:latin typeface="Inter"/>
              </a:defRPr>
            </a:pPr>
            <a:r>
              <a:rPr lang="de-DE"/>
              <a:t>versorgen</a:t>
            </a:r>
          </a:p>
        </p:txBody>
      </p:sp>
      <p:sp>
        <p:nvSpPr>
          <p:cNvPr id="15" name="Rounded Rectangle 14"/>
          <p:cNvSpPr/>
          <p:nvPr/>
        </p:nvSpPr>
        <p:spPr>
          <a:xfrm>
            <a:off x="594360" y="3688841"/>
            <a:ext cx="5376672" cy="1797557"/>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22960" y="3917441"/>
            <a:ext cx="393192" cy="393192"/>
          </a:xfrm>
          <a:prstGeom prst="ellipse">
            <a:avLst/>
          </a:prstGeom>
          <a:solidFill>
            <a:srgbClr val="B6D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16"/>
          <p:cNvSpPr txBox="1"/>
          <p:nvPr/>
        </p:nvSpPr>
        <p:spPr>
          <a:xfrm>
            <a:off x="822960" y="3990593"/>
            <a:ext cx="393192" cy="189992"/>
          </a:xfrm>
          <a:prstGeom prst="rect">
            <a:avLst/>
          </a:prstGeom>
          <a:noFill/>
        </p:spPr>
        <p:txBody>
          <a:bodyPr wrap="none" lIns="0" rIns="0" tIns="0" bIns="0" anchor="t">
            <a:spAutoFit/>
          </a:bodyPr>
          <a:lstStyle/>
          <a:p>
            <a:pPr algn="ctr">
              <a:lnSpc>
                <a:spcPts val="1100"/>
              </a:lnSpc>
              <a:spcBef>
                <a:spcPts val="0"/>
              </a:spcBef>
              <a:spcAft>
                <a:spcPts val="0"/>
              </a:spcAft>
              <a:defRPr sz="1100" b="1">
                <a:solidFill>
                  <a:srgbClr val="234B42"/>
                </a:solidFill>
                <a:latin typeface="Inter"/>
              </a:defRPr>
            </a:pPr>
            <a:r>
              <a:rPr lang="de-DE"/>
              <a:t>03</a:t>
            </a:r>
          </a:p>
        </p:txBody>
      </p:sp>
      <p:sp>
        <p:nvSpPr>
          <p:cNvPr id="18" name="Text 17"/>
          <p:cNvSpPr txBox="1"/>
          <p:nvPr/>
        </p:nvSpPr>
        <p:spPr>
          <a:xfrm>
            <a:off x="1353312" y="3917441"/>
            <a:ext cx="4370831" cy="372490"/>
          </a:xfrm>
          <a:prstGeom prst="rect">
            <a:avLst/>
          </a:prstGeom>
          <a:noFill/>
        </p:spPr>
        <p:txBody>
          <a:bodyPr wrap="none" lIns="0" rIns="0" tIns="0" bIns="0" anchor="t">
            <a:spAutoFit/>
          </a:bodyPr>
          <a:lstStyle/>
          <a:p>
            <a:pPr>
              <a:lnSpc>
                <a:spcPts val="2536"/>
              </a:lnSpc>
              <a:spcBef>
                <a:spcPts val="0"/>
              </a:spcBef>
              <a:spcAft>
                <a:spcPts val="0"/>
              </a:spcAft>
              <a:defRPr sz="2150" b="1">
                <a:solidFill>
                  <a:srgbClr val="234B42"/>
                </a:solidFill>
                <a:latin typeface="Manrope"/>
              </a:defRPr>
            </a:pPr>
            <a:r>
              <a:rPr lang="de-DE"/>
              <a:t>Helfen</a:t>
            </a:r>
          </a:p>
        </p:txBody>
      </p:sp>
      <p:sp>
        <p:nvSpPr>
          <p:cNvPr id="19" name="Text 18"/>
          <p:cNvSpPr txBox="1"/>
          <p:nvPr/>
        </p:nvSpPr>
        <p:spPr>
          <a:xfrm>
            <a:off x="868680" y="4557521"/>
            <a:ext cx="4828032" cy="727710"/>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Eine sichere Alternative und Hilfe</a:t>
            </a:r>
          </a:p>
          <a:p>
            <a:pPr>
              <a:lnSpc>
                <a:spcPts val="2477"/>
              </a:lnSpc>
              <a:spcBef>
                <a:spcPts val="0"/>
              </a:spcBef>
              <a:spcAft>
                <a:spcPts val="0"/>
              </a:spcAft>
              <a:defRPr sz="2100" b="0">
                <a:solidFill>
                  <a:srgbClr val="26332F"/>
                </a:solidFill>
                <a:latin typeface="Inter"/>
              </a:defRPr>
            </a:pPr>
            <a:r>
              <a:rPr lang="de-DE"/>
              <a:t>anbieten</a:t>
            </a:r>
          </a:p>
        </p:txBody>
      </p:sp>
      <p:sp>
        <p:nvSpPr>
          <p:cNvPr id="20" name="Rounded Rectangle 19"/>
          <p:cNvSpPr/>
          <p:nvPr/>
        </p:nvSpPr>
        <p:spPr>
          <a:xfrm>
            <a:off x="6217920" y="3688841"/>
            <a:ext cx="5376672" cy="1797557"/>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3917441"/>
            <a:ext cx="393192" cy="393192"/>
          </a:xfrm>
          <a:prstGeom prst="ellipse">
            <a:avLst/>
          </a:prstGeom>
          <a:solidFill>
            <a:srgbClr val="B6D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 21"/>
          <p:cNvSpPr txBox="1"/>
          <p:nvPr/>
        </p:nvSpPr>
        <p:spPr>
          <a:xfrm>
            <a:off x="6446520" y="3990593"/>
            <a:ext cx="393192" cy="189992"/>
          </a:xfrm>
          <a:prstGeom prst="rect">
            <a:avLst/>
          </a:prstGeom>
          <a:noFill/>
        </p:spPr>
        <p:txBody>
          <a:bodyPr wrap="none" lIns="0" rIns="0" tIns="0" bIns="0" anchor="t">
            <a:spAutoFit/>
          </a:bodyPr>
          <a:lstStyle/>
          <a:p>
            <a:pPr algn="ctr">
              <a:lnSpc>
                <a:spcPts val="1100"/>
              </a:lnSpc>
              <a:spcBef>
                <a:spcPts val="0"/>
              </a:spcBef>
              <a:spcAft>
                <a:spcPts val="0"/>
              </a:spcAft>
              <a:defRPr sz="1100" b="1">
                <a:solidFill>
                  <a:srgbClr val="234B42"/>
                </a:solidFill>
                <a:latin typeface="Inter"/>
              </a:defRPr>
            </a:pPr>
            <a:r>
              <a:rPr lang="de-DE"/>
              <a:t>04</a:t>
            </a:r>
          </a:p>
        </p:txBody>
      </p:sp>
      <p:sp>
        <p:nvSpPr>
          <p:cNvPr id="23" name="Text 22"/>
          <p:cNvSpPr txBox="1"/>
          <p:nvPr/>
        </p:nvSpPr>
        <p:spPr>
          <a:xfrm>
            <a:off x="6976872" y="3917441"/>
            <a:ext cx="4370831" cy="372490"/>
          </a:xfrm>
          <a:prstGeom prst="rect">
            <a:avLst/>
          </a:prstGeom>
          <a:noFill/>
        </p:spPr>
        <p:txBody>
          <a:bodyPr wrap="none" lIns="0" rIns="0" tIns="0" bIns="0" anchor="t">
            <a:spAutoFit/>
          </a:bodyPr>
          <a:lstStyle/>
          <a:p>
            <a:pPr>
              <a:lnSpc>
                <a:spcPts val="2536"/>
              </a:lnSpc>
              <a:spcBef>
                <a:spcPts val="0"/>
              </a:spcBef>
              <a:spcAft>
                <a:spcPts val="0"/>
              </a:spcAft>
              <a:defRPr sz="2150" b="1">
                <a:solidFill>
                  <a:srgbClr val="234B42"/>
                </a:solidFill>
                <a:latin typeface="Manrope"/>
              </a:defRPr>
            </a:pPr>
            <a:r>
              <a:rPr lang="de-DE"/>
              <a:t>Nachbesprechen</a:t>
            </a:r>
          </a:p>
        </p:txBody>
      </p:sp>
      <p:sp>
        <p:nvSpPr>
          <p:cNvPr id="24" name="Text 23"/>
          <p:cNvSpPr txBox="1"/>
          <p:nvPr/>
        </p:nvSpPr>
        <p:spPr>
          <a:xfrm>
            <a:off x="6492240" y="4557521"/>
            <a:ext cx="4828032" cy="727710"/>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Nach der Beruhigung Beziehung und</a:t>
            </a:r>
          </a:p>
          <a:p>
            <a:pPr>
              <a:lnSpc>
                <a:spcPts val="2477"/>
              </a:lnSpc>
              <a:spcBef>
                <a:spcPts val="0"/>
              </a:spcBef>
              <a:spcAft>
                <a:spcPts val="0"/>
              </a:spcAft>
              <a:defRPr sz="2100" b="0">
                <a:solidFill>
                  <a:srgbClr val="26332F"/>
                </a:solidFill>
                <a:latin typeface="Inter"/>
              </a:defRPr>
            </a:pPr>
            <a:r>
              <a:rPr lang="de-DE"/>
              <a:t>Handlungsmöglichkeiten bearbeiten</a:t>
            </a:r>
          </a:p>
        </p:txBody>
      </p:sp>
      <p:cxnSp>
        <p:nvCxnSpPr>
          <p:cNvPr id="25" name="Connector 24"/>
          <p:cNvCxnSpPr/>
          <p:nvPr/>
        </p:nvCxnSpPr>
        <p:spPr>
          <a:xfrm>
            <a:off x="594360" y="5495544"/>
            <a:ext cx="502920" cy="0"/>
          </a:xfrm>
          <a:prstGeom prst="line">
            <a:avLst/>
          </a:prstGeom>
          <a:ln w="27940">
            <a:solidFill>
              <a:srgbClr val="D68B73"/>
            </a:solidFill>
          </a:ln>
        </p:spPr>
        <p:style>
          <a:lnRef idx="2">
            <a:schemeClr val="accent1"/>
          </a:lnRef>
          <a:fillRef idx="0">
            <a:schemeClr val="accent1"/>
          </a:fillRef>
          <a:effectRef idx="1">
            <a:schemeClr val="accent1"/>
          </a:effectRef>
          <a:fontRef idx="minor">
            <a:schemeClr val="tx1"/>
          </a:fontRef>
        </p:style>
      </p:cxnSp>
      <p:sp>
        <p:nvSpPr>
          <p:cNvPr id="26" name="Text 25"/>
          <p:cNvSpPr txBox="1"/>
          <p:nvPr/>
        </p:nvSpPr>
        <p:spPr>
          <a:xfrm>
            <a:off x="594360" y="5623560"/>
            <a:ext cx="10972800" cy="694944"/>
          </a:xfrm>
          <a:prstGeom prst="rect">
            <a:avLst/>
          </a:prstGeom>
          <a:noFill/>
        </p:spPr>
        <p:txBody>
          <a:bodyPr wrap="none" lIns="0" rIns="0" tIns="0" bIns="0" anchor="t">
            <a:spAutoFit/>
          </a:bodyPr>
          <a:lstStyle/>
          <a:p>
            <a:pPr>
              <a:lnSpc>
                <a:spcPts val="2419"/>
              </a:lnSpc>
              <a:spcBef>
                <a:spcPts val="0"/>
              </a:spcBef>
              <a:spcAft>
                <a:spcPts val="0"/>
              </a:spcAft>
              <a:defRPr sz="2050" b="1">
                <a:solidFill>
                  <a:srgbClr val="234B42"/>
                </a:solidFill>
                <a:latin typeface="Manrope"/>
              </a:defRPr>
            </a:pPr>
            <a:r>
              <a:rPr lang="de-DE"/>
              <a:t>„Ich lasse nicht zu, dass du schlägst. Ich helfe dir.“</a:t>
            </a:r>
          </a:p>
        </p:txBody>
      </p:sp>
    </p:spTree>
  </p:cSld>
  <p:clrMapOvr>
    <a:masterClrMapping/>
  </p:clrMapOvr>
  <p:transition spd="fast" advClick="1">
    <p:fade/>
  </p:transition>
</p:sld>
</file>

<file path=ppt/slides/slide61.xml><?xml version="1.0" encoding="utf-8"?>
<p:sld xmlns:a="http://schemas.openxmlformats.org/drawingml/2006/main" xmlns:p="http://schemas.openxmlformats.org/presentationml/2006/main" xmlns:r="http://schemas.openxmlformats.org/officeDocument/2006/relationships" showMasterSp="0">
  <p:cSld>
    <p:bg>
      <p:bgPr>
        <a:solidFill>
          <a:srgbClr val="234B42"/>
        </a:solidFill>
        <a:effectLst/>
      </p:bgPr>
    </p:bg>
    <p:spTree>
      <p:nvGrpSpPr>
        <p:cNvPr id="1" name=""/>
        <p:cNvGrpSpPr/>
        <p:nvPr/>
      </p:nvGrpSpPr>
      <p:grpSpPr/>
      <p:cxnSp>
        <p:nvCxnSpPr>
          <p:cNvPr id="2" name="Connector 1"/>
          <p:cNvCxnSpPr/>
          <p:nvPr/>
        </p:nvCxnSpPr>
        <p:spPr>
          <a:xfrm>
            <a:off x="594360" y="6400800"/>
            <a:ext cx="11000232" cy="0"/>
          </a:xfrm>
          <a:prstGeom prst="line">
            <a:avLst/>
          </a:prstGeom>
          <a:ln w="6985">
            <a:solidFill>
              <a:srgbClr val="537568"/>
            </a:solidFill>
          </a:ln>
        </p:spPr>
        <p:style>
          <a:lnRef idx="2">
            <a:schemeClr val="accent1"/>
          </a:lnRef>
          <a:fillRef idx="0">
            <a:schemeClr val="accent1"/>
          </a:fillRef>
          <a:effectRef idx="1">
            <a:schemeClr val="accent1"/>
          </a:effectRef>
          <a:fontRef idx="minor">
            <a:schemeClr val="tx1"/>
          </a:fontRef>
        </p:style>
      </p:cxnSp>
      <p:sp>
        <p:nvSpPr>
          <p:cNvPr id="3" name="Text 2"/>
          <p:cNvSpPr txBox="1"/>
          <p:nvPr/>
        </p:nvSpPr>
        <p:spPr>
          <a:xfrm>
            <a:off x="594360" y="6528816"/>
            <a:ext cx="9692640" cy="176974"/>
          </a:xfrm>
          <a:prstGeom prst="rect">
            <a:avLst/>
          </a:prstGeom>
          <a:noFill/>
        </p:spPr>
        <p:txBody>
          <a:bodyPr wrap="none" lIns="0" rIns="0" tIns="0" bIns="0" anchor="t">
            <a:spAutoFit/>
          </a:bodyPr>
          <a:lstStyle/>
          <a:p>
            <a:pPr>
              <a:lnSpc>
                <a:spcPts val="997"/>
              </a:lnSpc>
              <a:spcBef>
                <a:spcPts val="0"/>
              </a:spcBef>
              <a:spcAft>
                <a:spcPts val="0"/>
              </a:spcAft>
              <a:defRPr sz="950" b="0">
                <a:solidFill>
                  <a:srgbClr val="A8BFA9"/>
                </a:solidFill>
                <a:latin typeface="Inter"/>
              </a:defRPr>
            </a:pPr>
            <a:r>
              <a:rPr lang="de-DE"/>
              <a:t>PRAXIS SCHNECKE / FORTBILDUNG · 02.11.2026</a:t>
            </a:r>
          </a:p>
        </p:txBody>
      </p:sp>
      <p:sp>
        <p:nvSpPr>
          <p:cNvPr id="4" name="Text 3"/>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A8BFA9"/>
                </a:solidFill>
                <a:latin typeface="Inter"/>
              </a:defRPr>
            </a:pPr>
            <a:r>
              <a:rPr lang="de-DE"/>
              <a:t>61</a:t>
            </a:r>
          </a:p>
        </p:txBody>
      </p:sp>
      <p:sp>
        <p:nvSpPr>
          <p:cNvPr id="5" name="Text 4"/>
          <p:cNvSpPr txBox="1"/>
          <p:nvPr/>
        </p:nvSpPr>
        <p:spPr>
          <a:xfrm>
            <a:off x="731520" y="512064"/>
            <a:ext cx="10515600" cy="230123"/>
          </a:xfrm>
          <a:prstGeom prst="rect">
            <a:avLst/>
          </a:prstGeom>
          <a:noFill/>
        </p:spPr>
        <p:txBody>
          <a:bodyPr wrap="none" lIns="0" rIns="0" tIns="0" bIns="0" anchor="t">
            <a:spAutoFit/>
          </a:bodyPr>
          <a:lstStyle/>
          <a:p>
            <a:pPr>
              <a:lnSpc>
                <a:spcPts val="1416"/>
              </a:lnSpc>
              <a:spcBef>
                <a:spcPts val="0"/>
              </a:spcBef>
              <a:spcAft>
                <a:spcPts val="0"/>
              </a:spcAft>
              <a:defRPr sz="1200" b="1">
                <a:solidFill>
                  <a:srgbClr val="A8BFA9"/>
                </a:solidFill>
                <a:latin typeface="Inter"/>
              </a:defRPr>
            </a:pPr>
            <a:r>
              <a:rPr lang="de-DE"/>
              <a:t>GEDANKE FÜR DIE PRAXIS</a:t>
            </a:r>
          </a:p>
        </p:txBody>
      </p:sp>
      <p:sp>
        <p:nvSpPr>
          <p:cNvPr id="6" name="Text 5"/>
          <p:cNvSpPr txBox="1"/>
          <p:nvPr/>
        </p:nvSpPr>
        <p:spPr>
          <a:xfrm>
            <a:off x="640080" y="1234440"/>
            <a:ext cx="1188720" cy="1698751"/>
          </a:xfrm>
          <a:prstGeom prst="rect">
            <a:avLst/>
          </a:prstGeom>
          <a:noFill/>
        </p:spPr>
        <p:txBody>
          <a:bodyPr wrap="none" lIns="0" rIns="0" tIns="0" bIns="0" anchor="t">
            <a:spAutoFit/>
          </a:bodyPr>
          <a:lstStyle/>
          <a:p>
            <a:pPr>
              <a:lnSpc>
                <a:spcPts val="12979"/>
              </a:lnSpc>
              <a:spcBef>
                <a:spcPts val="0"/>
              </a:spcBef>
              <a:spcAft>
                <a:spcPts val="0"/>
              </a:spcAft>
              <a:defRPr sz="11000" b="1">
                <a:solidFill>
                  <a:srgbClr val="D68B73"/>
                </a:solidFill>
                <a:latin typeface="Manrope"/>
              </a:defRPr>
            </a:pPr>
            <a:r>
              <a:rPr lang="de-DE"/>
              <a:t>„</a:t>
            </a:r>
          </a:p>
        </p:txBody>
      </p:sp>
      <p:sp>
        <p:nvSpPr>
          <p:cNvPr id="7" name="Text 6"/>
          <p:cNvSpPr txBox="1"/>
          <p:nvPr/>
        </p:nvSpPr>
        <p:spPr>
          <a:xfrm>
            <a:off x="1874519" y="1947672"/>
            <a:ext cx="9052560" cy="2743200"/>
          </a:xfrm>
          <a:prstGeom prst="rect">
            <a:avLst/>
          </a:prstGeom>
          <a:noFill/>
        </p:spPr>
        <p:txBody>
          <a:bodyPr wrap="none" lIns="0" rIns="0" tIns="0" bIns="0" anchor="t">
            <a:spAutoFit/>
          </a:bodyPr>
          <a:lstStyle/>
          <a:p>
            <a:pPr>
              <a:lnSpc>
                <a:spcPts val="4797"/>
              </a:lnSpc>
              <a:spcBef>
                <a:spcPts val="0"/>
              </a:spcBef>
              <a:spcAft>
                <a:spcPts val="0"/>
              </a:spcAft>
              <a:defRPr sz="4100" b="1">
                <a:solidFill>
                  <a:srgbClr val="F7F5EF"/>
                </a:solidFill>
                <a:latin typeface="Manrope"/>
              </a:defRPr>
            </a:pPr>
            <a:r>
              <a:rPr lang="de-DE"/>
              <a:t>Verstehen bedeutet nicht, jedes</a:t>
            </a:r>
          </a:p>
          <a:p>
            <a:pPr>
              <a:lnSpc>
                <a:spcPts val="4797"/>
              </a:lnSpc>
              <a:spcBef>
                <a:spcPts val="0"/>
              </a:spcBef>
              <a:spcAft>
                <a:spcPts val="0"/>
              </a:spcAft>
              <a:defRPr sz="4100" b="1">
                <a:solidFill>
                  <a:srgbClr val="F7F5EF"/>
                </a:solidFill>
                <a:latin typeface="Manrope"/>
              </a:defRPr>
            </a:pPr>
            <a:r>
              <a:rPr lang="de-DE"/>
              <a:t>Verhalten zuzulassen.</a:t>
            </a:r>
          </a:p>
        </p:txBody>
      </p:sp>
      <p:cxnSp>
        <p:nvCxnSpPr>
          <p:cNvPr id="8" name="Connector 7"/>
          <p:cNvCxnSpPr/>
          <p:nvPr/>
        </p:nvCxnSpPr>
        <p:spPr>
          <a:xfrm>
            <a:off x="1901952" y="5504688"/>
            <a:ext cx="914400" cy="0"/>
          </a:xfrm>
          <a:prstGeom prst="line">
            <a:avLst/>
          </a:prstGeom>
          <a:ln w="38100">
            <a:solidFill>
              <a:srgbClr val="E5BD70"/>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fast" advClick="1">
    <p:fade/>
  </p:transition>
</p:sld>
</file>

<file path=ppt/slides/slide62.xml><?xml version="1.0" encoding="utf-8"?>
<p:sld xmlns:a="http://schemas.openxmlformats.org/drawingml/2006/main" xmlns:p="http://schemas.openxmlformats.org/presentationml/2006/main" xmlns:r="http://schemas.openxmlformats.org/officeDocument/2006/relationships" showMasterSp="1">
  <p:cSld>
    <p:bg>
      <p:bgPr>
        <a:solidFill>
          <a:srgbClr val="F7F5EF"/>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62</a:t>
            </a:r>
          </a:p>
        </p:txBody>
      </p:sp>
      <p:sp>
        <p:nvSpPr>
          <p:cNvPr id="3" name="Text 2"/>
          <p:cNvSpPr txBox="1"/>
          <p:nvPr/>
        </p:nvSpPr>
        <p:spPr>
          <a:xfrm>
            <a:off x="594360" y="393192"/>
            <a:ext cx="10881360" cy="203644"/>
          </a:xfrm>
          <a:prstGeom prst="rect">
            <a:avLst/>
          </a:prstGeom>
          <a:noFill/>
        </p:spPr>
        <p:txBody>
          <a:bodyPr wrap="none" lIns="0" rIns="0" tIns="0" bIns="0" anchor="t">
            <a:spAutoFit/>
          </a:bodyPr>
          <a:lstStyle/>
          <a:p>
            <a:pPr>
              <a:lnSpc>
                <a:spcPts val="1207"/>
              </a:lnSpc>
              <a:spcBef>
                <a:spcPts val="0"/>
              </a:spcBef>
              <a:spcAft>
                <a:spcPts val="0"/>
              </a:spcAft>
              <a:defRPr sz="1150" b="1">
                <a:solidFill>
                  <a:srgbClr val="234B42"/>
                </a:solidFill>
                <a:latin typeface="Inter"/>
              </a:defRPr>
            </a:pPr>
            <a:r>
              <a:rPr lang="de-DE"/>
              <a:t>ELTERNZUSAMMENARBEIT · GESPRÄCHSSCHRITT → MÖGLICHE FORMULIERUNG</a:t>
            </a:r>
          </a:p>
        </p:txBody>
      </p:sp>
      <p:sp>
        <p:nvSpPr>
          <p:cNvPr id="4" name="Text 3"/>
          <p:cNvSpPr txBox="1"/>
          <p:nvPr/>
        </p:nvSpPr>
        <p:spPr>
          <a:xfrm>
            <a:off x="594360" y="804672"/>
            <a:ext cx="10991088"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Zusammenarbeit mit Eltern</a:t>
            </a:r>
          </a:p>
        </p:txBody>
      </p:sp>
      <p:pic>
        <p:nvPicPr>
          <p:cNvPr id="5" name="Picture 4" descr="06_elterngespraech.png"/>
          <p:cNvPicPr>
            <a:picLocks noChangeAspect="1"/>
          </p:cNvPicPr>
          <p:nvPr/>
        </p:nvPicPr>
        <p:blipFill>
          <a:blip r:embed="rId3"/>
          <a:srcRect l="454" r="454"/>
          <a:stretch>
            <a:fillRect/>
          </a:stretch>
        </p:blipFill>
        <p:spPr>
          <a:xfrm>
            <a:off x="7086600" y="2083308"/>
            <a:ext cx="4507992" cy="2560320"/>
          </a:xfrm>
          <a:prstGeom prst="rect">
            <a:avLst/>
          </a:prstGeom>
        </p:spPr>
      </p:pic>
      <p:sp>
        <p:nvSpPr>
          <p:cNvPr id="6" name="Text 5"/>
          <p:cNvSpPr txBox="1"/>
          <p:nvPr/>
        </p:nvSpPr>
        <p:spPr>
          <a:xfrm>
            <a:off x="594360" y="1690116"/>
            <a:ext cx="6080760" cy="275082"/>
          </a:xfrm>
          <a:prstGeom prst="rect">
            <a:avLst/>
          </a:prstGeom>
          <a:noFill/>
        </p:spPr>
        <p:txBody>
          <a:bodyPr wrap="none" lIns="0" rIns="0" tIns="0" bIns="0" anchor="t">
            <a:spAutoFit/>
          </a:bodyPr>
          <a:lstStyle/>
          <a:p>
            <a:pPr>
              <a:lnSpc>
                <a:spcPts val="1770"/>
              </a:lnSpc>
              <a:spcBef>
                <a:spcPts val="0"/>
              </a:spcBef>
              <a:spcAft>
                <a:spcPts val="0"/>
              </a:spcAft>
              <a:defRPr sz="1500" b="1">
                <a:solidFill>
                  <a:srgbClr val="234B42"/>
                </a:solidFill>
                <a:latin typeface="Inter"/>
              </a:defRPr>
            </a:pPr>
            <a:r>
              <a:rPr lang="de-DE"/>
              <a:t>Ressourcen benennen</a:t>
            </a:r>
          </a:p>
        </p:txBody>
      </p:sp>
      <p:sp>
        <p:nvSpPr>
          <p:cNvPr id="7" name="Text 6"/>
          <p:cNvSpPr txBox="1"/>
          <p:nvPr/>
        </p:nvSpPr>
        <p:spPr>
          <a:xfrm>
            <a:off x="594360" y="2029206"/>
            <a:ext cx="6035040" cy="731520"/>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6332F"/>
                </a:solidFill>
                <a:latin typeface="Inter"/>
              </a:defRPr>
            </a:pPr>
            <a:r>
              <a:rPr lang="de-DE"/>
              <a:t>„Beim Bauen zeigt Ihr Kind viel Ausdauer.“</a:t>
            </a:r>
          </a:p>
        </p:txBody>
      </p:sp>
      <p:sp>
        <p:nvSpPr>
          <p:cNvPr id="8" name="Text 7"/>
          <p:cNvSpPr txBox="1"/>
          <p:nvPr/>
        </p:nvSpPr>
        <p:spPr>
          <a:xfrm>
            <a:off x="594360" y="2523871"/>
            <a:ext cx="6080760" cy="275082"/>
          </a:xfrm>
          <a:prstGeom prst="rect">
            <a:avLst/>
          </a:prstGeom>
          <a:noFill/>
        </p:spPr>
        <p:txBody>
          <a:bodyPr wrap="none" lIns="0" rIns="0" tIns="0" bIns="0" anchor="t">
            <a:spAutoFit/>
          </a:bodyPr>
          <a:lstStyle/>
          <a:p>
            <a:pPr>
              <a:lnSpc>
                <a:spcPts val="1770"/>
              </a:lnSpc>
              <a:spcBef>
                <a:spcPts val="0"/>
              </a:spcBef>
              <a:spcAft>
                <a:spcPts val="0"/>
              </a:spcAft>
              <a:defRPr sz="1500" b="1">
                <a:solidFill>
                  <a:srgbClr val="234B42"/>
                </a:solidFill>
                <a:latin typeface="Inter"/>
              </a:defRPr>
            </a:pPr>
            <a:r>
              <a:rPr lang="de-DE"/>
              <a:t>Beobachtung schildern</a:t>
            </a:r>
          </a:p>
        </p:txBody>
      </p:sp>
      <p:sp>
        <p:nvSpPr>
          <p:cNvPr id="9" name="Text 8"/>
          <p:cNvSpPr txBox="1"/>
          <p:nvPr/>
        </p:nvSpPr>
        <p:spPr>
          <a:xfrm>
            <a:off x="594360" y="2862961"/>
            <a:ext cx="6035040" cy="731520"/>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6332F"/>
                </a:solidFill>
                <a:latin typeface="Inter"/>
              </a:defRPr>
            </a:pPr>
            <a:r>
              <a:rPr lang="de-DE"/>
              <a:t>„Beim lauten Signal hält es sich die Ohren zu.“</a:t>
            </a:r>
          </a:p>
        </p:txBody>
      </p:sp>
      <p:sp>
        <p:nvSpPr>
          <p:cNvPr id="10" name="Text 9"/>
          <p:cNvSpPr txBox="1"/>
          <p:nvPr/>
        </p:nvSpPr>
        <p:spPr>
          <a:xfrm>
            <a:off x="594360" y="3357626"/>
            <a:ext cx="6080760" cy="275082"/>
          </a:xfrm>
          <a:prstGeom prst="rect">
            <a:avLst/>
          </a:prstGeom>
          <a:noFill/>
        </p:spPr>
        <p:txBody>
          <a:bodyPr wrap="none" lIns="0" rIns="0" tIns="0" bIns="0" anchor="t">
            <a:spAutoFit/>
          </a:bodyPr>
          <a:lstStyle/>
          <a:p>
            <a:pPr>
              <a:lnSpc>
                <a:spcPts val="1770"/>
              </a:lnSpc>
              <a:spcBef>
                <a:spcPts val="0"/>
              </a:spcBef>
              <a:spcAft>
                <a:spcPts val="0"/>
              </a:spcAft>
              <a:defRPr sz="1500" b="1">
                <a:solidFill>
                  <a:srgbClr val="234B42"/>
                </a:solidFill>
                <a:latin typeface="Inter"/>
              </a:defRPr>
            </a:pPr>
            <a:r>
              <a:rPr lang="de-DE"/>
              <a:t>Elternperspektive erfragen</a:t>
            </a:r>
          </a:p>
        </p:txBody>
      </p:sp>
      <p:sp>
        <p:nvSpPr>
          <p:cNvPr id="11" name="Text 10"/>
          <p:cNvSpPr txBox="1"/>
          <p:nvPr/>
        </p:nvSpPr>
        <p:spPr>
          <a:xfrm>
            <a:off x="594360" y="3696716"/>
            <a:ext cx="6035040" cy="731520"/>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6332F"/>
                </a:solidFill>
                <a:latin typeface="Inter"/>
              </a:defRPr>
            </a:pPr>
            <a:r>
              <a:rPr lang="de-DE"/>
              <a:t>„Wann gelingt ein Wechsel zu Hause leichter?“</a:t>
            </a:r>
          </a:p>
        </p:txBody>
      </p:sp>
      <p:sp>
        <p:nvSpPr>
          <p:cNvPr id="12" name="Text 11"/>
          <p:cNvSpPr txBox="1"/>
          <p:nvPr/>
        </p:nvSpPr>
        <p:spPr>
          <a:xfrm>
            <a:off x="594360" y="4191381"/>
            <a:ext cx="6080760" cy="275082"/>
          </a:xfrm>
          <a:prstGeom prst="rect">
            <a:avLst/>
          </a:prstGeom>
          <a:noFill/>
        </p:spPr>
        <p:txBody>
          <a:bodyPr wrap="none" lIns="0" rIns="0" tIns="0" bIns="0" anchor="t">
            <a:spAutoFit/>
          </a:bodyPr>
          <a:lstStyle/>
          <a:p>
            <a:pPr>
              <a:lnSpc>
                <a:spcPts val="1770"/>
              </a:lnSpc>
              <a:spcBef>
                <a:spcPts val="0"/>
              </a:spcBef>
              <a:spcAft>
                <a:spcPts val="0"/>
              </a:spcAft>
              <a:defRPr sz="1500" b="1">
                <a:solidFill>
                  <a:srgbClr val="234B42"/>
                </a:solidFill>
                <a:latin typeface="Inter"/>
              </a:defRPr>
            </a:pPr>
            <a:r>
              <a:rPr lang="de-DE"/>
              <a:t>Gemeinsam planen</a:t>
            </a:r>
          </a:p>
        </p:txBody>
      </p:sp>
      <p:sp>
        <p:nvSpPr>
          <p:cNvPr id="13" name="Text 12"/>
          <p:cNvSpPr txBox="1"/>
          <p:nvPr/>
        </p:nvSpPr>
        <p:spPr>
          <a:xfrm>
            <a:off x="594360" y="4530471"/>
            <a:ext cx="6035040" cy="731520"/>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6332F"/>
                </a:solidFill>
                <a:latin typeface="Inter"/>
              </a:defRPr>
            </a:pPr>
            <a:r>
              <a:rPr lang="de-DE"/>
              <a:t>„Welche kleine Veränderung können wir</a:t>
            </a:r>
          </a:p>
          <a:p>
            <a:pPr>
              <a:lnSpc>
                <a:spcPts val="2419"/>
              </a:lnSpc>
              <a:spcBef>
                <a:spcPts val="0"/>
              </a:spcBef>
              <a:spcAft>
                <a:spcPts val="0"/>
              </a:spcAft>
              <a:defRPr sz="2050" b="0">
                <a:solidFill>
                  <a:srgbClr val="26332F"/>
                </a:solidFill>
                <a:latin typeface="Inter"/>
              </a:defRPr>
            </a:pPr>
            <a:r>
              <a:rPr lang="de-DE"/>
              <a:t>erproben?“</a:t>
            </a:r>
          </a:p>
        </p:txBody>
      </p:sp>
    </p:spTree>
  </p:cSld>
  <p:clrMapOvr>
    <a:masterClrMapping/>
  </p:clrMapOvr>
  <p:transition spd="fast" advClick="1">
    <p:fade/>
  </p:transition>
</p:sld>
</file>

<file path=ppt/slides/slide63.xml><?xml version="1.0" encoding="utf-8"?>
<p:sld xmlns:a="http://schemas.openxmlformats.org/drawingml/2006/main" xmlns:p="http://schemas.openxmlformats.org/presentationml/2006/main" xmlns:r="http://schemas.openxmlformats.org/officeDocument/2006/relationships" showMasterSp="1">
  <p:cSld>
    <p:bg>
      <p:bgPr>
        <a:solidFill>
          <a:srgbClr val="F7F5EF"/>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63</a:t>
            </a:r>
          </a:p>
        </p:txBody>
      </p:sp>
      <p:sp>
        <p:nvSpPr>
          <p:cNvPr id="3" name="Text 2"/>
          <p:cNvSpPr txBox="1"/>
          <p:nvPr/>
        </p:nvSpPr>
        <p:spPr>
          <a:xfrm>
            <a:off x="594360" y="393192"/>
            <a:ext cx="10881360" cy="203644"/>
          </a:xfrm>
          <a:prstGeom prst="rect">
            <a:avLst/>
          </a:prstGeom>
          <a:noFill/>
        </p:spPr>
        <p:txBody>
          <a:bodyPr wrap="none" lIns="0" rIns="0" tIns="0" bIns="0" anchor="t">
            <a:spAutoFit/>
          </a:bodyPr>
          <a:lstStyle/>
          <a:p>
            <a:pPr>
              <a:lnSpc>
                <a:spcPts val="1207"/>
              </a:lnSpc>
              <a:spcBef>
                <a:spcPts val="0"/>
              </a:spcBef>
              <a:spcAft>
                <a:spcPts val="0"/>
              </a:spcAft>
              <a:defRPr sz="1150" b="1">
                <a:solidFill>
                  <a:srgbClr val="234B42"/>
                </a:solidFill>
                <a:latin typeface="Inter"/>
              </a:defRPr>
            </a:pPr>
            <a:r>
              <a:rPr lang="de-DE"/>
              <a:t>VERNETZUNG &amp; ÜBERGÄNGE</a:t>
            </a:r>
          </a:p>
        </p:txBody>
      </p:sp>
      <p:sp>
        <p:nvSpPr>
          <p:cNvPr id="4" name="Text 3"/>
          <p:cNvSpPr txBox="1"/>
          <p:nvPr/>
        </p:nvSpPr>
        <p:spPr>
          <a:xfrm>
            <a:off x="594360" y="804672"/>
            <a:ext cx="10991088"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Fachliche Zusammenarbeit</a:t>
            </a:r>
          </a:p>
        </p:txBody>
      </p:sp>
      <p:sp>
        <p:nvSpPr>
          <p:cNvPr id="5" name="Rounded Rectangle 4"/>
          <p:cNvSpPr/>
          <p:nvPr/>
        </p:nvSpPr>
        <p:spPr>
          <a:xfrm>
            <a:off x="594360" y="1644396"/>
            <a:ext cx="5385816" cy="2081021"/>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644396"/>
            <a:ext cx="50292" cy="2081021"/>
          </a:xfrm>
          <a:prstGeom prst="rect">
            <a:avLst/>
          </a:prstGeom>
          <a:solidFill>
            <a:srgbClr val="B6D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6"/>
          <p:cNvSpPr txBox="1"/>
          <p:nvPr/>
        </p:nvSpPr>
        <p:spPr>
          <a:xfrm>
            <a:off x="850392" y="1854708"/>
            <a:ext cx="4873752" cy="315785"/>
          </a:xfrm>
          <a:prstGeom prst="rect">
            <a:avLst/>
          </a:prstGeom>
          <a:noFill/>
        </p:spPr>
        <p:txBody>
          <a:bodyPr wrap="none" lIns="0" rIns="0" tIns="0" bIns="0" anchor="t">
            <a:spAutoFit/>
          </a:bodyPr>
          <a:lstStyle/>
          <a:p>
            <a:pPr>
              <a:lnSpc>
                <a:spcPts val="2090"/>
              </a:lnSpc>
              <a:spcBef>
                <a:spcPts val="0"/>
              </a:spcBef>
              <a:spcAft>
                <a:spcPts val="0"/>
              </a:spcAft>
              <a:defRPr sz="1850" b="1">
                <a:solidFill>
                  <a:srgbClr val="234B42"/>
                </a:solidFill>
                <a:latin typeface="Manrope"/>
              </a:defRPr>
            </a:pPr>
            <a:r>
              <a:rPr lang="de-DE"/>
              <a:t>Erster Kontakt</a:t>
            </a:r>
          </a:p>
        </p:txBody>
      </p:sp>
      <p:sp>
        <p:nvSpPr>
          <p:cNvPr id="8" name="Text 7"/>
          <p:cNvSpPr txBox="1"/>
          <p:nvPr/>
        </p:nvSpPr>
        <p:spPr>
          <a:xfrm>
            <a:off x="850392" y="2298509"/>
            <a:ext cx="4873752" cy="1262316"/>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Kinderarztpraxis als möglicher erster</a:t>
            </a:r>
          </a:p>
          <a:p>
            <a:pPr>
              <a:lnSpc>
                <a:spcPts val="2477"/>
              </a:lnSpc>
              <a:spcBef>
                <a:spcPts val="0"/>
              </a:spcBef>
              <a:spcAft>
                <a:spcPts val="0"/>
              </a:spcAft>
              <a:defRPr sz="2100" b="0">
                <a:solidFill>
                  <a:srgbClr val="26332F"/>
                </a:solidFill>
                <a:latin typeface="Inter"/>
              </a:defRPr>
            </a:pPr>
            <a:r>
              <a:rPr lang="de-DE"/>
              <a:t>Kontakt bei Entwicklungsfragen</a:t>
            </a:r>
          </a:p>
        </p:txBody>
      </p:sp>
      <p:sp>
        <p:nvSpPr>
          <p:cNvPr id="9" name="Rounded Rectangle 8"/>
          <p:cNvSpPr/>
          <p:nvPr/>
        </p:nvSpPr>
        <p:spPr>
          <a:xfrm>
            <a:off x="6208776" y="1644396"/>
            <a:ext cx="5385816" cy="2081021"/>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08776" y="1644396"/>
            <a:ext cx="50292" cy="2081021"/>
          </a:xfrm>
          <a:prstGeom prst="rect">
            <a:avLst/>
          </a:prstGeom>
          <a:solidFill>
            <a:srgbClr val="B6D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10"/>
          <p:cNvSpPr txBox="1"/>
          <p:nvPr/>
        </p:nvSpPr>
        <p:spPr>
          <a:xfrm>
            <a:off x="6464808" y="1854708"/>
            <a:ext cx="4873752" cy="315785"/>
          </a:xfrm>
          <a:prstGeom prst="rect">
            <a:avLst/>
          </a:prstGeom>
          <a:noFill/>
        </p:spPr>
        <p:txBody>
          <a:bodyPr wrap="none" lIns="0" rIns="0" tIns="0" bIns="0" anchor="t">
            <a:spAutoFit/>
          </a:bodyPr>
          <a:lstStyle/>
          <a:p>
            <a:pPr>
              <a:lnSpc>
                <a:spcPts val="2090"/>
              </a:lnSpc>
              <a:spcBef>
                <a:spcPts val="0"/>
              </a:spcBef>
              <a:spcAft>
                <a:spcPts val="0"/>
              </a:spcAft>
              <a:defRPr sz="1850" b="1">
                <a:solidFill>
                  <a:srgbClr val="234B42"/>
                </a:solidFill>
                <a:latin typeface="Manrope"/>
              </a:defRPr>
            </a:pPr>
            <a:r>
              <a:rPr lang="de-DE"/>
              <a:t>Weitere Unterstützung</a:t>
            </a:r>
          </a:p>
        </p:txBody>
      </p:sp>
      <p:sp>
        <p:nvSpPr>
          <p:cNvPr id="12" name="Text 11"/>
          <p:cNvSpPr txBox="1"/>
          <p:nvPr/>
        </p:nvSpPr>
        <p:spPr>
          <a:xfrm>
            <a:off x="6464808" y="2298509"/>
            <a:ext cx="4873752" cy="1262316"/>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Frühförderung und weitere Fachstellen</a:t>
            </a:r>
          </a:p>
          <a:p>
            <a:pPr>
              <a:lnSpc>
                <a:spcPts val="2477"/>
              </a:lnSpc>
              <a:spcBef>
                <a:spcPts val="0"/>
              </a:spcBef>
              <a:spcAft>
                <a:spcPts val="0"/>
              </a:spcAft>
              <a:defRPr sz="2100" b="0">
                <a:solidFill>
                  <a:srgbClr val="26332F"/>
                </a:solidFill>
                <a:latin typeface="Inter"/>
              </a:defRPr>
            </a:pPr>
            <a:r>
              <a:rPr lang="de-DE"/>
              <a:t>je nach Bedarf einbeziehen</a:t>
            </a:r>
          </a:p>
        </p:txBody>
      </p:sp>
      <p:sp>
        <p:nvSpPr>
          <p:cNvPr id="13" name="Rounded Rectangle 12"/>
          <p:cNvSpPr/>
          <p:nvPr/>
        </p:nvSpPr>
        <p:spPr>
          <a:xfrm>
            <a:off x="594360" y="3954018"/>
            <a:ext cx="5385816" cy="2081021"/>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94360" y="3954018"/>
            <a:ext cx="50292" cy="2081021"/>
          </a:xfrm>
          <a:prstGeom prst="rect">
            <a:avLst/>
          </a:prstGeom>
          <a:solidFill>
            <a:srgbClr val="B6D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14"/>
          <p:cNvSpPr txBox="1"/>
          <p:nvPr/>
        </p:nvSpPr>
        <p:spPr>
          <a:xfrm>
            <a:off x="850392" y="4164330"/>
            <a:ext cx="4873752" cy="315785"/>
          </a:xfrm>
          <a:prstGeom prst="rect">
            <a:avLst/>
          </a:prstGeom>
          <a:noFill/>
        </p:spPr>
        <p:txBody>
          <a:bodyPr wrap="none" lIns="0" rIns="0" tIns="0" bIns="0" anchor="t">
            <a:spAutoFit/>
          </a:bodyPr>
          <a:lstStyle/>
          <a:p>
            <a:pPr>
              <a:lnSpc>
                <a:spcPts val="2090"/>
              </a:lnSpc>
              <a:spcBef>
                <a:spcPts val="0"/>
              </a:spcBef>
              <a:spcAft>
                <a:spcPts val="0"/>
              </a:spcAft>
              <a:defRPr sz="1850" b="1">
                <a:solidFill>
                  <a:srgbClr val="234B42"/>
                </a:solidFill>
                <a:latin typeface="Manrope"/>
              </a:defRPr>
            </a:pPr>
            <a:r>
              <a:rPr lang="de-DE"/>
              <a:t>Abstimmung</a:t>
            </a:r>
          </a:p>
        </p:txBody>
      </p:sp>
      <p:sp>
        <p:nvSpPr>
          <p:cNvPr id="16" name="Text 15"/>
          <p:cNvSpPr txBox="1"/>
          <p:nvPr/>
        </p:nvSpPr>
        <p:spPr>
          <a:xfrm>
            <a:off x="850392" y="4608131"/>
            <a:ext cx="4873752" cy="1262316"/>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Mit Eltern festlegen, welche</a:t>
            </a:r>
          </a:p>
          <a:p>
            <a:pPr>
              <a:lnSpc>
                <a:spcPts val="2477"/>
              </a:lnSpc>
              <a:spcBef>
                <a:spcPts val="0"/>
              </a:spcBef>
              <a:spcAft>
                <a:spcPts val="0"/>
              </a:spcAft>
              <a:defRPr sz="2100" b="0">
                <a:solidFill>
                  <a:srgbClr val="26332F"/>
                </a:solidFill>
                <a:latin typeface="Inter"/>
              </a:defRPr>
            </a:pPr>
            <a:r>
              <a:rPr lang="de-DE"/>
              <a:t>Beobachtungen weitergegeben werden</a:t>
            </a:r>
          </a:p>
        </p:txBody>
      </p:sp>
      <p:sp>
        <p:nvSpPr>
          <p:cNvPr id="17" name="Rounded Rectangle 16"/>
          <p:cNvSpPr/>
          <p:nvPr/>
        </p:nvSpPr>
        <p:spPr>
          <a:xfrm>
            <a:off x="6208776" y="3954018"/>
            <a:ext cx="5385816" cy="2081021"/>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08776" y="3954018"/>
            <a:ext cx="50292" cy="2081021"/>
          </a:xfrm>
          <a:prstGeom prst="rect">
            <a:avLst/>
          </a:prstGeom>
          <a:solidFill>
            <a:srgbClr val="B6D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18"/>
          <p:cNvSpPr txBox="1"/>
          <p:nvPr/>
        </p:nvSpPr>
        <p:spPr>
          <a:xfrm>
            <a:off x="6464808" y="4164330"/>
            <a:ext cx="4873752" cy="315785"/>
          </a:xfrm>
          <a:prstGeom prst="rect">
            <a:avLst/>
          </a:prstGeom>
          <a:noFill/>
        </p:spPr>
        <p:txBody>
          <a:bodyPr wrap="none" lIns="0" rIns="0" tIns="0" bIns="0" anchor="t">
            <a:spAutoFit/>
          </a:bodyPr>
          <a:lstStyle/>
          <a:p>
            <a:pPr>
              <a:lnSpc>
                <a:spcPts val="2090"/>
              </a:lnSpc>
              <a:spcBef>
                <a:spcPts val="0"/>
              </a:spcBef>
              <a:spcAft>
                <a:spcPts val="0"/>
              </a:spcAft>
              <a:defRPr sz="1850" b="1">
                <a:solidFill>
                  <a:srgbClr val="234B42"/>
                </a:solidFill>
                <a:latin typeface="Manrope"/>
              </a:defRPr>
            </a:pPr>
            <a:r>
              <a:rPr lang="de-DE"/>
              <a:t>Schulübergang</a:t>
            </a:r>
          </a:p>
        </p:txBody>
      </p:sp>
      <p:sp>
        <p:nvSpPr>
          <p:cNvPr id="20" name="Text 19"/>
          <p:cNvSpPr txBox="1"/>
          <p:nvPr/>
        </p:nvSpPr>
        <p:spPr>
          <a:xfrm>
            <a:off x="6464808" y="4608131"/>
            <a:ext cx="4873752" cy="1262316"/>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Hilfreiche Bedingungen für den</a:t>
            </a:r>
          </a:p>
          <a:p>
            <a:pPr>
              <a:lnSpc>
                <a:spcPts val="2477"/>
              </a:lnSpc>
              <a:spcBef>
                <a:spcPts val="0"/>
              </a:spcBef>
              <a:spcAft>
                <a:spcPts val="0"/>
              </a:spcAft>
              <a:defRPr sz="2100" b="0">
                <a:solidFill>
                  <a:srgbClr val="26332F"/>
                </a:solidFill>
                <a:latin typeface="Inter"/>
              </a:defRPr>
            </a:pPr>
            <a:r>
              <a:rPr lang="de-DE"/>
              <a:t>Schulübergang dokumentieren</a:t>
            </a:r>
          </a:p>
        </p:txBody>
      </p:sp>
    </p:spTree>
  </p:cSld>
  <p:clrMapOvr>
    <a:masterClrMapping/>
  </p:clrMapOvr>
  <p:transition spd="fast" advClick="1">
    <p:fade/>
  </p:transition>
</p:sld>
</file>

<file path=ppt/slides/slide64.xml><?xml version="1.0" encoding="utf-8"?>
<p:sld xmlns:a="http://schemas.openxmlformats.org/drawingml/2006/main" xmlns:p="http://schemas.openxmlformats.org/presentationml/2006/main" xmlns:r="http://schemas.openxmlformats.org/officeDocument/2006/relationships" showMasterSp="0">
  <p:cSld>
    <p:bg>
      <p:bgPr>
        <a:solidFill>
          <a:srgbClr val="234B42"/>
        </a:solidFill>
        <a:effectLst/>
      </p:bgPr>
    </p:bg>
    <p:spTree>
      <p:nvGrpSpPr>
        <p:cNvPr id="1" name=""/>
        <p:cNvGrpSpPr/>
        <p:nvPr/>
      </p:nvGrpSpPr>
      <p:grpSpPr/>
      <p:cxnSp>
        <p:nvCxnSpPr>
          <p:cNvPr id="2" name="Connector 1"/>
          <p:cNvCxnSpPr/>
          <p:nvPr/>
        </p:nvCxnSpPr>
        <p:spPr>
          <a:xfrm>
            <a:off x="594360" y="6400800"/>
            <a:ext cx="11000232" cy="0"/>
          </a:xfrm>
          <a:prstGeom prst="line">
            <a:avLst/>
          </a:prstGeom>
          <a:ln w="6985">
            <a:solidFill>
              <a:srgbClr val="537568"/>
            </a:solidFill>
          </a:ln>
        </p:spPr>
        <p:style>
          <a:lnRef idx="2">
            <a:schemeClr val="accent1"/>
          </a:lnRef>
          <a:fillRef idx="0">
            <a:schemeClr val="accent1"/>
          </a:fillRef>
          <a:effectRef idx="1">
            <a:schemeClr val="accent1"/>
          </a:effectRef>
          <a:fontRef idx="minor">
            <a:schemeClr val="tx1"/>
          </a:fontRef>
        </p:style>
      </p:cxnSp>
      <p:sp>
        <p:nvSpPr>
          <p:cNvPr id="3" name="Text 2"/>
          <p:cNvSpPr txBox="1"/>
          <p:nvPr/>
        </p:nvSpPr>
        <p:spPr>
          <a:xfrm>
            <a:off x="594360" y="6528816"/>
            <a:ext cx="9692640" cy="176974"/>
          </a:xfrm>
          <a:prstGeom prst="rect">
            <a:avLst/>
          </a:prstGeom>
          <a:noFill/>
        </p:spPr>
        <p:txBody>
          <a:bodyPr wrap="none" lIns="0" rIns="0" tIns="0" bIns="0" anchor="t">
            <a:spAutoFit/>
          </a:bodyPr>
          <a:lstStyle/>
          <a:p>
            <a:pPr>
              <a:lnSpc>
                <a:spcPts val="997"/>
              </a:lnSpc>
              <a:spcBef>
                <a:spcPts val="0"/>
              </a:spcBef>
              <a:spcAft>
                <a:spcPts val="0"/>
              </a:spcAft>
              <a:defRPr sz="950" b="0">
                <a:solidFill>
                  <a:srgbClr val="A8BFA9"/>
                </a:solidFill>
                <a:latin typeface="Inter"/>
              </a:defRPr>
            </a:pPr>
            <a:r>
              <a:rPr lang="de-DE"/>
              <a:t>PRAXIS SCHNECKE / FORTBILDUNG · 02.11.2026</a:t>
            </a:r>
          </a:p>
        </p:txBody>
      </p:sp>
      <p:sp>
        <p:nvSpPr>
          <p:cNvPr id="4" name="Text 3"/>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A8BFA9"/>
                </a:solidFill>
                <a:latin typeface="Inter"/>
              </a:defRPr>
            </a:pPr>
            <a:r>
              <a:rPr lang="de-DE"/>
              <a:t>64</a:t>
            </a:r>
          </a:p>
        </p:txBody>
      </p:sp>
      <p:sp>
        <p:nvSpPr>
          <p:cNvPr id="5" name="Text 4"/>
          <p:cNvSpPr txBox="1"/>
          <p:nvPr/>
        </p:nvSpPr>
        <p:spPr>
          <a:xfrm>
            <a:off x="731520" y="512064"/>
            <a:ext cx="10515600" cy="230123"/>
          </a:xfrm>
          <a:prstGeom prst="rect">
            <a:avLst/>
          </a:prstGeom>
          <a:noFill/>
        </p:spPr>
        <p:txBody>
          <a:bodyPr wrap="none" lIns="0" rIns="0" tIns="0" bIns="0" anchor="t">
            <a:spAutoFit/>
          </a:bodyPr>
          <a:lstStyle/>
          <a:p>
            <a:pPr>
              <a:lnSpc>
                <a:spcPts val="1416"/>
              </a:lnSpc>
              <a:spcBef>
                <a:spcPts val="0"/>
              </a:spcBef>
              <a:spcAft>
                <a:spcPts val="0"/>
              </a:spcAft>
              <a:defRPr sz="1200" b="1">
                <a:solidFill>
                  <a:srgbClr val="A8BFA9"/>
                </a:solidFill>
                <a:latin typeface="Inter"/>
              </a:defRPr>
            </a:pPr>
            <a:r>
              <a:rPr lang="de-DE"/>
              <a:t>GEDANKE FÜR DIE PRAXIS</a:t>
            </a:r>
          </a:p>
        </p:txBody>
      </p:sp>
      <p:sp>
        <p:nvSpPr>
          <p:cNvPr id="6" name="Text 5"/>
          <p:cNvSpPr txBox="1"/>
          <p:nvPr/>
        </p:nvSpPr>
        <p:spPr>
          <a:xfrm>
            <a:off x="640080" y="1234440"/>
            <a:ext cx="1188720" cy="1698751"/>
          </a:xfrm>
          <a:prstGeom prst="rect">
            <a:avLst/>
          </a:prstGeom>
          <a:noFill/>
        </p:spPr>
        <p:txBody>
          <a:bodyPr wrap="none" lIns="0" rIns="0" tIns="0" bIns="0" anchor="t">
            <a:spAutoFit/>
          </a:bodyPr>
          <a:lstStyle/>
          <a:p>
            <a:pPr>
              <a:lnSpc>
                <a:spcPts val="12979"/>
              </a:lnSpc>
              <a:spcBef>
                <a:spcPts val="0"/>
              </a:spcBef>
              <a:spcAft>
                <a:spcPts val="0"/>
              </a:spcAft>
              <a:defRPr sz="11000" b="1">
                <a:solidFill>
                  <a:srgbClr val="D68B73"/>
                </a:solidFill>
                <a:latin typeface="Manrope"/>
              </a:defRPr>
            </a:pPr>
            <a:r>
              <a:rPr lang="de-DE"/>
              <a:t>„</a:t>
            </a:r>
          </a:p>
        </p:txBody>
      </p:sp>
      <p:sp>
        <p:nvSpPr>
          <p:cNvPr id="7" name="Text 6"/>
          <p:cNvSpPr txBox="1"/>
          <p:nvPr/>
        </p:nvSpPr>
        <p:spPr>
          <a:xfrm>
            <a:off x="1874519" y="1947672"/>
            <a:ext cx="9052560" cy="2743200"/>
          </a:xfrm>
          <a:prstGeom prst="rect">
            <a:avLst/>
          </a:prstGeom>
          <a:noFill/>
        </p:spPr>
        <p:txBody>
          <a:bodyPr wrap="none" lIns="0" rIns="0" tIns="0" bIns="0" anchor="t">
            <a:spAutoFit/>
          </a:bodyPr>
          <a:lstStyle/>
          <a:p>
            <a:pPr>
              <a:lnSpc>
                <a:spcPts val="4797"/>
              </a:lnSpc>
              <a:spcBef>
                <a:spcPts val="0"/>
              </a:spcBef>
              <a:spcAft>
                <a:spcPts val="0"/>
              </a:spcAft>
              <a:defRPr sz="4100" b="1">
                <a:solidFill>
                  <a:srgbClr val="F7F5EF"/>
                </a:solidFill>
                <a:latin typeface="Manrope"/>
              </a:defRPr>
            </a:pPr>
            <a:r>
              <a:rPr lang="de-DE"/>
              <a:t>Wir müssen nicht auf eine Diagnose</a:t>
            </a:r>
          </a:p>
          <a:p>
            <a:pPr>
              <a:lnSpc>
                <a:spcPts val="4797"/>
              </a:lnSpc>
              <a:spcBef>
                <a:spcPts val="0"/>
              </a:spcBef>
              <a:spcAft>
                <a:spcPts val="0"/>
              </a:spcAft>
              <a:defRPr sz="4100" b="1">
                <a:solidFill>
                  <a:srgbClr val="F7F5EF"/>
                </a:solidFill>
                <a:latin typeface="Manrope"/>
              </a:defRPr>
            </a:pPr>
            <a:r>
              <a:rPr lang="de-DE"/>
              <a:t>warten, um Unterstützung</a:t>
            </a:r>
          </a:p>
          <a:p>
            <a:pPr>
              <a:lnSpc>
                <a:spcPts val="4797"/>
              </a:lnSpc>
              <a:spcBef>
                <a:spcPts val="0"/>
              </a:spcBef>
              <a:spcAft>
                <a:spcPts val="0"/>
              </a:spcAft>
              <a:defRPr sz="4100" b="1">
                <a:solidFill>
                  <a:srgbClr val="F7F5EF"/>
                </a:solidFill>
                <a:latin typeface="Manrope"/>
              </a:defRPr>
            </a:pPr>
            <a:r>
              <a:rPr lang="de-DE"/>
              <a:t>anzubieten.</a:t>
            </a:r>
          </a:p>
        </p:txBody>
      </p:sp>
      <p:cxnSp>
        <p:nvCxnSpPr>
          <p:cNvPr id="8" name="Connector 7"/>
          <p:cNvCxnSpPr/>
          <p:nvPr/>
        </p:nvCxnSpPr>
        <p:spPr>
          <a:xfrm>
            <a:off x="1901952" y="5504688"/>
            <a:ext cx="914400" cy="0"/>
          </a:xfrm>
          <a:prstGeom prst="line">
            <a:avLst/>
          </a:prstGeom>
          <a:ln w="38100">
            <a:solidFill>
              <a:srgbClr val="E5BD70"/>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fast" advClick="1">
    <p:fade/>
  </p:transition>
</p:sld>
</file>

<file path=ppt/slides/slide65.xml><?xml version="1.0" encoding="utf-8"?>
<p:sld xmlns:a="http://schemas.openxmlformats.org/drawingml/2006/main" xmlns:p="http://schemas.openxmlformats.org/presentationml/2006/main" xmlns:r="http://schemas.openxmlformats.org/officeDocument/2006/relationships" showMasterSp="1">
  <p:cSld>
    <p:bg>
      <p:bgPr>
        <a:solidFill>
          <a:srgbClr val="E5BD70"/>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65</a:t>
            </a:r>
          </a:p>
        </p:txBody>
      </p:sp>
      <p:sp>
        <p:nvSpPr>
          <p:cNvPr id="3" name="Rounded Rectangle 2"/>
          <p:cNvSpPr/>
          <p:nvPr/>
        </p:nvSpPr>
        <p:spPr>
          <a:xfrm>
            <a:off x="9646920" y="384048"/>
            <a:ext cx="1947672" cy="1280160"/>
          </a:xfrm>
          <a:prstGeom prst="roundRect">
            <a:avLst>
              <a:gd name="adj" fmla="val 6500"/>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3"/>
          <p:cNvSpPr txBox="1"/>
          <p:nvPr/>
        </p:nvSpPr>
        <p:spPr>
          <a:xfrm>
            <a:off x="9829800" y="493776"/>
            <a:ext cx="1572768" cy="634746"/>
          </a:xfrm>
          <a:prstGeom prst="rect">
            <a:avLst/>
          </a:prstGeom>
          <a:noFill/>
        </p:spPr>
        <p:txBody>
          <a:bodyPr wrap="none" lIns="0" rIns="0" tIns="0" bIns="0" anchor="t">
            <a:spAutoFit/>
          </a:bodyPr>
          <a:lstStyle/>
          <a:p>
            <a:pPr algn="ctr">
              <a:lnSpc>
                <a:spcPts val="4602"/>
              </a:lnSpc>
              <a:spcBef>
                <a:spcPts val="0"/>
              </a:spcBef>
              <a:spcAft>
                <a:spcPts val="0"/>
              </a:spcAft>
              <a:defRPr sz="3900" b="1">
                <a:solidFill>
                  <a:srgbClr val="F7F5EF"/>
                </a:solidFill>
                <a:latin typeface="Manrope"/>
              </a:defRPr>
            </a:pPr>
            <a:r>
              <a:rPr lang="de-DE"/>
              <a:t>12</a:t>
            </a:r>
          </a:p>
        </p:txBody>
      </p:sp>
      <p:sp>
        <p:nvSpPr>
          <p:cNvPr id="5" name="Text 4"/>
          <p:cNvSpPr txBox="1"/>
          <p:nvPr/>
        </p:nvSpPr>
        <p:spPr>
          <a:xfrm>
            <a:off x="9829800" y="1161288"/>
            <a:ext cx="1572768" cy="215137"/>
          </a:xfrm>
          <a:prstGeom prst="rect">
            <a:avLst/>
          </a:prstGeom>
          <a:noFill/>
        </p:spPr>
        <p:txBody>
          <a:bodyPr wrap="none" lIns="0" rIns="0" tIns="0" bIns="0" anchor="t">
            <a:spAutoFit/>
          </a:bodyPr>
          <a:lstStyle/>
          <a:p>
            <a:pPr algn="ctr">
              <a:lnSpc>
                <a:spcPts val="1297"/>
              </a:lnSpc>
              <a:spcBef>
                <a:spcPts val="0"/>
              </a:spcBef>
              <a:spcAft>
                <a:spcPts val="0"/>
              </a:spcAft>
              <a:defRPr sz="1100" b="1">
                <a:solidFill>
                  <a:srgbClr val="F7F5EF"/>
                </a:solidFill>
                <a:latin typeface="Inter"/>
              </a:defRPr>
            </a:pPr>
            <a:r>
              <a:rPr lang="de-DE"/>
              <a:t>MINUTEN</a:t>
            </a:r>
          </a:p>
        </p:txBody>
      </p:sp>
      <p:sp>
        <p:nvSpPr>
          <p:cNvPr id="6" name="Text 5"/>
          <p:cNvSpPr txBox="1"/>
          <p:nvPr/>
        </p:nvSpPr>
        <p:spPr>
          <a:xfrm>
            <a:off x="594360" y="393192"/>
            <a:ext cx="8686800" cy="222630"/>
          </a:xfrm>
          <a:prstGeom prst="rect">
            <a:avLst/>
          </a:prstGeom>
          <a:noFill/>
        </p:spPr>
        <p:txBody>
          <a:bodyPr wrap="none" lIns="0" rIns="0" tIns="0" bIns="0" anchor="t">
            <a:spAutoFit/>
          </a:bodyPr>
          <a:lstStyle/>
          <a:p>
            <a:pPr>
              <a:lnSpc>
                <a:spcPts val="1356"/>
              </a:lnSpc>
              <a:spcBef>
                <a:spcPts val="0"/>
              </a:spcBef>
              <a:spcAft>
                <a:spcPts val="0"/>
              </a:spcAft>
              <a:defRPr sz="1150" b="1">
                <a:solidFill>
                  <a:srgbClr val="234B42"/>
                </a:solidFill>
                <a:latin typeface="Inter"/>
              </a:defRPr>
            </a:pPr>
            <a:r>
              <a:rPr lang="de-DE"/>
              <a:t>ÜBUNG</a:t>
            </a:r>
          </a:p>
        </p:txBody>
      </p:sp>
      <p:sp>
        <p:nvSpPr>
          <p:cNvPr id="7" name="Text 6"/>
          <p:cNvSpPr txBox="1"/>
          <p:nvPr/>
        </p:nvSpPr>
        <p:spPr>
          <a:xfrm>
            <a:off x="594360" y="804672"/>
            <a:ext cx="8503920"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Eine Situation umgestalten</a:t>
            </a:r>
          </a:p>
        </p:txBody>
      </p:sp>
      <p:sp>
        <p:nvSpPr>
          <p:cNvPr id="8" name="Text 7"/>
          <p:cNvSpPr txBox="1"/>
          <p:nvPr/>
        </p:nvSpPr>
        <p:spPr>
          <a:xfrm>
            <a:off x="594360" y="1470659"/>
            <a:ext cx="8458200" cy="282574"/>
          </a:xfrm>
          <a:prstGeom prst="rect">
            <a:avLst/>
          </a:prstGeom>
          <a:noFill/>
        </p:spPr>
        <p:txBody>
          <a:bodyPr wrap="none" lIns="0" rIns="0" tIns="0" bIns="0" anchor="t">
            <a:spAutoFit/>
          </a:bodyPr>
          <a:lstStyle/>
          <a:p>
            <a:pPr>
              <a:lnSpc>
                <a:spcPts val="1829"/>
              </a:lnSpc>
              <a:spcBef>
                <a:spcPts val="0"/>
              </a:spcBef>
              <a:spcAft>
                <a:spcPts val="0"/>
              </a:spcAft>
              <a:defRPr sz="1550" b="1">
                <a:solidFill>
                  <a:srgbClr val="234B42"/>
                </a:solidFill>
                <a:latin typeface="Inter"/>
              </a:defRPr>
            </a:pPr>
            <a:r>
              <a:rPr lang="de-DE"/>
              <a:t>Dreiergruppen</a:t>
            </a:r>
          </a:p>
        </p:txBody>
      </p:sp>
      <p:sp>
        <p:nvSpPr>
          <p:cNvPr id="9" name="Rounded Rectangle 8"/>
          <p:cNvSpPr/>
          <p:nvPr/>
        </p:nvSpPr>
        <p:spPr>
          <a:xfrm>
            <a:off x="594360" y="1965960"/>
            <a:ext cx="5385816" cy="1623060"/>
          </a:xfrm>
          <a:prstGeom prst="roundRect">
            <a:avLst>
              <a:gd name="adj" fmla="val 6500"/>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9"/>
          <p:cNvSpPr txBox="1"/>
          <p:nvPr/>
        </p:nvSpPr>
        <p:spPr>
          <a:xfrm>
            <a:off x="841248" y="2130552"/>
            <a:ext cx="4892040" cy="290067"/>
          </a:xfrm>
          <a:prstGeom prst="rect">
            <a:avLst/>
          </a:prstGeom>
          <a:noFill/>
        </p:spPr>
        <p:txBody>
          <a:bodyPr wrap="none" lIns="0" rIns="0" tIns="0" bIns="0" anchor="t">
            <a:spAutoFit/>
          </a:bodyPr>
          <a:lstStyle/>
          <a:p>
            <a:pPr>
              <a:lnSpc>
                <a:spcPts val="1888"/>
              </a:lnSpc>
              <a:spcBef>
                <a:spcPts val="0"/>
              </a:spcBef>
              <a:spcAft>
                <a:spcPts val="0"/>
              </a:spcAft>
              <a:defRPr sz="1600" b="1">
                <a:solidFill>
                  <a:srgbClr val="234B42"/>
                </a:solidFill>
                <a:latin typeface="Manrope"/>
              </a:defRPr>
            </a:pPr>
            <a:r>
              <a:rPr lang="de-DE"/>
              <a:t>2 Minuten</a:t>
            </a:r>
          </a:p>
        </p:txBody>
      </p:sp>
      <p:sp>
        <p:nvSpPr>
          <p:cNvPr id="11" name="Text 10"/>
          <p:cNvSpPr txBox="1"/>
          <p:nvPr/>
        </p:nvSpPr>
        <p:spPr>
          <a:xfrm>
            <a:off x="841248" y="2502916"/>
            <a:ext cx="4892040" cy="976376"/>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6332F"/>
                </a:solidFill>
                <a:latin typeface="Inter"/>
              </a:defRPr>
            </a:pPr>
            <a:r>
              <a:rPr lang="de-DE"/>
              <a:t>Morgenkreis, Essen oder Garderobe</a:t>
            </a:r>
          </a:p>
          <a:p>
            <a:pPr>
              <a:lnSpc>
                <a:spcPts val="2419"/>
              </a:lnSpc>
              <a:spcBef>
                <a:spcPts val="0"/>
              </a:spcBef>
              <a:spcAft>
                <a:spcPts val="0"/>
              </a:spcAft>
              <a:defRPr sz="2050" b="0">
                <a:solidFill>
                  <a:srgbClr val="26332F"/>
                </a:solidFill>
                <a:latin typeface="Inter"/>
              </a:defRPr>
            </a:pPr>
            <a:r>
              <a:rPr lang="de-DE"/>
              <a:t>auswählen</a:t>
            </a:r>
          </a:p>
        </p:txBody>
      </p:sp>
      <p:sp>
        <p:nvSpPr>
          <p:cNvPr id="12" name="Rounded Rectangle 11"/>
          <p:cNvSpPr/>
          <p:nvPr/>
        </p:nvSpPr>
        <p:spPr>
          <a:xfrm>
            <a:off x="6208776" y="1965960"/>
            <a:ext cx="5385816" cy="1623060"/>
          </a:xfrm>
          <a:prstGeom prst="roundRect">
            <a:avLst>
              <a:gd name="adj" fmla="val 6500"/>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12"/>
          <p:cNvSpPr txBox="1"/>
          <p:nvPr/>
        </p:nvSpPr>
        <p:spPr>
          <a:xfrm>
            <a:off x="6455664" y="2130552"/>
            <a:ext cx="4892040" cy="290067"/>
          </a:xfrm>
          <a:prstGeom prst="rect">
            <a:avLst/>
          </a:prstGeom>
          <a:noFill/>
        </p:spPr>
        <p:txBody>
          <a:bodyPr wrap="none" lIns="0" rIns="0" tIns="0" bIns="0" anchor="t">
            <a:spAutoFit/>
          </a:bodyPr>
          <a:lstStyle/>
          <a:p>
            <a:pPr>
              <a:lnSpc>
                <a:spcPts val="1888"/>
              </a:lnSpc>
              <a:spcBef>
                <a:spcPts val="0"/>
              </a:spcBef>
              <a:spcAft>
                <a:spcPts val="0"/>
              </a:spcAft>
              <a:defRPr sz="1600" b="1">
                <a:solidFill>
                  <a:srgbClr val="234B42"/>
                </a:solidFill>
                <a:latin typeface="Manrope"/>
              </a:defRPr>
            </a:pPr>
            <a:r>
              <a:rPr lang="de-DE"/>
              <a:t>5 Minuten</a:t>
            </a:r>
          </a:p>
        </p:txBody>
      </p:sp>
      <p:sp>
        <p:nvSpPr>
          <p:cNvPr id="14" name="Text 13"/>
          <p:cNvSpPr txBox="1"/>
          <p:nvPr/>
        </p:nvSpPr>
        <p:spPr>
          <a:xfrm>
            <a:off x="6455664" y="2502916"/>
            <a:ext cx="4892040" cy="976376"/>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6332F"/>
                </a:solidFill>
                <a:latin typeface="Inter"/>
              </a:defRPr>
            </a:pPr>
            <a:r>
              <a:rPr lang="de-DE"/>
              <a:t>Belastungen und gelingende</a:t>
            </a:r>
          </a:p>
          <a:p>
            <a:pPr>
              <a:lnSpc>
                <a:spcPts val="2419"/>
              </a:lnSpc>
              <a:spcBef>
                <a:spcPts val="0"/>
              </a:spcBef>
              <a:spcAft>
                <a:spcPts val="0"/>
              </a:spcAft>
              <a:defRPr sz="2050" b="0">
                <a:solidFill>
                  <a:srgbClr val="26332F"/>
                </a:solidFill>
                <a:latin typeface="Inter"/>
              </a:defRPr>
            </a:pPr>
            <a:r>
              <a:rPr lang="de-DE"/>
              <a:t>Bedingungen sammeln</a:t>
            </a:r>
          </a:p>
        </p:txBody>
      </p:sp>
      <p:sp>
        <p:nvSpPr>
          <p:cNvPr id="15" name="Rounded Rectangle 14"/>
          <p:cNvSpPr/>
          <p:nvPr/>
        </p:nvSpPr>
        <p:spPr>
          <a:xfrm>
            <a:off x="594360" y="3817620"/>
            <a:ext cx="5385816" cy="1623060"/>
          </a:xfrm>
          <a:prstGeom prst="roundRect">
            <a:avLst>
              <a:gd name="adj" fmla="val 6500"/>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15"/>
          <p:cNvSpPr txBox="1"/>
          <p:nvPr/>
        </p:nvSpPr>
        <p:spPr>
          <a:xfrm>
            <a:off x="841248" y="3982212"/>
            <a:ext cx="4892040" cy="290067"/>
          </a:xfrm>
          <a:prstGeom prst="rect">
            <a:avLst/>
          </a:prstGeom>
          <a:noFill/>
        </p:spPr>
        <p:txBody>
          <a:bodyPr wrap="none" lIns="0" rIns="0" tIns="0" bIns="0" anchor="t">
            <a:spAutoFit/>
          </a:bodyPr>
          <a:lstStyle/>
          <a:p>
            <a:pPr>
              <a:lnSpc>
                <a:spcPts val="1888"/>
              </a:lnSpc>
              <a:spcBef>
                <a:spcPts val="0"/>
              </a:spcBef>
              <a:spcAft>
                <a:spcPts val="0"/>
              </a:spcAft>
              <a:defRPr sz="1600" b="1">
                <a:solidFill>
                  <a:srgbClr val="234B42"/>
                </a:solidFill>
                <a:latin typeface="Manrope"/>
              </a:defRPr>
            </a:pPr>
            <a:r>
              <a:rPr lang="de-DE"/>
              <a:t>3 Minuten</a:t>
            </a:r>
          </a:p>
        </p:txBody>
      </p:sp>
      <p:sp>
        <p:nvSpPr>
          <p:cNvPr id="17" name="Text 16"/>
          <p:cNvSpPr txBox="1"/>
          <p:nvPr/>
        </p:nvSpPr>
        <p:spPr>
          <a:xfrm>
            <a:off x="841248" y="4354576"/>
            <a:ext cx="4892040" cy="976376"/>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6332F"/>
                </a:solidFill>
                <a:latin typeface="Inter"/>
              </a:defRPr>
            </a:pPr>
            <a:r>
              <a:rPr lang="de-DE"/>
              <a:t>eine realistische Veränderung planen</a:t>
            </a:r>
          </a:p>
        </p:txBody>
      </p:sp>
      <p:sp>
        <p:nvSpPr>
          <p:cNvPr id="18" name="Rounded Rectangle 17"/>
          <p:cNvSpPr/>
          <p:nvPr/>
        </p:nvSpPr>
        <p:spPr>
          <a:xfrm>
            <a:off x="6208776" y="3817620"/>
            <a:ext cx="5385816" cy="1623060"/>
          </a:xfrm>
          <a:prstGeom prst="roundRect">
            <a:avLst>
              <a:gd name="adj" fmla="val 6500"/>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18"/>
          <p:cNvSpPr txBox="1"/>
          <p:nvPr/>
        </p:nvSpPr>
        <p:spPr>
          <a:xfrm>
            <a:off x="6455664" y="3982212"/>
            <a:ext cx="4892040" cy="290067"/>
          </a:xfrm>
          <a:prstGeom prst="rect">
            <a:avLst/>
          </a:prstGeom>
          <a:noFill/>
        </p:spPr>
        <p:txBody>
          <a:bodyPr wrap="none" lIns="0" rIns="0" tIns="0" bIns="0" anchor="t">
            <a:spAutoFit/>
          </a:bodyPr>
          <a:lstStyle/>
          <a:p>
            <a:pPr>
              <a:lnSpc>
                <a:spcPts val="1888"/>
              </a:lnSpc>
              <a:spcBef>
                <a:spcPts val="0"/>
              </a:spcBef>
              <a:spcAft>
                <a:spcPts val="0"/>
              </a:spcAft>
              <a:defRPr sz="1600" b="1">
                <a:solidFill>
                  <a:srgbClr val="234B42"/>
                </a:solidFill>
                <a:latin typeface="Manrope"/>
              </a:defRPr>
            </a:pPr>
            <a:r>
              <a:rPr lang="de-DE"/>
              <a:t>2 Minuten</a:t>
            </a:r>
          </a:p>
        </p:txBody>
      </p:sp>
      <p:sp>
        <p:nvSpPr>
          <p:cNvPr id="20" name="Text 19"/>
          <p:cNvSpPr txBox="1"/>
          <p:nvPr/>
        </p:nvSpPr>
        <p:spPr>
          <a:xfrm>
            <a:off x="6455664" y="4354576"/>
            <a:ext cx="4892040" cy="976376"/>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6332F"/>
                </a:solidFill>
                <a:latin typeface="Inter"/>
              </a:defRPr>
            </a:pPr>
            <a:r>
              <a:rPr lang="de-DE"/>
              <a:t>Wirkung und Prüftermin festlegen</a:t>
            </a:r>
          </a:p>
        </p:txBody>
      </p:sp>
      <p:cxnSp>
        <p:nvCxnSpPr>
          <p:cNvPr id="21" name="Connector 20"/>
          <p:cNvCxnSpPr/>
          <p:nvPr/>
        </p:nvCxnSpPr>
        <p:spPr>
          <a:xfrm>
            <a:off x="594360" y="5495544"/>
            <a:ext cx="502920" cy="0"/>
          </a:xfrm>
          <a:prstGeom prst="line">
            <a:avLst/>
          </a:prstGeom>
          <a:ln w="27940">
            <a:solidFill>
              <a:srgbClr val="D68B73"/>
            </a:solidFill>
          </a:ln>
        </p:spPr>
        <p:style>
          <a:lnRef idx="2">
            <a:schemeClr val="accent1"/>
          </a:lnRef>
          <a:fillRef idx="0">
            <a:schemeClr val="accent1"/>
          </a:fillRef>
          <a:effectRef idx="1">
            <a:schemeClr val="accent1"/>
          </a:effectRef>
          <a:fontRef idx="minor">
            <a:schemeClr val="tx1"/>
          </a:fontRef>
        </p:style>
      </p:cxnSp>
      <p:sp>
        <p:nvSpPr>
          <p:cNvPr id="22" name="Text 21"/>
          <p:cNvSpPr txBox="1"/>
          <p:nvPr/>
        </p:nvSpPr>
        <p:spPr>
          <a:xfrm>
            <a:off x="594360" y="5623560"/>
            <a:ext cx="10972800" cy="694944"/>
          </a:xfrm>
          <a:prstGeom prst="rect">
            <a:avLst/>
          </a:prstGeom>
          <a:noFill/>
        </p:spPr>
        <p:txBody>
          <a:bodyPr wrap="none" lIns="0" rIns="0" tIns="0" bIns="0" anchor="t">
            <a:spAutoFit/>
          </a:bodyPr>
          <a:lstStyle/>
          <a:p>
            <a:pPr>
              <a:lnSpc>
                <a:spcPts val="2419"/>
              </a:lnSpc>
              <a:spcBef>
                <a:spcPts val="0"/>
              </a:spcBef>
              <a:spcAft>
                <a:spcPts val="0"/>
              </a:spcAft>
              <a:defRPr sz="2050" b="1">
                <a:solidFill>
                  <a:srgbClr val="234B42"/>
                </a:solidFill>
                <a:latin typeface="Manrope"/>
              </a:defRPr>
            </a:pPr>
            <a:r>
              <a:rPr lang="de-DE"/>
              <a:t>Dreiergruppen entwickeln einen kleinen nächsten Schritt.</a:t>
            </a:r>
          </a:p>
        </p:txBody>
      </p:sp>
    </p:spTree>
  </p:cSld>
  <p:clrMapOvr>
    <a:masterClrMapping/>
  </p:clrMapOvr>
  <p:transition spd="fast" advClick="1">
    <p:fade/>
  </p:transition>
</p:sld>
</file>

<file path=ppt/slides/slide66.xml><?xml version="1.0" encoding="utf-8"?>
<p:sld xmlns:a="http://schemas.openxmlformats.org/drawingml/2006/main" xmlns:p="http://schemas.openxmlformats.org/presentationml/2006/main" xmlns:r="http://schemas.openxmlformats.org/officeDocument/2006/relationships" showMasterSp="0">
  <p:cSld>
    <p:bg>
      <p:bgPr>
        <a:solidFill>
          <a:srgbClr val="234B42"/>
        </a:solidFill>
        <a:effectLst/>
      </p:bgPr>
    </p:bg>
    <p:spTree>
      <p:nvGrpSpPr>
        <p:cNvPr id="1" name=""/>
        <p:cNvGrpSpPr/>
        <p:nvPr/>
      </p:nvGrpSpPr>
      <p:grpSpPr/>
      <p:cxnSp>
        <p:nvCxnSpPr>
          <p:cNvPr id="2" name="Connector 1"/>
          <p:cNvCxnSpPr/>
          <p:nvPr/>
        </p:nvCxnSpPr>
        <p:spPr>
          <a:xfrm>
            <a:off x="594360" y="6400800"/>
            <a:ext cx="11000232" cy="0"/>
          </a:xfrm>
          <a:prstGeom prst="line">
            <a:avLst/>
          </a:prstGeom>
          <a:ln w="6985">
            <a:solidFill>
              <a:srgbClr val="537568"/>
            </a:solidFill>
          </a:ln>
        </p:spPr>
        <p:style>
          <a:lnRef idx="2">
            <a:schemeClr val="accent1"/>
          </a:lnRef>
          <a:fillRef idx="0">
            <a:schemeClr val="accent1"/>
          </a:fillRef>
          <a:effectRef idx="1">
            <a:schemeClr val="accent1"/>
          </a:effectRef>
          <a:fontRef idx="minor">
            <a:schemeClr val="tx1"/>
          </a:fontRef>
        </p:style>
      </p:cxnSp>
      <p:sp>
        <p:nvSpPr>
          <p:cNvPr id="3" name="Text 2"/>
          <p:cNvSpPr txBox="1"/>
          <p:nvPr/>
        </p:nvSpPr>
        <p:spPr>
          <a:xfrm>
            <a:off x="594360" y="6528816"/>
            <a:ext cx="9692640" cy="176974"/>
          </a:xfrm>
          <a:prstGeom prst="rect">
            <a:avLst/>
          </a:prstGeom>
          <a:noFill/>
        </p:spPr>
        <p:txBody>
          <a:bodyPr wrap="none" lIns="0" rIns="0" tIns="0" bIns="0" anchor="t">
            <a:spAutoFit/>
          </a:bodyPr>
          <a:lstStyle/>
          <a:p>
            <a:pPr>
              <a:lnSpc>
                <a:spcPts val="997"/>
              </a:lnSpc>
              <a:spcBef>
                <a:spcPts val="0"/>
              </a:spcBef>
              <a:spcAft>
                <a:spcPts val="0"/>
              </a:spcAft>
              <a:defRPr sz="950" b="0">
                <a:solidFill>
                  <a:srgbClr val="A8BFA9"/>
                </a:solidFill>
                <a:latin typeface="Inter"/>
              </a:defRPr>
            </a:pPr>
            <a:r>
              <a:rPr lang="de-DE"/>
              <a:t>PRAXIS SCHNECKE / FORTBILDUNG · 02.11.2026</a:t>
            </a:r>
          </a:p>
        </p:txBody>
      </p:sp>
      <p:sp>
        <p:nvSpPr>
          <p:cNvPr id="4" name="Text 3"/>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A8BFA9"/>
                </a:solidFill>
                <a:latin typeface="Inter"/>
              </a:defRPr>
            </a:pPr>
            <a:r>
              <a:rPr lang="de-DE"/>
              <a:t>66</a:t>
            </a:r>
          </a:p>
        </p:txBody>
      </p:sp>
      <p:pic>
        <p:nvPicPr>
          <p:cNvPr id="5" name="Picture 4" descr="03_rueckzug_beziehung.png"/>
          <p:cNvPicPr>
            <a:picLocks noChangeAspect="1"/>
          </p:cNvPicPr>
          <p:nvPr/>
        </p:nvPicPr>
        <p:blipFill>
          <a:blip r:embed="rId3"/>
          <a:srcRect l="25345" r="25345"/>
          <a:stretch>
            <a:fillRect/>
          </a:stretch>
        </p:blipFill>
        <p:spPr>
          <a:xfrm>
            <a:off x="6583680" y="0"/>
            <a:ext cx="5608015" cy="6400800"/>
          </a:xfrm>
          <a:prstGeom prst="rect">
            <a:avLst/>
          </a:prstGeom>
        </p:spPr>
      </p:pic>
      <p:sp>
        <p:nvSpPr>
          <p:cNvPr id="6" name="Text 5"/>
          <p:cNvSpPr txBox="1"/>
          <p:nvPr/>
        </p:nvSpPr>
        <p:spPr>
          <a:xfrm>
            <a:off x="594360" y="502920"/>
            <a:ext cx="5486400" cy="230123"/>
          </a:xfrm>
          <a:prstGeom prst="rect">
            <a:avLst/>
          </a:prstGeom>
          <a:noFill/>
        </p:spPr>
        <p:txBody>
          <a:bodyPr wrap="none" lIns="0" rIns="0" tIns="0" bIns="0" anchor="t">
            <a:spAutoFit/>
          </a:bodyPr>
          <a:lstStyle/>
          <a:p>
            <a:pPr>
              <a:lnSpc>
                <a:spcPts val="1416"/>
              </a:lnSpc>
              <a:spcBef>
                <a:spcPts val="0"/>
              </a:spcBef>
              <a:spcAft>
                <a:spcPts val="0"/>
              </a:spcAft>
              <a:defRPr sz="1200" b="1">
                <a:solidFill>
                  <a:srgbClr val="A8BFA9"/>
                </a:solidFill>
                <a:latin typeface="Inter"/>
              </a:defRPr>
            </a:pPr>
            <a:r>
              <a:rPr lang="de-DE"/>
              <a:t>ZEIT ZUM DURCHATMEN</a:t>
            </a:r>
          </a:p>
        </p:txBody>
      </p:sp>
      <p:sp>
        <p:nvSpPr>
          <p:cNvPr id="7" name="Text 6"/>
          <p:cNvSpPr txBox="1"/>
          <p:nvPr/>
        </p:nvSpPr>
        <p:spPr>
          <a:xfrm>
            <a:off x="594360" y="1600200"/>
            <a:ext cx="5486400" cy="1009395"/>
          </a:xfrm>
          <a:prstGeom prst="rect">
            <a:avLst/>
          </a:prstGeom>
          <a:noFill/>
        </p:spPr>
        <p:txBody>
          <a:bodyPr wrap="none" lIns="0" rIns="0" tIns="0" bIns="0" anchor="t">
            <a:spAutoFit/>
          </a:bodyPr>
          <a:lstStyle/>
          <a:p>
            <a:pPr>
              <a:lnSpc>
                <a:spcPts val="7552"/>
              </a:lnSpc>
              <a:spcBef>
                <a:spcPts val="0"/>
              </a:spcBef>
              <a:spcAft>
                <a:spcPts val="0"/>
              </a:spcAft>
              <a:defRPr sz="6400" b="1">
                <a:solidFill>
                  <a:srgbClr val="F7F5EF"/>
                </a:solidFill>
                <a:latin typeface="Manrope"/>
              </a:defRPr>
            </a:pPr>
            <a:r>
              <a:rPr lang="de-DE"/>
              <a:t>Pause</a:t>
            </a:r>
          </a:p>
        </p:txBody>
      </p:sp>
      <p:sp>
        <p:nvSpPr>
          <p:cNvPr id="8" name="Text 7"/>
          <p:cNvSpPr txBox="1"/>
          <p:nvPr/>
        </p:nvSpPr>
        <p:spPr>
          <a:xfrm>
            <a:off x="594360" y="3182112"/>
            <a:ext cx="5486400" cy="589788"/>
          </a:xfrm>
          <a:prstGeom prst="rect">
            <a:avLst/>
          </a:prstGeom>
          <a:noFill/>
        </p:spPr>
        <p:txBody>
          <a:bodyPr wrap="none" lIns="0" rIns="0" tIns="0" bIns="0" anchor="t">
            <a:spAutoFit/>
          </a:bodyPr>
          <a:lstStyle/>
          <a:p>
            <a:pPr>
              <a:lnSpc>
                <a:spcPts val="4248"/>
              </a:lnSpc>
              <a:spcBef>
                <a:spcPts val="0"/>
              </a:spcBef>
              <a:spcAft>
                <a:spcPts val="0"/>
              </a:spcAft>
              <a:defRPr sz="3600" b="1">
                <a:solidFill>
                  <a:srgbClr val="E5BD70"/>
                </a:solidFill>
                <a:latin typeface="Manrope"/>
              </a:defRPr>
            </a:pPr>
            <a:r>
              <a:rPr lang="de-DE"/>
              <a:t>30 Minuten</a:t>
            </a:r>
          </a:p>
        </p:txBody>
      </p:sp>
      <p:sp>
        <p:nvSpPr>
          <p:cNvPr id="9" name="Text 8"/>
          <p:cNvSpPr txBox="1"/>
          <p:nvPr/>
        </p:nvSpPr>
        <p:spPr>
          <a:xfrm>
            <a:off x="594360" y="4590288"/>
            <a:ext cx="5486400" cy="739648"/>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F7F5EF"/>
                </a:solidFill>
                <a:latin typeface="Inter"/>
              </a:defRPr>
            </a:pPr>
            <a:r>
              <a:rPr lang="de-DE"/>
              <a:t>Weiter geht es mit</a:t>
            </a:r>
          </a:p>
          <a:p>
            <a:pPr>
              <a:lnSpc>
                <a:spcPts val="2713"/>
              </a:lnSpc>
              <a:spcBef>
                <a:spcPts val="0"/>
              </a:spcBef>
              <a:spcAft>
                <a:spcPts val="0"/>
              </a:spcAft>
              <a:defRPr sz="2300" b="0">
                <a:solidFill>
                  <a:srgbClr val="F7F5EF"/>
                </a:solidFill>
                <a:latin typeface="Inter"/>
              </a:defRPr>
            </a:pPr>
            <a:r>
              <a:rPr lang="de-DE"/>
              <a:t>Fallarbeit und Austausch.</a:t>
            </a:r>
          </a:p>
        </p:txBody>
      </p:sp>
    </p:spTree>
  </p:cSld>
  <p:clrMapOvr>
    <a:masterClrMapping/>
  </p:clrMapOvr>
  <p:transition spd="fast" advClick="1">
    <p:fade/>
  </p:transition>
</p:sld>
</file>

<file path=ppt/slides/slide67.xml><?xml version="1.0" encoding="utf-8"?>
<p:sld xmlns:a="http://schemas.openxmlformats.org/drawingml/2006/main" xmlns:p="http://schemas.openxmlformats.org/presentationml/2006/main" xmlns:r="http://schemas.openxmlformats.org/officeDocument/2006/relationships" showMasterSp="0">
  <p:cSld>
    <p:bg>
      <p:bgPr>
        <a:solidFill>
          <a:srgbClr val="234B42"/>
        </a:solidFill>
        <a:effectLst/>
      </p:bgPr>
    </p:bg>
    <p:spTree>
      <p:nvGrpSpPr>
        <p:cNvPr id="1" name=""/>
        <p:cNvGrpSpPr/>
        <p:nvPr/>
      </p:nvGrpSpPr>
      <p:grpSpPr/>
      <p:cxnSp>
        <p:nvCxnSpPr>
          <p:cNvPr id="2" name="Connector 1"/>
          <p:cNvCxnSpPr/>
          <p:nvPr/>
        </p:nvCxnSpPr>
        <p:spPr>
          <a:xfrm>
            <a:off x="594360" y="6400800"/>
            <a:ext cx="11000232" cy="0"/>
          </a:xfrm>
          <a:prstGeom prst="line">
            <a:avLst/>
          </a:prstGeom>
          <a:ln w="6985">
            <a:solidFill>
              <a:srgbClr val="537568"/>
            </a:solidFill>
          </a:ln>
        </p:spPr>
        <p:style>
          <a:lnRef idx="2">
            <a:schemeClr val="accent1"/>
          </a:lnRef>
          <a:fillRef idx="0">
            <a:schemeClr val="accent1"/>
          </a:fillRef>
          <a:effectRef idx="1">
            <a:schemeClr val="accent1"/>
          </a:effectRef>
          <a:fontRef idx="minor">
            <a:schemeClr val="tx1"/>
          </a:fontRef>
        </p:style>
      </p:cxnSp>
      <p:sp>
        <p:nvSpPr>
          <p:cNvPr id="3" name="Text 2"/>
          <p:cNvSpPr txBox="1"/>
          <p:nvPr/>
        </p:nvSpPr>
        <p:spPr>
          <a:xfrm>
            <a:off x="594360" y="6528816"/>
            <a:ext cx="9692640" cy="176974"/>
          </a:xfrm>
          <a:prstGeom prst="rect">
            <a:avLst/>
          </a:prstGeom>
          <a:noFill/>
        </p:spPr>
        <p:txBody>
          <a:bodyPr wrap="none" lIns="0" rIns="0" tIns="0" bIns="0" anchor="t">
            <a:spAutoFit/>
          </a:bodyPr>
          <a:lstStyle/>
          <a:p>
            <a:pPr>
              <a:lnSpc>
                <a:spcPts val="997"/>
              </a:lnSpc>
              <a:spcBef>
                <a:spcPts val="0"/>
              </a:spcBef>
              <a:spcAft>
                <a:spcPts val="0"/>
              </a:spcAft>
              <a:defRPr sz="950" b="0">
                <a:solidFill>
                  <a:srgbClr val="A8BFA9"/>
                </a:solidFill>
                <a:latin typeface="Inter"/>
              </a:defRPr>
            </a:pPr>
            <a:r>
              <a:rPr lang="de-DE"/>
              <a:t>PRAXIS SCHNECKE / FORTBILDUNG · 02.11.2026</a:t>
            </a:r>
          </a:p>
        </p:txBody>
      </p:sp>
      <p:sp>
        <p:nvSpPr>
          <p:cNvPr id="4" name="Text 3"/>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A8BFA9"/>
                </a:solidFill>
                <a:latin typeface="Inter"/>
              </a:defRPr>
            </a:pPr>
            <a:r>
              <a:rPr lang="de-DE"/>
              <a:t>67</a:t>
            </a:r>
          </a:p>
        </p:txBody>
      </p:sp>
      <p:pic>
        <p:nvPicPr>
          <p:cNvPr id="5" name="Picture 4" descr="01_kita_cover.png"/>
          <p:cNvPicPr>
            <a:picLocks noChangeAspect="1"/>
          </p:cNvPicPr>
          <p:nvPr/>
        </p:nvPicPr>
        <p:blipFill>
          <a:blip r:embed="rId3"/>
          <a:srcRect l="30973" r="30973"/>
          <a:stretch>
            <a:fillRect/>
          </a:stretch>
        </p:blipFill>
        <p:spPr>
          <a:xfrm>
            <a:off x="7863840" y="0"/>
            <a:ext cx="4327855" cy="6400800"/>
          </a:xfrm>
          <a:prstGeom prst="rect">
            <a:avLst/>
          </a:prstGeom>
        </p:spPr>
      </p:pic>
      <p:sp>
        <p:nvSpPr>
          <p:cNvPr id="6" name="Text 5"/>
          <p:cNvSpPr txBox="1"/>
          <p:nvPr/>
        </p:nvSpPr>
        <p:spPr>
          <a:xfrm>
            <a:off x="594360" y="502920"/>
            <a:ext cx="6217920" cy="1320292"/>
          </a:xfrm>
          <a:prstGeom prst="rect">
            <a:avLst/>
          </a:prstGeom>
          <a:noFill/>
        </p:spPr>
        <p:txBody>
          <a:bodyPr wrap="none" lIns="0" rIns="0" tIns="0" bIns="0" anchor="t">
            <a:spAutoFit/>
          </a:bodyPr>
          <a:lstStyle/>
          <a:p>
            <a:pPr>
              <a:lnSpc>
                <a:spcPts val="10000"/>
              </a:lnSpc>
              <a:spcBef>
                <a:spcPts val="0"/>
              </a:spcBef>
              <a:spcAft>
                <a:spcPts val="0"/>
              </a:spcAft>
              <a:defRPr sz="10000" b="1">
                <a:solidFill>
                  <a:srgbClr val="E5BD70"/>
                </a:solidFill>
                <a:latin typeface="Manrope"/>
              </a:defRPr>
            </a:pPr>
            <a:r>
              <a:rPr lang="de-DE"/>
              <a:t>05</a:t>
            </a:r>
          </a:p>
        </p:txBody>
      </p:sp>
      <p:sp>
        <p:nvSpPr>
          <p:cNvPr id="7" name="Text 6"/>
          <p:cNvSpPr txBox="1"/>
          <p:nvPr/>
        </p:nvSpPr>
        <p:spPr>
          <a:xfrm>
            <a:off x="594360" y="2514600"/>
            <a:ext cx="6949440" cy="1508760"/>
          </a:xfrm>
          <a:prstGeom prst="rect">
            <a:avLst/>
          </a:prstGeom>
          <a:noFill/>
        </p:spPr>
        <p:txBody>
          <a:bodyPr wrap="none" lIns="0" rIns="0" tIns="0" bIns="0" anchor="t">
            <a:spAutoFit/>
          </a:bodyPr>
          <a:lstStyle/>
          <a:p>
            <a:pPr>
              <a:lnSpc>
                <a:spcPts val="5073"/>
              </a:lnSpc>
              <a:spcBef>
                <a:spcPts val="0"/>
              </a:spcBef>
              <a:spcAft>
                <a:spcPts val="0"/>
              </a:spcAft>
              <a:defRPr sz="4300" b="1">
                <a:solidFill>
                  <a:srgbClr val="F7F5EF"/>
                </a:solidFill>
                <a:latin typeface="Manrope"/>
              </a:defRPr>
            </a:pPr>
            <a:r>
              <a:rPr lang="de-DE"/>
              <a:t>Fallarbeit</a:t>
            </a:r>
          </a:p>
          <a:p>
            <a:pPr>
              <a:lnSpc>
                <a:spcPts val="5073"/>
              </a:lnSpc>
              <a:spcBef>
                <a:spcPts val="0"/>
              </a:spcBef>
              <a:spcAft>
                <a:spcPts val="0"/>
              </a:spcAft>
              <a:defRPr sz="4300" b="1">
                <a:solidFill>
                  <a:srgbClr val="F7F5EF"/>
                </a:solidFill>
                <a:latin typeface="Manrope"/>
              </a:defRPr>
            </a:pPr>
            <a:r>
              <a:rPr lang="de-DE"/>
              <a:t>und Austausch</a:t>
            </a:r>
          </a:p>
        </p:txBody>
      </p:sp>
      <p:sp>
        <p:nvSpPr>
          <p:cNvPr id="8" name="Text 7"/>
          <p:cNvSpPr txBox="1"/>
          <p:nvPr/>
        </p:nvSpPr>
        <p:spPr>
          <a:xfrm>
            <a:off x="594360" y="4617720"/>
            <a:ext cx="6629400" cy="1097280"/>
          </a:xfrm>
          <a:prstGeom prst="rect">
            <a:avLst/>
          </a:prstGeom>
          <a:noFill/>
        </p:spPr>
        <p:txBody>
          <a:bodyPr wrap="none" lIns="0" rIns="0" tIns="0" bIns="0" anchor="t">
            <a:spAutoFit/>
          </a:bodyPr>
          <a:lstStyle/>
          <a:p>
            <a:pPr>
              <a:lnSpc>
                <a:spcPts val="2713"/>
              </a:lnSpc>
              <a:spcBef>
                <a:spcPts val="0"/>
              </a:spcBef>
              <a:spcAft>
                <a:spcPts val="0"/>
              </a:spcAft>
              <a:defRPr sz="2300" b="0">
                <a:solidFill>
                  <a:srgbClr val="F7F5EF"/>
                </a:solidFill>
                <a:latin typeface="Inter"/>
              </a:defRPr>
            </a:pPr>
            <a:r>
              <a:rPr lang="de-DE"/>
              <a:t>Konkrete Unterstützung für den Kita-Alltag</a:t>
            </a:r>
          </a:p>
        </p:txBody>
      </p:sp>
    </p:spTree>
  </p:cSld>
  <p:clrMapOvr>
    <a:masterClrMapping/>
  </p:clrMapOvr>
  <p:transition spd="fast" advClick="1">
    <p:fade/>
  </p:transition>
</p:sld>
</file>

<file path=ppt/slides/slide68.xml><?xml version="1.0" encoding="utf-8"?>
<p:sld xmlns:a="http://schemas.openxmlformats.org/drawingml/2006/main" xmlns:p="http://schemas.openxmlformats.org/presentationml/2006/main" xmlns:r="http://schemas.openxmlformats.org/officeDocument/2006/relationships" showMasterSp="1">
  <p:cSld>
    <p:bg>
      <p:bgPr>
        <a:solidFill>
          <a:srgbClr val="F7F5EF"/>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68</a:t>
            </a:r>
          </a:p>
        </p:txBody>
      </p:sp>
      <p:sp>
        <p:nvSpPr>
          <p:cNvPr id="3" name="Text 2"/>
          <p:cNvSpPr txBox="1"/>
          <p:nvPr/>
        </p:nvSpPr>
        <p:spPr>
          <a:xfrm>
            <a:off x="594360" y="393192"/>
            <a:ext cx="10881360" cy="203644"/>
          </a:xfrm>
          <a:prstGeom prst="rect">
            <a:avLst/>
          </a:prstGeom>
          <a:noFill/>
        </p:spPr>
        <p:txBody>
          <a:bodyPr wrap="none" lIns="0" rIns="0" tIns="0" bIns="0" anchor="t">
            <a:spAutoFit/>
          </a:bodyPr>
          <a:lstStyle/>
          <a:p>
            <a:pPr>
              <a:lnSpc>
                <a:spcPts val="1207"/>
              </a:lnSpc>
              <a:spcBef>
                <a:spcPts val="0"/>
              </a:spcBef>
              <a:spcAft>
                <a:spcPts val="0"/>
              </a:spcAft>
              <a:defRPr sz="1150" b="1">
                <a:solidFill>
                  <a:srgbClr val="234B42"/>
                </a:solidFill>
                <a:latin typeface="Inter"/>
              </a:defRPr>
            </a:pPr>
            <a:r>
              <a:rPr lang="de-DE"/>
              <a:t>NACHMITTAG · 120 MINUTEN</a:t>
            </a:r>
          </a:p>
        </p:txBody>
      </p:sp>
      <p:sp>
        <p:nvSpPr>
          <p:cNvPr id="4" name="Text 3"/>
          <p:cNvSpPr txBox="1"/>
          <p:nvPr/>
        </p:nvSpPr>
        <p:spPr>
          <a:xfrm>
            <a:off x="594360" y="804672"/>
            <a:ext cx="10991088"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Der Nachmittag im Überblick</a:t>
            </a:r>
          </a:p>
        </p:txBody>
      </p:sp>
      <p:sp>
        <p:nvSpPr>
          <p:cNvPr id="5" name="Text 4"/>
          <p:cNvSpPr txBox="1"/>
          <p:nvPr/>
        </p:nvSpPr>
        <p:spPr>
          <a:xfrm>
            <a:off x="777240" y="1644396"/>
            <a:ext cx="3063240" cy="245110"/>
          </a:xfrm>
          <a:prstGeom prst="rect">
            <a:avLst/>
          </a:prstGeom>
          <a:noFill/>
        </p:spPr>
        <p:txBody>
          <a:bodyPr wrap="none" lIns="0" rIns="0" tIns="0" bIns="0" anchor="t">
            <a:spAutoFit/>
          </a:bodyPr>
          <a:lstStyle/>
          <a:p>
            <a:pPr>
              <a:lnSpc>
                <a:spcPts val="1534"/>
              </a:lnSpc>
              <a:spcBef>
                <a:spcPts val="0"/>
              </a:spcBef>
              <a:spcAft>
                <a:spcPts val="0"/>
              </a:spcAft>
              <a:defRPr sz="1300" b="1">
                <a:solidFill>
                  <a:srgbClr val="63736A"/>
                </a:solidFill>
                <a:latin typeface="Inter"/>
              </a:defRPr>
            </a:pPr>
            <a:r>
              <a:rPr lang="de-DE"/>
              <a:t>Phase</a:t>
            </a:r>
          </a:p>
        </p:txBody>
      </p:sp>
      <p:sp>
        <p:nvSpPr>
          <p:cNvPr id="6" name="Text 5"/>
          <p:cNvSpPr txBox="1"/>
          <p:nvPr/>
        </p:nvSpPr>
        <p:spPr>
          <a:xfrm>
            <a:off x="4050791" y="1644396"/>
            <a:ext cx="1417320" cy="245110"/>
          </a:xfrm>
          <a:prstGeom prst="rect">
            <a:avLst/>
          </a:prstGeom>
          <a:noFill/>
        </p:spPr>
        <p:txBody>
          <a:bodyPr wrap="none" lIns="0" rIns="0" tIns="0" bIns="0" anchor="t">
            <a:spAutoFit/>
          </a:bodyPr>
          <a:lstStyle/>
          <a:p>
            <a:pPr>
              <a:lnSpc>
                <a:spcPts val="1534"/>
              </a:lnSpc>
              <a:spcBef>
                <a:spcPts val="0"/>
              </a:spcBef>
              <a:spcAft>
                <a:spcPts val="0"/>
              </a:spcAft>
              <a:defRPr sz="1300" b="1">
                <a:solidFill>
                  <a:srgbClr val="63736A"/>
                </a:solidFill>
                <a:latin typeface="Inter"/>
              </a:defRPr>
            </a:pPr>
            <a:r>
              <a:rPr lang="de-DE"/>
              <a:t>Dauer</a:t>
            </a:r>
          </a:p>
        </p:txBody>
      </p:sp>
      <p:sp>
        <p:nvSpPr>
          <p:cNvPr id="7" name="Text 6"/>
          <p:cNvSpPr txBox="1"/>
          <p:nvPr/>
        </p:nvSpPr>
        <p:spPr>
          <a:xfrm>
            <a:off x="5705856" y="1644396"/>
            <a:ext cx="5623560" cy="245110"/>
          </a:xfrm>
          <a:prstGeom prst="rect">
            <a:avLst/>
          </a:prstGeom>
          <a:noFill/>
        </p:spPr>
        <p:txBody>
          <a:bodyPr wrap="none" lIns="0" rIns="0" tIns="0" bIns="0" anchor="t">
            <a:spAutoFit/>
          </a:bodyPr>
          <a:lstStyle/>
          <a:p>
            <a:pPr>
              <a:lnSpc>
                <a:spcPts val="1534"/>
              </a:lnSpc>
              <a:spcBef>
                <a:spcPts val="0"/>
              </a:spcBef>
              <a:spcAft>
                <a:spcPts val="0"/>
              </a:spcAft>
              <a:defRPr sz="1300" b="1">
                <a:solidFill>
                  <a:srgbClr val="63736A"/>
                </a:solidFill>
                <a:latin typeface="Inter"/>
              </a:defRPr>
            </a:pPr>
            <a:r>
              <a:rPr lang="de-DE"/>
              <a:t>Ergebnis</a:t>
            </a:r>
          </a:p>
        </p:txBody>
      </p:sp>
      <p:sp>
        <p:nvSpPr>
          <p:cNvPr id="8" name="Rectangle 7"/>
          <p:cNvSpPr/>
          <p:nvPr/>
        </p:nvSpPr>
        <p:spPr>
          <a:xfrm>
            <a:off x="594360" y="2037588"/>
            <a:ext cx="11000232" cy="8321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8"/>
          <p:cNvSpPr txBox="1"/>
          <p:nvPr/>
        </p:nvSpPr>
        <p:spPr>
          <a:xfrm>
            <a:off x="777240" y="2156460"/>
            <a:ext cx="3063240" cy="357504"/>
          </a:xfrm>
          <a:prstGeom prst="rect">
            <a:avLst/>
          </a:prstGeom>
          <a:noFill/>
        </p:spPr>
        <p:txBody>
          <a:bodyPr wrap="none" lIns="0" rIns="0" tIns="0" bIns="0" anchor="t">
            <a:spAutoFit/>
          </a:bodyPr>
          <a:lstStyle/>
          <a:p>
            <a:pPr>
              <a:lnSpc>
                <a:spcPts val="2419"/>
              </a:lnSpc>
              <a:spcBef>
                <a:spcPts val="0"/>
              </a:spcBef>
              <a:spcAft>
                <a:spcPts val="0"/>
              </a:spcAft>
              <a:defRPr sz="2050" b="1">
                <a:solidFill>
                  <a:srgbClr val="234B42"/>
                </a:solidFill>
                <a:latin typeface="Inter"/>
              </a:defRPr>
            </a:pPr>
            <a:r>
              <a:rPr lang="de-DE"/>
              <a:t>Einführung</a:t>
            </a:r>
          </a:p>
        </p:txBody>
      </p:sp>
      <p:sp>
        <p:nvSpPr>
          <p:cNvPr id="10" name="Text 9"/>
          <p:cNvSpPr txBox="1"/>
          <p:nvPr/>
        </p:nvSpPr>
        <p:spPr>
          <a:xfrm>
            <a:off x="4050791" y="2156460"/>
            <a:ext cx="1417320" cy="357504"/>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34B42"/>
                </a:solidFill>
                <a:latin typeface="Inter"/>
              </a:defRPr>
            </a:pPr>
            <a:r>
              <a:rPr lang="de-DE"/>
              <a:t>10 Min</a:t>
            </a:r>
          </a:p>
        </p:txBody>
      </p:sp>
      <p:sp>
        <p:nvSpPr>
          <p:cNvPr id="11" name="Text 10"/>
          <p:cNvSpPr txBox="1"/>
          <p:nvPr/>
        </p:nvSpPr>
        <p:spPr>
          <a:xfrm>
            <a:off x="5705856" y="2156460"/>
            <a:ext cx="5623560" cy="357504"/>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34B42"/>
                </a:solidFill>
                <a:latin typeface="Inter"/>
              </a:defRPr>
            </a:pPr>
            <a:r>
              <a:rPr lang="de-DE"/>
              <a:t>Gruppen, Rollen und Fallauswahl</a:t>
            </a:r>
          </a:p>
        </p:txBody>
      </p:sp>
      <p:sp>
        <p:nvSpPr>
          <p:cNvPr id="12" name="Rectangle 11"/>
          <p:cNvSpPr/>
          <p:nvPr/>
        </p:nvSpPr>
        <p:spPr>
          <a:xfrm>
            <a:off x="594360" y="2924556"/>
            <a:ext cx="11000232" cy="832104"/>
          </a:xfrm>
          <a:prstGeom prst="rect">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12"/>
          <p:cNvSpPr txBox="1"/>
          <p:nvPr/>
        </p:nvSpPr>
        <p:spPr>
          <a:xfrm>
            <a:off x="777240" y="3043428"/>
            <a:ext cx="3063240" cy="357504"/>
          </a:xfrm>
          <a:prstGeom prst="rect">
            <a:avLst/>
          </a:prstGeom>
          <a:noFill/>
        </p:spPr>
        <p:txBody>
          <a:bodyPr wrap="none" lIns="0" rIns="0" tIns="0" bIns="0" anchor="t">
            <a:spAutoFit/>
          </a:bodyPr>
          <a:lstStyle/>
          <a:p>
            <a:pPr>
              <a:lnSpc>
                <a:spcPts val="2419"/>
              </a:lnSpc>
              <a:spcBef>
                <a:spcPts val="0"/>
              </a:spcBef>
              <a:spcAft>
                <a:spcPts val="0"/>
              </a:spcAft>
              <a:defRPr sz="2050" b="1">
                <a:solidFill>
                  <a:srgbClr val="234B42"/>
                </a:solidFill>
                <a:latin typeface="Inter"/>
              </a:defRPr>
            </a:pPr>
            <a:r>
              <a:rPr lang="de-DE"/>
              <a:t>Fallbesprechung</a:t>
            </a:r>
          </a:p>
        </p:txBody>
      </p:sp>
      <p:sp>
        <p:nvSpPr>
          <p:cNvPr id="14" name="Text 13"/>
          <p:cNvSpPr txBox="1"/>
          <p:nvPr/>
        </p:nvSpPr>
        <p:spPr>
          <a:xfrm>
            <a:off x="4050791" y="3043428"/>
            <a:ext cx="1417320" cy="357504"/>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34B42"/>
                </a:solidFill>
                <a:latin typeface="Inter"/>
              </a:defRPr>
            </a:pPr>
            <a:r>
              <a:rPr lang="de-DE"/>
              <a:t>55 Min</a:t>
            </a:r>
          </a:p>
        </p:txBody>
      </p:sp>
      <p:sp>
        <p:nvSpPr>
          <p:cNvPr id="15" name="Text 14"/>
          <p:cNvSpPr txBox="1"/>
          <p:nvPr/>
        </p:nvSpPr>
        <p:spPr>
          <a:xfrm>
            <a:off x="5705856" y="3043428"/>
            <a:ext cx="5623560" cy="357504"/>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34B42"/>
                </a:solidFill>
                <a:latin typeface="Inter"/>
              </a:defRPr>
            </a:pPr>
            <a:r>
              <a:rPr lang="de-DE"/>
              <a:t>Zwei konkrete Unterstützungsschritte</a:t>
            </a:r>
          </a:p>
        </p:txBody>
      </p:sp>
      <p:sp>
        <p:nvSpPr>
          <p:cNvPr id="16" name="Rectangle 15"/>
          <p:cNvSpPr/>
          <p:nvPr/>
        </p:nvSpPr>
        <p:spPr>
          <a:xfrm>
            <a:off x="594360" y="3811523"/>
            <a:ext cx="11000232" cy="8321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16"/>
          <p:cNvSpPr txBox="1"/>
          <p:nvPr/>
        </p:nvSpPr>
        <p:spPr>
          <a:xfrm>
            <a:off x="777240" y="3930395"/>
            <a:ext cx="3063240" cy="357504"/>
          </a:xfrm>
          <a:prstGeom prst="rect">
            <a:avLst/>
          </a:prstGeom>
          <a:noFill/>
        </p:spPr>
        <p:txBody>
          <a:bodyPr wrap="none" lIns="0" rIns="0" tIns="0" bIns="0" anchor="t">
            <a:spAutoFit/>
          </a:bodyPr>
          <a:lstStyle/>
          <a:p>
            <a:pPr>
              <a:lnSpc>
                <a:spcPts val="2419"/>
              </a:lnSpc>
              <a:spcBef>
                <a:spcPts val="0"/>
              </a:spcBef>
              <a:spcAft>
                <a:spcPts val="0"/>
              </a:spcAft>
              <a:defRPr sz="2050" b="1">
                <a:solidFill>
                  <a:srgbClr val="234B42"/>
                </a:solidFill>
                <a:latin typeface="Inter"/>
              </a:defRPr>
            </a:pPr>
            <a:r>
              <a:rPr lang="de-DE"/>
              <a:t>Ergebnisaustausch</a:t>
            </a:r>
          </a:p>
        </p:txBody>
      </p:sp>
      <p:sp>
        <p:nvSpPr>
          <p:cNvPr id="18" name="Text 17"/>
          <p:cNvSpPr txBox="1"/>
          <p:nvPr/>
        </p:nvSpPr>
        <p:spPr>
          <a:xfrm>
            <a:off x="4050791" y="3930395"/>
            <a:ext cx="1417320" cy="357504"/>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34B42"/>
                </a:solidFill>
                <a:latin typeface="Inter"/>
              </a:defRPr>
            </a:pPr>
            <a:r>
              <a:rPr lang="de-DE"/>
              <a:t>30 Min</a:t>
            </a:r>
          </a:p>
        </p:txBody>
      </p:sp>
      <p:sp>
        <p:nvSpPr>
          <p:cNvPr id="19" name="Text 18"/>
          <p:cNvSpPr txBox="1"/>
          <p:nvPr/>
        </p:nvSpPr>
        <p:spPr>
          <a:xfrm>
            <a:off x="5705856" y="3930395"/>
            <a:ext cx="5623560" cy="357504"/>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34B42"/>
                </a:solidFill>
                <a:latin typeface="Inter"/>
              </a:defRPr>
            </a:pPr>
            <a:r>
              <a:rPr lang="de-DE"/>
              <a:t>Übertragbare Ideen und offene Fragen</a:t>
            </a:r>
          </a:p>
        </p:txBody>
      </p:sp>
      <p:sp>
        <p:nvSpPr>
          <p:cNvPr id="20" name="Rectangle 19"/>
          <p:cNvSpPr/>
          <p:nvPr/>
        </p:nvSpPr>
        <p:spPr>
          <a:xfrm>
            <a:off x="594360" y="4698491"/>
            <a:ext cx="11000232" cy="832104"/>
          </a:xfrm>
          <a:prstGeom prst="rect">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 20"/>
          <p:cNvSpPr txBox="1"/>
          <p:nvPr/>
        </p:nvSpPr>
        <p:spPr>
          <a:xfrm>
            <a:off x="777240" y="4817363"/>
            <a:ext cx="3063240" cy="357504"/>
          </a:xfrm>
          <a:prstGeom prst="rect">
            <a:avLst/>
          </a:prstGeom>
          <a:noFill/>
        </p:spPr>
        <p:txBody>
          <a:bodyPr wrap="none" lIns="0" rIns="0" tIns="0" bIns="0" anchor="t">
            <a:spAutoFit/>
          </a:bodyPr>
          <a:lstStyle/>
          <a:p>
            <a:pPr>
              <a:lnSpc>
                <a:spcPts val="2419"/>
              </a:lnSpc>
              <a:spcBef>
                <a:spcPts val="0"/>
              </a:spcBef>
              <a:spcAft>
                <a:spcPts val="0"/>
              </a:spcAft>
              <a:defRPr sz="2050" b="1">
                <a:solidFill>
                  <a:srgbClr val="234B42"/>
                </a:solidFill>
                <a:latin typeface="Inter"/>
              </a:defRPr>
            </a:pPr>
            <a:r>
              <a:rPr lang="de-DE"/>
              <a:t>Transfer und Abschluss</a:t>
            </a:r>
          </a:p>
        </p:txBody>
      </p:sp>
      <p:sp>
        <p:nvSpPr>
          <p:cNvPr id="22" name="Text 21"/>
          <p:cNvSpPr txBox="1"/>
          <p:nvPr/>
        </p:nvSpPr>
        <p:spPr>
          <a:xfrm>
            <a:off x="4050791" y="4817363"/>
            <a:ext cx="1417320" cy="357504"/>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34B42"/>
                </a:solidFill>
                <a:latin typeface="Inter"/>
              </a:defRPr>
            </a:pPr>
            <a:r>
              <a:rPr lang="de-DE"/>
              <a:t>25 Min</a:t>
            </a:r>
          </a:p>
        </p:txBody>
      </p:sp>
      <p:sp>
        <p:nvSpPr>
          <p:cNvPr id="23" name="Text 22"/>
          <p:cNvSpPr txBox="1"/>
          <p:nvPr/>
        </p:nvSpPr>
        <p:spPr>
          <a:xfrm>
            <a:off x="5705856" y="4817363"/>
            <a:ext cx="5623560" cy="357504"/>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34B42"/>
                </a:solidFill>
                <a:latin typeface="Inter"/>
              </a:defRPr>
            </a:pPr>
            <a:r>
              <a:rPr lang="de-DE"/>
              <a:t>Ein eigener nächster Schritt</a:t>
            </a:r>
          </a:p>
        </p:txBody>
      </p:sp>
    </p:spTree>
  </p:cSld>
  <p:clrMapOvr>
    <a:masterClrMapping/>
  </p:clrMapOvr>
  <p:transition spd="fast" advClick="1">
    <p:fade/>
  </p:transition>
</p:sld>
</file>

<file path=ppt/slides/slide69.xml><?xml version="1.0" encoding="utf-8"?>
<p:sld xmlns:a="http://schemas.openxmlformats.org/drawingml/2006/main" xmlns:p="http://schemas.openxmlformats.org/presentationml/2006/main" xmlns:r="http://schemas.openxmlformats.org/officeDocument/2006/relationships" showMasterSp="1">
  <p:cSld>
    <p:bg>
      <p:bgPr>
        <a:solidFill>
          <a:srgbClr val="E5BD70"/>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69</a:t>
            </a:r>
          </a:p>
        </p:txBody>
      </p:sp>
      <p:sp>
        <p:nvSpPr>
          <p:cNvPr id="3" name="Rounded Rectangle 2"/>
          <p:cNvSpPr/>
          <p:nvPr/>
        </p:nvSpPr>
        <p:spPr>
          <a:xfrm>
            <a:off x="9646920" y="384048"/>
            <a:ext cx="1947672" cy="1280160"/>
          </a:xfrm>
          <a:prstGeom prst="roundRect">
            <a:avLst>
              <a:gd name="adj" fmla="val 6500"/>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3"/>
          <p:cNvSpPr txBox="1"/>
          <p:nvPr/>
        </p:nvSpPr>
        <p:spPr>
          <a:xfrm>
            <a:off x="9829800" y="493776"/>
            <a:ext cx="1572768" cy="634746"/>
          </a:xfrm>
          <a:prstGeom prst="rect">
            <a:avLst/>
          </a:prstGeom>
          <a:noFill/>
        </p:spPr>
        <p:txBody>
          <a:bodyPr wrap="none" lIns="0" rIns="0" tIns="0" bIns="0" anchor="t">
            <a:spAutoFit/>
          </a:bodyPr>
          <a:lstStyle/>
          <a:p>
            <a:pPr algn="ctr">
              <a:lnSpc>
                <a:spcPts val="4602"/>
              </a:lnSpc>
              <a:spcBef>
                <a:spcPts val="0"/>
              </a:spcBef>
              <a:spcAft>
                <a:spcPts val="0"/>
              </a:spcAft>
              <a:defRPr sz="3900" b="1">
                <a:solidFill>
                  <a:srgbClr val="F7F5EF"/>
                </a:solidFill>
                <a:latin typeface="Manrope"/>
              </a:defRPr>
            </a:pPr>
            <a:r>
              <a:rPr lang="de-DE"/>
              <a:t>10</a:t>
            </a:r>
          </a:p>
        </p:txBody>
      </p:sp>
      <p:sp>
        <p:nvSpPr>
          <p:cNvPr id="5" name="Text 4"/>
          <p:cNvSpPr txBox="1"/>
          <p:nvPr/>
        </p:nvSpPr>
        <p:spPr>
          <a:xfrm>
            <a:off x="9829800" y="1161288"/>
            <a:ext cx="1572768" cy="215137"/>
          </a:xfrm>
          <a:prstGeom prst="rect">
            <a:avLst/>
          </a:prstGeom>
          <a:noFill/>
        </p:spPr>
        <p:txBody>
          <a:bodyPr wrap="none" lIns="0" rIns="0" tIns="0" bIns="0" anchor="t">
            <a:spAutoFit/>
          </a:bodyPr>
          <a:lstStyle/>
          <a:p>
            <a:pPr algn="ctr">
              <a:lnSpc>
                <a:spcPts val="1297"/>
              </a:lnSpc>
              <a:spcBef>
                <a:spcPts val="0"/>
              </a:spcBef>
              <a:spcAft>
                <a:spcPts val="0"/>
              </a:spcAft>
              <a:defRPr sz="1100" b="1">
                <a:solidFill>
                  <a:srgbClr val="F7F5EF"/>
                </a:solidFill>
                <a:latin typeface="Inter"/>
              </a:defRPr>
            </a:pPr>
            <a:r>
              <a:rPr lang="de-DE"/>
              <a:t>MINUTEN</a:t>
            </a:r>
          </a:p>
        </p:txBody>
      </p:sp>
      <p:sp>
        <p:nvSpPr>
          <p:cNvPr id="6" name="Text 5"/>
          <p:cNvSpPr txBox="1"/>
          <p:nvPr/>
        </p:nvSpPr>
        <p:spPr>
          <a:xfrm>
            <a:off x="594360" y="393192"/>
            <a:ext cx="8686800" cy="222630"/>
          </a:xfrm>
          <a:prstGeom prst="rect">
            <a:avLst/>
          </a:prstGeom>
          <a:noFill/>
        </p:spPr>
        <p:txBody>
          <a:bodyPr wrap="none" lIns="0" rIns="0" tIns="0" bIns="0" anchor="t">
            <a:spAutoFit/>
          </a:bodyPr>
          <a:lstStyle/>
          <a:p>
            <a:pPr>
              <a:lnSpc>
                <a:spcPts val="1356"/>
              </a:lnSpc>
              <a:spcBef>
                <a:spcPts val="0"/>
              </a:spcBef>
              <a:spcAft>
                <a:spcPts val="0"/>
              </a:spcAft>
              <a:defRPr sz="1150" b="1">
                <a:solidFill>
                  <a:srgbClr val="234B42"/>
                </a:solidFill>
                <a:latin typeface="Inter"/>
              </a:defRPr>
            </a:pPr>
            <a:r>
              <a:rPr lang="de-DE"/>
              <a:t>FALLARBEIT · EINFÜHRUNG</a:t>
            </a:r>
          </a:p>
        </p:txBody>
      </p:sp>
      <p:sp>
        <p:nvSpPr>
          <p:cNvPr id="7" name="Text 6"/>
          <p:cNvSpPr txBox="1"/>
          <p:nvPr/>
        </p:nvSpPr>
        <p:spPr>
          <a:xfrm>
            <a:off x="594360" y="804672"/>
            <a:ext cx="8503920"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Auftrag für die Kleingruppen</a:t>
            </a:r>
          </a:p>
        </p:txBody>
      </p:sp>
      <p:sp>
        <p:nvSpPr>
          <p:cNvPr id="8" name="Text 7"/>
          <p:cNvSpPr txBox="1"/>
          <p:nvPr/>
        </p:nvSpPr>
        <p:spPr>
          <a:xfrm>
            <a:off x="594360" y="1470659"/>
            <a:ext cx="8458200" cy="282574"/>
          </a:xfrm>
          <a:prstGeom prst="rect">
            <a:avLst/>
          </a:prstGeom>
          <a:noFill/>
        </p:spPr>
        <p:txBody>
          <a:bodyPr wrap="none" lIns="0" rIns="0" tIns="0" bIns="0" anchor="t">
            <a:spAutoFit/>
          </a:bodyPr>
          <a:lstStyle/>
          <a:p>
            <a:pPr>
              <a:lnSpc>
                <a:spcPts val="1829"/>
              </a:lnSpc>
              <a:spcBef>
                <a:spcPts val="0"/>
              </a:spcBef>
              <a:spcAft>
                <a:spcPts val="0"/>
              </a:spcAft>
              <a:defRPr sz="1550" b="1">
                <a:solidFill>
                  <a:srgbClr val="234B42"/>
                </a:solidFill>
                <a:latin typeface="Inter"/>
              </a:defRPr>
            </a:pPr>
            <a:r>
              <a:rPr lang="de-DE"/>
              <a:t>Kleingruppen · 4–6 Personen</a:t>
            </a:r>
          </a:p>
        </p:txBody>
      </p:sp>
      <p:sp>
        <p:nvSpPr>
          <p:cNvPr id="9" name="Text 8"/>
          <p:cNvSpPr txBox="1"/>
          <p:nvPr/>
        </p:nvSpPr>
        <p:spPr>
          <a:xfrm>
            <a:off x="9628632" y="1673352"/>
            <a:ext cx="2011680" cy="215137"/>
          </a:xfrm>
          <a:prstGeom prst="rect">
            <a:avLst/>
          </a:prstGeom>
          <a:noFill/>
        </p:spPr>
        <p:txBody>
          <a:bodyPr wrap="none" lIns="0" rIns="0" tIns="0" bIns="0" anchor="t">
            <a:spAutoFit/>
          </a:bodyPr>
          <a:lstStyle/>
          <a:p>
            <a:pPr algn="ctr">
              <a:lnSpc>
                <a:spcPts val="1297"/>
              </a:lnSpc>
              <a:spcBef>
                <a:spcPts val="0"/>
              </a:spcBef>
              <a:spcAft>
                <a:spcPts val="0"/>
              </a:spcAft>
              <a:defRPr sz="1100" b="0">
                <a:solidFill>
                  <a:srgbClr val="234B42"/>
                </a:solidFill>
                <a:latin typeface="Inter"/>
              </a:defRPr>
            </a:pPr>
            <a:r>
              <a:rPr lang="de-DE"/>
              <a:t>10 Minuten Einführung</a:t>
            </a:r>
          </a:p>
        </p:txBody>
      </p:sp>
      <p:sp>
        <p:nvSpPr>
          <p:cNvPr id="10" name="Rounded Rectangle 9"/>
          <p:cNvSpPr/>
          <p:nvPr/>
        </p:nvSpPr>
        <p:spPr>
          <a:xfrm>
            <a:off x="594360" y="1965960"/>
            <a:ext cx="5385816" cy="1623060"/>
          </a:xfrm>
          <a:prstGeom prst="roundRect">
            <a:avLst>
              <a:gd name="adj" fmla="val 6500"/>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10"/>
          <p:cNvSpPr txBox="1"/>
          <p:nvPr/>
        </p:nvSpPr>
        <p:spPr>
          <a:xfrm>
            <a:off x="841248" y="2130552"/>
            <a:ext cx="4892040" cy="290067"/>
          </a:xfrm>
          <a:prstGeom prst="rect">
            <a:avLst/>
          </a:prstGeom>
          <a:noFill/>
        </p:spPr>
        <p:txBody>
          <a:bodyPr wrap="none" lIns="0" rIns="0" tIns="0" bIns="0" anchor="t">
            <a:spAutoFit/>
          </a:bodyPr>
          <a:lstStyle/>
          <a:p>
            <a:pPr>
              <a:lnSpc>
                <a:spcPts val="1888"/>
              </a:lnSpc>
              <a:spcBef>
                <a:spcPts val="0"/>
              </a:spcBef>
              <a:spcAft>
                <a:spcPts val="0"/>
              </a:spcAft>
              <a:defRPr sz="1600" b="1">
                <a:solidFill>
                  <a:srgbClr val="234B42"/>
                </a:solidFill>
                <a:latin typeface="Manrope"/>
              </a:defRPr>
            </a:pPr>
            <a:r>
              <a:rPr lang="de-DE"/>
              <a:t>Gruppe bilden</a:t>
            </a:r>
          </a:p>
        </p:txBody>
      </p:sp>
      <p:sp>
        <p:nvSpPr>
          <p:cNvPr id="12" name="Text 11"/>
          <p:cNvSpPr txBox="1"/>
          <p:nvPr/>
        </p:nvSpPr>
        <p:spPr>
          <a:xfrm>
            <a:off x="841248" y="2502916"/>
            <a:ext cx="4892040" cy="976376"/>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6332F"/>
                </a:solidFill>
                <a:latin typeface="Inter"/>
              </a:defRPr>
            </a:pPr>
            <a:r>
              <a:rPr lang="de-DE"/>
              <a:t>Gruppen mit vier bis sechs Personen</a:t>
            </a:r>
          </a:p>
          <a:p>
            <a:pPr>
              <a:lnSpc>
                <a:spcPts val="2419"/>
              </a:lnSpc>
              <a:spcBef>
                <a:spcPts val="0"/>
              </a:spcBef>
              <a:spcAft>
                <a:spcPts val="0"/>
              </a:spcAft>
              <a:defRPr sz="2050" b="0">
                <a:solidFill>
                  <a:srgbClr val="26332F"/>
                </a:solidFill>
                <a:latin typeface="Inter"/>
              </a:defRPr>
            </a:pPr>
            <a:r>
              <a:rPr lang="de-DE"/>
              <a:t>bilden</a:t>
            </a:r>
          </a:p>
        </p:txBody>
      </p:sp>
      <p:sp>
        <p:nvSpPr>
          <p:cNvPr id="13" name="Rounded Rectangle 12"/>
          <p:cNvSpPr/>
          <p:nvPr/>
        </p:nvSpPr>
        <p:spPr>
          <a:xfrm>
            <a:off x="6208776" y="1965960"/>
            <a:ext cx="5385816" cy="1623060"/>
          </a:xfrm>
          <a:prstGeom prst="roundRect">
            <a:avLst>
              <a:gd name="adj" fmla="val 6500"/>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13"/>
          <p:cNvSpPr txBox="1"/>
          <p:nvPr/>
        </p:nvSpPr>
        <p:spPr>
          <a:xfrm>
            <a:off x="6455664" y="2130552"/>
            <a:ext cx="4892040" cy="290067"/>
          </a:xfrm>
          <a:prstGeom prst="rect">
            <a:avLst/>
          </a:prstGeom>
          <a:noFill/>
        </p:spPr>
        <p:txBody>
          <a:bodyPr wrap="none" lIns="0" rIns="0" tIns="0" bIns="0" anchor="t">
            <a:spAutoFit/>
          </a:bodyPr>
          <a:lstStyle/>
          <a:p>
            <a:pPr>
              <a:lnSpc>
                <a:spcPts val="1888"/>
              </a:lnSpc>
              <a:spcBef>
                <a:spcPts val="0"/>
              </a:spcBef>
              <a:spcAft>
                <a:spcPts val="0"/>
              </a:spcAft>
              <a:defRPr sz="1600" b="1">
                <a:solidFill>
                  <a:srgbClr val="234B42"/>
                </a:solidFill>
                <a:latin typeface="Manrope"/>
              </a:defRPr>
            </a:pPr>
            <a:r>
              <a:rPr lang="de-DE"/>
              <a:t>Fall auswählen</a:t>
            </a:r>
          </a:p>
        </p:txBody>
      </p:sp>
      <p:sp>
        <p:nvSpPr>
          <p:cNvPr id="15" name="Text 14"/>
          <p:cNvSpPr txBox="1"/>
          <p:nvPr/>
        </p:nvSpPr>
        <p:spPr>
          <a:xfrm>
            <a:off x="6455664" y="2502916"/>
            <a:ext cx="4892040" cy="976376"/>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6332F"/>
                </a:solidFill>
                <a:latin typeface="Inter"/>
              </a:defRPr>
            </a:pPr>
            <a:r>
              <a:rPr lang="de-DE"/>
              <a:t>Einen anonymisierten eigenen oder einen</a:t>
            </a:r>
          </a:p>
          <a:p>
            <a:pPr>
              <a:lnSpc>
                <a:spcPts val="2419"/>
              </a:lnSpc>
              <a:spcBef>
                <a:spcPts val="0"/>
              </a:spcBef>
              <a:spcAft>
                <a:spcPts val="0"/>
              </a:spcAft>
              <a:defRPr sz="2050" b="0">
                <a:solidFill>
                  <a:srgbClr val="26332F"/>
                </a:solidFill>
                <a:latin typeface="Inter"/>
              </a:defRPr>
            </a:pPr>
            <a:r>
              <a:rPr lang="de-DE"/>
              <a:t>fiktiven Fall auswählen</a:t>
            </a:r>
          </a:p>
        </p:txBody>
      </p:sp>
      <p:sp>
        <p:nvSpPr>
          <p:cNvPr id="16" name="Rounded Rectangle 15"/>
          <p:cNvSpPr/>
          <p:nvPr/>
        </p:nvSpPr>
        <p:spPr>
          <a:xfrm>
            <a:off x="594360" y="3817620"/>
            <a:ext cx="5385816" cy="1623060"/>
          </a:xfrm>
          <a:prstGeom prst="roundRect">
            <a:avLst>
              <a:gd name="adj" fmla="val 6500"/>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16"/>
          <p:cNvSpPr txBox="1"/>
          <p:nvPr/>
        </p:nvSpPr>
        <p:spPr>
          <a:xfrm>
            <a:off x="841248" y="3982212"/>
            <a:ext cx="4892040" cy="290067"/>
          </a:xfrm>
          <a:prstGeom prst="rect">
            <a:avLst/>
          </a:prstGeom>
          <a:noFill/>
        </p:spPr>
        <p:txBody>
          <a:bodyPr wrap="none" lIns="0" rIns="0" tIns="0" bIns="0" anchor="t">
            <a:spAutoFit/>
          </a:bodyPr>
          <a:lstStyle/>
          <a:p>
            <a:pPr>
              <a:lnSpc>
                <a:spcPts val="1888"/>
              </a:lnSpc>
              <a:spcBef>
                <a:spcPts val="0"/>
              </a:spcBef>
              <a:spcAft>
                <a:spcPts val="0"/>
              </a:spcAft>
              <a:defRPr sz="1600" b="1">
                <a:solidFill>
                  <a:srgbClr val="234B42"/>
                </a:solidFill>
                <a:latin typeface="Manrope"/>
              </a:defRPr>
            </a:pPr>
            <a:r>
              <a:rPr lang="de-DE"/>
              <a:t>Rollen verteilen</a:t>
            </a:r>
          </a:p>
        </p:txBody>
      </p:sp>
      <p:sp>
        <p:nvSpPr>
          <p:cNvPr id="18" name="Text 17"/>
          <p:cNvSpPr txBox="1"/>
          <p:nvPr/>
        </p:nvSpPr>
        <p:spPr>
          <a:xfrm>
            <a:off x="841248" y="4354576"/>
            <a:ext cx="4892040" cy="976376"/>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6332F"/>
                </a:solidFill>
                <a:latin typeface="Inter"/>
              </a:defRPr>
            </a:pPr>
            <a:r>
              <a:rPr lang="de-DE"/>
              <a:t>Moderation, Zeitwache, Fallgebende und</a:t>
            </a:r>
          </a:p>
          <a:p>
            <a:pPr>
              <a:lnSpc>
                <a:spcPts val="2419"/>
              </a:lnSpc>
              <a:spcBef>
                <a:spcPts val="0"/>
              </a:spcBef>
              <a:spcAft>
                <a:spcPts val="0"/>
              </a:spcAft>
              <a:defRPr sz="2050" b="0">
                <a:solidFill>
                  <a:srgbClr val="26332F"/>
                </a:solidFill>
                <a:latin typeface="Inter"/>
              </a:defRPr>
            </a:pPr>
            <a:r>
              <a:rPr lang="de-DE"/>
              <a:t>Dokumentation verteilen</a:t>
            </a:r>
          </a:p>
        </p:txBody>
      </p:sp>
      <p:sp>
        <p:nvSpPr>
          <p:cNvPr id="19" name="Rounded Rectangle 18"/>
          <p:cNvSpPr/>
          <p:nvPr/>
        </p:nvSpPr>
        <p:spPr>
          <a:xfrm>
            <a:off x="6208776" y="3817620"/>
            <a:ext cx="5385816" cy="1623060"/>
          </a:xfrm>
          <a:prstGeom prst="roundRect">
            <a:avLst>
              <a:gd name="adj" fmla="val 6500"/>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 19"/>
          <p:cNvSpPr txBox="1"/>
          <p:nvPr/>
        </p:nvSpPr>
        <p:spPr>
          <a:xfrm>
            <a:off x="6455664" y="3982212"/>
            <a:ext cx="4892040" cy="290067"/>
          </a:xfrm>
          <a:prstGeom prst="rect">
            <a:avLst/>
          </a:prstGeom>
          <a:noFill/>
        </p:spPr>
        <p:txBody>
          <a:bodyPr wrap="none" lIns="0" rIns="0" tIns="0" bIns="0" anchor="t">
            <a:spAutoFit/>
          </a:bodyPr>
          <a:lstStyle/>
          <a:p>
            <a:pPr>
              <a:lnSpc>
                <a:spcPts val="1888"/>
              </a:lnSpc>
              <a:spcBef>
                <a:spcPts val="0"/>
              </a:spcBef>
              <a:spcAft>
                <a:spcPts val="0"/>
              </a:spcAft>
              <a:defRPr sz="1600" b="1">
                <a:solidFill>
                  <a:srgbClr val="234B42"/>
                </a:solidFill>
                <a:latin typeface="Manrope"/>
              </a:defRPr>
            </a:pPr>
            <a:r>
              <a:rPr lang="de-DE"/>
              <a:t>Frage klären</a:t>
            </a:r>
          </a:p>
        </p:txBody>
      </p:sp>
      <p:sp>
        <p:nvSpPr>
          <p:cNvPr id="21" name="Text 20"/>
          <p:cNvSpPr txBox="1"/>
          <p:nvPr/>
        </p:nvSpPr>
        <p:spPr>
          <a:xfrm>
            <a:off x="6455664" y="4354576"/>
            <a:ext cx="4892040" cy="976376"/>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6332F"/>
                </a:solidFill>
                <a:latin typeface="Inter"/>
              </a:defRPr>
            </a:pPr>
            <a:r>
              <a:rPr lang="de-DE"/>
              <a:t>Eine konkrete Beratungsfrage festhalten</a:t>
            </a:r>
          </a:p>
        </p:txBody>
      </p:sp>
      <p:cxnSp>
        <p:nvCxnSpPr>
          <p:cNvPr id="22" name="Connector 21"/>
          <p:cNvCxnSpPr/>
          <p:nvPr/>
        </p:nvCxnSpPr>
        <p:spPr>
          <a:xfrm>
            <a:off x="594360" y="5495544"/>
            <a:ext cx="502920" cy="0"/>
          </a:xfrm>
          <a:prstGeom prst="line">
            <a:avLst/>
          </a:prstGeom>
          <a:ln w="27940">
            <a:solidFill>
              <a:srgbClr val="D68B73"/>
            </a:solidFill>
          </a:ln>
        </p:spPr>
        <p:style>
          <a:lnRef idx="2">
            <a:schemeClr val="accent1"/>
          </a:lnRef>
          <a:fillRef idx="0">
            <a:schemeClr val="accent1"/>
          </a:fillRef>
          <a:effectRef idx="1">
            <a:schemeClr val="accent1"/>
          </a:effectRef>
          <a:fontRef idx="minor">
            <a:schemeClr val="tx1"/>
          </a:fontRef>
        </p:style>
      </p:cxnSp>
      <p:sp>
        <p:nvSpPr>
          <p:cNvPr id="23" name="Text 22"/>
          <p:cNvSpPr txBox="1"/>
          <p:nvPr/>
        </p:nvSpPr>
        <p:spPr>
          <a:xfrm>
            <a:off x="594360" y="5623560"/>
            <a:ext cx="10972800" cy="694944"/>
          </a:xfrm>
          <a:prstGeom prst="rect">
            <a:avLst/>
          </a:prstGeom>
          <a:noFill/>
        </p:spPr>
        <p:txBody>
          <a:bodyPr wrap="none" lIns="0" rIns="0" tIns="0" bIns="0" anchor="t">
            <a:spAutoFit/>
          </a:bodyPr>
          <a:lstStyle/>
          <a:p>
            <a:pPr>
              <a:lnSpc>
                <a:spcPts val="2419"/>
              </a:lnSpc>
              <a:spcBef>
                <a:spcPts val="0"/>
              </a:spcBef>
              <a:spcAft>
                <a:spcPts val="0"/>
              </a:spcAft>
              <a:defRPr sz="2050" b="1">
                <a:solidFill>
                  <a:srgbClr val="234B42"/>
                </a:solidFill>
                <a:latin typeface="Manrope"/>
              </a:defRPr>
            </a:pPr>
            <a:r>
              <a:rPr lang="de-DE"/>
              <a:t>Beispiel: Wie erleichtern wir den Wechsel in die Garderobe?</a:t>
            </a:r>
          </a:p>
        </p:txBody>
      </p:sp>
    </p:spTree>
  </p:cSld>
  <p:clrMapOvr>
    <a:masterClrMapping/>
  </p:clrMapOvr>
  <p:transition spd="fast" advClick="1">
    <p:fade/>
  </p:transition>
</p:sld>
</file>

<file path=ppt/slides/slide70.xml><?xml version="1.0" encoding="utf-8"?>
<p:sld xmlns:a="http://schemas.openxmlformats.org/drawingml/2006/main" xmlns:p="http://schemas.openxmlformats.org/presentationml/2006/main" xmlns:r="http://schemas.openxmlformats.org/officeDocument/2006/relationships" showMasterSp="1">
  <p:cSld>
    <p:bg>
      <p:bgPr>
        <a:solidFill>
          <a:srgbClr val="E5BD70"/>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70</a:t>
            </a:r>
          </a:p>
        </p:txBody>
      </p:sp>
      <p:sp>
        <p:nvSpPr>
          <p:cNvPr id="3" name="Text 2"/>
          <p:cNvSpPr txBox="1"/>
          <p:nvPr/>
        </p:nvSpPr>
        <p:spPr>
          <a:xfrm>
            <a:off x="594360" y="393192"/>
            <a:ext cx="10881360" cy="203644"/>
          </a:xfrm>
          <a:prstGeom prst="rect">
            <a:avLst/>
          </a:prstGeom>
          <a:noFill/>
        </p:spPr>
        <p:txBody>
          <a:bodyPr wrap="none" lIns="0" rIns="0" tIns="0" bIns="0" anchor="t">
            <a:spAutoFit/>
          </a:bodyPr>
          <a:lstStyle/>
          <a:p>
            <a:pPr>
              <a:lnSpc>
                <a:spcPts val="1207"/>
              </a:lnSpc>
              <a:spcBef>
                <a:spcPts val="0"/>
              </a:spcBef>
              <a:spcAft>
                <a:spcPts val="0"/>
              </a:spcAft>
              <a:defRPr sz="1150" b="1">
                <a:solidFill>
                  <a:srgbClr val="234B42"/>
                </a:solidFill>
                <a:latin typeface="Inter"/>
              </a:defRPr>
            </a:pPr>
            <a:r>
              <a:rPr lang="de-DE"/>
              <a:t>FALLARBEIT · ZEIT → ARBEITSPHASE</a:t>
            </a:r>
          </a:p>
        </p:txBody>
      </p:sp>
      <p:sp>
        <p:nvSpPr>
          <p:cNvPr id="4" name="Text 3"/>
          <p:cNvSpPr txBox="1"/>
          <p:nvPr/>
        </p:nvSpPr>
        <p:spPr>
          <a:xfrm>
            <a:off x="594360" y="804672"/>
            <a:ext cx="10991088"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Fallbesprechung in 55 Minuten</a:t>
            </a:r>
          </a:p>
        </p:txBody>
      </p:sp>
      <p:sp>
        <p:nvSpPr>
          <p:cNvPr id="5" name="Rounded Rectangle 4"/>
          <p:cNvSpPr/>
          <p:nvPr/>
        </p:nvSpPr>
        <p:spPr>
          <a:xfrm>
            <a:off x="594360" y="1644396"/>
            <a:ext cx="3502151" cy="2071877"/>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22960" y="1872996"/>
            <a:ext cx="393192" cy="393192"/>
          </a:xfrm>
          <a:prstGeom prst="ellipse">
            <a:avLst/>
          </a:prstGeom>
          <a:solidFill>
            <a:srgbClr val="E5BD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6"/>
          <p:cNvSpPr txBox="1"/>
          <p:nvPr/>
        </p:nvSpPr>
        <p:spPr>
          <a:xfrm>
            <a:off x="822960" y="1946148"/>
            <a:ext cx="393192" cy="189992"/>
          </a:xfrm>
          <a:prstGeom prst="rect">
            <a:avLst/>
          </a:prstGeom>
          <a:noFill/>
        </p:spPr>
        <p:txBody>
          <a:bodyPr wrap="none" lIns="0" rIns="0" tIns="0" bIns="0" anchor="t">
            <a:spAutoFit/>
          </a:bodyPr>
          <a:lstStyle/>
          <a:p>
            <a:pPr algn="ctr">
              <a:lnSpc>
                <a:spcPts val="1100"/>
              </a:lnSpc>
              <a:spcBef>
                <a:spcPts val="0"/>
              </a:spcBef>
              <a:spcAft>
                <a:spcPts val="0"/>
              </a:spcAft>
              <a:defRPr sz="1100" b="1">
                <a:solidFill>
                  <a:srgbClr val="234B42"/>
                </a:solidFill>
                <a:latin typeface="Inter"/>
              </a:defRPr>
            </a:pPr>
            <a:r>
              <a:rPr lang="de-DE"/>
              <a:t>01</a:t>
            </a:r>
          </a:p>
        </p:txBody>
      </p:sp>
      <p:sp>
        <p:nvSpPr>
          <p:cNvPr id="8" name="Text 7"/>
          <p:cNvSpPr txBox="1"/>
          <p:nvPr/>
        </p:nvSpPr>
        <p:spPr>
          <a:xfrm>
            <a:off x="1353312" y="1872996"/>
            <a:ext cx="2496311" cy="372490"/>
          </a:xfrm>
          <a:prstGeom prst="rect">
            <a:avLst/>
          </a:prstGeom>
          <a:noFill/>
        </p:spPr>
        <p:txBody>
          <a:bodyPr wrap="none" lIns="0" rIns="0" tIns="0" bIns="0" anchor="t">
            <a:spAutoFit/>
          </a:bodyPr>
          <a:lstStyle/>
          <a:p>
            <a:pPr>
              <a:lnSpc>
                <a:spcPts val="2536"/>
              </a:lnSpc>
              <a:spcBef>
                <a:spcPts val="0"/>
              </a:spcBef>
              <a:spcAft>
                <a:spcPts val="0"/>
              </a:spcAft>
              <a:defRPr sz="2150" b="1">
                <a:solidFill>
                  <a:srgbClr val="234B42"/>
                </a:solidFill>
                <a:latin typeface="Manrope"/>
              </a:defRPr>
            </a:pPr>
            <a:r>
              <a:rPr lang="de-DE"/>
              <a:t>5 Min</a:t>
            </a:r>
          </a:p>
        </p:txBody>
      </p:sp>
      <p:sp>
        <p:nvSpPr>
          <p:cNvPr id="9" name="Text 8"/>
          <p:cNvSpPr txBox="1"/>
          <p:nvPr/>
        </p:nvSpPr>
        <p:spPr>
          <a:xfrm>
            <a:off x="868680" y="2513076"/>
            <a:ext cx="2953511" cy="1002029"/>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Fall und Beratungsfrage</a:t>
            </a:r>
          </a:p>
          <a:p>
            <a:pPr>
              <a:lnSpc>
                <a:spcPts val="2477"/>
              </a:lnSpc>
              <a:spcBef>
                <a:spcPts val="0"/>
              </a:spcBef>
              <a:spcAft>
                <a:spcPts val="0"/>
              </a:spcAft>
              <a:defRPr sz="2100" b="0">
                <a:solidFill>
                  <a:srgbClr val="26332F"/>
                </a:solidFill>
                <a:latin typeface="Inter"/>
              </a:defRPr>
            </a:pPr>
            <a:r>
              <a:rPr lang="de-DE"/>
              <a:t>schildern</a:t>
            </a:r>
          </a:p>
        </p:txBody>
      </p:sp>
      <p:sp>
        <p:nvSpPr>
          <p:cNvPr id="10" name="Rounded Rectangle 9"/>
          <p:cNvSpPr/>
          <p:nvPr/>
        </p:nvSpPr>
        <p:spPr>
          <a:xfrm>
            <a:off x="4343400" y="1644396"/>
            <a:ext cx="3502151" cy="2071877"/>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72000" y="1872996"/>
            <a:ext cx="393192" cy="393192"/>
          </a:xfrm>
          <a:prstGeom prst="ellipse">
            <a:avLst/>
          </a:prstGeom>
          <a:solidFill>
            <a:srgbClr val="E5BD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11"/>
          <p:cNvSpPr txBox="1"/>
          <p:nvPr/>
        </p:nvSpPr>
        <p:spPr>
          <a:xfrm>
            <a:off x="4572000" y="1946148"/>
            <a:ext cx="393192" cy="189992"/>
          </a:xfrm>
          <a:prstGeom prst="rect">
            <a:avLst/>
          </a:prstGeom>
          <a:noFill/>
        </p:spPr>
        <p:txBody>
          <a:bodyPr wrap="none" lIns="0" rIns="0" tIns="0" bIns="0" anchor="t">
            <a:spAutoFit/>
          </a:bodyPr>
          <a:lstStyle/>
          <a:p>
            <a:pPr algn="ctr">
              <a:lnSpc>
                <a:spcPts val="1100"/>
              </a:lnSpc>
              <a:spcBef>
                <a:spcPts val="0"/>
              </a:spcBef>
              <a:spcAft>
                <a:spcPts val="0"/>
              </a:spcAft>
              <a:defRPr sz="1100" b="1">
                <a:solidFill>
                  <a:srgbClr val="234B42"/>
                </a:solidFill>
                <a:latin typeface="Inter"/>
              </a:defRPr>
            </a:pPr>
            <a:r>
              <a:rPr lang="de-DE"/>
              <a:t>02</a:t>
            </a:r>
          </a:p>
        </p:txBody>
      </p:sp>
      <p:sp>
        <p:nvSpPr>
          <p:cNvPr id="13" name="Text 12"/>
          <p:cNvSpPr txBox="1"/>
          <p:nvPr/>
        </p:nvSpPr>
        <p:spPr>
          <a:xfrm>
            <a:off x="5102352" y="1872996"/>
            <a:ext cx="2496311" cy="372490"/>
          </a:xfrm>
          <a:prstGeom prst="rect">
            <a:avLst/>
          </a:prstGeom>
          <a:noFill/>
        </p:spPr>
        <p:txBody>
          <a:bodyPr wrap="none" lIns="0" rIns="0" tIns="0" bIns="0" anchor="t">
            <a:spAutoFit/>
          </a:bodyPr>
          <a:lstStyle/>
          <a:p>
            <a:pPr>
              <a:lnSpc>
                <a:spcPts val="2536"/>
              </a:lnSpc>
              <a:spcBef>
                <a:spcPts val="0"/>
              </a:spcBef>
              <a:spcAft>
                <a:spcPts val="0"/>
              </a:spcAft>
              <a:defRPr sz="2150" b="1">
                <a:solidFill>
                  <a:srgbClr val="234B42"/>
                </a:solidFill>
                <a:latin typeface="Manrope"/>
              </a:defRPr>
            </a:pPr>
            <a:r>
              <a:rPr lang="de-DE"/>
              <a:t>5 Min</a:t>
            </a:r>
          </a:p>
        </p:txBody>
      </p:sp>
      <p:sp>
        <p:nvSpPr>
          <p:cNvPr id="14" name="Text 13"/>
          <p:cNvSpPr txBox="1"/>
          <p:nvPr/>
        </p:nvSpPr>
        <p:spPr>
          <a:xfrm>
            <a:off x="4617720" y="2513076"/>
            <a:ext cx="2953511" cy="1002029"/>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Verständnisfragen</a:t>
            </a:r>
          </a:p>
          <a:p>
            <a:pPr>
              <a:lnSpc>
                <a:spcPts val="2477"/>
              </a:lnSpc>
              <a:spcBef>
                <a:spcPts val="0"/>
              </a:spcBef>
              <a:spcAft>
                <a:spcPts val="0"/>
              </a:spcAft>
              <a:defRPr sz="2100" b="0">
                <a:solidFill>
                  <a:srgbClr val="26332F"/>
                </a:solidFill>
                <a:latin typeface="Inter"/>
              </a:defRPr>
            </a:pPr>
            <a:r>
              <a:rPr lang="de-DE"/>
              <a:t>klären</a:t>
            </a:r>
          </a:p>
        </p:txBody>
      </p:sp>
      <p:sp>
        <p:nvSpPr>
          <p:cNvPr id="15" name="Rounded Rectangle 14"/>
          <p:cNvSpPr/>
          <p:nvPr/>
        </p:nvSpPr>
        <p:spPr>
          <a:xfrm>
            <a:off x="8092440" y="1644396"/>
            <a:ext cx="3502151" cy="2071877"/>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21040" y="1872996"/>
            <a:ext cx="393192" cy="393192"/>
          </a:xfrm>
          <a:prstGeom prst="ellipse">
            <a:avLst/>
          </a:prstGeom>
          <a:solidFill>
            <a:srgbClr val="E5BD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16"/>
          <p:cNvSpPr txBox="1"/>
          <p:nvPr/>
        </p:nvSpPr>
        <p:spPr>
          <a:xfrm>
            <a:off x="8321040" y="1946148"/>
            <a:ext cx="393192" cy="189992"/>
          </a:xfrm>
          <a:prstGeom prst="rect">
            <a:avLst/>
          </a:prstGeom>
          <a:noFill/>
        </p:spPr>
        <p:txBody>
          <a:bodyPr wrap="none" lIns="0" rIns="0" tIns="0" bIns="0" anchor="t">
            <a:spAutoFit/>
          </a:bodyPr>
          <a:lstStyle/>
          <a:p>
            <a:pPr algn="ctr">
              <a:lnSpc>
                <a:spcPts val="1100"/>
              </a:lnSpc>
              <a:spcBef>
                <a:spcPts val="0"/>
              </a:spcBef>
              <a:spcAft>
                <a:spcPts val="0"/>
              </a:spcAft>
              <a:defRPr sz="1100" b="1">
                <a:solidFill>
                  <a:srgbClr val="234B42"/>
                </a:solidFill>
                <a:latin typeface="Inter"/>
              </a:defRPr>
            </a:pPr>
            <a:r>
              <a:rPr lang="de-DE"/>
              <a:t>03</a:t>
            </a:r>
          </a:p>
        </p:txBody>
      </p:sp>
      <p:sp>
        <p:nvSpPr>
          <p:cNvPr id="18" name="Text 17"/>
          <p:cNvSpPr txBox="1"/>
          <p:nvPr/>
        </p:nvSpPr>
        <p:spPr>
          <a:xfrm>
            <a:off x="8851392" y="1872996"/>
            <a:ext cx="2496311" cy="372490"/>
          </a:xfrm>
          <a:prstGeom prst="rect">
            <a:avLst/>
          </a:prstGeom>
          <a:noFill/>
        </p:spPr>
        <p:txBody>
          <a:bodyPr wrap="none" lIns="0" rIns="0" tIns="0" bIns="0" anchor="t">
            <a:spAutoFit/>
          </a:bodyPr>
          <a:lstStyle/>
          <a:p>
            <a:pPr>
              <a:lnSpc>
                <a:spcPts val="2536"/>
              </a:lnSpc>
              <a:spcBef>
                <a:spcPts val="0"/>
              </a:spcBef>
              <a:spcAft>
                <a:spcPts val="0"/>
              </a:spcAft>
              <a:defRPr sz="2150" b="1">
                <a:solidFill>
                  <a:srgbClr val="234B42"/>
                </a:solidFill>
                <a:latin typeface="Manrope"/>
              </a:defRPr>
            </a:pPr>
            <a:r>
              <a:rPr lang="de-DE"/>
              <a:t>10 Min</a:t>
            </a:r>
          </a:p>
        </p:txBody>
      </p:sp>
      <p:sp>
        <p:nvSpPr>
          <p:cNvPr id="19" name="Text 18"/>
          <p:cNvSpPr txBox="1"/>
          <p:nvPr/>
        </p:nvSpPr>
        <p:spPr>
          <a:xfrm>
            <a:off x="8366760" y="2513076"/>
            <a:ext cx="2953511" cy="1002029"/>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Beobachtungen,</a:t>
            </a:r>
          </a:p>
          <a:p>
            <a:pPr>
              <a:lnSpc>
                <a:spcPts val="2477"/>
              </a:lnSpc>
              <a:spcBef>
                <a:spcPts val="0"/>
              </a:spcBef>
              <a:spcAft>
                <a:spcPts val="0"/>
              </a:spcAft>
              <a:defRPr sz="2100" b="0">
                <a:solidFill>
                  <a:srgbClr val="26332F"/>
                </a:solidFill>
                <a:latin typeface="Inter"/>
              </a:defRPr>
            </a:pPr>
            <a:r>
              <a:rPr lang="de-DE"/>
              <a:t>Ressourcen und</a:t>
            </a:r>
          </a:p>
          <a:p>
            <a:pPr>
              <a:lnSpc>
                <a:spcPts val="2477"/>
              </a:lnSpc>
              <a:spcBef>
                <a:spcPts val="0"/>
              </a:spcBef>
              <a:spcAft>
                <a:spcPts val="0"/>
              </a:spcAft>
              <a:defRPr sz="2100" b="0">
                <a:solidFill>
                  <a:srgbClr val="26332F"/>
                </a:solidFill>
                <a:latin typeface="Inter"/>
              </a:defRPr>
            </a:pPr>
            <a:r>
              <a:rPr lang="de-DE"/>
              <a:t>Bedingungen ordnen</a:t>
            </a:r>
          </a:p>
        </p:txBody>
      </p:sp>
      <p:sp>
        <p:nvSpPr>
          <p:cNvPr id="20" name="Rounded Rectangle 19"/>
          <p:cNvSpPr/>
          <p:nvPr/>
        </p:nvSpPr>
        <p:spPr>
          <a:xfrm>
            <a:off x="594360" y="3963162"/>
            <a:ext cx="3502151" cy="2071877"/>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22960" y="4191762"/>
            <a:ext cx="393192" cy="393192"/>
          </a:xfrm>
          <a:prstGeom prst="ellipse">
            <a:avLst/>
          </a:prstGeom>
          <a:solidFill>
            <a:srgbClr val="E5BD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 21"/>
          <p:cNvSpPr txBox="1"/>
          <p:nvPr/>
        </p:nvSpPr>
        <p:spPr>
          <a:xfrm>
            <a:off x="822960" y="4264914"/>
            <a:ext cx="393192" cy="189992"/>
          </a:xfrm>
          <a:prstGeom prst="rect">
            <a:avLst/>
          </a:prstGeom>
          <a:noFill/>
        </p:spPr>
        <p:txBody>
          <a:bodyPr wrap="none" lIns="0" rIns="0" tIns="0" bIns="0" anchor="t">
            <a:spAutoFit/>
          </a:bodyPr>
          <a:lstStyle/>
          <a:p>
            <a:pPr algn="ctr">
              <a:lnSpc>
                <a:spcPts val="1100"/>
              </a:lnSpc>
              <a:spcBef>
                <a:spcPts val="0"/>
              </a:spcBef>
              <a:spcAft>
                <a:spcPts val="0"/>
              </a:spcAft>
              <a:defRPr sz="1100" b="1">
                <a:solidFill>
                  <a:srgbClr val="234B42"/>
                </a:solidFill>
                <a:latin typeface="Inter"/>
              </a:defRPr>
            </a:pPr>
            <a:r>
              <a:rPr lang="de-DE"/>
              <a:t>04</a:t>
            </a:r>
          </a:p>
        </p:txBody>
      </p:sp>
      <p:sp>
        <p:nvSpPr>
          <p:cNvPr id="23" name="Text 22"/>
          <p:cNvSpPr txBox="1"/>
          <p:nvPr/>
        </p:nvSpPr>
        <p:spPr>
          <a:xfrm>
            <a:off x="1353312" y="4191762"/>
            <a:ext cx="2496311" cy="372490"/>
          </a:xfrm>
          <a:prstGeom prst="rect">
            <a:avLst/>
          </a:prstGeom>
          <a:noFill/>
        </p:spPr>
        <p:txBody>
          <a:bodyPr wrap="none" lIns="0" rIns="0" tIns="0" bIns="0" anchor="t">
            <a:spAutoFit/>
          </a:bodyPr>
          <a:lstStyle/>
          <a:p>
            <a:pPr>
              <a:lnSpc>
                <a:spcPts val="2536"/>
              </a:lnSpc>
              <a:spcBef>
                <a:spcPts val="0"/>
              </a:spcBef>
              <a:spcAft>
                <a:spcPts val="0"/>
              </a:spcAft>
              <a:defRPr sz="2150" b="1">
                <a:solidFill>
                  <a:srgbClr val="234B42"/>
                </a:solidFill>
                <a:latin typeface="Manrope"/>
              </a:defRPr>
            </a:pPr>
            <a:r>
              <a:rPr lang="de-DE"/>
              <a:t>10 Min</a:t>
            </a:r>
          </a:p>
        </p:txBody>
      </p:sp>
      <p:sp>
        <p:nvSpPr>
          <p:cNvPr id="24" name="Text 23"/>
          <p:cNvSpPr txBox="1"/>
          <p:nvPr/>
        </p:nvSpPr>
        <p:spPr>
          <a:xfrm>
            <a:off x="868680" y="4831842"/>
            <a:ext cx="2953511" cy="1002029"/>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Mindestens zwei</a:t>
            </a:r>
          </a:p>
          <a:p>
            <a:pPr>
              <a:lnSpc>
                <a:spcPts val="2477"/>
              </a:lnSpc>
              <a:spcBef>
                <a:spcPts val="0"/>
              </a:spcBef>
              <a:spcAft>
                <a:spcPts val="0"/>
              </a:spcAft>
              <a:defRPr sz="2100" b="0">
                <a:solidFill>
                  <a:srgbClr val="26332F"/>
                </a:solidFill>
                <a:latin typeface="Inter"/>
              </a:defRPr>
            </a:pPr>
            <a:r>
              <a:rPr lang="de-DE"/>
              <a:t>Hypothesen formulieren</a:t>
            </a:r>
          </a:p>
        </p:txBody>
      </p:sp>
      <p:sp>
        <p:nvSpPr>
          <p:cNvPr id="25" name="Rounded Rectangle 24"/>
          <p:cNvSpPr/>
          <p:nvPr/>
        </p:nvSpPr>
        <p:spPr>
          <a:xfrm>
            <a:off x="4343400" y="3963162"/>
            <a:ext cx="3502151" cy="2071877"/>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572000" y="4191762"/>
            <a:ext cx="393192" cy="393192"/>
          </a:xfrm>
          <a:prstGeom prst="ellipse">
            <a:avLst/>
          </a:prstGeom>
          <a:solidFill>
            <a:srgbClr val="E5BD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 26"/>
          <p:cNvSpPr txBox="1"/>
          <p:nvPr/>
        </p:nvSpPr>
        <p:spPr>
          <a:xfrm>
            <a:off x="4572000" y="4264914"/>
            <a:ext cx="393192" cy="189992"/>
          </a:xfrm>
          <a:prstGeom prst="rect">
            <a:avLst/>
          </a:prstGeom>
          <a:noFill/>
        </p:spPr>
        <p:txBody>
          <a:bodyPr wrap="none" lIns="0" rIns="0" tIns="0" bIns="0" anchor="t">
            <a:spAutoFit/>
          </a:bodyPr>
          <a:lstStyle/>
          <a:p>
            <a:pPr algn="ctr">
              <a:lnSpc>
                <a:spcPts val="1100"/>
              </a:lnSpc>
              <a:spcBef>
                <a:spcPts val="0"/>
              </a:spcBef>
              <a:spcAft>
                <a:spcPts val="0"/>
              </a:spcAft>
              <a:defRPr sz="1100" b="1">
                <a:solidFill>
                  <a:srgbClr val="234B42"/>
                </a:solidFill>
                <a:latin typeface="Inter"/>
              </a:defRPr>
            </a:pPr>
            <a:r>
              <a:rPr lang="de-DE"/>
              <a:t>05</a:t>
            </a:r>
          </a:p>
        </p:txBody>
      </p:sp>
      <p:sp>
        <p:nvSpPr>
          <p:cNvPr id="28" name="Text 27"/>
          <p:cNvSpPr txBox="1"/>
          <p:nvPr/>
        </p:nvSpPr>
        <p:spPr>
          <a:xfrm>
            <a:off x="5102352" y="4191762"/>
            <a:ext cx="2496311" cy="372490"/>
          </a:xfrm>
          <a:prstGeom prst="rect">
            <a:avLst/>
          </a:prstGeom>
          <a:noFill/>
        </p:spPr>
        <p:txBody>
          <a:bodyPr wrap="none" lIns="0" rIns="0" tIns="0" bIns="0" anchor="t">
            <a:spAutoFit/>
          </a:bodyPr>
          <a:lstStyle/>
          <a:p>
            <a:pPr>
              <a:lnSpc>
                <a:spcPts val="2536"/>
              </a:lnSpc>
              <a:spcBef>
                <a:spcPts val="0"/>
              </a:spcBef>
              <a:spcAft>
                <a:spcPts val="0"/>
              </a:spcAft>
              <a:defRPr sz="2150" b="1">
                <a:solidFill>
                  <a:srgbClr val="234B42"/>
                </a:solidFill>
                <a:latin typeface="Manrope"/>
              </a:defRPr>
            </a:pPr>
            <a:r>
              <a:rPr lang="de-DE"/>
              <a:t>15 Min</a:t>
            </a:r>
          </a:p>
        </p:txBody>
      </p:sp>
      <p:sp>
        <p:nvSpPr>
          <p:cNvPr id="29" name="Text 28"/>
          <p:cNvSpPr txBox="1"/>
          <p:nvPr/>
        </p:nvSpPr>
        <p:spPr>
          <a:xfrm>
            <a:off x="4617720" y="4831842"/>
            <a:ext cx="2953511" cy="1002029"/>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Ideen sammeln und auf</a:t>
            </a:r>
          </a:p>
          <a:p>
            <a:pPr>
              <a:lnSpc>
                <a:spcPts val="2477"/>
              </a:lnSpc>
              <a:spcBef>
                <a:spcPts val="0"/>
              </a:spcBef>
              <a:spcAft>
                <a:spcPts val="0"/>
              </a:spcAft>
              <a:defRPr sz="2100" b="0">
                <a:solidFill>
                  <a:srgbClr val="26332F"/>
                </a:solidFill>
                <a:latin typeface="Inter"/>
              </a:defRPr>
            </a:pPr>
            <a:r>
              <a:rPr lang="de-DE"/>
              <a:t>Passung prüfen</a:t>
            </a:r>
          </a:p>
        </p:txBody>
      </p:sp>
      <p:sp>
        <p:nvSpPr>
          <p:cNvPr id="30" name="Rounded Rectangle 29"/>
          <p:cNvSpPr/>
          <p:nvPr/>
        </p:nvSpPr>
        <p:spPr>
          <a:xfrm>
            <a:off x="8092440" y="3963162"/>
            <a:ext cx="3502151" cy="2071877"/>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321040" y="4191762"/>
            <a:ext cx="393192" cy="393192"/>
          </a:xfrm>
          <a:prstGeom prst="ellipse">
            <a:avLst/>
          </a:prstGeom>
          <a:solidFill>
            <a:srgbClr val="E5BD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 31"/>
          <p:cNvSpPr txBox="1"/>
          <p:nvPr/>
        </p:nvSpPr>
        <p:spPr>
          <a:xfrm>
            <a:off x="8321040" y="4264914"/>
            <a:ext cx="393192" cy="189992"/>
          </a:xfrm>
          <a:prstGeom prst="rect">
            <a:avLst/>
          </a:prstGeom>
          <a:noFill/>
        </p:spPr>
        <p:txBody>
          <a:bodyPr wrap="none" lIns="0" rIns="0" tIns="0" bIns="0" anchor="t">
            <a:spAutoFit/>
          </a:bodyPr>
          <a:lstStyle/>
          <a:p>
            <a:pPr algn="ctr">
              <a:lnSpc>
                <a:spcPts val="1100"/>
              </a:lnSpc>
              <a:spcBef>
                <a:spcPts val="0"/>
              </a:spcBef>
              <a:spcAft>
                <a:spcPts val="0"/>
              </a:spcAft>
              <a:defRPr sz="1100" b="1">
                <a:solidFill>
                  <a:srgbClr val="234B42"/>
                </a:solidFill>
                <a:latin typeface="Inter"/>
              </a:defRPr>
            </a:pPr>
            <a:r>
              <a:rPr lang="de-DE"/>
              <a:t>06</a:t>
            </a:r>
          </a:p>
        </p:txBody>
      </p:sp>
      <p:sp>
        <p:nvSpPr>
          <p:cNvPr id="33" name="Text 32"/>
          <p:cNvSpPr txBox="1"/>
          <p:nvPr/>
        </p:nvSpPr>
        <p:spPr>
          <a:xfrm>
            <a:off x="8851392" y="4191762"/>
            <a:ext cx="2496311" cy="372490"/>
          </a:xfrm>
          <a:prstGeom prst="rect">
            <a:avLst/>
          </a:prstGeom>
          <a:noFill/>
        </p:spPr>
        <p:txBody>
          <a:bodyPr wrap="none" lIns="0" rIns="0" tIns="0" bIns="0" anchor="t">
            <a:spAutoFit/>
          </a:bodyPr>
          <a:lstStyle/>
          <a:p>
            <a:pPr>
              <a:lnSpc>
                <a:spcPts val="2536"/>
              </a:lnSpc>
              <a:spcBef>
                <a:spcPts val="0"/>
              </a:spcBef>
              <a:spcAft>
                <a:spcPts val="0"/>
              </a:spcAft>
              <a:defRPr sz="2150" b="1">
                <a:solidFill>
                  <a:srgbClr val="234B42"/>
                </a:solidFill>
                <a:latin typeface="Manrope"/>
              </a:defRPr>
            </a:pPr>
            <a:r>
              <a:rPr lang="de-DE"/>
              <a:t>10 Min</a:t>
            </a:r>
          </a:p>
        </p:txBody>
      </p:sp>
      <p:sp>
        <p:nvSpPr>
          <p:cNvPr id="34" name="Text 33"/>
          <p:cNvSpPr txBox="1"/>
          <p:nvPr/>
        </p:nvSpPr>
        <p:spPr>
          <a:xfrm>
            <a:off x="8366760" y="4831842"/>
            <a:ext cx="2953511" cy="1002029"/>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Zwei Schritte mit</a:t>
            </a:r>
          </a:p>
          <a:p>
            <a:pPr>
              <a:lnSpc>
                <a:spcPts val="2477"/>
              </a:lnSpc>
              <a:spcBef>
                <a:spcPts val="0"/>
              </a:spcBef>
              <a:spcAft>
                <a:spcPts val="0"/>
              </a:spcAft>
              <a:defRPr sz="2100" b="0">
                <a:solidFill>
                  <a:srgbClr val="26332F"/>
                </a:solidFill>
                <a:latin typeface="Inter"/>
              </a:defRPr>
            </a:pPr>
            <a:r>
              <a:rPr lang="de-DE"/>
              <a:t>Verantwortung und</a:t>
            </a:r>
          </a:p>
          <a:p>
            <a:pPr>
              <a:lnSpc>
                <a:spcPts val="2477"/>
              </a:lnSpc>
              <a:spcBef>
                <a:spcPts val="0"/>
              </a:spcBef>
              <a:spcAft>
                <a:spcPts val="0"/>
              </a:spcAft>
              <a:defRPr sz="2100" b="0">
                <a:solidFill>
                  <a:srgbClr val="26332F"/>
                </a:solidFill>
                <a:latin typeface="Inter"/>
              </a:defRPr>
            </a:pPr>
            <a:r>
              <a:rPr lang="de-DE"/>
              <a:t>Prüftermin festlegen</a:t>
            </a:r>
          </a:p>
        </p:txBody>
      </p:sp>
    </p:spTree>
  </p:cSld>
  <p:clrMapOvr>
    <a:masterClrMapping/>
  </p:clrMapOvr>
  <p:transition spd="fast" advClick="1">
    <p:fade/>
  </p:transition>
</p:sld>
</file>

<file path=ppt/slides/slide71.xml><?xml version="1.0" encoding="utf-8"?>
<p:sld xmlns:a="http://schemas.openxmlformats.org/drawingml/2006/main" xmlns:p="http://schemas.openxmlformats.org/presentationml/2006/main" xmlns:r="http://schemas.openxmlformats.org/officeDocument/2006/relationships" showMasterSp="1">
  <p:cSld>
    <p:bg>
      <p:bgPr>
        <a:solidFill>
          <a:srgbClr val="F1DFD6"/>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71</a:t>
            </a:r>
          </a:p>
        </p:txBody>
      </p:sp>
      <p:sp>
        <p:nvSpPr>
          <p:cNvPr id="3" name="Text 2"/>
          <p:cNvSpPr txBox="1"/>
          <p:nvPr/>
        </p:nvSpPr>
        <p:spPr>
          <a:xfrm>
            <a:off x="594360" y="393192"/>
            <a:ext cx="8961120" cy="222630"/>
          </a:xfrm>
          <a:prstGeom prst="rect">
            <a:avLst/>
          </a:prstGeom>
          <a:noFill/>
        </p:spPr>
        <p:txBody>
          <a:bodyPr wrap="none" lIns="0" rIns="0" tIns="0" bIns="0" anchor="t">
            <a:spAutoFit/>
          </a:bodyPr>
          <a:lstStyle/>
          <a:p>
            <a:pPr>
              <a:lnSpc>
                <a:spcPts val="1356"/>
              </a:lnSpc>
              <a:spcBef>
                <a:spcPts val="0"/>
              </a:spcBef>
              <a:spcAft>
                <a:spcPts val="0"/>
              </a:spcAft>
              <a:defRPr sz="1150" b="1">
                <a:solidFill>
                  <a:srgbClr val="234B42"/>
                </a:solidFill>
                <a:latin typeface="Inter"/>
              </a:defRPr>
            </a:pPr>
            <a:r>
              <a:rPr lang="de-DE"/>
              <a:t>FALLARBEIT · LEITFRAGEN</a:t>
            </a:r>
          </a:p>
        </p:txBody>
      </p:sp>
      <p:sp>
        <p:nvSpPr>
          <p:cNvPr id="4" name="Text 3"/>
          <p:cNvSpPr txBox="1"/>
          <p:nvPr/>
        </p:nvSpPr>
        <p:spPr>
          <a:xfrm>
            <a:off x="594360" y="804672"/>
            <a:ext cx="10789920" cy="469900"/>
          </a:xfrm>
          <a:prstGeom prst="rect">
            <a:avLst/>
          </a:prstGeom>
          <a:noFill/>
        </p:spPr>
        <p:txBody>
          <a:bodyPr wrap="none" lIns="0" rIns="0" tIns="0" bIns="0" anchor="t">
            <a:spAutoFit/>
          </a:bodyPr>
          <a:lstStyle/>
          <a:p>
            <a:pPr>
              <a:lnSpc>
                <a:spcPts val="3304"/>
              </a:lnSpc>
              <a:spcBef>
                <a:spcPts val="0"/>
              </a:spcBef>
              <a:spcAft>
                <a:spcPts val="0"/>
              </a:spcAft>
              <a:defRPr sz="2800" b="1">
                <a:solidFill>
                  <a:srgbClr val="234B42"/>
                </a:solidFill>
                <a:latin typeface="Manrope"/>
              </a:defRPr>
            </a:pPr>
            <a:r>
              <a:rPr lang="de-DE"/>
              <a:t>Leitfragen für die Fallarbeit</a:t>
            </a:r>
          </a:p>
        </p:txBody>
      </p:sp>
      <p:sp>
        <p:nvSpPr>
          <p:cNvPr id="5" name="Text 4"/>
          <p:cNvSpPr txBox="1"/>
          <p:nvPr/>
        </p:nvSpPr>
        <p:spPr>
          <a:xfrm>
            <a:off x="658368" y="2048256"/>
            <a:ext cx="1828800" cy="1129284"/>
          </a:xfrm>
          <a:prstGeom prst="rect">
            <a:avLst/>
          </a:prstGeom>
          <a:noFill/>
        </p:spPr>
        <p:txBody>
          <a:bodyPr wrap="none" lIns="0" rIns="0" tIns="0" bIns="0" anchor="t">
            <a:spAutoFit/>
          </a:bodyPr>
          <a:lstStyle/>
          <a:p>
            <a:pPr>
              <a:lnSpc>
                <a:spcPts val="8496"/>
              </a:lnSpc>
              <a:spcBef>
                <a:spcPts val="0"/>
              </a:spcBef>
              <a:spcAft>
                <a:spcPts val="0"/>
              </a:spcAft>
              <a:defRPr sz="7200" b="1">
                <a:solidFill>
                  <a:srgbClr val="D68B73"/>
                </a:solidFill>
                <a:latin typeface="Manrope"/>
              </a:defRPr>
            </a:pPr>
            <a:r>
              <a:rPr lang="de-DE"/>
              <a:t>01</a:t>
            </a:r>
          </a:p>
        </p:txBody>
      </p:sp>
      <p:sp>
        <p:nvSpPr>
          <p:cNvPr id="6" name="Text 5"/>
          <p:cNvSpPr txBox="1"/>
          <p:nvPr/>
        </p:nvSpPr>
        <p:spPr>
          <a:xfrm>
            <a:off x="2788920" y="2084831"/>
            <a:ext cx="8412480" cy="2606040"/>
          </a:xfrm>
          <a:prstGeom prst="rect">
            <a:avLst/>
          </a:prstGeom>
          <a:noFill/>
        </p:spPr>
        <p:txBody>
          <a:bodyPr wrap="none" lIns="0" rIns="0" tIns="0" bIns="0" anchor="t">
            <a:spAutoFit/>
          </a:bodyPr>
          <a:lstStyle/>
          <a:p>
            <a:pPr>
              <a:lnSpc>
                <a:spcPts val="4025"/>
              </a:lnSpc>
              <a:spcBef>
                <a:spcPts val="0"/>
              </a:spcBef>
              <a:spcAft>
                <a:spcPts val="0"/>
              </a:spcAft>
              <a:defRPr sz="3500" b="1">
                <a:solidFill>
                  <a:srgbClr val="234B42"/>
                </a:solidFill>
                <a:latin typeface="Manrope"/>
              </a:defRPr>
            </a:pPr>
            <a:r>
              <a:rPr lang="de-DE"/>
              <a:t>Was wissen wir sicher und was</a:t>
            </a:r>
          </a:p>
          <a:p>
            <a:pPr>
              <a:lnSpc>
                <a:spcPts val="4025"/>
              </a:lnSpc>
              <a:spcBef>
                <a:spcPts val="0"/>
              </a:spcBef>
              <a:spcAft>
                <a:spcPts val="0"/>
              </a:spcAft>
              <a:defRPr sz="3500" b="1">
                <a:solidFill>
                  <a:srgbClr val="234B42"/>
                </a:solidFill>
                <a:latin typeface="Manrope"/>
              </a:defRPr>
            </a:pPr>
            <a:r>
              <a:rPr lang="de-DE"/>
              <a:t>vermuten wir?</a:t>
            </a:r>
          </a:p>
        </p:txBody>
      </p:sp>
      <p:sp>
        <p:nvSpPr>
          <p:cNvPr id="7" name="Rectangle 6"/>
          <p:cNvSpPr/>
          <p:nvPr/>
        </p:nvSpPr>
        <p:spPr>
          <a:xfrm>
            <a:off x="2816352" y="5120640"/>
            <a:ext cx="539496" cy="64008"/>
          </a:xfrm>
          <a:prstGeom prst="rect">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547872" y="5120640"/>
            <a:ext cx="539496" cy="64008"/>
          </a:xfrm>
          <a:prstGeom prst="rect">
            <a:avLst/>
          </a:prstGeom>
          <a:solidFill>
            <a:srgbClr val="D68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79392" y="5120640"/>
            <a:ext cx="539496" cy="64008"/>
          </a:xfrm>
          <a:prstGeom prst="rect">
            <a:avLst/>
          </a:prstGeom>
          <a:solidFill>
            <a:srgbClr val="D68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10912" y="5120640"/>
            <a:ext cx="539496" cy="64008"/>
          </a:xfrm>
          <a:prstGeom prst="rect">
            <a:avLst/>
          </a:prstGeom>
          <a:solidFill>
            <a:srgbClr val="D68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10"/>
          <p:cNvSpPr txBox="1"/>
          <p:nvPr/>
        </p:nvSpPr>
        <p:spPr>
          <a:xfrm>
            <a:off x="2788920" y="5449824"/>
            <a:ext cx="7040880" cy="230123"/>
          </a:xfrm>
          <a:prstGeom prst="rect">
            <a:avLst/>
          </a:prstGeom>
          <a:noFill/>
        </p:spPr>
        <p:txBody>
          <a:bodyPr wrap="none" lIns="0" rIns="0" tIns="0" bIns="0" anchor="t">
            <a:spAutoFit/>
          </a:bodyPr>
          <a:lstStyle/>
          <a:p>
            <a:pPr>
              <a:lnSpc>
                <a:spcPts val="1416"/>
              </a:lnSpc>
              <a:spcBef>
                <a:spcPts val="0"/>
              </a:spcBef>
              <a:spcAft>
                <a:spcPts val="0"/>
              </a:spcAft>
              <a:defRPr sz="1200" b="1">
                <a:solidFill>
                  <a:srgbClr val="234B42"/>
                </a:solidFill>
                <a:latin typeface="Inter"/>
              </a:defRPr>
            </a:pPr>
            <a:r>
              <a:rPr lang="de-DE"/>
              <a:t>FRAGE 1 VON 4</a:t>
            </a:r>
          </a:p>
        </p:txBody>
      </p:sp>
    </p:spTree>
  </p:cSld>
  <p:clrMapOvr>
    <a:masterClrMapping/>
  </p:clrMapOvr>
  <p:transition spd="fast" advClick="1">
    <p:fade/>
  </p:transition>
</p:sld>
</file>

<file path=ppt/slides/slide72.xml><?xml version="1.0" encoding="utf-8"?>
<p:sld xmlns:a="http://schemas.openxmlformats.org/drawingml/2006/main" xmlns:p="http://schemas.openxmlformats.org/presentationml/2006/main" xmlns:r="http://schemas.openxmlformats.org/officeDocument/2006/relationships" showMasterSp="1">
  <p:cSld>
    <p:bg>
      <p:bgPr>
        <a:solidFill>
          <a:srgbClr val="F1DFD6"/>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72</a:t>
            </a:r>
          </a:p>
        </p:txBody>
      </p:sp>
      <p:sp>
        <p:nvSpPr>
          <p:cNvPr id="3" name="Text 2"/>
          <p:cNvSpPr txBox="1"/>
          <p:nvPr/>
        </p:nvSpPr>
        <p:spPr>
          <a:xfrm>
            <a:off x="594360" y="393192"/>
            <a:ext cx="8961120" cy="222630"/>
          </a:xfrm>
          <a:prstGeom prst="rect">
            <a:avLst/>
          </a:prstGeom>
          <a:noFill/>
        </p:spPr>
        <p:txBody>
          <a:bodyPr wrap="none" lIns="0" rIns="0" tIns="0" bIns="0" anchor="t">
            <a:spAutoFit/>
          </a:bodyPr>
          <a:lstStyle/>
          <a:p>
            <a:pPr>
              <a:lnSpc>
                <a:spcPts val="1356"/>
              </a:lnSpc>
              <a:spcBef>
                <a:spcPts val="0"/>
              </a:spcBef>
              <a:spcAft>
                <a:spcPts val="0"/>
              </a:spcAft>
              <a:defRPr sz="1150" b="1">
                <a:solidFill>
                  <a:srgbClr val="234B42"/>
                </a:solidFill>
                <a:latin typeface="Inter"/>
              </a:defRPr>
            </a:pPr>
            <a:r>
              <a:rPr lang="de-DE"/>
              <a:t>FALLARBEIT · LEITFRAGEN</a:t>
            </a:r>
          </a:p>
        </p:txBody>
      </p:sp>
      <p:sp>
        <p:nvSpPr>
          <p:cNvPr id="4" name="Text 3"/>
          <p:cNvSpPr txBox="1"/>
          <p:nvPr/>
        </p:nvSpPr>
        <p:spPr>
          <a:xfrm>
            <a:off x="594360" y="804672"/>
            <a:ext cx="10789920" cy="469900"/>
          </a:xfrm>
          <a:prstGeom prst="rect">
            <a:avLst/>
          </a:prstGeom>
          <a:noFill/>
        </p:spPr>
        <p:txBody>
          <a:bodyPr wrap="none" lIns="0" rIns="0" tIns="0" bIns="0" anchor="t">
            <a:spAutoFit/>
          </a:bodyPr>
          <a:lstStyle/>
          <a:p>
            <a:pPr>
              <a:lnSpc>
                <a:spcPts val="3304"/>
              </a:lnSpc>
              <a:spcBef>
                <a:spcPts val="0"/>
              </a:spcBef>
              <a:spcAft>
                <a:spcPts val="0"/>
              </a:spcAft>
              <a:defRPr sz="2800" b="1">
                <a:solidFill>
                  <a:srgbClr val="234B42"/>
                </a:solidFill>
                <a:latin typeface="Manrope"/>
              </a:defRPr>
            </a:pPr>
            <a:r>
              <a:rPr lang="de-DE"/>
              <a:t>Leitfragen für die Fallarbeit</a:t>
            </a:r>
          </a:p>
        </p:txBody>
      </p:sp>
      <p:sp>
        <p:nvSpPr>
          <p:cNvPr id="5" name="Text 4"/>
          <p:cNvSpPr txBox="1"/>
          <p:nvPr/>
        </p:nvSpPr>
        <p:spPr>
          <a:xfrm>
            <a:off x="658368" y="2048256"/>
            <a:ext cx="1828800" cy="1129284"/>
          </a:xfrm>
          <a:prstGeom prst="rect">
            <a:avLst/>
          </a:prstGeom>
          <a:noFill/>
        </p:spPr>
        <p:txBody>
          <a:bodyPr wrap="none" lIns="0" rIns="0" tIns="0" bIns="0" anchor="t">
            <a:spAutoFit/>
          </a:bodyPr>
          <a:lstStyle/>
          <a:p>
            <a:pPr>
              <a:lnSpc>
                <a:spcPts val="8496"/>
              </a:lnSpc>
              <a:spcBef>
                <a:spcPts val="0"/>
              </a:spcBef>
              <a:spcAft>
                <a:spcPts val="0"/>
              </a:spcAft>
              <a:defRPr sz="7200" b="1">
                <a:solidFill>
                  <a:srgbClr val="D68B73"/>
                </a:solidFill>
                <a:latin typeface="Manrope"/>
              </a:defRPr>
            </a:pPr>
            <a:r>
              <a:rPr lang="de-DE"/>
              <a:t>02</a:t>
            </a:r>
          </a:p>
        </p:txBody>
      </p:sp>
      <p:sp>
        <p:nvSpPr>
          <p:cNvPr id="6" name="Text 5"/>
          <p:cNvSpPr txBox="1"/>
          <p:nvPr/>
        </p:nvSpPr>
        <p:spPr>
          <a:xfrm>
            <a:off x="2788920" y="2084831"/>
            <a:ext cx="8412480" cy="2606040"/>
          </a:xfrm>
          <a:prstGeom prst="rect">
            <a:avLst/>
          </a:prstGeom>
          <a:noFill/>
        </p:spPr>
        <p:txBody>
          <a:bodyPr wrap="none" lIns="0" rIns="0" tIns="0" bIns="0" anchor="t">
            <a:spAutoFit/>
          </a:bodyPr>
          <a:lstStyle/>
          <a:p>
            <a:pPr>
              <a:lnSpc>
                <a:spcPts val="4025"/>
              </a:lnSpc>
              <a:spcBef>
                <a:spcPts val="0"/>
              </a:spcBef>
              <a:spcAft>
                <a:spcPts val="0"/>
              </a:spcAft>
              <a:defRPr sz="3500" b="1">
                <a:solidFill>
                  <a:srgbClr val="234B42"/>
                </a:solidFill>
                <a:latin typeface="Manrope"/>
              </a:defRPr>
            </a:pPr>
            <a:r>
              <a:rPr lang="de-DE"/>
              <a:t>Wann gelingt die Situation und welche</a:t>
            </a:r>
          </a:p>
          <a:p>
            <a:pPr>
              <a:lnSpc>
                <a:spcPts val="4025"/>
              </a:lnSpc>
              <a:spcBef>
                <a:spcPts val="0"/>
              </a:spcBef>
              <a:spcAft>
                <a:spcPts val="0"/>
              </a:spcAft>
              <a:defRPr sz="3500" b="1">
                <a:solidFill>
                  <a:srgbClr val="234B42"/>
                </a:solidFill>
                <a:latin typeface="Manrope"/>
              </a:defRPr>
            </a:pPr>
            <a:r>
              <a:rPr lang="de-DE"/>
              <a:t>Fähigkeiten zeigt das Kind?</a:t>
            </a:r>
          </a:p>
        </p:txBody>
      </p:sp>
      <p:sp>
        <p:nvSpPr>
          <p:cNvPr id="7" name="Rectangle 6"/>
          <p:cNvSpPr/>
          <p:nvPr/>
        </p:nvSpPr>
        <p:spPr>
          <a:xfrm>
            <a:off x="2816352" y="5120640"/>
            <a:ext cx="539496" cy="64008"/>
          </a:xfrm>
          <a:prstGeom prst="rect">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547872" y="5120640"/>
            <a:ext cx="539496" cy="64008"/>
          </a:xfrm>
          <a:prstGeom prst="rect">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79392" y="5120640"/>
            <a:ext cx="539496" cy="64008"/>
          </a:xfrm>
          <a:prstGeom prst="rect">
            <a:avLst/>
          </a:prstGeom>
          <a:solidFill>
            <a:srgbClr val="D68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10912" y="5120640"/>
            <a:ext cx="539496" cy="64008"/>
          </a:xfrm>
          <a:prstGeom prst="rect">
            <a:avLst/>
          </a:prstGeom>
          <a:solidFill>
            <a:srgbClr val="D68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10"/>
          <p:cNvSpPr txBox="1"/>
          <p:nvPr/>
        </p:nvSpPr>
        <p:spPr>
          <a:xfrm>
            <a:off x="2788920" y="5449824"/>
            <a:ext cx="7040880" cy="230123"/>
          </a:xfrm>
          <a:prstGeom prst="rect">
            <a:avLst/>
          </a:prstGeom>
          <a:noFill/>
        </p:spPr>
        <p:txBody>
          <a:bodyPr wrap="none" lIns="0" rIns="0" tIns="0" bIns="0" anchor="t">
            <a:spAutoFit/>
          </a:bodyPr>
          <a:lstStyle/>
          <a:p>
            <a:pPr>
              <a:lnSpc>
                <a:spcPts val="1416"/>
              </a:lnSpc>
              <a:spcBef>
                <a:spcPts val="0"/>
              </a:spcBef>
              <a:spcAft>
                <a:spcPts val="0"/>
              </a:spcAft>
              <a:defRPr sz="1200" b="1">
                <a:solidFill>
                  <a:srgbClr val="234B42"/>
                </a:solidFill>
                <a:latin typeface="Inter"/>
              </a:defRPr>
            </a:pPr>
            <a:r>
              <a:rPr lang="de-DE"/>
              <a:t>FRAGE 2 VON 4</a:t>
            </a:r>
          </a:p>
        </p:txBody>
      </p:sp>
    </p:spTree>
  </p:cSld>
  <p:clrMapOvr>
    <a:masterClrMapping/>
  </p:clrMapOvr>
  <p:transition spd="fast" advClick="1">
    <p:fade/>
  </p:transition>
</p:sld>
</file>

<file path=ppt/slides/slide73.xml><?xml version="1.0" encoding="utf-8"?>
<p:sld xmlns:a="http://schemas.openxmlformats.org/drawingml/2006/main" xmlns:p="http://schemas.openxmlformats.org/presentationml/2006/main" xmlns:r="http://schemas.openxmlformats.org/officeDocument/2006/relationships" showMasterSp="1">
  <p:cSld>
    <p:bg>
      <p:bgPr>
        <a:solidFill>
          <a:srgbClr val="F1DFD6"/>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73</a:t>
            </a:r>
          </a:p>
        </p:txBody>
      </p:sp>
      <p:sp>
        <p:nvSpPr>
          <p:cNvPr id="3" name="Text 2"/>
          <p:cNvSpPr txBox="1"/>
          <p:nvPr/>
        </p:nvSpPr>
        <p:spPr>
          <a:xfrm>
            <a:off x="594360" y="393192"/>
            <a:ext cx="8961120" cy="222630"/>
          </a:xfrm>
          <a:prstGeom prst="rect">
            <a:avLst/>
          </a:prstGeom>
          <a:noFill/>
        </p:spPr>
        <p:txBody>
          <a:bodyPr wrap="none" lIns="0" rIns="0" tIns="0" bIns="0" anchor="t">
            <a:spAutoFit/>
          </a:bodyPr>
          <a:lstStyle/>
          <a:p>
            <a:pPr>
              <a:lnSpc>
                <a:spcPts val="1356"/>
              </a:lnSpc>
              <a:spcBef>
                <a:spcPts val="0"/>
              </a:spcBef>
              <a:spcAft>
                <a:spcPts val="0"/>
              </a:spcAft>
              <a:defRPr sz="1150" b="1">
                <a:solidFill>
                  <a:srgbClr val="234B42"/>
                </a:solidFill>
                <a:latin typeface="Inter"/>
              </a:defRPr>
            </a:pPr>
            <a:r>
              <a:rPr lang="de-DE"/>
              <a:t>FALLARBEIT · LEITFRAGEN</a:t>
            </a:r>
          </a:p>
        </p:txBody>
      </p:sp>
      <p:sp>
        <p:nvSpPr>
          <p:cNvPr id="4" name="Text 3"/>
          <p:cNvSpPr txBox="1"/>
          <p:nvPr/>
        </p:nvSpPr>
        <p:spPr>
          <a:xfrm>
            <a:off x="594360" y="804672"/>
            <a:ext cx="10789920" cy="469900"/>
          </a:xfrm>
          <a:prstGeom prst="rect">
            <a:avLst/>
          </a:prstGeom>
          <a:noFill/>
        </p:spPr>
        <p:txBody>
          <a:bodyPr wrap="none" lIns="0" rIns="0" tIns="0" bIns="0" anchor="t">
            <a:spAutoFit/>
          </a:bodyPr>
          <a:lstStyle/>
          <a:p>
            <a:pPr>
              <a:lnSpc>
                <a:spcPts val="3304"/>
              </a:lnSpc>
              <a:spcBef>
                <a:spcPts val="0"/>
              </a:spcBef>
              <a:spcAft>
                <a:spcPts val="0"/>
              </a:spcAft>
              <a:defRPr sz="2800" b="1">
                <a:solidFill>
                  <a:srgbClr val="234B42"/>
                </a:solidFill>
                <a:latin typeface="Manrope"/>
              </a:defRPr>
            </a:pPr>
            <a:r>
              <a:rPr lang="de-DE"/>
              <a:t>Leitfragen für die Fallarbeit</a:t>
            </a:r>
          </a:p>
        </p:txBody>
      </p:sp>
      <p:sp>
        <p:nvSpPr>
          <p:cNvPr id="5" name="Text 4"/>
          <p:cNvSpPr txBox="1"/>
          <p:nvPr/>
        </p:nvSpPr>
        <p:spPr>
          <a:xfrm>
            <a:off x="658368" y="2048256"/>
            <a:ext cx="1828800" cy="1129284"/>
          </a:xfrm>
          <a:prstGeom prst="rect">
            <a:avLst/>
          </a:prstGeom>
          <a:noFill/>
        </p:spPr>
        <p:txBody>
          <a:bodyPr wrap="none" lIns="0" rIns="0" tIns="0" bIns="0" anchor="t">
            <a:spAutoFit/>
          </a:bodyPr>
          <a:lstStyle/>
          <a:p>
            <a:pPr>
              <a:lnSpc>
                <a:spcPts val="8496"/>
              </a:lnSpc>
              <a:spcBef>
                <a:spcPts val="0"/>
              </a:spcBef>
              <a:spcAft>
                <a:spcPts val="0"/>
              </a:spcAft>
              <a:defRPr sz="7200" b="1">
                <a:solidFill>
                  <a:srgbClr val="D68B73"/>
                </a:solidFill>
                <a:latin typeface="Manrope"/>
              </a:defRPr>
            </a:pPr>
            <a:r>
              <a:rPr lang="de-DE"/>
              <a:t>03</a:t>
            </a:r>
          </a:p>
        </p:txBody>
      </p:sp>
      <p:sp>
        <p:nvSpPr>
          <p:cNvPr id="6" name="Text 5"/>
          <p:cNvSpPr txBox="1"/>
          <p:nvPr/>
        </p:nvSpPr>
        <p:spPr>
          <a:xfrm>
            <a:off x="2788920" y="2084831"/>
            <a:ext cx="8412480" cy="2606040"/>
          </a:xfrm>
          <a:prstGeom prst="rect">
            <a:avLst/>
          </a:prstGeom>
          <a:noFill/>
        </p:spPr>
        <p:txBody>
          <a:bodyPr wrap="none" lIns="0" rIns="0" tIns="0" bIns="0" anchor="t">
            <a:spAutoFit/>
          </a:bodyPr>
          <a:lstStyle/>
          <a:p>
            <a:pPr>
              <a:lnSpc>
                <a:spcPts val="4025"/>
              </a:lnSpc>
              <a:spcBef>
                <a:spcPts val="0"/>
              </a:spcBef>
              <a:spcAft>
                <a:spcPts val="0"/>
              </a:spcAft>
              <a:defRPr sz="3500" b="1">
                <a:solidFill>
                  <a:srgbClr val="234B42"/>
                </a:solidFill>
                <a:latin typeface="Manrope"/>
              </a:defRPr>
            </a:pPr>
            <a:r>
              <a:rPr lang="de-DE"/>
              <a:t>Welche körperlichen, kommunikativen</a:t>
            </a:r>
          </a:p>
          <a:p>
            <a:pPr>
              <a:lnSpc>
                <a:spcPts val="4025"/>
              </a:lnSpc>
              <a:spcBef>
                <a:spcPts val="0"/>
              </a:spcBef>
              <a:spcAft>
                <a:spcPts val="0"/>
              </a:spcAft>
              <a:defRPr sz="3500" b="1">
                <a:solidFill>
                  <a:srgbClr val="234B42"/>
                </a:solidFill>
                <a:latin typeface="Manrope"/>
              </a:defRPr>
            </a:pPr>
            <a:r>
              <a:rPr lang="de-DE"/>
              <a:t>oder räumlichen Bedingungen wirken</a:t>
            </a:r>
          </a:p>
          <a:p>
            <a:pPr>
              <a:lnSpc>
                <a:spcPts val="4025"/>
              </a:lnSpc>
              <a:spcBef>
                <a:spcPts val="0"/>
              </a:spcBef>
              <a:spcAft>
                <a:spcPts val="0"/>
              </a:spcAft>
              <a:defRPr sz="3500" b="1">
                <a:solidFill>
                  <a:srgbClr val="234B42"/>
                </a:solidFill>
                <a:latin typeface="Manrope"/>
              </a:defRPr>
            </a:pPr>
            <a:r>
              <a:rPr lang="de-DE"/>
              <a:t>mit?</a:t>
            </a:r>
          </a:p>
        </p:txBody>
      </p:sp>
      <p:sp>
        <p:nvSpPr>
          <p:cNvPr id="7" name="Rectangle 6"/>
          <p:cNvSpPr/>
          <p:nvPr/>
        </p:nvSpPr>
        <p:spPr>
          <a:xfrm>
            <a:off x="2816352" y="5120640"/>
            <a:ext cx="539496" cy="64008"/>
          </a:xfrm>
          <a:prstGeom prst="rect">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547872" y="5120640"/>
            <a:ext cx="539496" cy="64008"/>
          </a:xfrm>
          <a:prstGeom prst="rect">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79392" y="5120640"/>
            <a:ext cx="539496" cy="64008"/>
          </a:xfrm>
          <a:prstGeom prst="rect">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10912" y="5120640"/>
            <a:ext cx="539496" cy="64008"/>
          </a:xfrm>
          <a:prstGeom prst="rect">
            <a:avLst/>
          </a:prstGeom>
          <a:solidFill>
            <a:srgbClr val="D68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10"/>
          <p:cNvSpPr txBox="1"/>
          <p:nvPr/>
        </p:nvSpPr>
        <p:spPr>
          <a:xfrm>
            <a:off x="2788920" y="5449824"/>
            <a:ext cx="7040880" cy="230123"/>
          </a:xfrm>
          <a:prstGeom prst="rect">
            <a:avLst/>
          </a:prstGeom>
          <a:noFill/>
        </p:spPr>
        <p:txBody>
          <a:bodyPr wrap="none" lIns="0" rIns="0" tIns="0" bIns="0" anchor="t">
            <a:spAutoFit/>
          </a:bodyPr>
          <a:lstStyle/>
          <a:p>
            <a:pPr>
              <a:lnSpc>
                <a:spcPts val="1416"/>
              </a:lnSpc>
              <a:spcBef>
                <a:spcPts val="0"/>
              </a:spcBef>
              <a:spcAft>
                <a:spcPts val="0"/>
              </a:spcAft>
              <a:defRPr sz="1200" b="1">
                <a:solidFill>
                  <a:srgbClr val="234B42"/>
                </a:solidFill>
                <a:latin typeface="Inter"/>
              </a:defRPr>
            </a:pPr>
            <a:r>
              <a:rPr lang="de-DE"/>
              <a:t>FRAGE 3 VON 4</a:t>
            </a:r>
          </a:p>
        </p:txBody>
      </p:sp>
    </p:spTree>
  </p:cSld>
  <p:clrMapOvr>
    <a:masterClrMapping/>
  </p:clrMapOvr>
  <p:transition spd="fast" advClick="1">
    <p:fade/>
  </p:transition>
</p:sld>
</file>

<file path=ppt/slides/slide74.xml><?xml version="1.0" encoding="utf-8"?>
<p:sld xmlns:a="http://schemas.openxmlformats.org/drawingml/2006/main" xmlns:p="http://schemas.openxmlformats.org/presentationml/2006/main" xmlns:r="http://schemas.openxmlformats.org/officeDocument/2006/relationships" showMasterSp="1">
  <p:cSld>
    <p:bg>
      <p:bgPr>
        <a:solidFill>
          <a:srgbClr val="F1DFD6"/>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74</a:t>
            </a:r>
          </a:p>
        </p:txBody>
      </p:sp>
      <p:sp>
        <p:nvSpPr>
          <p:cNvPr id="3" name="Text 2"/>
          <p:cNvSpPr txBox="1"/>
          <p:nvPr/>
        </p:nvSpPr>
        <p:spPr>
          <a:xfrm>
            <a:off x="594360" y="393192"/>
            <a:ext cx="8961120" cy="222630"/>
          </a:xfrm>
          <a:prstGeom prst="rect">
            <a:avLst/>
          </a:prstGeom>
          <a:noFill/>
        </p:spPr>
        <p:txBody>
          <a:bodyPr wrap="none" lIns="0" rIns="0" tIns="0" bIns="0" anchor="t">
            <a:spAutoFit/>
          </a:bodyPr>
          <a:lstStyle/>
          <a:p>
            <a:pPr>
              <a:lnSpc>
                <a:spcPts val="1356"/>
              </a:lnSpc>
              <a:spcBef>
                <a:spcPts val="0"/>
              </a:spcBef>
              <a:spcAft>
                <a:spcPts val="0"/>
              </a:spcAft>
              <a:defRPr sz="1150" b="1">
                <a:solidFill>
                  <a:srgbClr val="234B42"/>
                </a:solidFill>
                <a:latin typeface="Inter"/>
              </a:defRPr>
            </a:pPr>
            <a:r>
              <a:rPr lang="de-DE"/>
              <a:t>FALLARBEIT · LEITFRAGEN</a:t>
            </a:r>
          </a:p>
        </p:txBody>
      </p:sp>
      <p:sp>
        <p:nvSpPr>
          <p:cNvPr id="4" name="Text 3"/>
          <p:cNvSpPr txBox="1"/>
          <p:nvPr/>
        </p:nvSpPr>
        <p:spPr>
          <a:xfrm>
            <a:off x="594360" y="804672"/>
            <a:ext cx="10789920" cy="469900"/>
          </a:xfrm>
          <a:prstGeom prst="rect">
            <a:avLst/>
          </a:prstGeom>
          <a:noFill/>
        </p:spPr>
        <p:txBody>
          <a:bodyPr wrap="none" lIns="0" rIns="0" tIns="0" bIns="0" anchor="t">
            <a:spAutoFit/>
          </a:bodyPr>
          <a:lstStyle/>
          <a:p>
            <a:pPr>
              <a:lnSpc>
                <a:spcPts val="3304"/>
              </a:lnSpc>
              <a:spcBef>
                <a:spcPts val="0"/>
              </a:spcBef>
              <a:spcAft>
                <a:spcPts val="0"/>
              </a:spcAft>
              <a:defRPr sz="2800" b="1">
                <a:solidFill>
                  <a:srgbClr val="234B42"/>
                </a:solidFill>
                <a:latin typeface="Manrope"/>
              </a:defRPr>
            </a:pPr>
            <a:r>
              <a:rPr lang="de-DE"/>
              <a:t>Leitfragen für die Fallarbeit</a:t>
            </a:r>
          </a:p>
        </p:txBody>
      </p:sp>
      <p:sp>
        <p:nvSpPr>
          <p:cNvPr id="5" name="Text 4"/>
          <p:cNvSpPr txBox="1"/>
          <p:nvPr/>
        </p:nvSpPr>
        <p:spPr>
          <a:xfrm>
            <a:off x="658368" y="2048256"/>
            <a:ext cx="1828800" cy="1129284"/>
          </a:xfrm>
          <a:prstGeom prst="rect">
            <a:avLst/>
          </a:prstGeom>
          <a:noFill/>
        </p:spPr>
        <p:txBody>
          <a:bodyPr wrap="none" lIns="0" rIns="0" tIns="0" bIns="0" anchor="t">
            <a:spAutoFit/>
          </a:bodyPr>
          <a:lstStyle/>
          <a:p>
            <a:pPr>
              <a:lnSpc>
                <a:spcPts val="8496"/>
              </a:lnSpc>
              <a:spcBef>
                <a:spcPts val="0"/>
              </a:spcBef>
              <a:spcAft>
                <a:spcPts val="0"/>
              </a:spcAft>
              <a:defRPr sz="7200" b="1">
                <a:solidFill>
                  <a:srgbClr val="D68B73"/>
                </a:solidFill>
                <a:latin typeface="Manrope"/>
              </a:defRPr>
            </a:pPr>
            <a:r>
              <a:rPr lang="de-DE"/>
              <a:t>04</a:t>
            </a:r>
          </a:p>
        </p:txBody>
      </p:sp>
      <p:sp>
        <p:nvSpPr>
          <p:cNvPr id="6" name="Text 5"/>
          <p:cNvSpPr txBox="1"/>
          <p:nvPr/>
        </p:nvSpPr>
        <p:spPr>
          <a:xfrm>
            <a:off x="2788920" y="2084831"/>
            <a:ext cx="8412480" cy="2606040"/>
          </a:xfrm>
          <a:prstGeom prst="rect">
            <a:avLst/>
          </a:prstGeom>
          <a:noFill/>
        </p:spPr>
        <p:txBody>
          <a:bodyPr wrap="none" lIns="0" rIns="0" tIns="0" bIns="0" anchor="t">
            <a:spAutoFit/>
          </a:bodyPr>
          <a:lstStyle/>
          <a:p>
            <a:pPr>
              <a:lnSpc>
                <a:spcPts val="4025"/>
              </a:lnSpc>
              <a:spcBef>
                <a:spcPts val="0"/>
              </a:spcBef>
              <a:spcAft>
                <a:spcPts val="0"/>
              </a:spcAft>
              <a:defRPr sz="3500" b="1">
                <a:solidFill>
                  <a:srgbClr val="234B42"/>
                </a:solidFill>
                <a:latin typeface="Manrope"/>
              </a:defRPr>
            </a:pPr>
            <a:r>
              <a:rPr lang="de-DE"/>
              <a:t>Welche Unterstützung ist im Alltag</a:t>
            </a:r>
          </a:p>
          <a:p>
            <a:pPr>
              <a:lnSpc>
                <a:spcPts val="4025"/>
              </a:lnSpc>
              <a:spcBef>
                <a:spcPts val="0"/>
              </a:spcBef>
              <a:spcAft>
                <a:spcPts val="0"/>
              </a:spcAft>
              <a:defRPr sz="3500" b="1">
                <a:solidFill>
                  <a:srgbClr val="234B42"/>
                </a:solidFill>
                <a:latin typeface="Manrope"/>
              </a:defRPr>
            </a:pPr>
            <a:r>
              <a:rPr lang="de-DE"/>
              <a:t>umsetzbar?</a:t>
            </a:r>
          </a:p>
        </p:txBody>
      </p:sp>
      <p:sp>
        <p:nvSpPr>
          <p:cNvPr id="7" name="Rectangle 6"/>
          <p:cNvSpPr/>
          <p:nvPr/>
        </p:nvSpPr>
        <p:spPr>
          <a:xfrm>
            <a:off x="2816352" y="5120640"/>
            <a:ext cx="539496" cy="64008"/>
          </a:xfrm>
          <a:prstGeom prst="rect">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547872" y="5120640"/>
            <a:ext cx="539496" cy="64008"/>
          </a:xfrm>
          <a:prstGeom prst="rect">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79392" y="5120640"/>
            <a:ext cx="539496" cy="64008"/>
          </a:xfrm>
          <a:prstGeom prst="rect">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10912" y="5120640"/>
            <a:ext cx="539496" cy="64008"/>
          </a:xfrm>
          <a:prstGeom prst="rect">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10"/>
          <p:cNvSpPr txBox="1"/>
          <p:nvPr/>
        </p:nvSpPr>
        <p:spPr>
          <a:xfrm>
            <a:off x="2788920" y="5449824"/>
            <a:ext cx="7040880" cy="230123"/>
          </a:xfrm>
          <a:prstGeom prst="rect">
            <a:avLst/>
          </a:prstGeom>
          <a:noFill/>
        </p:spPr>
        <p:txBody>
          <a:bodyPr wrap="none" lIns="0" rIns="0" tIns="0" bIns="0" anchor="t">
            <a:spAutoFit/>
          </a:bodyPr>
          <a:lstStyle/>
          <a:p>
            <a:pPr>
              <a:lnSpc>
                <a:spcPts val="1416"/>
              </a:lnSpc>
              <a:spcBef>
                <a:spcPts val="0"/>
              </a:spcBef>
              <a:spcAft>
                <a:spcPts val="0"/>
              </a:spcAft>
              <a:defRPr sz="1200" b="1">
                <a:solidFill>
                  <a:srgbClr val="234B42"/>
                </a:solidFill>
                <a:latin typeface="Inter"/>
              </a:defRPr>
            </a:pPr>
            <a:r>
              <a:rPr lang="de-DE"/>
              <a:t>FRAGE 4 VON 4</a:t>
            </a:r>
          </a:p>
        </p:txBody>
      </p:sp>
    </p:spTree>
  </p:cSld>
  <p:clrMapOvr>
    <a:masterClrMapping/>
  </p:clrMapOvr>
  <p:transition spd="fast" advClick="1">
    <p:fade/>
  </p:transition>
</p:sld>
</file>

<file path=ppt/slides/slide75.xml><?xml version="1.0" encoding="utf-8"?>
<p:sld xmlns:a="http://schemas.openxmlformats.org/drawingml/2006/main" xmlns:p="http://schemas.openxmlformats.org/presentationml/2006/main" xmlns:r="http://schemas.openxmlformats.org/officeDocument/2006/relationships" showMasterSp="1">
  <p:cSld>
    <p:bg>
      <p:bgPr>
        <a:solidFill>
          <a:srgbClr val="F7F5EF"/>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75</a:t>
            </a:r>
          </a:p>
        </p:txBody>
      </p:sp>
      <p:sp>
        <p:nvSpPr>
          <p:cNvPr id="3" name="Text 2"/>
          <p:cNvSpPr txBox="1"/>
          <p:nvPr/>
        </p:nvSpPr>
        <p:spPr>
          <a:xfrm>
            <a:off x="594360" y="393192"/>
            <a:ext cx="10881360" cy="203644"/>
          </a:xfrm>
          <a:prstGeom prst="rect">
            <a:avLst/>
          </a:prstGeom>
          <a:noFill/>
        </p:spPr>
        <p:txBody>
          <a:bodyPr wrap="none" lIns="0" rIns="0" tIns="0" bIns="0" anchor="t">
            <a:spAutoFit/>
          </a:bodyPr>
          <a:lstStyle/>
          <a:p>
            <a:pPr>
              <a:lnSpc>
                <a:spcPts val="1207"/>
              </a:lnSpc>
              <a:spcBef>
                <a:spcPts val="0"/>
              </a:spcBef>
              <a:spcAft>
                <a:spcPts val="0"/>
              </a:spcAft>
              <a:defRPr sz="1150" b="1">
                <a:solidFill>
                  <a:srgbClr val="234B42"/>
                </a:solidFill>
                <a:latin typeface="Inter"/>
              </a:defRPr>
            </a:pPr>
            <a:r>
              <a:rPr lang="de-DE"/>
              <a:t>FALLKARTE A · EMIL</a:t>
            </a:r>
          </a:p>
        </p:txBody>
      </p:sp>
      <p:sp>
        <p:nvSpPr>
          <p:cNvPr id="4" name="Text 3"/>
          <p:cNvSpPr txBox="1"/>
          <p:nvPr/>
        </p:nvSpPr>
        <p:spPr>
          <a:xfrm>
            <a:off x="594360" y="804672"/>
            <a:ext cx="10991088"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Fall A Emil und der Morgenkreis</a:t>
            </a:r>
          </a:p>
        </p:txBody>
      </p:sp>
      <p:pic>
        <p:nvPicPr>
          <p:cNvPr id="5" name="Picture 4" descr="01_kita_cover.png"/>
          <p:cNvPicPr>
            <a:picLocks noChangeAspect="1"/>
          </p:cNvPicPr>
          <p:nvPr/>
        </p:nvPicPr>
        <p:blipFill>
          <a:blip r:embed="rId3"/>
          <a:srcRect l="7928" r="7928"/>
          <a:stretch>
            <a:fillRect/>
          </a:stretch>
        </p:blipFill>
        <p:spPr>
          <a:xfrm>
            <a:off x="594360" y="1644396"/>
            <a:ext cx="2788920" cy="1865376"/>
          </a:xfrm>
          <a:prstGeom prst="rect">
            <a:avLst/>
          </a:prstGeom>
        </p:spPr>
      </p:pic>
      <p:sp>
        <p:nvSpPr>
          <p:cNvPr id="6" name="Text 5"/>
          <p:cNvSpPr txBox="1"/>
          <p:nvPr/>
        </p:nvSpPr>
        <p:spPr>
          <a:xfrm>
            <a:off x="594360" y="3747515"/>
            <a:ext cx="2788920" cy="245110"/>
          </a:xfrm>
          <a:prstGeom prst="rect">
            <a:avLst/>
          </a:prstGeom>
          <a:noFill/>
        </p:spPr>
        <p:txBody>
          <a:bodyPr wrap="none" lIns="0" rIns="0" tIns="0" bIns="0" anchor="t">
            <a:spAutoFit/>
          </a:bodyPr>
          <a:lstStyle/>
          <a:p>
            <a:pPr>
              <a:lnSpc>
                <a:spcPts val="1534"/>
              </a:lnSpc>
              <a:spcBef>
                <a:spcPts val="0"/>
              </a:spcBef>
              <a:spcAft>
                <a:spcPts val="0"/>
              </a:spcAft>
              <a:defRPr sz="1300" b="1">
                <a:solidFill>
                  <a:srgbClr val="63736A"/>
                </a:solidFill>
                <a:latin typeface="Inter"/>
              </a:defRPr>
            </a:pPr>
            <a:r>
              <a:rPr lang="de-DE"/>
              <a:t>Fiktive Ausgangssituation</a:t>
            </a:r>
          </a:p>
        </p:txBody>
      </p:sp>
      <p:sp>
        <p:nvSpPr>
          <p:cNvPr id="7" name="Text 6"/>
          <p:cNvSpPr txBox="1"/>
          <p:nvPr/>
        </p:nvSpPr>
        <p:spPr>
          <a:xfrm>
            <a:off x="594360" y="4177284"/>
            <a:ext cx="2788920" cy="1691640"/>
          </a:xfrm>
          <a:prstGeom prst="rect">
            <a:avLst/>
          </a:prstGeom>
          <a:noFill/>
        </p:spPr>
        <p:txBody>
          <a:bodyPr wrap="none" lIns="0" rIns="0" tIns="0" bIns="0" anchor="t">
            <a:spAutoFit/>
          </a:bodyPr>
          <a:lstStyle/>
          <a:p>
            <a:pPr>
              <a:lnSpc>
                <a:spcPts val="2477"/>
              </a:lnSpc>
              <a:spcBef>
                <a:spcPts val="0"/>
              </a:spcBef>
              <a:spcAft>
                <a:spcPts val="0"/>
              </a:spcAft>
              <a:defRPr sz="2100" b="1">
                <a:solidFill>
                  <a:srgbClr val="234B42"/>
                </a:solidFill>
                <a:latin typeface="Manrope"/>
              </a:defRPr>
            </a:pPr>
            <a:r>
              <a:rPr lang="de-DE"/>
              <a:t>4 Jahre, keine</a:t>
            </a:r>
          </a:p>
          <a:p>
            <a:pPr>
              <a:lnSpc>
                <a:spcPts val="2477"/>
              </a:lnSpc>
              <a:spcBef>
                <a:spcPts val="0"/>
              </a:spcBef>
              <a:spcAft>
                <a:spcPts val="0"/>
              </a:spcAft>
              <a:defRPr sz="2100" b="1">
                <a:solidFill>
                  <a:srgbClr val="234B42"/>
                </a:solidFill>
                <a:latin typeface="Manrope"/>
              </a:defRPr>
            </a:pPr>
            <a:r>
              <a:rPr lang="de-DE"/>
              <a:t>Diagnose</a:t>
            </a:r>
          </a:p>
        </p:txBody>
      </p:sp>
      <p:sp>
        <p:nvSpPr>
          <p:cNvPr id="8" name="Rounded Rectangle 7"/>
          <p:cNvSpPr/>
          <p:nvPr/>
        </p:nvSpPr>
        <p:spPr>
          <a:xfrm>
            <a:off x="3639312" y="1644396"/>
            <a:ext cx="3730752" cy="2093976"/>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8"/>
          <p:cNvSpPr txBox="1"/>
          <p:nvPr/>
        </p:nvSpPr>
        <p:spPr>
          <a:xfrm>
            <a:off x="3877056" y="1854708"/>
            <a:ext cx="3255264" cy="290067"/>
          </a:xfrm>
          <a:prstGeom prst="rect">
            <a:avLst/>
          </a:prstGeom>
          <a:noFill/>
        </p:spPr>
        <p:txBody>
          <a:bodyPr wrap="none" lIns="0" rIns="0" tIns="0" bIns="0" anchor="t">
            <a:spAutoFit/>
          </a:bodyPr>
          <a:lstStyle/>
          <a:p>
            <a:pPr>
              <a:lnSpc>
                <a:spcPts val="1888"/>
              </a:lnSpc>
              <a:spcBef>
                <a:spcPts val="0"/>
              </a:spcBef>
              <a:spcAft>
                <a:spcPts val="0"/>
              </a:spcAft>
              <a:defRPr sz="1600" b="1">
                <a:solidFill>
                  <a:srgbClr val="234B42"/>
                </a:solidFill>
                <a:latin typeface="Inter"/>
              </a:defRPr>
            </a:pPr>
            <a:r>
              <a:rPr lang="de-DE"/>
              <a:t>Herausforderungen</a:t>
            </a:r>
          </a:p>
        </p:txBody>
      </p:sp>
      <p:sp>
        <p:nvSpPr>
          <p:cNvPr id="10" name="Text 9"/>
          <p:cNvSpPr txBox="1"/>
          <p:nvPr/>
        </p:nvSpPr>
        <p:spPr>
          <a:xfrm>
            <a:off x="3877056" y="2330196"/>
            <a:ext cx="3255264" cy="1289304"/>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6332F"/>
                </a:solidFill>
                <a:latin typeface="Inter"/>
              </a:defRPr>
            </a:pPr>
            <a:r>
              <a:rPr lang="de-DE"/>
              <a:t>25 Minuten mit 22 Kindern</a:t>
            </a:r>
          </a:p>
          <a:p>
            <a:pPr>
              <a:lnSpc>
                <a:spcPts val="2419"/>
              </a:lnSpc>
              <a:spcBef>
                <a:spcPts val="0"/>
              </a:spcBef>
              <a:spcAft>
                <a:spcPts val="0"/>
              </a:spcAft>
              <a:defRPr sz="2050" b="0">
                <a:solidFill>
                  <a:srgbClr val="26332F"/>
                </a:solidFill>
                <a:latin typeface="Inter"/>
              </a:defRPr>
            </a:pPr>
            <a:r>
              <a:rPr lang="de-DE"/>
              <a:t>Steht auf und ruft</a:t>
            </a:r>
          </a:p>
          <a:p>
            <a:pPr>
              <a:lnSpc>
                <a:spcPts val="2419"/>
              </a:lnSpc>
              <a:spcBef>
                <a:spcPts val="0"/>
              </a:spcBef>
              <a:spcAft>
                <a:spcPts val="0"/>
              </a:spcAft>
              <a:defRPr sz="2050" b="0">
                <a:solidFill>
                  <a:srgbClr val="26332F"/>
                </a:solidFill>
                <a:latin typeface="Inter"/>
              </a:defRPr>
            </a:pPr>
            <a:r>
              <a:rPr lang="de-DE"/>
              <a:t>dazwischen</a:t>
            </a:r>
          </a:p>
        </p:txBody>
      </p:sp>
      <p:sp>
        <p:nvSpPr>
          <p:cNvPr id="11" name="Rounded Rectangle 10"/>
          <p:cNvSpPr/>
          <p:nvPr/>
        </p:nvSpPr>
        <p:spPr>
          <a:xfrm>
            <a:off x="3639312" y="3976115"/>
            <a:ext cx="3730752" cy="2093976"/>
          </a:xfrm>
          <a:prstGeom prst="roundRect">
            <a:avLst>
              <a:gd name="adj" fmla="val 6500"/>
            </a:avLst>
          </a:prstGeom>
          <a:solidFill>
            <a:srgbClr val="E9EEE5"/>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11"/>
          <p:cNvSpPr txBox="1"/>
          <p:nvPr/>
        </p:nvSpPr>
        <p:spPr>
          <a:xfrm>
            <a:off x="3877056" y="4186428"/>
            <a:ext cx="3255264" cy="290067"/>
          </a:xfrm>
          <a:prstGeom prst="rect">
            <a:avLst/>
          </a:prstGeom>
          <a:noFill/>
        </p:spPr>
        <p:txBody>
          <a:bodyPr wrap="none" lIns="0" rIns="0" tIns="0" bIns="0" anchor="t">
            <a:spAutoFit/>
          </a:bodyPr>
          <a:lstStyle/>
          <a:p>
            <a:pPr>
              <a:lnSpc>
                <a:spcPts val="1888"/>
              </a:lnSpc>
              <a:spcBef>
                <a:spcPts val="0"/>
              </a:spcBef>
              <a:spcAft>
                <a:spcPts val="0"/>
              </a:spcAft>
              <a:defRPr sz="1600" b="1">
                <a:solidFill>
                  <a:srgbClr val="234B42"/>
                </a:solidFill>
                <a:latin typeface="Inter"/>
              </a:defRPr>
            </a:pPr>
            <a:r>
              <a:rPr lang="de-DE"/>
              <a:t>Beobachtbare Stärken</a:t>
            </a:r>
          </a:p>
        </p:txBody>
      </p:sp>
      <p:sp>
        <p:nvSpPr>
          <p:cNvPr id="13" name="Text 12"/>
          <p:cNvSpPr txBox="1"/>
          <p:nvPr/>
        </p:nvSpPr>
        <p:spPr>
          <a:xfrm>
            <a:off x="3877056" y="4661915"/>
            <a:ext cx="3255264" cy="1289304"/>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6332F"/>
                </a:solidFill>
                <a:latin typeface="Inter"/>
              </a:defRPr>
            </a:pPr>
            <a:r>
              <a:rPr lang="de-DE"/>
              <a:t>Bauen und Bilderbuch zu</a:t>
            </a:r>
          </a:p>
          <a:p>
            <a:pPr>
              <a:lnSpc>
                <a:spcPts val="2419"/>
              </a:lnSpc>
              <a:spcBef>
                <a:spcPts val="0"/>
              </a:spcBef>
              <a:spcAft>
                <a:spcPts val="0"/>
              </a:spcAft>
              <a:defRPr sz="2050" b="0">
                <a:solidFill>
                  <a:srgbClr val="26332F"/>
                </a:solidFill>
                <a:latin typeface="Inter"/>
              </a:defRPr>
            </a:pPr>
            <a:r>
              <a:rPr lang="de-DE"/>
              <a:t>zweit gelingen besser</a:t>
            </a:r>
          </a:p>
        </p:txBody>
      </p:sp>
      <p:sp>
        <p:nvSpPr>
          <p:cNvPr id="14" name="Rounded Rectangle 13"/>
          <p:cNvSpPr/>
          <p:nvPr/>
        </p:nvSpPr>
        <p:spPr>
          <a:xfrm>
            <a:off x="7626096" y="1644396"/>
            <a:ext cx="3968496" cy="4425696"/>
          </a:xfrm>
          <a:prstGeom prst="roundRect">
            <a:avLst>
              <a:gd name="adj" fmla="val 6500"/>
            </a:avLst>
          </a:prstGeom>
          <a:solidFill>
            <a:srgbClr val="E9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14"/>
          <p:cNvSpPr txBox="1"/>
          <p:nvPr/>
        </p:nvSpPr>
        <p:spPr>
          <a:xfrm>
            <a:off x="7891272" y="1872996"/>
            <a:ext cx="3438144" cy="335026"/>
          </a:xfrm>
          <a:prstGeom prst="rect">
            <a:avLst/>
          </a:prstGeom>
          <a:noFill/>
        </p:spPr>
        <p:txBody>
          <a:bodyPr wrap="none" lIns="0" rIns="0" tIns="0" bIns="0" anchor="t">
            <a:spAutoFit/>
          </a:bodyPr>
          <a:lstStyle/>
          <a:p>
            <a:pPr>
              <a:lnSpc>
                <a:spcPts val="2242"/>
              </a:lnSpc>
              <a:spcBef>
                <a:spcPts val="0"/>
              </a:spcBef>
              <a:spcAft>
                <a:spcPts val="0"/>
              </a:spcAft>
              <a:defRPr sz="1900" b="1">
                <a:solidFill>
                  <a:srgbClr val="234B42"/>
                </a:solidFill>
                <a:latin typeface="Manrope"/>
              </a:defRPr>
            </a:pPr>
            <a:r>
              <a:rPr lang="de-DE"/>
              <a:t>Fragen der Gruppe</a:t>
            </a:r>
          </a:p>
        </p:txBody>
      </p:sp>
      <p:sp>
        <p:nvSpPr>
          <p:cNvPr id="16" name="Rectangle 15"/>
          <p:cNvSpPr/>
          <p:nvPr/>
        </p:nvSpPr>
        <p:spPr>
          <a:xfrm>
            <a:off x="7891272" y="2654808"/>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16"/>
          <p:cNvSpPr txBox="1"/>
          <p:nvPr/>
        </p:nvSpPr>
        <p:spPr>
          <a:xfrm>
            <a:off x="8110728" y="2531364"/>
            <a:ext cx="3218687" cy="679704"/>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Welche Anforderung ist</a:t>
            </a:r>
          </a:p>
          <a:p>
            <a:pPr>
              <a:lnSpc>
                <a:spcPts val="2477"/>
              </a:lnSpc>
              <a:spcBef>
                <a:spcPts val="0"/>
              </a:spcBef>
              <a:spcAft>
                <a:spcPts val="0"/>
              </a:spcAft>
              <a:defRPr sz="2100" b="0">
                <a:solidFill>
                  <a:srgbClr val="26332F"/>
                </a:solidFill>
                <a:latin typeface="Inter"/>
              </a:defRPr>
            </a:pPr>
            <a:r>
              <a:rPr lang="de-DE"/>
              <a:t>schwierig?</a:t>
            </a:r>
          </a:p>
        </p:txBody>
      </p:sp>
      <p:sp>
        <p:nvSpPr>
          <p:cNvPr id="18" name="Rectangle 17"/>
          <p:cNvSpPr/>
          <p:nvPr/>
        </p:nvSpPr>
        <p:spPr>
          <a:xfrm>
            <a:off x="7891272" y="3608831"/>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18"/>
          <p:cNvSpPr txBox="1"/>
          <p:nvPr/>
        </p:nvSpPr>
        <p:spPr>
          <a:xfrm>
            <a:off x="8110728" y="3485388"/>
            <a:ext cx="3218687" cy="679704"/>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Welche Ressource nutzen</a:t>
            </a:r>
          </a:p>
          <a:p>
            <a:pPr>
              <a:lnSpc>
                <a:spcPts val="2477"/>
              </a:lnSpc>
              <a:spcBef>
                <a:spcPts val="0"/>
              </a:spcBef>
              <a:spcAft>
                <a:spcPts val="0"/>
              </a:spcAft>
              <a:defRPr sz="2100" b="0">
                <a:solidFill>
                  <a:srgbClr val="26332F"/>
                </a:solidFill>
                <a:latin typeface="Inter"/>
              </a:defRPr>
            </a:pPr>
            <a:r>
              <a:rPr lang="de-DE"/>
              <a:t>wir?</a:t>
            </a:r>
          </a:p>
        </p:txBody>
      </p:sp>
      <p:sp>
        <p:nvSpPr>
          <p:cNvPr id="20" name="Rectangle 19"/>
          <p:cNvSpPr/>
          <p:nvPr/>
        </p:nvSpPr>
        <p:spPr>
          <a:xfrm>
            <a:off x="7891272" y="4562855"/>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 20"/>
          <p:cNvSpPr txBox="1"/>
          <p:nvPr/>
        </p:nvSpPr>
        <p:spPr>
          <a:xfrm>
            <a:off x="8110728" y="4439412"/>
            <a:ext cx="3218687" cy="679704"/>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Wie helfen Bewegung</a:t>
            </a:r>
          </a:p>
          <a:p>
            <a:pPr>
              <a:lnSpc>
                <a:spcPts val="2477"/>
              </a:lnSpc>
              <a:spcBef>
                <a:spcPts val="0"/>
              </a:spcBef>
              <a:spcAft>
                <a:spcPts val="0"/>
              </a:spcAft>
              <a:defRPr sz="2100" b="0">
                <a:solidFill>
                  <a:srgbClr val="26332F"/>
                </a:solidFill>
                <a:latin typeface="Inter"/>
              </a:defRPr>
            </a:pPr>
            <a:r>
              <a:rPr lang="de-DE"/>
              <a:t>oder eine aktive Aufgabe?</a:t>
            </a:r>
          </a:p>
        </p:txBody>
      </p:sp>
    </p:spTree>
  </p:cSld>
  <p:clrMapOvr>
    <a:masterClrMapping/>
  </p:clrMapOvr>
  <p:transition spd="fast" advClick="1">
    <p:fade/>
  </p:transition>
</p:sld>
</file>

<file path=ppt/slides/slide76.xml><?xml version="1.0" encoding="utf-8"?>
<p:sld xmlns:a="http://schemas.openxmlformats.org/drawingml/2006/main" xmlns:p="http://schemas.openxmlformats.org/presentationml/2006/main" xmlns:r="http://schemas.openxmlformats.org/officeDocument/2006/relationships" showMasterSp="1">
  <p:cSld>
    <p:bg>
      <p:bgPr>
        <a:solidFill>
          <a:srgbClr val="F7F5EF"/>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76</a:t>
            </a:r>
          </a:p>
        </p:txBody>
      </p:sp>
      <p:sp>
        <p:nvSpPr>
          <p:cNvPr id="3" name="Text 2"/>
          <p:cNvSpPr txBox="1"/>
          <p:nvPr/>
        </p:nvSpPr>
        <p:spPr>
          <a:xfrm>
            <a:off x="594360" y="393192"/>
            <a:ext cx="10881360" cy="203644"/>
          </a:xfrm>
          <a:prstGeom prst="rect">
            <a:avLst/>
          </a:prstGeom>
          <a:noFill/>
        </p:spPr>
        <p:txBody>
          <a:bodyPr wrap="none" lIns="0" rIns="0" tIns="0" bIns="0" anchor="t">
            <a:spAutoFit/>
          </a:bodyPr>
          <a:lstStyle/>
          <a:p>
            <a:pPr>
              <a:lnSpc>
                <a:spcPts val="1207"/>
              </a:lnSpc>
              <a:spcBef>
                <a:spcPts val="0"/>
              </a:spcBef>
              <a:spcAft>
                <a:spcPts val="0"/>
              </a:spcAft>
              <a:defRPr sz="1150" b="1">
                <a:solidFill>
                  <a:srgbClr val="234B42"/>
                </a:solidFill>
                <a:latin typeface="Inter"/>
              </a:defRPr>
            </a:pPr>
            <a:r>
              <a:rPr lang="de-DE"/>
              <a:t>FALLKARTE B · MILA</a:t>
            </a:r>
          </a:p>
        </p:txBody>
      </p:sp>
      <p:sp>
        <p:nvSpPr>
          <p:cNvPr id="4" name="Text 3"/>
          <p:cNvSpPr txBox="1"/>
          <p:nvPr/>
        </p:nvSpPr>
        <p:spPr>
          <a:xfrm>
            <a:off x="594360" y="804672"/>
            <a:ext cx="10991088"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Fall B Mila und das Aufräumsignal</a:t>
            </a:r>
          </a:p>
        </p:txBody>
      </p:sp>
      <p:pic>
        <p:nvPicPr>
          <p:cNvPr id="5" name="Picture 4" descr="02_garderobe_vergleich.png"/>
          <p:cNvPicPr>
            <a:picLocks noChangeAspect="1"/>
          </p:cNvPicPr>
          <p:nvPr/>
        </p:nvPicPr>
        <p:blipFill>
          <a:blip r:embed="rId3"/>
          <a:srcRect l="7928" r="7928"/>
          <a:stretch>
            <a:fillRect/>
          </a:stretch>
        </p:blipFill>
        <p:spPr>
          <a:xfrm>
            <a:off x="594360" y="1644396"/>
            <a:ext cx="2788920" cy="1865376"/>
          </a:xfrm>
          <a:prstGeom prst="rect">
            <a:avLst/>
          </a:prstGeom>
        </p:spPr>
      </p:pic>
      <p:sp>
        <p:nvSpPr>
          <p:cNvPr id="6" name="Text 5"/>
          <p:cNvSpPr txBox="1"/>
          <p:nvPr/>
        </p:nvSpPr>
        <p:spPr>
          <a:xfrm>
            <a:off x="594360" y="3747515"/>
            <a:ext cx="2788920" cy="245110"/>
          </a:xfrm>
          <a:prstGeom prst="rect">
            <a:avLst/>
          </a:prstGeom>
          <a:noFill/>
        </p:spPr>
        <p:txBody>
          <a:bodyPr wrap="none" lIns="0" rIns="0" tIns="0" bIns="0" anchor="t">
            <a:spAutoFit/>
          </a:bodyPr>
          <a:lstStyle/>
          <a:p>
            <a:pPr>
              <a:lnSpc>
                <a:spcPts val="1534"/>
              </a:lnSpc>
              <a:spcBef>
                <a:spcPts val="0"/>
              </a:spcBef>
              <a:spcAft>
                <a:spcPts val="0"/>
              </a:spcAft>
              <a:defRPr sz="1300" b="1">
                <a:solidFill>
                  <a:srgbClr val="63736A"/>
                </a:solidFill>
                <a:latin typeface="Inter"/>
              </a:defRPr>
            </a:pPr>
            <a:r>
              <a:rPr lang="de-DE"/>
              <a:t>Fiktive Ausgangssituation</a:t>
            </a:r>
          </a:p>
        </p:txBody>
      </p:sp>
      <p:sp>
        <p:nvSpPr>
          <p:cNvPr id="7" name="Text 6"/>
          <p:cNvSpPr txBox="1"/>
          <p:nvPr/>
        </p:nvSpPr>
        <p:spPr>
          <a:xfrm>
            <a:off x="594360" y="4177284"/>
            <a:ext cx="2788920" cy="1691640"/>
          </a:xfrm>
          <a:prstGeom prst="rect">
            <a:avLst/>
          </a:prstGeom>
          <a:noFill/>
        </p:spPr>
        <p:txBody>
          <a:bodyPr wrap="none" lIns="0" rIns="0" tIns="0" bIns="0" anchor="t">
            <a:spAutoFit/>
          </a:bodyPr>
          <a:lstStyle/>
          <a:p>
            <a:pPr>
              <a:lnSpc>
                <a:spcPts val="2477"/>
              </a:lnSpc>
              <a:spcBef>
                <a:spcPts val="0"/>
              </a:spcBef>
              <a:spcAft>
                <a:spcPts val="0"/>
              </a:spcAft>
              <a:defRPr sz="2100" b="1">
                <a:solidFill>
                  <a:srgbClr val="234B42"/>
                </a:solidFill>
                <a:latin typeface="Manrope"/>
              </a:defRPr>
            </a:pPr>
            <a:r>
              <a:rPr lang="de-DE"/>
              <a:t>5 Jahre,</a:t>
            </a:r>
          </a:p>
          <a:p>
            <a:pPr>
              <a:lnSpc>
                <a:spcPts val="2477"/>
              </a:lnSpc>
              <a:spcBef>
                <a:spcPts val="0"/>
              </a:spcBef>
              <a:spcAft>
                <a:spcPts val="0"/>
              </a:spcAft>
              <a:defRPr sz="2100" b="1">
                <a:solidFill>
                  <a:srgbClr val="234B42"/>
                </a:solidFill>
                <a:latin typeface="Manrope"/>
              </a:defRPr>
            </a:pPr>
            <a:r>
              <a:rPr lang="de-DE"/>
              <a:t>Autismusdiagnose</a:t>
            </a:r>
          </a:p>
        </p:txBody>
      </p:sp>
      <p:sp>
        <p:nvSpPr>
          <p:cNvPr id="8" name="Rounded Rectangle 7"/>
          <p:cNvSpPr/>
          <p:nvPr/>
        </p:nvSpPr>
        <p:spPr>
          <a:xfrm>
            <a:off x="3639312" y="1644396"/>
            <a:ext cx="3730752" cy="2093976"/>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8"/>
          <p:cNvSpPr txBox="1"/>
          <p:nvPr/>
        </p:nvSpPr>
        <p:spPr>
          <a:xfrm>
            <a:off x="3877056" y="1854708"/>
            <a:ext cx="3255264" cy="290067"/>
          </a:xfrm>
          <a:prstGeom prst="rect">
            <a:avLst/>
          </a:prstGeom>
          <a:noFill/>
        </p:spPr>
        <p:txBody>
          <a:bodyPr wrap="none" lIns="0" rIns="0" tIns="0" bIns="0" anchor="t">
            <a:spAutoFit/>
          </a:bodyPr>
          <a:lstStyle/>
          <a:p>
            <a:pPr>
              <a:lnSpc>
                <a:spcPts val="1888"/>
              </a:lnSpc>
              <a:spcBef>
                <a:spcPts val="0"/>
              </a:spcBef>
              <a:spcAft>
                <a:spcPts val="0"/>
              </a:spcAft>
              <a:defRPr sz="1600" b="1">
                <a:solidFill>
                  <a:srgbClr val="234B42"/>
                </a:solidFill>
                <a:latin typeface="Inter"/>
              </a:defRPr>
            </a:pPr>
            <a:r>
              <a:rPr lang="de-DE"/>
              <a:t>Herausforderungen</a:t>
            </a:r>
          </a:p>
        </p:txBody>
      </p:sp>
      <p:sp>
        <p:nvSpPr>
          <p:cNvPr id="10" name="Text 9"/>
          <p:cNvSpPr txBox="1"/>
          <p:nvPr/>
        </p:nvSpPr>
        <p:spPr>
          <a:xfrm>
            <a:off x="3877056" y="2330196"/>
            <a:ext cx="3255264" cy="1289304"/>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6332F"/>
                </a:solidFill>
                <a:latin typeface="Inter"/>
              </a:defRPr>
            </a:pPr>
            <a:r>
              <a:rPr lang="de-DE"/>
              <a:t>Weint beim lauten Signal</a:t>
            </a:r>
          </a:p>
          <a:p>
            <a:pPr>
              <a:lnSpc>
                <a:spcPts val="2419"/>
              </a:lnSpc>
              <a:spcBef>
                <a:spcPts val="0"/>
              </a:spcBef>
              <a:spcAft>
                <a:spcPts val="0"/>
              </a:spcAft>
              <a:defRPr sz="2050" b="0">
                <a:solidFill>
                  <a:srgbClr val="26332F"/>
                </a:solidFill>
                <a:latin typeface="Inter"/>
              </a:defRPr>
            </a:pPr>
            <a:r>
              <a:rPr lang="de-DE"/>
              <a:t>Bauwerk wird rasch</a:t>
            </a:r>
          </a:p>
          <a:p>
            <a:pPr>
              <a:lnSpc>
                <a:spcPts val="2419"/>
              </a:lnSpc>
              <a:spcBef>
                <a:spcPts val="0"/>
              </a:spcBef>
              <a:spcAft>
                <a:spcPts val="0"/>
              </a:spcAft>
              <a:defRPr sz="2050" b="0">
                <a:solidFill>
                  <a:srgbClr val="26332F"/>
                </a:solidFill>
                <a:latin typeface="Inter"/>
              </a:defRPr>
            </a:pPr>
            <a:r>
              <a:rPr lang="de-DE"/>
              <a:t>abgebaut</a:t>
            </a:r>
          </a:p>
          <a:p>
            <a:pPr>
              <a:lnSpc>
                <a:spcPts val="2419"/>
              </a:lnSpc>
              <a:spcBef>
                <a:spcPts val="0"/>
              </a:spcBef>
              <a:spcAft>
                <a:spcPts val="0"/>
              </a:spcAft>
              <a:defRPr sz="2050" b="0">
                <a:solidFill>
                  <a:srgbClr val="26332F"/>
                </a:solidFill>
                <a:latin typeface="Inter"/>
              </a:defRPr>
            </a:pPr>
            <a:r>
              <a:rPr lang="de-DE"/>
              <a:t>Volle Garderobe folgt direkt</a:t>
            </a:r>
          </a:p>
        </p:txBody>
      </p:sp>
      <p:sp>
        <p:nvSpPr>
          <p:cNvPr id="11" name="Rounded Rectangle 10"/>
          <p:cNvSpPr/>
          <p:nvPr/>
        </p:nvSpPr>
        <p:spPr>
          <a:xfrm>
            <a:off x="3639312" y="3976115"/>
            <a:ext cx="3730752" cy="2093976"/>
          </a:xfrm>
          <a:prstGeom prst="roundRect">
            <a:avLst>
              <a:gd name="adj" fmla="val 6500"/>
            </a:avLst>
          </a:prstGeom>
          <a:solidFill>
            <a:srgbClr val="E9EEE5"/>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11"/>
          <p:cNvSpPr txBox="1"/>
          <p:nvPr/>
        </p:nvSpPr>
        <p:spPr>
          <a:xfrm>
            <a:off x="3877056" y="4186428"/>
            <a:ext cx="3255264" cy="290067"/>
          </a:xfrm>
          <a:prstGeom prst="rect">
            <a:avLst/>
          </a:prstGeom>
          <a:noFill/>
        </p:spPr>
        <p:txBody>
          <a:bodyPr wrap="none" lIns="0" rIns="0" tIns="0" bIns="0" anchor="t">
            <a:spAutoFit/>
          </a:bodyPr>
          <a:lstStyle/>
          <a:p>
            <a:pPr>
              <a:lnSpc>
                <a:spcPts val="1888"/>
              </a:lnSpc>
              <a:spcBef>
                <a:spcPts val="0"/>
              </a:spcBef>
              <a:spcAft>
                <a:spcPts val="0"/>
              </a:spcAft>
              <a:defRPr sz="1600" b="1">
                <a:solidFill>
                  <a:srgbClr val="234B42"/>
                </a:solidFill>
                <a:latin typeface="Inter"/>
              </a:defRPr>
            </a:pPr>
            <a:r>
              <a:rPr lang="de-DE"/>
              <a:t>Gelingende Bedingungen</a:t>
            </a:r>
          </a:p>
        </p:txBody>
      </p:sp>
      <p:sp>
        <p:nvSpPr>
          <p:cNvPr id="13" name="Text 12"/>
          <p:cNvSpPr txBox="1"/>
          <p:nvPr/>
        </p:nvSpPr>
        <p:spPr>
          <a:xfrm>
            <a:off x="3877056" y="4661915"/>
            <a:ext cx="3255264" cy="1289304"/>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6332F"/>
                </a:solidFill>
                <a:latin typeface="Inter"/>
              </a:defRPr>
            </a:pPr>
            <a:r>
              <a:rPr lang="de-DE"/>
              <a:t>Angekündigte Wechsel mit</a:t>
            </a:r>
          </a:p>
          <a:p>
            <a:pPr>
              <a:lnSpc>
                <a:spcPts val="2419"/>
              </a:lnSpc>
              <a:spcBef>
                <a:spcPts val="0"/>
              </a:spcBef>
              <a:spcAft>
                <a:spcPts val="0"/>
              </a:spcAft>
              <a:defRPr sz="2050" b="0">
                <a:solidFill>
                  <a:srgbClr val="26332F"/>
                </a:solidFill>
                <a:latin typeface="Inter"/>
              </a:defRPr>
            </a:pPr>
            <a:r>
              <a:rPr lang="de-DE"/>
              <a:t>vertrauter Begleitung</a:t>
            </a:r>
          </a:p>
          <a:p>
            <a:pPr>
              <a:lnSpc>
                <a:spcPts val="2419"/>
              </a:lnSpc>
              <a:spcBef>
                <a:spcPts val="0"/>
              </a:spcBef>
              <a:spcAft>
                <a:spcPts val="0"/>
              </a:spcAft>
              <a:defRPr sz="2050" b="0">
                <a:solidFill>
                  <a:srgbClr val="26332F"/>
                </a:solidFill>
                <a:latin typeface="Inter"/>
              </a:defRPr>
            </a:pPr>
            <a:r>
              <a:rPr lang="de-DE"/>
              <a:t>gelingen leichter.</a:t>
            </a:r>
          </a:p>
        </p:txBody>
      </p:sp>
      <p:sp>
        <p:nvSpPr>
          <p:cNvPr id="14" name="Rounded Rectangle 13"/>
          <p:cNvSpPr/>
          <p:nvPr/>
        </p:nvSpPr>
        <p:spPr>
          <a:xfrm>
            <a:off x="7626096" y="1644396"/>
            <a:ext cx="3968496" cy="4425696"/>
          </a:xfrm>
          <a:prstGeom prst="roundRect">
            <a:avLst>
              <a:gd name="adj" fmla="val 6500"/>
            </a:avLst>
          </a:prstGeom>
          <a:solidFill>
            <a:srgbClr val="E9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14"/>
          <p:cNvSpPr txBox="1"/>
          <p:nvPr/>
        </p:nvSpPr>
        <p:spPr>
          <a:xfrm>
            <a:off x="7891272" y="1872996"/>
            <a:ext cx="3438144" cy="335026"/>
          </a:xfrm>
          <a:prstGeom prst="rect">
            <a:avLst/>
          </a:prstGeom>
          <a:noFill/>
        </p:spPr>
        <p:txBody>
          <a:bodyPr wrap="none" lIns="0" rIns="0" tIns="0" bIns="0" anchor="t">
            <a:spAutoFit/>
          </a:bodyPr>
          <a:lstStyle/>
          <a:p>
            <a:pPr>
              <a:lnSpc>
                <a:spcPts val="2242"/>
              </a:lnSpc>
              <a:spcBef>
                <a:spcPts val="0"/>
              </a:spcBef>
              <a:spcAft>
                <a:spcPts val="0"/>
              </a:spcAft>
              <a:defRPr sz="1900" b="1">
                <a:solidFill>
                  <a:srgbClr val="234B42"/>
                </a:solidFill>
                <a:latin typeface="Manrope"/>
              </a:defRPr>
            </a:pPr>
            <a:r>
              <a:rPr lang="de-DE"/>
              <a:t>Fragen der Gruppe</a:t>
            </a:r>
          </a:p>
        </p:txBody>
      </p:sp>
      <p:sp>
        <p:nvSpPr>
          <p:cNvPr id="16" name="Rectangle 15"/>
          <p:cNvSpPr/>
          <p:nvPr/>
        </p:nvSpPr>
        <p:spPr>
          <a:xfrm>
            <a:off x="7891272" y="2654808"/>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16"/>
          <p:cNvSpPr txBox="1"/>
          <p:nvPr/>
        </p:nvSpPr>
        <p:spPr>
          <a:xfrm>
            <a:off x="8110728" y="2531364"/>
            <a:ext cx="3218687" cy="679704"/>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Was könnte gleichzeitig</a:t>
            </a:r>
          </a:p>
          <a:p>
            <a:pPr>
              <a:lnSpc>
                <a:spcPts val="2477"/>
              </a:lnSpc>
              <a:spcBef>
                <a:spcPts val="0"/>
              </a:spcBef>
              <a:spcAft>
                <a:spcPts val="0"/>
              </a:spcAft>
              <a:defRPr sz="2100" b="0">
                <a:solidFill>
                  <a:srgbClr val="26332F"/>
                </a:solidFill>
                <a:latin typeface="Inter"/>
              </a:defRPr>
            </a:pPr>
            <a:r>
              <a:rPr lang="de-DE"/>
              <a:t>belasten?</a:t>
            </a:r>
          </a:p>
        </p:txBody>
      </p:sp>
      <p:sp>
        <p:nvSpPr>
          <p:cNvPr id="18" name="Rectangle 17"/>
          <p:cNvSpPr/>
          <p:nvPr/>
        </p:nvSpPr>
        <p:spPr>
          <a:xfrm>
            <a:off x="7891272" y="3608831"/>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18"/>
          <p:cNvSpPr txBox="1"/>
          <p:nvPr/>
        </p:nvSpPr>
        <p:spPr>
          <a:xfrm>
            <a:off x="8110728" y="3485388"/>
            <a:ext cx="3218687" cy="679704"/>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Wie gelingt ein</a:t>
            </a:r>
          </a:p>
          <a:p>
            <a:pPr>
              <a:lnSpc>
                <a:spcPts val="2477"/>
              </a:lnSpc>
              <a:spcBef>
                <a:spcPts val="0"/>
              </a:spcBef>
              <a:spcAft>
                <a:spcPts val="0"/>
              </a:spcAft>
              <a:defRPr sz="2100" b="0">
                <a:solidFill>
                  <a:srgbClr val="26332F"/>
                </a:solidFill>
                <a:latin typeface="Inter"/>
              </a:defRPr>
            </a:pPr>
            <a:r>
              <a:rPr lang="de-DE"/>
              <a:t>Spielabschluss?</a:t>
            </a:r>
          </a:p>
        </p:txBody>
      </p:sp>
      <p:sp>
        <p:nvSpPr>
          <p:cNvPr id="20" name="Rectangle 19"/>
          <p:cNvSpPr/>
          <p:nvPr/>
        </p:nvSpPr>
        <p:spPr>
          <a:xfrm>
            <a:off x="7891272" y="4562855"/>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 20"/>
          <p:cNvSpPr txBox="1"/>
          <p:nvPr/>
        </p:nvSpPr>
        <p:spPr>
          <a:xfrm>
            <a:off x="8110728" y="4439412"/>
            <a:ext cx="3218687" cy="679704"/>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Wie helfen Ankündigung</a:t>
            </a:r>
          </a:p>
          <a:p>
            <a:pPr>
              <a:lnSpc>
                <a:spcPts val="2477"/>
              </a:lnSpc>
              <a:spcBef>
                <a:spcPts val="0"/>
              </a:spcBef>
              <a:spcAft>
                <a:spcPts val="0"/>
              </a:spcAft>
              <a:defRPr sz="2100" b="0">
                <a:solidFill>
                  <a:srgbClr val="26332F"/>
                </a:solidFill>
                <a:latin typeface="Inter"/>
              </a:defRPr>
            </a:pPr>
            <a:r>
              <a:rPr lang="de-DE"/>
              <a:t>und vertraute Begleitung?</a:t>
            </a:r>
          </a:p>
        </p:txBody>
      </p:sp>
    </p:spTree>
  </p:cSld>
  <p:clrMapOvr>
    <a:masterClrMapping/>
  </p:clrMapOvr>
  <p:transition spd="fast" advClick="1">
    <p:fade/>
  </p:transition>
</p:sld>
</file>

<file path=ppt/slides/slide77.xml><?xml version="1.0" encoding="utf-8"?>
<p:sld xmlns:a="http://schemas.openxmlformats.org/drawingml/2006/main" xmlns:p="http://schemas.openxmlformats.org/presentationml/2006/main" xmlns:r="http://schemas.openxmlformats.org/officeDocument/2006/relationships" showMasterSp="1">
  <p:cSld>
    <p:bg>
      <p:bgPr>
        <a:solidFill>
          <a:srgbClr val="F7F5EF"/>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77</a:t>
            </a:r>
          </a:p>
        </p:txBody>
      </p:sp>
      <p:sp>
        <p:nvSpPr>
          <p:cNvPr id="3" name="Text 2"/>
          <p:cNvSpPr txBox="1"/>
          <p:nvPr/>
        </p:nvSpPr>
        <p:spPr>
          <a:xfrm>
            <a:off x="594360" y="393192"/>
            <a:ext cx="10881360" cy="203644"/>
          </a:xfrm>
          <a:prstGeom prst="rect">
            <a:avLst/>
          </a:prstGeom>
          <a:noFill/>
        </p:spPr>
        <p:txBody>
          <a:bodyPr wrap="none" lIns="0" rIns="0" tIns="0" bIns="0" anchor="t">
            <a:spAutoFit/>
          </a:bodyPr>
          <a:lstStyle/>
          <a:p>
            <a:pPr>
              <a:lnSpc>
                <a:spcPts val="1207"/>
              </a:lnSpc>
              <a:spcBef>
                <a:spcPts val="0"/>
              </a:spcBef>
              <a:spcAft>
                <a:spcPts val="0"/>
              </a:spcAft>
              <a:defRPr sz="1150" b="1">
                <a:solidFill>
                  <a:srgbClr val="234B42"/>
                </a:solidFill>
                <a:latin typeface="Inter"/>
              </a:defRPr>
            </a:pPr>
            <a:r>
              <a:rPr lang="de-DE"/>
              <a:t>FALLKARTE C · LENI</a:t>
            </a:r>
          </a:p>
        </p:txBody>
      </p:sp>
      <p:sp>
        <p:nvSpPr>
          <p:cNvPr id="4" name="Text 3"/>
          <p:cNvSpPr txBox="1"/>
          <p:nvPr/>
        </p:nvSpPr>
        <p:spPr>
          <a:xfrm>
            <a:off x="594360" y="804672"/>
            <a:ext cx="10991088"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Fall C Leni wirkt angepasst</a:t>
            </a:r>
          </a:p>
        </p:txBody>
      </p:sp>
      <p:pic>
        <p:nvPicPr>
          <p:cNvPr id="5" name="Picture 4" descr="04_morgenkreis_teilhabe.png"/>
          <p:cNvPicPr>
            <a:picLocks noChangeAspect="1"/>
          </p:cNvPicPr>
          <p:nvPr/>
        </p:nvPicPr>
        <p:blipFill>
          <a:blip r:embed="rId3"/>
          <a:srcRect l="7928" r="7928"/>
          <a:stretch>
            <a:fillRect/>
          </a:stretch>
        </p:blipFill>
        <p:spPr>
          <a:xfrm>
            <a:off x="594360" y="1644396"/>
            <a:ext cx="2788920" cy="1865376"/>
          </a:xfrm>
          <a:prstGeom prst="rect">
            <a:avLst/>
          </a:prstGeom>
        </p:spPr>
      </p:pic>
      <p:sp>
        <p:nvSpPr>
          <p:cNvPr id="6" name="Text 5"/>
          <p:cNvSpPr txBox="1"/>
          <p:nvPr/>
        </p:nvSpPr>
        <p:spPr>
          <a:xfrm>
            <a:off x="594360" y="3747515"/>
            <a:ext cx="2788920" cy="245110"/>
          </a:xfrm>
          <a:prstGeom prst="rect">
            <a:avLst/>
          </a:prstGeom>
          <a:noFill/>
        </p:spPr>
        <p:txBody>
          <a:bodyPr wrap="none" lIns="0" rIns="0" tIns="0" bIns="0" anchor="t">
            <a:spAutoFit/>
          </a:bodyPr>
          <a:lstStyle/>
          <a:p>
            <a:pPr>
              <a:lnSpc>
                <a:spcPts val="1534"/>
              </a:lnSpc>
              <a:spcBef>
                <a:spcPts val="0"/>
              </a:spcBef>
              <a:spcAft>
                <a:spcPts val="0"/>
              </a:spcAft>
              <a:defRPr sz="1300" b="1">
                <a:solidFill>
                  <a:srgbClr val="63736A"/>
                </a:solidFill>
                <a:latin typeface="Inter"/>
              </a:defRPr>
            </a:pPr>
            <a:r>
              <a:rPr lang="de-DE"/>
              <a:t>Fiktive Ausgangssituation</a:t>
            </a:r>
          </a:p>
        </p:txBody>
      </p:sp>
      <p:sp>
        <p:nvSpPr>
          <p:cNvPr id="7" name="Text 6"/>
          <p:cNvSpPr txBox="1"/>
          <p:nvPr/>
        </p:nvSpPr>
        <p:spPr>
          <a:xfrm>
            <a:off x="594360" y="4177284"/>
            <a:ext cx="2788920" cy="1691640"/>
          </a:xfrm>
          <a:prstGeom prst="rect">
            <a:avLst/>
          </a:prstGeom>
          <a:noFill/>
        </p:spPr>
        <p:txBody>
          <a:bodyPr wrap="none" lIns="0" rIns="0" tIns="0" bIns="0" anchor="t">
            <a:spAutoFit/>
          </a:bodyPr>
          <a:lstStyle/>
          <a:p>
            <a:pPr>
              <a:lnSpc>
                <a:spcPts val="2477"/>
              </a:lnSpc>
              <a:spcBef>
                <a:spcPts val="0"/>
              </a:spcBef>
              <a:spcAft>
                <a:spcPts val="0"/>
              </a:spcAft>
              <a:defRPr sz="2100" b="1">
                <a:solidFill>
                  <a:srgbClr val="234B42"/>
                </a:solidFill>
                <a:latin typeface="Manrope"/>
              </a:defRPr>
            </a:pPr>
            <a:r>
              <a:rPr lang="de-DE"/>
              <a:t>5 Jahre, seit 8</a:t>
            </a:r>
          </a:p>
          <a:p>
            <a:pPr>
              <a:lnSpc>
                <a:spcPts val="2477"/>
              </a:lnSpc>
              <a:spcBef>
                <a:spcPts val="0"/>
              </a:spcBef>
              <a:spcAft>
                <a:spcPts val="0"/>
              </a:spcAft>
              <a:defRPr sz="2100" b="1">
                <a:solidFill>
                  <a:srgbClr val="234B42"/>
                </a:solidFill>
                <a:latin typeface="Manrope"/>
              </a:defRPr>
            </a:pPr>
            <a:r>
              <a:rPr lang="de-DE"/>
              <a:t>Wochen in der Kita</a:t>
            </a:r>
          </a:p>
          <a:p>
            <a:pPr>
              <a:lnSpc>
                <a:spcPts val="2477"/>
              </a:lnSpc>
              <a:spcBef>
                <a:spcPts val="0"/>
              </a:spcBef>
              <a:spcAft>
                <a:spcPts val="0"/>
              </a:spcAft>
              <a:defRPr sz="2100" b="1">
                <a:solidFill>
                  <a:srgbClr val="234B42"/>
                </a:solidFill>
                <a:latin typeface="Manrope"/>
              </a:defRPr>
            </a:pPr>
            <a:r>
              <a:rPr lang="de-DE"/>
              <a:t>Wenig Schlaf, keine</a:t>
            </a:r>
          </a:p>
          <a:p>
            <a:pPr>
              <a:lnSpc>
                <a:spcPts val="2477"/>
              </a:lnSpc>
              <a:spcBef>
                <a:spcPts val="0"/>
              </a:spcBef>
              <a:spcAft>
                <a:spcPts val="0"/>
              </a:spcAft>
              <a:defRPr sz="2100" b="1">
                <a:solidFill>
                  <a:srgbClr val="234B42"/>
                </a:solidFill>
                <a:latin typeface="Manrope"/>
              </a:defRPr>
            </a:pPr>
            <a:r>
              <a:rPr lang="de-DE"/>
              <a:t>Diagnose</a:t>
            </a:r>
          </a:p>
        </p:txBody>
      </p:sp>
      <p:sp>
        <p:nvSpPr>
          <p:cNvPr id="8" name="Rounded Rectangle 7"/>
          <p:cNvSpPr/>
          <p:nvPr/>
        </p:nvSpPr>
        <p:spPr>
          <a:xfrm>
            <a:off x="3639312" y="1644396"/>
            <a:ext cx="3730752" cy="2093976"/>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8"/>
          <p:cNvSpPr txBox="1"/>
          <p:nvPr/>
        </p:nvSpPr>
        <p:spPr>
          <a:xfrm>
            <a:off x="3877056" y="1854708"/>
            <a:ext cx="3255264" cy="290067"/>
          </a:xfrm>
          <a:prstGeom prst="rect">
            <a:avLst/>
          </a:prstGeom>
          <a:noFill/>
        </p:spPr>
        <p:txBody>
          <a:bodyPr wrap="none" lIns="0" rIns="0" tIns="0" bIns="0" anchor="t">
            <a:spAutoFit/>
          </a:bodyPr>
          <a:lstStyle/>
          <a:p>
            <a:pPr>
              <a:lnSpc>
                <a:spcPts val="1888"/>
              </a:lnSpc>
              <a:spcBef>
                <a:spcPts val="0"/>
              </a:spcBef>
              <a:spcAft>
                <a:spcPts val="0"/>
              </a:spcAft>
              <a:defRPr sz="1600" b="1">
                <a:solidFill>
                  <a:srgbClr val="234B42"/>
                </a:solidFill>
                <a:latin typeface="Inter"/>
              </a:defRPr>
            </a:pPr>
            <a:r>
              <a:rPr lang="de-DE"/>
              <a:t>Herausforderungen</a:t>
            </a:r>
          </a:p>
        </p:txBody>
      </p:sp>
      <p:sp>
        <p:nvSpPr>
          <p:cNvPr id="10" name="Text 9"/>
          <p:cNvSpPr txBox="1"/>
          <p:nvPr/>
        </p:nvSpPr>
        <p:spPr>
          <a:xfrm>
            <a:off x="3877056" y="2330196"/>
            <a:ext cx="3255264" cy="1289304"/>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6332F"/>
                </a:solidFill>
                <a:latin typeface="Inter"/>
              </a:defRPr>
            </a:pPr>
            <a:r>
              <a:rPr lang="de-DE"/>
              <a:t>Still in der Gruppe und</a:t>
            </a:r>
          </a:p>
          <a:p>
            <a:pPr>
              <a:lnSpc>
                <a:spcPts val="2419"/>
              </a:lnSpc>
              <a:spcBef>
                <a:spcPts val="0"/>
              </a:spcBef>
              <a:spcAft>
                <a:spcPts val="0"/>
              </a:spcAft>
              <a:defRPr sz="2050" b="0">
                <a:solidFill>
                  <a:srgbClr val="26332F"/>
                </a:solidFill>
                <a:latin typeface="Inter"/>
              </a:defRPr>
            </a:pPr>
            <a:r>
              <a:rPr lang="de-DE"/>
              <a:t>beim Abholen erschöpft</a:t>
            </a:r>
          </a:p>
        </p:txBody>
      </p:sp>
      <p:sp>
        <p:nvSpPr>
          <p:cNvPr id="11" name="Rounded Rectangle 10"/>
          <p:cNvSpPr/>
          <p:nvPr/>
        </p:nvSpPr>
        <p:spPr>
          <a:xfrm>
            <a:off x="3639312" y="3976115"/>
            <a:ext cx="3730752" cy="2093976"/>
          </a:xfrm>
          <a:prstGeom prst="roundRect">
            <a:avLst>
              <a:gd name="adj" fmla="val 6500"/>
            </a:avLst>
          </a:prstGeom>
          <a:solidFill>
            <a:srgbClr val="E9EEE5"/>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11"/>
          <p:cNvSpPr txBox="1"/>
          <p:nvPr/>
        </p:nvSpPr>
        <p:spPr>
          <a:xfrm>
            <a:off x="3877056" y="4186428"/>
            <a:ext cx="3255264" cy="290067"/>
          </a:xfrm>
          <a:prstGeom prst="rect">
            <a:avLst/>
          </a:prstGeom>
          <a:noFill/>
        </p:spPr>
        <p:txBody>
          <a:bodyPr wrap="none" lIns="0" rIns="0" tIns="0" bIns="0" anchor="t">
            <a:spAutoFit/>
          </a:bodyPr>
          <a:lstStyle/>
          <a:p>
            <a:pPr>
              <a:lnSpc>
                <a:spcPts val="1888"/>
              </a:lnSpc>
              <a:spcBef>
                <a:spcPts val="0"/>
              </a:spcBef>
              <a:spcAft>
                <a:spcPts val="0"/>
              </a:spcAft>
              <a:defRPr sz="1600" b="1">
                <a:solidFill>
                  <a:srgbClr val="234B42"/>
                </a:solidFill>
                <a:latin typeface="Inter"/>
              </a:defRPr>
            </a:pPr>
            <a:r>
              <a:rPr lang="de-DE"/>
              <a:t>Beobachtbare Ressourcen</a:t>
            </a:r>
          </a:p>
        </p:txBody>
      </p:sp>
      <p:sp>
        <p:nvSpPr>
          <p:cNvPr id="13" name="Text 12"/>
          <p:cNvSpPr txBox="1"/>
          <p:nvPr/>
        </p:nvSpPr>
        <p:spPr>
          <a:xfrm>
            <a:off x="3877056" y="4661915"/>
            <a:ext cx="3255264" cy="1289304"/>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6332F"/>
                </a:solidFill>
                <a:latin typeface="Inter"/>
              </a:defRPr>
            </a:pPr>
            <a:r>
              <a:rPr lang="de-DE"/>
              <a:t>Zu Hause und in kleiner</a:t>
            </a:r>
          </a:p>
          <a:p>
            <a:pPr>
              <a:lnSpc>
                <a:spcPts val="2419"/>
              </a:lnSpc>
              <a:spcBef>
                <a:spcPts val="0"/>
              </a:spcBef>
              <a:spcAft>
                <a:spcPts val="0"/>
              </a:spcAft>
              <a:defRPr sz="2050" b="0">
                <a:solidFill>
                  <a:srgbClr val="26332F"/>
                </a:solidFill>
                <a:latin typeface="Inter"/>
              </a:defRPr>
            </a:pPr>
            <a:r>
              <a:rPr lang="de-DE"/>
              <a:t>Runde lebhaft</a:t>
            </a:r>
          </a:p>
        </p:txBody>
      </p:sp>
      <p:sp>
        <p:nvSpPr>
          <p:cNvPr id="14" name="Rounded Rectangle 13"/>
          <p:cNvSpPr/>
          <p:nvPr/>
        </p:nvSpPr>
        <p:spPr>
          <a:xfrm>
            <a:off x="7626096" y="1644396"/>
            <a:ext cx="3968496" cy="4425696"/>
          </a:xfrm>
          <a:prstGeom prst="roundRect">
            <a:avLst>
              <a:gd name="adj" fmla="val 6500"/>
            </a:avLst>
          </a:prstGeom>
          <a:solidFill>
            <a:srgbClr val="E9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14"/>
          <p:cNvSpPr txBox="1"/>
          <p:nvPr/>
        </p:nvSpPr>
        <p:spPr>
          <a:xfrm>
            <a:off x="7891272" y="1872996"/>
            <a:ext cx="3438144" cy="335026"/>
          </a:xfrm>
          <a:prstGeom prst="rect">
            <a:avLst/>
          </a:prstGeom>
          <a:noFill/>
        </p:spPr>
        <p:txBody>
          <a:bodyPr wrap="none" lIns="0" rIns="0" tIns="0" bIns="0" anchor="t">
            <a:spAutoFit/>
          </a:bodyPr>
          <a:lstStyle/>
          <a:p>
            <a:pPr>
              <a:lnSpc>
                <a:spcPts val="2242"/>
              </a:lnSpc>
              <a:spcBef>
                <a:spcPts val="0"/>
              </a:spcBef>
              <a:spcAft>
                <a:spcPts val="0"/>
              </a:spcAft>
              <a:defRPr sz="1900" b="1">
                <a:solidFill>
                  <a:srgbClr val="234B42"/>
                </a:solidFill>
                <a:latin typeface="Manrope"/>
              </a:defRPr>
            </a:pPr>
            <a:r>
              <a:rPr lang="de-DE"/>
              <a:t>Fragen der Gruppe</a:t>
            </a:r>
          </a:p>
        </p:txBody>
      </p:sp>
      <p:sp>
        <p:nvSpPr>
          <p:cNvPr id="16" name="Rectangle 15"/>
          <p:cNvSpPr/>
          <p:nvPr/>
        </p:nvSpPr>
        <p:spPr>
          <a:xfrm>
            <a:off x="7891272" y="2654808"/>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16"/>
          <p:cNvSpPr txBox="1"/>
          <p:nvPr/>
        </p:nvSpPr>
        <p:spPr>
          <a:xfrm>
            <a:off x="8110728" y="2531364"/>
            <a:ext cx="3218687" cy="679704"/>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Welche Erklärungen sind</a:t>
            </a:r>
          </a:p>
          <a:p>
            <a:pPr>
              <a:lnSpc>
                <a:spcPts val="2477"/>
              </a:lnSpc>
              <a:spcBef>
                <a:spcPts val="0"/>
              </a:spcBef>
              <a:spcAft>
                <a:spcPts val="0"/>
              </a:spcAft>
              <a:defRPr sz="2100" b="0">
                <a:solidFill>
                  <a:srgbClr val="26332F"/>
                </a:solidFill>
                <a:latin typeface="Inter"/>
              </a:defRPr>
            </a:pPr>
            <a:r>
              <a:rPr lang="de-DE"/>
              <a:t>möglich?</a:t>
            </a:r>
          </a:p>
        </p:txBody>
      </p:sp>
      <p:sp>
        <p:nvSpPr>
          <p:cNvPr id="18" name="Rectangle 17"/>
          <p:cNvSpPr/>
          <p:nvPr/>
        </p:nvSpPr>
        <p:spPr>
          <a:xfrm>
            <a:off x="7891272" y="3608831"/>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18"/>
          <p:cNvSpPr txBox="1"/>
          <p:nvPr/>
        </p:nvSpPr>
        <p:spPr>
          <a:xfrm>
            <a:off x="8110728" y="3485388"/>
            <a:ext cx="3218687" cy="364997"/>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Welche Information fehlt?</a:t>
            </a:r>
          </a:p>
        </p:txBody>
      </p:sp>
      <p:sp>
        <p:nvSpPr>
          <p:cNvPr id="20" name="Rectangle 19"/>
          <p:cNvSpPr/>
          <p:nvPr/>
        </p:nvSpPr>
        <p:spPr>
          <a:xfrm>
            <a:off x="7891272" y="4248150"/>
            <a:ext cx="59436" cy="59436"/>
          </a:xfrm>
          <a:prstGeom prst="rect">
            <a:avLst/>
          </a:prstGeom>
          <a:solidFill>
            <a:srgbClr val="A8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 20"/>
          <p:cNvSpPr txBox="1"/>
          <p:nvPr/>
        </p:nvSpPr>
        <p:spPr>
          <a:xfrm>
            <a:off x="8110728" y="4124706"/>
            <a:ext cx="3218687" cy="679704"/>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Wie erkunden wir</a:t>
            </a:r>
          </a:p>
          <a:p>
            <a:pPr>
              <a:lnSpc>
                <a:spcPts val="2477"/>
              </a:lnSpc>
              <a:spcBef>
                <a:spcPts val="0"/>
              </a:spcBef>
              <a:spcAft>
                <a:spcPts val="0"/>
              </a:spcAft>
              <a:defRPr sz="2100" b="0">
                <a:solidFill>
                  <a:srgbClr val="26332F"/>
                </a:solidFill>
                <a:latin typeface="Inter"/>
              </a:defRPr>
            </a:pPr>
            <a:r>
              <a:rPr lang="de-DE"/>
              <a:t>Wünsche und Entlastung?</a:t>
            </a:r>
          </a:p>
        </p:txBody>
      </p:sp>
    </p:spTree>
  </p:cSld>
  <p:clrMapOvr>
    <a:masterClrMapping/>
  </p:clrMapOvr>
  <p:transition spd="fast" advClick="1">
    <p:fade/>
  </p:transition>
</p:sld>
</file>

<file path=ppt/slides/slide78.xml><?xml version="1.0" encoding="utf-8"?>
<p:sld xmlns:a="http://schemas.openxmlformats.org/drawingml/2006/main" xmlns:p="http://schemas.openxmlformats.org/presentationml/2006/main" xmlns:r="http://schemas.openxmlformats.org/officeDocument/2006/relationships" showMasterSp="1">
  <p:cSld>
    <p:bg>
      <p:bgPr>
        <a:solidFill>
          <a:srgbClr val="F7F5EF"/>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78</a:t>
            </a:r>
          </a:p>
        </p:txBody>
      </p:sp>
      <p:sp>
        <p:nvSpPr>
          <p:cNvPr id="3" name="Text 2"/>
          <p:cNvSpPr txBox="1"/>
          <p:nvPr/>
        </p:nvSpPr>
        <p:spPr>
          <a:xfrm>
            <a:off x="594360" y="393192"/>
            <a:ext cx="10881360" cy="203644"/>
          </a:xfrm>
          <a:prstGeom prst="rect">
            <a:avLst/>
          </a:prstGeom>
          <a:noFill/>
        </p:spPr>
        <p:txBody>
          <a:bodyPr wrap="none" lIns="0" rIns="0" tIns="0" bIns="0" anchor="t">
            <a:spAutoFit/>
          </a:bodyPr>
          <a:lstStyle/>
          <a:p>
            <a:pPr>
              <a:lnSpc>
                <a:spcPts val="1207"/>
              </a:lnSpc>
              <a:spcBef>
                <a:spcPts val="0"/>
              </a:spcBef>
              <a:spcAft>
                <a:spcPts val="0"/>
              </a:spcAft>
              <a:defRPr sz="1150" b="1">
                <a:solidFill>
                  <a:srgbClr val="234B42"/>
                </a:solidFill>
                <a:latin typeface="Inter"/>
              </a:defRPr>
            </a:pPr>
            <a:r>
              <a:rPr lang="de-DE"/>
              <a:t>FALLARBEIT · FRAGE → FIKTIVES BEISPIEL FÜR MILA</a:t>
            </a:r>
          </a:p>
        </p:txBody>
      </p:sp>
      <p:sp>
        <p:nvSpPr>
          <p:cNvPr id="4" name="Text 3"/>
          <p:cNvSpPr txBox="1"/>
          <p:nvPr/>
        </p:nvSpPr>
        <p:spPr>
          <a:xfrm>
            <a:off x="594360" y="804672"/>
            <a:ext cx="10991088"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Ein konkreter Unterstützungsplan</a:t>
            </a:r>
          </a:p>
        </p:txBody>
      </p:sp>
      <p:sp>
        <p:nvSpPr>
          <p:cNvPr id="5" name="Rounded Rectangle 4"/>
          <p:cNvSpPr/>
          <p:nvPr/>
        </p:nvSpPr>
        <p:spPr>
          <a:xfrm>
            <a:off x="594360" y="1644396"/>
            <a:ext cx="5376672" cy="2071877"/>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22960" y="1872996"/>
            <a:ext cx="393192" cy="393192"/>
          </a:xfrm>
          <a:prstGeom prst="ellipse">
            <a:avLst/>
          </a:prstGeom>
          <a:solidFill>
            <a:srgbClr val="E5BD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6"/>
          <p:cNvSpPr txBox="1"/>
          <p:nvPr/>
        </p:nvSpPr>
        <p:spPr>
          <a:xfrm>
            <a:off x="822960" y="1946148"/>
            <a:ext cx="393192" cy="189992"/>
          </a:xfrm>
          <a:prstGeom prst="rect">
            <a:avLst/>
          </a:prstGeom>
          <a:noFill/>
        </p:spPr>
        <p:txBody>
          <a:bodyPr wrap="none" lIns="0" rIns="0" tIns="0" bIns="0" anchor="t">
            <a:spAutoFit/>
          </a:bodyPr>
          <a:lstStyle/>
          <a:p>
            <a:pPr algn="ctr">
              <a:lnSpc>
                <a:spcPts val="1100"/>
              </a:lnSpc>
              <a:spcBef>
                <a:spcPts val="0"/>
              </a:spcBef>
              <a:spcAft>
                <a:spcPts val="0"/>
              </a:spcAft>
              <a:defRPr sz="1100" b="1">
                <a:solidFill>
                  <a:srgbClr val="234B42"/>
                </a:solidFill>
                <a:latin typeface="Inter"/>
              </a:defRPr>
            </a:pPr>
            <a:r>
              <a:rPr lang="de-DE"/>
              <a:t>01</a:t>
            </a:r>
          </a:p>
        </p:txBody>
      </p:sp>
      <p:sp>
        <p:nvSpPr>
          <p:cNvPr id="8" name="Text 7"/>
          <p:cNvSpPr txBox="1"/>
          <p:nvPr/>
        </p:nvSpPr>
        <p:spPr>
          <a:xfrm>
            <a:off x="1353312" y="1872996"/>
            <a:ext cx="4370831" cy="372490"/>
          </a:xfrm>
          <a:prstGeom prst="rect">
            <a:avLst/>
          </a:prstGeom>
          <a:noFill/>
        </p:spPr>
        <p:txBody>
          <a:bodyPr wrap="none" lIns="0" rIns="0" tIns="0" bIns="0" anchor="t">
            <a:spAutoFit/>
          </a:bodyPr>
          <a:lstStyle/>
          <a:p>
            <a:pPr>
              <a:lnSpc>
                <a:spcPts val="2536"/>
              </a:lnSpc>
              <a:spcBef>
                <a:spcPts val="0"/>
              </a:spcBef>
              <a:spcAft>
                <a:spcPts val="0"/>
              </a:spcAft>
              <a:defRPr sz="2150" b="1">
                <a:solidFill>
                  <a:srgbClr val="234B42"/>
                </a:solidFill>
                <a:latin typeface="Manrope"/>
              </a:defRPr>
            </a:pPr>
            <a:r>
              <a:rPr lang="de-DE"/>
              <a:t>Was ändern wir?</a:t>
            </a:r>
          </a:p>
        </p:txBody>
      </p:sp>
      <p:sp>
        <p:nvSpPr>
          <p:cNvPr id="9" name="Text 8"/>
          <p:cNvSpPr txBox="1"/>
          <p:nvPr/>
        </p:nvSpPr>
        <p:spPr>
          <a:xfrm>
            <a:off x="868680" y="2513076"/>
            <a:ext cx="4828032" cy="1002029"/>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Den Wechsel mit einem verständlichen</a:t>
            </a:r>
          </a:p>
          <a:p>
            <a:pPr>
              <a:lnSpc>
                <a:spcPts val="2477"/>
              </a:lnSpc>
              <a:spcBef>
                <a:spcPts val="0"/>
              </a:spcBef>
              <a:spcAft>
                <a:spcPts val="0"/>
              </a:spcAft>
              <a:defRPr sz="2100" b="0">
                <a:solidFill>
                  <a:srgbClr val="26332F"/>
                </a:solidFill>
                <a:latin typeface="Inter"/>
              </a:defRPr>
            </a:pPr>
            <a:r>
              <a:rPr lang="de-DE"/>
              <a:t>Foto ankündigen</a:t>
            </a:r>
          </a:p>
        </p:txBody>
      </p:sp>
      <p:sp>
        <p:nvSpPr>
          <p:cNvPr id="10" name="Rounded Rectangle 9"/>
          <p:cNvSpPr/>
          <p:nvPr/>
        </p:nvSpPr>
        <p:spPr>
          <a:xfrm>
            <a:off x="6217920" y="1644396"/>
            <a:ext cx="5376672" cy="2071877"/>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46520" y="1872996"/>
            <a:ext cx="393192" cy="393192"/>
          </a:xfrm>
          <a:prstGeom prst="ellipse">
            <a:avLst/>
          </a:prstGeom>
          <a:solidFill>
            <a:srgbClr val="E5BD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11"/>
          <p:cNvSpPr txBox="1"/>
          <p:nvPr/>
        </p:nvSpPr>
        <p:spPr>
          <a:xfrm>
            <a:off x="6446520" y="1946148"/>
            <a:ext cx="393192" cy="189992"/>
          </a:xfrm>
          <a:prstGeom prst="rect">
            <a:avLst/>
          </a:prstGeom>
          <a:noFill/>
        </p:spPr>
        <p:txBody>
          <a:bodyPr wrap="none" lIns="0" rIns="0" tIns="0" bIns="0" anchor="t">
            <a:spAutoFit/>
          </a:bodyPr>
          <a:lstStyle/>
          <a:p>
            <a:pPr algn="ctr">
              <a:lnSpc>
                <a:spcPts val="1100"/>
              </a:lnSpc>
              <a:spcBef>
                <a:spcPts val="0"/>
              </a:spcBef>
              <a:spcAft>
                <a:spcPts val="0"/>
              </a:spcAft>
              <a:defRPr sz="1100" b="1">
                <a:solidFill>
                  <a:srgbClr val="234B42"/>
                </a:solidFill>
                <a:latin typeface="Inter"/>
              </a:defRPr>
            </a:pPr>
            <a:r>
              <a:rPr lang="de-DE"/>
              <a:t>02</a:t>
            </a:r>
          </a:p>
        </p:txBody>
      </p:sp>
      <p:sp>
        <p:nvSpPr>
          <p:cNvPr id="13" name="Text 12"/>
          <p:cNvSpPr txBox="1"/>
          <p:nvPr/>
        </p:nvSpPr>
        <p:spPr>
          <a:xfrm>
            <a:off x="6976872" y="1872996"/>
            <a:ext cx="4370831" cy="372490"/>
          </a:xfrm>
          <a:prstGeom prst="rect">
            <a:avLst/>
          </a:prstGeom>
          <a:noFill/>
        </p:spPr>
        <p:txBody>
          <a:bodyPr wrap="none" lIns="0" rIns="0" tIns="0" bIns="0" anchor="t">
            <a:spAutoFit/>
          </a:bodyPr>
          <a:lstStyle/>
          <a:p>
            <a:pPr>
              <a:lnSpc>
                <a:spcPts val="2536"/>
              </a:lnSpc>
              <a:spcBef>
                <a:spcPts val="0"/>
              </a:spcBef>
              <a:spcAft>
                <a:spcPts val="0"/>
              </a:spcAft>
              <a:defRPr sz="2150" b="1">
                <a:solidFill>
                  <a:srgbClr val="234B42"/>
                </a:solidFill>
                <a:latin typeface="Manrope"/>
              </a:defRPr>
            </a:pPr>
            <a:r>
              <a:rPr lang="de-DE"/>
              <a:t>Wer übernimmt es?</a:t>
            </a:r>
          </a:p>
        </p:txBody>
      </p:sp>
      <p:sp>
        <p:nvSpPr>
          <p:cNvPr id="14" name="Text 13"/>
          <p:cNvSpPr txBox="1"/>
          <p:nvPr/>
        </p:nvSpPr>
        <p:spPr>
          <a:xfrm>
            <a:off x="6492240" y="2513076"/>
            <a:ext cx="4828032" cy="1002029"/>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Die vereinbarte Bezugsperson</a:t>
            </a:r>
          </a:p>
        </p:txBody>
      </p:sp>
      <p:sp>
        <p:nvSpPr>
          <p:cNvPr id="15" name="Rounded Rectangle 14"/>
          <p:cNvSpPr/>
          <p:nvPr/>
        </p:nvSpPr>
        <p:spPr>
          <a:xfrm>
            <a:off x="594360" y="3963162"/>
            <a:ext cx="5376672" cy="2071877"/>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22960" y="4191762"/>
            <a:ext cx="393192" cy="393192"/>
          </a:xfrm>
          <a:prstGeom prst="ellipse">
            <a:avLst/>
          </a:prstGeom>
          <a:solidFill>
            <a:srgbClr val="E5BD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16"/>
          <p:cNvSpPr txBox="1"/>
          <p:nvPr/>
        </p:nvSpPr>
        <p:spPr>
          <a:xfrm>
            <a:off x="822960" y="4264914"/>
            <a:ext cx="393192" cy="189992"/>
          </a:xfrm>
          <a:prstGeom prst="rect">
            <a:avLst/>
          </a:prstGeom>
          <a:noFill/>
        </p:spPr>
        <p:txBody>
          <a:bodyPr wrap="none" lIns="0" rIns="0" tIns="0" bIns="0" anchor="t">
            <a:spAutoFit/>
          </a:bodyPr>
          <a:lstStyle/>
          <a:p>
            <a:pPr algn="ctr">
              <a:lnSpc>
                <a:spcPts val="1100"/>
              </a:lnSpc>
              <a:spcBef>
                <a:spcPts val="0"/>
              </a:spcBef>
              <a:spcAft>
                <a:spcPts val="0"/>
              </a:spcAft>
              <a:defRPr sz="1100" b="1">
                <a:solidFill>
                  <a:srgbClr val="234B42"/>
                </a:solidFill>
                <a:latin typeface="Inter"/>
              </a:defRPr>
            </a:pPr>
            <a:r>
              <a:rPr lang="de-DE"/>
              <a:t>03</a:t>
            </a:r>
          </a:p>
        </p:txBody>
      </p:sp>
      <p:sp>
        <p:nvSpPr>
          <p:cNvPr id="18" name="Text 17"/>
          <p:cNvSpPr txBox="1"/>
          <p:nvPr/>
        </p:nvSpPr>
        <p:spPr>
          <a:xfrm>
            <a:off x="1353312" y="4191762"/>
            <a:ext cx="4370831" cy="372490"/>
          </a:xfrm>
          <a:prstGeom prst="rect">
            <a:avLst/>
          </a:prstGeom>
          <a:noFill/>
        </p:spPr>
        <p:txBody>
          <a:bodyPr wrap="none" lIns="0" rIns="0" tIns="0" bIns="0" anchor="t">
            <a:spAutoFit/>
          </a:bodyPr>
          <a:lstStyle/>
          <a:p>
            <a:pPr>
              <a:lnSpc>
                <a:spcPts val="2536"/>
              </a:lnSpc>
              <a:spcBef>
                <a:spcPts val="0"/>
              </a:spcBef>
              <a:spcAft>
                <a:spcPts val="0"/>
              </a:spcAft>
              <a:defRPr sz="2150" b="1">
                <a:solidFill>
                  <a:srgbClr val="234B42"/>
                </a:solidFill>
                <a:latin typeface="Manrope"/>
              </a:defRPr>
            </a:pPr>
            <a:r>
              <a:rPr lang="de-DE"/>
              <a:t>Woran erkennen wir Wirkung?</a:t>
            </a:r>
          </a:p>
        </p:txBody>
      </p:sp>
      <p:sp>
        <p:nvSpPr>
          <p:cNvPr id="19" name="Text 18"/>
          <p:cNvSpPr txBox="1"/>
          <p:nvPr/>
        </p:nvSpPr>
        <p:spPr>
          <a:xfrm>
            <a:off x="868680" y="4831842"/>
            <a:ext cx="4828032" cy="1002029"/>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Belastung, Mitteilungen und Annahme</a:t>
            </a:r>
          </a:p>
          <a:p>
            <a:pPr>
              <a:lnSpc>
                <a:spcPts val="2477"/>
              </a:lnSpc>
              <a:spcBef>
                <a:spcPts val="0"/>
              </a:spcBef>
              <a:spcAft>
                <a:spcPts val="0"/>
              </a:spcAft>
              <a:defRPr sz="2100" b="0">
                <a:solidFill>
                  <a:srgbClr val="26332F"/>
                </a:solidFill>
                <a:latin typeface="Inter"/>
              </a:defRPr>
            </a:pPr>
            <a:r>
              <a:rPr lang="de-DE"/>
              <a:t>der Begleitung beobachten</a:t>
            </a:r>
          </a:p>
        </p:txBody>
      </p:sp>
      <p:sp>
        <p:nvSpPr>
          <p:cNvPr id="20" name="Rounded Rectangle 19"/>
          <p:cNvSpPr/>
          <p:nvPr/>
        </p:nvSpPr>
        <p:spPr>
          <a:xfrm>
            <a:off x="6217920" y="3963162"/>
            <a:ext cx="5376672" cy="2071877"/>
          </a:xfrm>
          <a:prstGeom prst="roundRect">
            <a:avLst>
              <a:gd name="adj" fmla="val 6500"/>
            </a:avLst>
          </a:prstGeom>
          <a:solidFill>
            <a:srgbClr val="FFFFFF"/>
          </a:solidFill>
          <a:ln w="8890">
            <a:solidFill>
              <a:srgbClr val="D9D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191762"/>
            <a:ext cx="393192" cy="393192"/>
          </a:xfrm>
          <a:prstGeom prst="ellipse">
            <a:avLst/>
          </a:prstGeom>
          <a:solidFill>
            <a:srgbClr val="E5BD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 21"/>
          <p:cNvSpPr txBox="1"/>
          <p:nvPr/>
        </p:nvSpPr>
        <p:spPr>
          <a:xfrm>
            <a:off x="6446520" y="4264914"/>
            <a:ext cx="393192" cy="189992"/>
          </a:xfrm>
          <a:prstGeom prst="rect">
            <a:avLst/>
          </a:prstGeom>
          <a:noFill/>
        </p:spPr>
        <p:txBody>
          <a:bodyPr wrap="none" lIns="0" rIns="0" tIns="0" bIns="0" anchor="t">
            <a:spAutoFit/>
          </a:bodyPr>
          <a:lstStyle/>
          <a:p>
            <a:pPr algn="ctr">
              <a:lnSpc>
                <a:spcPts val="1100"/>
              </a:lnSpc>
              <a:spcBef>
                <a:spcPts val="0"/>
              </a:spcBef>
              <a:spcAft>
                <a:spcPts val="0"/>
              </a:spcAft>
              <a:defRPr sz="1100" b="1">
                <a:solidFill>
                  <a:srgbClr val="234B42"/>
                </a:solidFill>
                <a:latin typeface="Inter"/>
              </a:defRPr>
            </a:pPr>
            <a:r>
              <a:rPr lang="de-DE"/>
              <a:t>04</a:t>
            </a:r>
          </a:p>
        </p:txBody>
      </p:sp>
      <p:sp>
        <p:nvSpPr>
          <p:cNvPr id="23" name="Text 22"/>
          <p:cNvSpPr txBox="1"/>
          <p:nvPr/>
        </p:nvSpPr>
        <p:spPr>
          <a:xfrm>
            <a:off x="6976872" y="4191762"/>
            <a:ext cx="4370831" cy="372490"/>
          </a:xfrm>
          <a:prstGeom prst="rect">
            <a:avLst/>
          </a:prstGeom>
          <a:noFill/>
        </p:spPr>
        <p:txBody>
          <a:bodyPr wrap="none" lIns="0" rIns="0" tIns="0" bIns="0" anchor="t">
            <a:spAutoFit/>
          </a:bodyPr>
          <a:lstStyle/>
          <a:p>
            <a:pPr>
              <a:lnSpc>
                <a:spcPts val="2536"/>
              </a:lnSpc>
              <a:spcBef>
                <a:spcPts val="0"/>
              </a:spcBef>
              <a:spcAft>
                <a:spcPts val="0"/>
              </a:spcAft>
              <a:defRPr sz="2150" b="1">
                <a:solidFill>
                  <a:srgbClr val="234B42"/>
                </a:solidFill>
                <a:latin typeface="Manrope"/>
              </a:defRPr>
            </a:pPr>
            <a:r>
              <a:rPr lang="de-DE"/>
              <a:t>Wann prüfen wir es?</a:t>
            </a:r>
          </a:p>
        </p:txBody>
      </p:sp>
      <p:sp>
        <p:nvSpPr>
          <p:cNvPr id="24" name="Text 23"/>
          <p:cNvSpPr txBox="1"/>
          <p:nvPr/>
        </p:nvSpPr>
        <p:spPr>
          <a:xfrm>
            <a:off x="6492240" y="4831842"/>
            <a:ext cx="4828032" cy="1002029"/>
          </a:xfrm>
          <a:prstGeom prst="rect">
            <a:avLst/>
          </a:prstGeom>
          <a:noFill/>
        </p:spPr>
        <p:txBody>
          <a:bodyPr wrap="none" lIns="0" rIns="0" tIns="0" bIns="0" anchor="t">
            <a:spAutoFit/>
          </a:bodyPr>
          <a:lstStyle/>
          <a:p>
            <a:pPr>
              <a:lnSpc>
                <a:spcPts val="2477"/>
              </a:lnSpc>
              <a:spcBef>
                <a:spcPts val="0"/>
              </a:spcBef>
              <a:spcAft>
                <a:spcPts val="0"/>
              </a:spcAft>
              <a:defRPr sz="2100" b="0">
                <a:solidFill>
                  <a:srgbClr val="26332F"/>
                </a:solidFill>
                <a:latin typeface="Inter"/>
              </a:defRPr>
            </a:pPr>
            <a:r>
              <a:rPr lang="de-DE"/>
              <a:t>Nach einer Woche mit Team und Eltern</a:t>
            </a:r>
          </a:p>
          <a:p>
            <a:pPr>
              <a:lnSpc>
                <a:spcPts val="2477"/>
              </a:lnSpc>
              <a:spcBef>
                <a:spcPts val="0"/>
              </a:spcBef>
              <a:spcAft>
                <a:spcPts val="0"/>
              </a:spcAft>
              <a:defRPr sz="2100" b="0">
                <a:solidFill>
                  <a:srgbClr val="26332F"/>
                </a:solidFill>
                <a:latin typeface="Inter"/>
              </a:defRPr>
            </a:pPr>
            <a:r>
              <a:rPr lang="de-DE"/>
              <a:t>prüfen</a:t>
            </a:r>
          </a:p>
        </p:txBody>
      </p:sp>
    </p:spTree>
  </p:cSld>
  <p:clrMapOvr>
    <a:masterClrMapping/>
  </p:clrMapOvr>
  <p:transition spd="fast" advClick="1">
    <p:fade/>
  </p:transition>
</p:sld>
</file>

<file path=ppt/slides/slide79.xml><?xml version="1.0" encoding="utf-8"?>
<p:sld xmlns:a="http://schemas.openxmlformats.org/drawingml/2006/main" xmlns:p="http://schemas.openxmlformats.org/presentationml/2006/main" xmlns:r="http://schemas.openxmlformats.org/officeDocument/2006/relationships" showMasterSp="1">
  <p:cSld>
    <p:bg>
      <p:bgPr>
        <a:solidFill>
          <a:srgbClr val="E5BD70"/>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79</a:t>
            </a:r>
          </a:p>
        </p:txBody>
      </p:sp>
      <p:sp>
        <p:nvSpPr>
          <p:cNvPr id="3" name="Rounded Rectangle 2"/>
          <p:cNvSpPr/>
          <p:nvPr/>
        </p:nvSpPr>
        <p:spPr>
          <a:xfrm>
            <a:off x="9646920" y="384048"/>
            <a:ext cx="1947672" cy="1280160"/>
          </a:xfrm>
          <a:prstGeom prst="roundRect">
            <a:avLst>
              <a:gd name="adj" fmla="val 6500"/>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3"/>
          <p:cNvSpPr txBox="1"/>
          <p:nvPr/>
        </p:nvSpPr>
        <p:spPr>
          <a:xfrm>
            <a:off x="9829800" y="493776"/>
            <a:ext cx="1572768" cy="634746"/>
          </a:xfrm>
          <a:prstGeom prst="rect">
            <a:avLst/>
          </a:prstGeom>
          <a:noFill/>
        </p:spPr>
        <p:txBody>
          <a:bodyPr wrap="none" lIns="0" rIns="0" tIns="0" bIns="0" anchor="t">
            <a:spAutoFit/>
          </a:bodyPr>
          <a:lstStyle/>
          <a:p>
            <a:pPr algn="ctr">
              <a:lnSpc>
                <a:spcPts val="4602"/>
              </a:lnSpc>
              <a:spcBef>
                <a:spcPts val="0"/>
              </a:spcBef>
              <a:spcAft>
                <a:spcPts val="0"/>
              </a:spcAft>
              <a:defRPr sz="3900" b="1">
                <a:solidFill>
                  <a:srgbClr val="F7F5EF"/>
                </a:solidFill>
                <a:latin typeface="Manrope"/>
              </a:defRPr>
            </a:pPr>
            <a:r>
              <a:rPr lang="de-DE"/>
              <a:t>30</a:t>
            </a:r>
          </a:p>
        </p:txBody>
      </p:sp>
      <p:sp>
        <p:nvSpPr>
          <p:cNvPr id="5" name="Text 4"/>
          <p:cNvSpPr txBox="1"/>
          <p:nvPr/>
        </p:nvSpPr>
        <p:spPr>
          <a:xfrm>
            <a:off x="9829800" y="1161288"/>
            <a:ext cx="1572768" cy="215137"/>
          </a:xfrm>
          <a:prstGeom prst="rect">
            <a:avLst/>
          </a:prstGeom>
          <a:noFill/>
        </p:spPr>
        <p:txBody>
          <a:bodyPr wrap="none" lIns="0" rIns="0" tIns="0" bIns="0" anchor="t">
            <a:spAutoFit/>
          </a:bodyPr>
          <a:lstStyle/>
          <a:p>
            <a:pPr algn="ctr">
              <a:lnSpc>
                <a:spcPts val="1297"/>
              </a:lnSpc>
              <a:spcBef>
                <a:spcPts val="0"/>
              </a:spcBef>
              <a:spcAft>
                <a:spcPts val="0"/>
              </a:spcAft>
              <a:defRPr sz="1100" b="1">
                <a:solidFill>
                  <a:srgbClr val="F7F5EF"/>
                </a:solidFill>
                <a:latin typeface="Inter"/>
              </a:defRPr>
            </a:pPr>
            <a:r>
              <a:rPr lang="de-DE"/>
              <a:t>MINUTEN</a:t>
            </a:r>
          </a:p>
        </p:txBody>
      </p:sp>
      <p:sp>
        <p:nvSpPr>
          <p:cNvPr id="6" name="Text 5"/>
          <p:cNvSpPr txBox="1"/>
          <p:nvPr/>
        </p:nvSpPr>
        <p:spPr>
          <a:xfrm>
            <a:off x="594360" y="393192"/>
            <a:ext cx="8686800" cy="222630"/>
          </a:xfrm>
          <a:prstGeom prst="rect">
            <a:avLst/>
          </a:prstGeom>
          <a:noFill/>
        </p:spPr>
        <p:txBody>
          <a:bodyPr wrap="none" lIns="0" rIns="0" tIns="0" bIns="0" anchor="t">
            <a:spAutoFit/>
          </a:bodyPr>
          <a:lstStyle/>
          <a:p>
            <a:pPr>
              <a:lnSpc>
                <a:spcPts val="1356"/>
              </a:lnSpc>
              <a:spcBef>
                <a:spcPts val="0"/>
              </a:spcBef>
              <a:spcAft>
                <a:spcPts val="0"/>
              </a:spcAft>
              <a:defRPr sz="1150" b="1">
                <a:solidFill>
                  <a:srgbClr val="234B42"/>
                </a:solidFill>
                <a:latin typeface="Inter"/>
              </a:defRPr>
            </a:pPr>
            <a:r>
              <a:rPr lang="de-DE"/>
              <a:t>AUSTAUSCH &amp; REFLEXION</a:t>
            </a:r>
          </a:p>
        </p:txBody>
      </p:sp>
      <p:sp>
        <p:nvSpPr>
          <p:cNvPr id="7" name="Text 6"/>
          <p:cNvSpPr txBox="1"/>
          <p:nvPr/>
        </p:nvSpPr>
        <p:spPr>
          <a:xfrm>
            <a:off x="594360" y="804672"/>
            <a:ext cx="8503920"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Ergebnisse und Erfahrungsaustausch</a:t>
            </a:r>
          </a:p>
        </p:txBody>
      </p:sp>
      <p:sp>
        <p:nvSpPr>
          <p:cNvPr id="8" name="Text 7"/>
          <p:cNvSpPr txBox="1"/>
          <p:nvPr/>
        </p:nvSpPr>
        <p:spPr>
          <a:xfrm>
            <a:off x="594360" y="1470659"/>
            <a:ext cx="8458200" cy="282574"/>
          </a:xfrm>
          <a:prstGeom prst="rect">
            <a:avLst/>
          </a:prstGeom>
          <a:noFill/>
        </p:spPr>
        <p:txBody>
          <a:bodyPr wrap="none" lIns="0" rIns="0" tIns="0" bIns="0" anchor="t">
            <a:spAutoFit/>
          </a:bodyPr>
          <a:lstStyle/>
          <a:p>
            <a:pPr>
              <a:lnSpc>
                <a:spcPts val="1829"/>
              </a:lnSpc>
              <a:spcBef>
                <a:spcPts val="0"/>
              </a:spcBef>
              <a:spcAft>
                <a:spcPts val="0"/>
              </a:spcAft>
              <a:defRPr sz="1550" b="1">
                <a:solidFill>
                  <a:srgbClr val="234B42"/>
                </a:solidFill>
                <a:latin typeface="Inter"/>
              </a:defRPr>
            </a:pPr>
            <a:r>
              <a:rPr lang="de-DE"/>
              <a:t>Gruppenberichte &amp; gemeinsamer Austausch</a:t>
            </a:r>
          </a:p>
        </p:txBody>
      </p:sp>
      <p:sp>
        <p:nvSpPr>
          <p:cNvPr id="9" name="Rounded Rectangle 8"/>
          <p:cNvSpPr/>
          <p:nvPr/>
        </p:nvSpPr>
        <p:spPr>
          <a:xfrm>
            <a:off x="594360" y="1965960"/>
            <a:ext cx="5385816" cy="1920239"/>
          </a:xfrm>
          <a:prstGeom prst="roundRect">
            <a:avLst>
              <a:gd name="adj" fmla="val 6500"/>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9"/>
          <p:cNvSpPr txBox="1"/>
          <p:nvPr/>
        </p:nvSpPr>
        <p:spPr>
          <a:xfrm>
            <a:off x="841248" y="2130552"/>
            <a:ext cx="4892040" cy="290067"/>
          </a:xfrm>
          <a:prstGeom prst="rect">
            <a:avLst/>
          </a:prstGeom>
          <a:noFill/>
        </p:spPr>
        <p:txBody>
          <a:bodyPr wrap="none" lIns="0" rIns="0" tIns="0" bIns="0" anchor="t">
            <a:spAutoFit/>
          </a:bodyPr>
          <a:lstStyle/>
          <a:p>
            <a:pPr>
              <a:lnSpc>
                <a:spcPts val="1888"/>
              </a:lnSpc>
              <a:spcBef>
                <a:spcPts val="0"/>
              </a:spcBef>
              <a:spcAft>
                <a:spcPts val="0"/>
              </a:spcAft>
              <a:defRPr sz="1600" b="1">
                <a:solidFill>
                  <a:srgbClr val="234B42"/>
                </a:solidFill>
                <a:latin typeface="Manrope"/>
              </a:defRPr>
            </a:pPr>
            <a:r>
              <a:rPr lang="de-DE"/>
              <a:t>Situation</a:t>
            </a:r>
          </a:p>
        </p:txBody>
      </p:sp>
      <p:sp>
        <p:nvSpPr>
          <p:cNvPr id="11" name="Text 10"/>
          <p:cNvSpPr txBox="1"/>
          <p:nvPr/>
        </p:nvSpPr>
        <p:spPr>
          <a:xfrm>
            <a:off x="841248" y="2502916"/>
            <a:ext cx="4892040" cy="1273555"/>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6332F"/>
                </a:solidFill>
                <a:latin typeface="Inter"/>
              </a:defRPr>
            </a:pPr>
            <a:r>
              <a:rPr lang="de-DE"/>
              <a:t>Pro Gruppe kurz: Situation und</a:t>
            </a:r>
          </a:p>
          <a:p>
            <a:pPr>
              <a:lnSpc>
                <a:spcPts val="2419"/>
              </a:lnSpc>
              <a:spcBef>
                <a:spcPts val="0"/>
              </a:spcBef>
              <a:spcAft>
                <a:spcPts val="0"/>
              </a:spcAft>
              <a:defRPr sz="2050" b="0">
                <a:solidFill>
                  <a:srgbClr val="26332F"/>
                </a:solidFill>
                <a:latin typeface="Inter"/>
              </a:defRPr>
            </a:pPr>
            <a:r>
              <a:rPr lang="de-DE"/>
              <a:t>Beratungsfrage</a:t>
            </a:r>
          </a:p>
        </p:txBody>
      </p:sp>
      <p:sp>
        <p:nvSpPr>
          <p:cNvPr id="12" name="Rounded Rectangle 11"/>
          <p:cNvSpPr/>
          <p:nvPr/>
        </p:nvSpPr>
        <p:spPr>
          <a:xfrm>
            <a:off x="6208776" y="1965960"/>
            <a:ext cx="5385816" cy="1920239"/>
          </a:xfrm>
          <a:prstGeom prst="roundRect">
            <a:avLst>
              <a:gd name="adj" fmla="val 6500"/>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12"/>
          <p:cNvSpPr txBox="1"/>
          <p:nvPr/>
        </p:nvSpPr>
        <p:spPr>
          <a:xfrm>
            <a:off x="6455664" y="2130552"/>
            <a:ext cx="4892040" cy="290067"/>
          </a:xfrm>
          <a:prstGeom prst="rect">
            <a:avLst/>
          </a:prstGeom>
          <a:noFill/>
        </p:spPr>
        <p:txBody>
          <a:bodyPr wrap="none" lIns="0" rIns="0" tIns="0" bIns="0" anchor="t">
            <a:spAutoFit/>
          </a:bodyPr>
          <a:lstStyle/>
          <a:p>
            <a:pPr>
              <a:lnSpc>
                <a:spcPts val="1888"/>
              </a:lnSpc>
              <a:spcBef>
                <a:spcPts val="0"/>
              </a:spcBef>
              <a:spcAft>
                <a:spcPts val="0"/>
              </a:spcAft>
              <a:defRPr sz="1600" b="1">
                <a:solidFill>
                  <a:srgbClr val="234B42"/>
                </a:solidFill>
                <a:latin typeface="Manrope"/>
              </a:defRPr>
            </a:pPr>
            <a:r>
              <a:rPr lang="de-DE"/>
              <a:t>Einordnung</a:t>
            </a:r>
          </a:p>
        </p:txBody>
      </p:sp>
      <p:sp>
        <p:nvSpPr>
          <p:cNvPr id="14" name="Text 13"/>
          <p:cNvSpPr txBox="1"/>
          <p:nvPr/>
        </p:nvSpPr>
        <p:spPr>
          <a:xfrm>
            <a:off x="6455664" y="2502916"/>
            <a:ext cx="4892040" cy="1273555"/>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6332F"/>
                </a:solidFill>
                <a:latin typeface="Inter"/>
              </a:defRPr>
            </a:pPr>
            <a:r>
              <a:rPr lang="de-DE"/>
              <a:t>Wichtigste Beobachtung und mögliche</a:t>
            </a:r>
          </a:p>
          <a:p>
            <a:pPr>
              <a:lnSpc>
                <a:spcPts val="2419"/>
              </a:lnSpc>
              <a:spcBef>
                <a:spcPts val="0"/>
              </a:spcBef>
              <a:spcAft>
                <a:spcPts val="0"/>
              </a:spcAft>
              <a:defRPr sz="2050" b="0">
                <a:solidFill>
                  <a:srgbClr val="26332F"/>
                </a:solidFill>
                <a:latin typeface="Inter"/>
              </a:defRPr>
            </a:pPr>
            <a:r>
              <a:rPr lang="de-DE"/>
              <a:t>Erklärung</a:t>
            </a:r>
          </a:p>
        </p:txBody>
      </p:sp>
      <p:sp>
        <p:nvSpPr>
          <p:cNvPr id="15" name="Rounded Rectangle 14"/>
          <p:cNvSpPr/>
          <p:nvPr/>
        </p:nvSpPr>
        <p:spPr>
          <a:xfrm>
            <a:off x="594360" y="4114800"/>
            <a:ext cx="5385816" cy="1920239"/>
          </a:xfrm>
          <a:prstGeom prst="roundRect">
            <a:avLst>
              <a:gd name="adj" fmla="val 6500"/>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15"/>
          <p:cNvSpPr txBox="1"/>
          <p:nvPr/>
        </p:nvSpPr>
        <p:spPr>
          <a:xfrm>
            <a:off x="841248" y="4279392"/>
            <a:ext cx="4892040" cy="290067"/>
          </a:xfrm>
          <a:prstGeom prst="rect">
            <a:avLst/>
          </a:prstGeom>
          <a:noFill/>
        </p:spPr>
        <p:txBody>
          <a:bodyPr wrap="none" lIns="0" rIns="0" tIns="0" bIns="0" anchor="t">
            <a:spAutoFit/>
          </a:bodyPr>
          <a:lstStyle/>
          <a:p>
            <a:pPr>
              <a:lnSpc>
                <a:spcPts val="1888"/>
              </a:lnSpc>
              <a:spcBef>
                <a:spcPts val="0"/>
              </a:spcBef>
              <a:spcAft>
                <a:spcPts val="0"/>
              </a:spcAft>
              <a:defRPr sz="1600" b="1">
                <a:solidFill>
                  <a:srgbClr val="234B42"/>
                </a:solidFill>
                <a:latin typeface="Manrope"/>
              </a:defRPr>
            </a:pPr>
            <a:r>
              <a:rPr lang="de-DE"/>
              <a:t>Nächste Schritte</a:t>
            </a:r>
          </a:p>
        </p:txBody>
      </p:sp>
      <p:sp>
        <p:nvSpPr>
          <p:cNvPr id="17" name="Text 16"/>
          <p:cNvSpPr txBox="1"/>
          <p:nvPr/>
        </p:nvSpPr>
        <p:spPr>
          <a:xfrm>
            <a:off x="841248" y="4651755"/>
            <a:ext cx="4892040" cy="1273555"/>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6332F"/>
                </a:solidFill>
                <a:latin typeface="Inter"/>
              </a:defRPr>
            </a:pPr>
            <a:r>
              <a:rPr lang="de-DE"/>
              <a:t>Zwei geplante Unterstützungsschritte</a:t>
            </a:r>
          </a:p>
        </p:txBody>
      </p:sp>
      <p:sp>
        <p:nvSpPr>
          <p:cNvPr id="18" name="Rounded Rectangle 17"/>
          <p:cNvSpPr/>
          <p:nvPr/>
        </p:nvSpPr>
        <p:spPr>
          <a:xfrm>
            <a:off x="6208776" y="4114800"/>
            <a:ext cx="5385816" cy="1920239"/>
          </a:xfrm>
          <a:prstGeom prst="roundRect">
            <a:avLst>
              <a:gd name="adj" fmla="val 6500"/>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18"/>
          <p:cNvSpPr txBox="1"/>
          <p:nvPr/>
        </p:nvSpPr>
        <p:spPr>
          <a:xfrm>
            <a:off x="6455664" y="4279392"/>
            <a:ext cx="4892040" cy="290067"/>
          </a:xfrm>
          <a:prstGeom prst="rect">
            <a:avLst/>
          </a:prstGeom>
          <a:noFill/>
        </p:spPr>
        <p:txBody>
          <a:bodyPr wrap="none" lIns="0" rIns="0" tIns="0" bIns="0" anchor="t">
            <a:spAutoFit/>
          </a:bodyPr>
          <a:lstStyle/>
          <a:p>
            <a:pPr>
              <a:lnSpc>
                <a:spcPts val="1888"/>
              </a:lnSpc>
              <a:spcBef>
                <a:spcPts val="0"/>
              </a:spcBef>
              <a:spcAft>
                <a:spcPts val="0"/>
              </a:spcAft>
              <a:defRPr sz="1600" b="1">
                <a:solidFill>
                  <a:srgbClr val="234B42"/>
                </a:solidFill>
                <a:latin typeface="Manrope"/>
              </a:defRPr>
            </a:pPr>
            <a:r>
              <a:rPr lang="de-DE"/>
              <a:t>Übertragung</a:t>
            </a:r>
          </a:p>
        </p:txBody>
      </p:sp>
      <p:sp>
        <p:nvSpPr>
          <p:cNvPr id="20" name="Text 19"/>
          <p:cNvSpPr txBox="1"/>
          <p:nvPr/>
        </p:nvSpPr>
        <p:spPr>
          <a:xfrm>
            <a:off x="6455664" y="4651755"/>
            <a:ext cx="4892040" cy="1273555"/>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6332F"/>
                </a:solidFill>
                <a:latin typeface="Inter"/>
              </a:defRPr>
            </a:pPr>
            <a:r>
              <a:rPr lang="de-DE"/>
              <a:t>Gemeinsam: Was ist in anderen Kitas</a:t>
            </a:r>
          </a:p>
          <a:p>
            <a:pPr>
              <a:lnSpc>
                <a:spcPts val="2419"/>
              </a:lnSpc>
              <a:spcBef>
                <a:spcPts val="0"/>
              </a:spcBef>
              <a:spcAft>
                <a:spcPts val="0"/>
              </a:spcAft>
              <a:defRPr sz="2050" b="0">
                <a:solidFill>
                  <a:srgbClr val="26332F"/>
                </a:solidFill>
                <a:latin typeface="Inter"/>
              </a:defRPr>
            </a:pPr>
            <a:r>
              <a:rPr lang="de-DE"/>
              <a:t>übertragbar?</a:t>
            </a:r>
          </a:p>
        </p:txBody>
      </p:sp>
    </p:spTree>
  </p:cSld>
  <p:clrMapOvr>
    <a:masterClrMapping/>
  </p:clrMapOvr>
  <p:transition spd="fast" advClick="1">
    <p:fade/>
  </p:transition>
</p:sld>
</file>

<file path=ppt/slides/slide80.xml><?xml version="1.0" encoding="utf-8"?>
<p:sld xmlns:a="http://schemas.openxmlformats.org/drawingml/2006/main" xmlns:p="http://schemas.openxmlformats.org/presentationml/2006/main" xmlns:r="http://schemas.openxmlformats.org/officeDocument/2006/relationships" showMasterSp="1">
  <p:cSld>
    <p:bg>
      <p:bgPr>
        <a:solidFill>
          <a:srgbClr val="E5BD70"/>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80</a:t>
            </a:r>
          </a:p>
        </p:txBody>
      </p:sp>
      <p:sp>
        <p:nvSpPr>
          <p:cNvPr id="3" name="Rounded Rectangle 2"/>
          <p:cNvSpPr/>
          <p:nvPr/>
        </p:nvSpPr>
        <p:spPr>
          <a:xfrm>
            <a:off x="9646920" y="384048"/>
            <a:ext cx="1947672" cy="1280160"/>
          </a:xfrm>
          <a:prstGeom prst="roundRect">
            <a:avLst>
              <a:gd name="adj" fmla="val 6500"/>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3"/>
          <p:cNvSpPr txBox="1"/>
          <p:nvPr/>
        </p:nvSpPr>
        <p:spPr>
          <a:xfrm>
            <a:off x="9829800" y="493776"/>
            <a:ext cx="1572768" cy="634746"/>
          </a:xfrm>
          <a:prstGeom prst="rect">
            <a:avLst/>
          </a:prstGeom>
          <a:noFill/>
        </p:spPr>
        <p:txBody>
          <a:bodyPr wrap="none" lIns="0" rIns="0" tIns="0" bIns="0" anchor="t">
            <a:spAutoFit/>
          </a:bodyPr>
          <a:lstStyle/>
          <a:p>
            <a:pPr algn="ctr">
              <a:lnSpc>
                <a:spcPts val="4602"/>
              </a:lnSpc>
              <a:spcBef>
                <a:spcPts val="0"/>
              </a:spcBef>
              <a:spcAft>
                <a:spcPts val="0"/>
              </a:spcAft>
              <a:defRPr sz="3900" b="1">
                <a:solidFill>
                  <a:srgbClr val="F7F5EF"/>
                </a:solidFill>
                <a:latin typeface="Manrope"/>
              </a:defRPr>
            </a:pPr>
            <a:r>
              <a:rPr lang="de-DE"/>
              <a:t>10</a:t>
            </a:r>
          </a:p>
        </p:txBody>
      </p:sp>
      <p:sp>
        <p:nvSpPr>
          <p:cNvPr id="5" name="Text 4"/>
          <p:cNvSpPr txBox="1"/>
          <p:nvPr/>
        </p:nvSpPr>
        <p:spPr>
          <a:xfrm>
            <a:off x="9829800" y="1161288"/>
            <a:ext cx="1572768" cy="215137"/>
          </a:xfrm>
          <a:prstGeom prst="rect">
            <a:avLst/>
          </a:prstGeom>
          <a:noFill/>
        </p:spPr>
        <p:txBody>
          <a:bodyPr wrap="none" lIns="0" rIns="0" tIns="0" bIns="0" anchor="t">
            <a:spAutoFit/>
          </a:bodyPr>
          <a:lstStyle/>
          <a:p>
            <a:pPr algn="ctr">
              <a:lnSpc>
                <a:spcPts val="1297"/>
              </a:lnSpc>
              <a:spcBef>
                <a:spcPts val="0"/>
              </a:spcBef>
              <a:spcAft>
                <a:spcPts val="0"/>
              </a:spcAft>
              <a:defRPr sz="1100" b="1">
                <a:solidFill>
                  <a:srgbClr val="F7F5EF"/>
                </a:solidFill>
                <a:latin typeface="Inter"/>
              </a:defRPr>
            </a:pPr>
            <a:r>
              <a:rPr lang="de-DE"/>
              <a:t>MINUTEN</a:t>
            </a:r>
          </a:p>
        </p:txBody>
      </p:sp>
      <p:sp>
        <p:nvSpPr>
          <p:cNvPr id="6" name="Text 5"/>
          <p:cNvSpPr txBox="1"/>
          <p:nvPr/>
        </p:nvSpPr>
        <p:spPr>
          <a:xfrm>
            <a:off x="594360" y="393192"/>
            <a:ext cx="8686800" cy="222630"/>
          </a:xfrm>
          <a:prstGeom prst="rect">
            <a:avLst/>
          </a:prstGeom>
          <a:noFill/>
        </p:spPr>
        <p:txBody>
          <a:bodyPr wrap="none" lIns="0" rIns="0" tIns="0" bIns="0" anchor="t">
            <a:spAutoFit/>
          </a:bodyPr>
          <a:lstStyle/>
          <a:p>
            <a:pPr>
              <a:lnSpc>
                <a:spcPts val="1356"/>
              </a:lnSpc>
              <a:spcBef>
                <a:spcPts val="0"/>
              </a:spcBef>
              <a:spcAft>
                <a:spcPts val="0"/>
              </a:spcAft>
              <a:defRPr sz="1150" b="1">
                <a:solidFill>
                  <a:srgbClr val="234B42"/>
                </a:solidFill>
                <a:latin typeface="Inter"/>
              </a:defRPr>
            </a:pPr>
            <a:r>
              <a:rPr lang="de-DE"/>
              <a:t>TRANSFER · EIGENER NÄCHSTER SCHRITT</a:t>
            </a:r>
          </a:p>
        </p:txBody>
      </p:sp>
      <p:sp>
        <p:nvSpPr>
          <p:cNvPr id="7" name="Text 6"/>
          <p:cNvSpPr txBox="1"/>
          <p:nvPr/>
        </p:nvSpPr>
        <p:spPr>
          <a:xfrm>
            <a:off x="594360" y="804672"/>
            <a:ext cx="8503920" cy="989075"/>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Mein Schritt für die nächsten zwei</a:t>
            </a:r>
          </a:p>
          <a:p>
            <a:pPr>
              <a:lnSpc>
                <a:spcPts val="3696"/>
              </a:lnSpc>
              <a:spcBef>
                <a:spcPts val="0"/>
              </a:spcBef>
              <a:spcAft>
                <a:spcPts val="0"/>
              </a:spcAft>
              <a:defRPr sz="3300" b="1">
                <a:solidFill>
                  <a:srgbClr val="234B42"/>
                </a:solidFill>
                <a:latin typeface="Manrope"/>
              </a:defRPr>
            </a:pPr>
            <a:r>
              <a:rPr lang="de-DE"/>
              <a:t>Wochen</a:t>
            </a:r>
          </a:p>
        </p:txBody>
      </p:sp>
      <p:sp>
        <p:nvSpPr>
          <p:cNvPr id="8" name="Text 7"/>
          <p:cNvSpPr txBox="1"/>
          <p:nvPr/>
        </p:nvSpPr>
        <p:spPr>
          <a:xfrm>
            <a:off x="594360" y="1940052"/>
            <a:ext cx="8458200" cy="282574"/>
          </a:xfrm>
          <a:prstGeom prst="rect">
            <a:avLst/>
          </a:prstGeom>
          <a:noFill/>
        </p:spPr>
        <p:txBody>
          <a:bodyPr wrap="none" lIns="0" rIns="0" tIns="0" bIns="0" anchor="t">
            <a:spAutoFit/>
          </a:bodyPr>
          <a:lstStyle/>
          <a:p>
            <a:pPr>
              <a:lnSpc>
                <a:spcPts val="1829"/>
              </a:lnSpc>
              <a:spcBef>
                <a:spcPts val="0"/>
              </a:spcBef>
              <a:spcAft>
                <a:spcPts val="0"/>
              </a:spcAft>
              <a:defRPr sz="1550" b="1">
                <a:solidFill>
                  <a:srgbClr val="234B42"/>
                </a:solidFill>
                <a:latin typeface="Inter"/>
              </a:defRPr>
            </a:pPr>
            <a:r>
              <a:rPr lang="de-DE"/>
              <a:t>5 Minuten einzeln → 5 Minuten zu zweit</a:t>
            </a:r>
          </a:p>
        </p:txBody>
      </p:sp>
      <p:sp>
        <p:nvSpPr>
          <p:cNvPr id="9" name="Rounded Rectangle 8"/>
          <p:cNvSpPr/>
          <p:nvPr/>
        </p:nvSpPr>
        <p:spPr>
          <a:xfrm>
            <a:off x="594360" y="2424683"/>
            <a:ext cx="5385816" cy="1690878"/>
          </a:xfrm>
          <a:prstGeom prst="roundRect">
            <a:avLst>
              <a:gd name="adj" fmla="val 6500"/>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9"/>
          <p:cNvSpPr txBox="1"/>
          <p:nvPr/>
        </p:nvSpPr>
        <p:spPr>
          <a:xfrm>
            <a:off x="841248" y="2589276"/>
            <a:ext cx="4892040" cy="290067"/>
          </a:xfrm>
          <a:prstGeom prst="rect">
            <a:avLst/>
          </a:prstGeom>
          <a:noFill/>
        </p:spPr>
        <p:txBody>
          <a:bodyPr wrap="none" lIns="0" rIns="0" tIns="0" bIns="0" anchor="t">
            <a:spAutoFit/>
          </a:bodyPr>
          <a:lstStyle/>
          <a:p>
            <a:pPr>
              <a:lnSpc>
                <a:spcPts val="1888"/>
              </a:lnSpc>
              <a:spcBef>
                <a:spcPts val="0"/>
              </a:spcBef>
              <a:spcAft>
                <a:spcPts val="0"/>
              </a:spcAft>
              <a:defRPr sz="1600" b="1">
                <a:solidFill>
                  <a:srgbClr val="234B42"/>
                </a:solidFill>
                <a:latin typeface="Manrope"/>
              </a:defRPr>
            </a:pPr>
            <a:r>
              <a:rPr lang="de-DE"/>
              <a:t>Situation</a:t>
            </a:r>
          </a:p>
        </p:txBody>
      </p:sp>
      <p:sp>
        <p:nvSpPr>
          <p:cNvPr id="11" name="Text 10"/>
          <p:cNvSpPr txBox="1"/>
          <p:nvPr/>
        </p:nvSpPr>
        <p:spPr>
          <a:xfrm>
            <a:off x="841248" y="2961639"/>
            <a:ext cx="4892040" cy="1044194"/>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6332F"/>
                </a:solidFill>
                <a:latin typeface="Inter"/>
              </a:defRPr>
            </a:pPr>
            <a:r>
              <a:rPr lang="de-DE"/>
              <a:t>Eine konkrete Alltagssituation auswählen</a:t>
            </a:r>
          </a:p>
        </p:txBody>
      </p:sp>
      <p:sp>
        <p:nvSpPr>
          <p:cNvPr id="12" name="Rounded Rectangle 11"/>
          <p:cNvSpPr/>
          <p:nvPr/>
        </p:nvSpPr>
        <p:spPr>
          <a:xfrm>
            <a:off x="6208776" y="2424683"/>
            <a:ext cx="5385816" cy="1690878"/>
          </a:xfrm>
          <a:prstGeom prst="roundRect">
            <a:avLst>
              <a:gd name="adj" fmla="val 6500"/>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12"/>
          <p:cNvSpPr txBox="1"/>
          <p:nvPr/>
        </p:nvSpPr>
        <p:spPr>
          <a:xfrm>
            <a:off x="6455664" y="2589276"/>
            <a:ext cx="4892040" cy="290067"/>
          </a:xfrm>
          <a:prstGeom prst="rect">
            <a:avLst/>
          </a:prstGeom>
          <a:noFill/>
        </p:spPr>
        <p:txBody>
          <a:bodyPr wrap="none" lIns="0" rIns="0" tIns="0" bIns="0" anchor="t">
            <a:spAutoFit/>
          </a:bodyPr>
          <a:lstStyle/>
          <a:p>
            <a:pPr>
              <a:lnSpc>
                <a:spcPts val="1888"/>
              </a:lnSpc>
              <a:spcBef>
                <a:spcPts val="0"/>
              </a:spcBef>
              <a:spcAft>
                <a:spcPts val="0"/>
              </a:spcAft>
              <a:defRPr sz="1600" b="1">
                <a:solidFill>
                  <a:srgbClr val="234B42"/>
                </a:solidFill>
                <a:latin typeface="Manrope"/>
              </a:defRPr>
            </a:pPr>
            <a:r>
              <a:rPr lang="de-DE"/>
              <a:t>Verantwortung</a:t>
            </a:r>
          </a:p>
        </p:txBody>
      </p:sp>
      <p:sp>
        <p:nvSpPr>
          <p:cNvPr id="14" name="Text 13"/>
          <p:cNvSpPr txBox="1"/>
          <p:nvPr/>
        </p:nvSpPr>
        <p:spPr>
          <a:xfrm>
            <a:off x="6455664" y="2961639"/>
            <a:ext cx="4892040" cy="1044194"/>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6332F"/>
                </a:solidFill>
                <a:latin typeface="Inter"/>
              </a:defRPr>
            </a:pPr>
            <a:r>
              <a:rPr lang="de-DE"/>
              <a:t>Einen ersten Schritt und eine</a:t>
            </a:r>
          </a:p>
          <a:p>
            <a:pPr>
              <a:lnSpc>
                <a:spcPts val="2419"/>
              </a:lnSpc>
              <a:spcBef>
                <a:spcPts val="0"/>
              </a:spcBef>
              <a:spcAft>
                <a:spcPts val="0"/>
              </a:spcAft>
              <a:defRPr sz="2050" b="0">
                <a:solidFill>
                  <a:srgbClr val="26332F"/>
                </a:solidFill>
                <a:latin typeface="Inter"/>
              </a:defRPr>
            </a:pPr>
            <a:r>
              <a:rPr lang="de-DE"/>
              <a:t>verantwortliche Person benennen</a:t>
            </a:r>
          </a:p>
        </p:txBody>
      </p:sp>
      <p:sp>
        <p:nvSpPr>
          <p:cNvPr id="15" name="Rounded Rectangle 14"/>
          <p:cNvSpPr/>
          <p:nvPr/>
        </p:nvSpPr>
        <p:spPr>
          <a:xfrm>
            <a:off x="594360" y="4344161"/>
            <a:ext cx="5385816" cy="1690878"/>
          </a:xfrm>
          <a:prstGeom prst="roundRect">
            <a:avLst>
              <a:gd name="adj" fmla="val 6500"/>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15"/>
          <p:cNvSpPr txBox="1"/>
          <p:nvPr/>
        </p:nvSpPr>
        <p:spPr>
          <a:xfrm>
            <a:off x="841248" y="4508753"/>
            <a:ext cx="4892040" cy="290067"/>
          </a:xfrm>
          <a:prstGeom prst="rect">
            <a:avLst/>
          </a:prstGeom>
          <a:noFill/>
        </p:spPr>
        <p:txBody>
          <a:bodyPr wrap="none" lIns="0" rIns="0" tIns="0" bIns="0" anchor="t">
            <a:spAutoFit/>
          </a:bodyPr>
          <a:lstStyle/>
          <a:p>
            <a:pPr>
              <a:lnSpc>
                <a:spcPts val="1888"/>
              </a:lnSpc>
              <a:spcBef>
                <a:spcPts val="0"/>
              </a:spcBef>
              <a:spcAft>
                <a:spcPts val="0"/>
              </a:spcAft>
              <a:defRPr sz="1600" b="1">
                <a:solidFill>
                  <a:srgbClr val="234B42"/>
                </a:solidFill>
                <a:latin typeface="Manrope"/>
              </a:defRPr>
            </a:pPr>
            <a:r>
              <a:rPr lang="de-DE"/>
              <a:t>Unterstützung</a:t>
            </a:r>
          </a:p>
        </p:txBody>
      </p:sp>
      <p:sp>
        <p:nvSpPr>
          <p:cNvPr id="17" name="Text 16"/>
          <p:cNvSpPr txBox="1"/>
          <p:nvPr/>
        </p:nvSpPr>
        <p:spPr>
          <a:xfrm>
            <a:off x="841248" y="4881117"/>
            <a:ext cx="4892040" cy="1044194"/>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6332F"/>
                </a:solidFill>
                <a:latin typeface="Inter"/>
              </a:defRPr>
            </a:pPr>
            <a:r>
              <a:rPr lang="de-DE"/>
              <a:t>Benötigte Unterstützung festhalten</a:t>
            </a:r>
          </a:p>
        </p:txBody>
      </p:sp>
      <p:sp>
        <p:nvSpPr>
          <p:cNvPr id="18" name="Rounded Rectangle 17"/>
          <p:cNvSpPr/>
          <p:nvPr/>
        </p:nvSpPr>
        <p:spPr>
          <a:xfrm>
            <a:off x="6208776" y="4344161"/>
            <a:ext cx="5385816" cy="1690878"/>
          </a:xfrm>
          <a:prstGeom prst="roundRect">
            <a:avLst>
              <a:gd name="adj" fmla="val 6500"/>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18"/>
          <p:cNvSpPr txBox="1"/>
          <p:nvPr/>
        </p:nvSpPr>
        <p:spPr>
          <a:xfrm>
            <a:off x="6455664" y="4508753"/>
            <a:ext cx="4892040" cy="290067"/>
          </a:xfrm>
          <a:prstGeom prst="rect">
            <a:avLst/>
          </a:prstGeom>
          <a:noFill/>
        </p:spPr>
        <p:txBody>
          <a:bodyPr wrap="none" lIns="0" rIns="0" tIns="0" bIns="0" anchor="t">
            <a:spAutoFit/>
          </a:bodyPr>
          <a:lstStyle/>
          <a:p>
            <a:pPr>
              <a:lnSpc>
                <a:spcPts val="1888"/>
              </a:lnSpc>
              <a:spcBef>
                <a:spcPts val="0"/>
              </a:spcBef>
              <a:spcAft>
                <a:spcPts val="0"/>
              </a:spcAft>
              <a:defRPr sz="1600" b="1">
                <a:solidFill>
                  <a:srgbClr val="234B42"/>
                </a:solidFill>
                <a:latin typeface="Manrope"/>
              </a:defRPr>
            </a:pPr>
            <a:r>
              <a:rPr lang="de-DE"/>
              <a:t>Überprüfung</a:t>
            </a:r>
          </a:p>
        </p:txBody>
      </p:sp>
      <p:sp>
        <p:nvSpPr>
          <p:cNvPr id="20" name="Text 19"/>
          <p:cNvSpPr txBox="1"/>
          <p:nvPr/>
        </p:nvSpPr>
        <p:spPr>
          <a:xfrm>
            <a:off x="6455664" y="4881117"/>
            <a:ext cx="4892040" cy="1044194"/>
          </a:xfrm>
          <a:prstGeom prst="rect">
            <a:avLst/>
          </a:prstGeom>
          <a:noFill/>
        </p:spPr>
        <p:txBody>
          <a:bodyPr wrap="none" lIns="0" rIns="0" tIns="0" bIns="0" anchor="t">
            <a:spAutoFit/>
          </a:bodyPr>
          <a:lstStyle/>
          <a:p>
            <a:pPr>
              <a:lnSpc>
                <a:spcPts val="2419"/>
              </a:lnSpc>
              <a:spcBef>
                <a:spcPts val="0"/>
              </a:spcBef>
              <a:spcAft>
                <a:spcPts val="0"/>
              </a:spcAft>
              <a:defRPr sz="2050" b="0">
                <a:solidFill>
                  <a:srgbClr val="26332F"/>
                </a:solidFill>
                <a:latin typeface="Inter"/>
              </a:defRPr>
            </a:pPr>
            <a:r>
              <a:rPr lang="de-DE"/>
              <a:t>Beobachtungskriterien und einen</a:t>
            </a:r>
          </a:p>
          <a:p>
            <a:pPr>
              <a:lnSpc>
                <a:spcPts val="2419"/>
              </a:lnSpc>
              <a:spcBef>
                <a:spcPts val="0"/>
              </a:spcBef>
              <a:spcAft>
                <a:spcPts val="0"/>
              </a:spcAft>
              <a:defRPr sz="2050" b="0">
                <a:solidFill>
                  <a:srgbClr val="26332F"/>
                </a:solidFill>
                <a:latin typeface="Inter"/>
              </a:defRPr>
            </a:pPr>
            <a:r>
              <a:rPr lang="de-DE"/>
              <a:t>Prüftermin vereinbaren</a:t>
            </a:r>
          </a:p>
        </p:txBody>
      </p:sp>
    </p:spTree>
  </p:cSld>
  <p:clrMapOvr>
    <a:masterClrMapping/>
  </p:clrMapOvr>
  <p:transition spd="fast" advClick="1">
    <p:fade/>
  </p:transition>
</p:sld>
</file>

<file path=ppt/slides/slide81.xml><?xml version="1.0" encoding="utf-8"?>
<p:sld xmlns:a="http://schemas.openxmlformats.org/drawingml/2006/main" xmlns:p="http://schemas.openxmlformats.org/presentationml/2006/main" xmlns:r="http://schemas.openxmlformats.org/officeDocument/2006/relationships" showMasterSp="1">
  <p:cSld>
    <p:bg>
      <p:bgPr>
        <a:solidFill>
          <a:srgbClr val="F1DFD6"/>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81</a:t>
            </a:r>
          </a:p>
        </p:txBody>
      </p:sp>
      <p:sp>
        <p:nvSpPr>
          <p:cNvPr id="3" name="Text 2"/>
          <p:cNvSpPr txBox="1"/>
          <p:nvPr/>
        </p:nvSpPr>
        <p:spPr>
          <a:xfrm>
            <a:off x="594360" y="393192"/>
            <a:ext cx="8961120" cy="222630"/>
          </a:xfrm>
          <a:prstGeom prst="rect">
            <a:avLst/>
          </a:prstGeom>
          <a:noFill/>
        </p:spPr>
        <p:txBody>
          <a:bodyPr wrap="none" lIns="0" rIns="0" tIns="0" bIns="0" anchor="t">
            <a:spAutoFit/>
          </a:bodyPr>
          <a:lstStyle/>
          <a:p>
            <a:pPr>
              <a:lnSpc>
                <a:spcPts val="1356"/>
              </a:lnSpc>
              <a:spcBef>
                <a:spcPts val="0"/>
              </a:spcBef>
              <a:spcAft>
                <a:spcPts val="0"/>
              </a:spcAft>
              <a:defRPr sz="1150" b="1">
                <a:solidFill>
                  <a:srgbClr val="234B42"/>
                </a:solidFill>
                <a:latin typeface="Inter"/>
              </a:defRPr>
            </a:pPr>
            <a:r>
              <a:rPr lang="de-DE"/>
              <a:t>ABSCHLUSS</a:t>
            </a:r>
          </a:p>
        </p:txBody>
      </p:sp>
      <p:sp>
        <p:nvSpPr>
          <p:cNvPr id="4" name="Text 3"/>
          <p:cNvSpPr txBox="1"/>
          <p:nvPr/>
        </p:nvSpPr>
        <p:spPr>
          <a:xfrm>
            <a:off x="594360" y="804672"/>
            <a:ext cx="10789920" cy="469900"/>
          </a:xfrm>
          <a:prstGeom prst="rect">
            <a:avLst/>
          </a:prstGeom>
          <a:noFill/>
        </p:spPr>
        <p:txBody>
          <a:bodyPr wrap="none" lIns="0" rIns="0" tIns="0" bIns="0" anchor="t">
            <a:spAutoFit/>
          </a:bodyPr>
          <a:lstStyle/>
          <a:p>
            <a:pPr>
              <a:lnSpc>
                <a:spcPts val="3304"/>
              </a:lnSpc>
              <a:spcBef>
                <a:spcPts val="0"/>
              </a:spcBef>
              <a:spcAft>
                <a:spcPts val="0"/>
              </a:spcAft>
              <a:defRPr sz="2800" b="1">
                <a:solidFill>
                  <a:srgbClr val="234B42"/>
                </a:solidFill>
                <a:latin typeface="Manrope"/>
              </a:defRPr>
            </a:pPr>
            <a:r>
              <a:rPr lang="de-DE"/>
              <a:t>Offene Fragen und Abschluss</a:t>
            </a:r>
          </a:p>
        </p:txBody>
      </p:sp>
      <p:sp>
        <p:nvSpPr>
          <p:cNvPr id="5" name="Text 4"/>
          <p:cNvSpPr txBox="1"/>
          <p:nvPr/>
        </p:nvSpPr>
        <p:spPr>
          <a:xfrm>
            <a:off x="658368" y="2048256"/>
            <a:ext cx="1828800" cy="1129284"/>
          </a:xfrm>
          <a:prstGeom prst="rect">
            <a:avLst/>
          </a:prstGeom>
          <a:noFill/>
        </p:spPr>
        <p:txBody>
          <a:bodyPr wrap="none" lIns="0" rIns="0" tIns="0" bIns="0" anchor="t">
            <a:spAutoFit/>
          </a:bodyPr>
          <a:lstStyle/>
          <a:p>
            <a:pPr>
              <a:lnSpc>
                <a:spcPts val="8496"/>
              </a:lnSpc>
              <a:spcBef>
                <a:spcPts val="0"/>
              </a:spcBef>
              <a:spcAft>
                <a:spcPts val="0"/>
              </a:spcAft>
              <a:defRPr sz="7200" b="1">
                <a:solidFill>
                  <a:srgbClr val="D68B73"/>
                </a:solidFill>
                <a:latin typeface="Manrope"/>
              </a:defRPr>
            </a:pPr>
            <a:r>
              <a:rPr lang="de-DE"/>
              <a:t>01</a:t>
            </a:r>
          </a:p>
        </p:txBody>
      </p:sp>
      <p:sp>
        <p:nvSpPr>
          <p:cNvPr id="6" name="Text 5"/>
          <p:cNvSpPr txBox="1"/>
          <p:nvPr/>
        </p:nvSpPr>
        <p:spPr>
          <a:xfrm>
            <a:off x="2788920" y="2084831"/>
            <a:ext cx="8412480" cy="2606040"/>
          </a:xfrm>
          <a:prstGeom prst="rect">
            <a:avLst/>
          </a:prstGeom>
          <a:noFill/>
        </p:spPr>
        <p:txBody>
          <a:bodyPr wrap="none" lIns="0" rIns="0" tIns="0" bIns="0" anchor="t">
            <a:spAutoFit/>
          </a:bodyPr>
          <a:lstStyle/>
          <a:p>
            <a:pPr>
              <a:lnSpc>
                <a:spcPts val="4025"/>
              </a:lnSpc>
              <a:spcBef>
                <a:spcPts val="0"/>
              </a:spcBef>
              <a:spcAft>
                <a:spcPts val="0"/>
              </a:spcAft>
              <a:defRPr sz="3500" b="1">
                <a:solidFill>
                  <a:srgbClr val="234B42"/>
                </a:solidFill>
                <a:latin typeface="Manrope"/>
              </a:defRPr>
            </a:pPr>
            <a:r>
              <a:rPr lang="de-DE"/>
              <a:t>Welche Frage vom Beginn ist noch</a:t>
            </a:r>
          </a:p>
          <a:p>
            <a:pPr>
              <a:lnSpc>
                <a:spcPts val="4025"/>
              </a:lnSpc>
              <a:spcBef>
                <a:spcPts val="0"/>
              </a:spcBef>
              <a:spcAft>
                <a:spcPts val="0"/>
              </a:spcAft>
              <a:defRPr sz="3500" b="1">
                <a:solidFill>
                  <a:srgbClr val="234B42"/>
                </a:solidFill>
                <a:latin typeface="Manrope"/>
              </a:defRPr>
            </a:pPr>
            <a:r>
              <a:rPr lang="de-DE"/>
              <a:t>offen?</a:t>
            </a:r>
          </a:p>
        </p:txBody>
      </p:sp>
      <p:sp>
        <p:nvSpPr>
          <p:cNvPr id="7" name="Rectangle 6"/>
          <p:cNvSpPr/>
          <p:nvPr/>
        </p:nvSpPr>
        <p:spPr>
          <a:xfrm>
            <a:off x="2816352" y="5120640"/>
            <a:ext cx="539496" cy="64008"/>
          </a:xfrm>
          <a:prstGeom prst="rect">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547872" y="5120640"/>
            <a:ext cx="539496" cy="64008"/>
          </a:xfrm>
          <a:prstGeom prst="rect">
            <a:avLst/>
          </a:prstGeom>
          <a:solidFill>
            <a:srgbClr val="D68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79392" y="5120640"/>
            <a:ext cx="539496" cy="64008"/>
          </a:xfrm>
          <a:prstGeom prst="rect">
            <a:avLst/>
          </a:prstGeom>
          <a:solidFill>
            <a:srgbClr val="D68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10912" y="5120640"/>
            <a:ext cx="539496" cy="64008"/>
          </a:xfrm>
          <a:prstGeom prst="rect">
            <a:avLst/>
          </a:prstGeom>
          <a:solidFill>
            <a:srgbClr val="D68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10"/>
          <p:cNvSpPr txBox="1"/>
          <p:nvPr/>
        </p:nvSpPr>
        <p:spPr>
          <a:xfrm>
            <a:off x="2788920" y="5449824"/>
            <a:ext cx="7040880" cy="230123"/>
          </a:xfrm>
          <a:prstGeom prst="rect">
            <a:avLst/>
          </a:prstGeom>
          <a:noFill/>
        </p:spPr>
        <p:txBody>
          <a:bodyPr wrap="none" lIns="0" rIns="0" tIns="0" bIns="0" anchor="t">
            <a:spAutoFit/>
          </a:bodyPr>
          <a:lstStyle/>
          <a:p>
            <a:pPr>
              <a:lnSpc>
                <a:spcPts val="1416"/>
              </a:lnSpc>
              <a:spcBef>
                <a:spcPts val="0"/>
              </a:spcBef>
              <a:spcAft>
                <a:spcPts val="0"/>
              </a:spcAft>
              <a:defRPr sz="1200" b="1">
                <a:solidFill>
                  <a:srgbClr val="234B42"/>
                </a:solidFill>
                <a:latin typeface="Inter"/>
              </a:defRPr>
            </a:pPr>
            <a:r>
              <a:rPr lang="de-DE"/>
              <a:t>FRAGE 1 VON 4</a:t>
            </a:r>
          </a:p>
        </p:txBody>
      </p:sp>
      <p:sp>
        <p:nvSpPr>
          <p:cNvPr id="12" name="Text 11"/>
          <p:cNvSpPr txBox="1"/>
          <p:nvPr/>
        </p:nvSpPr>
        <p:spPr>
          <a:xfrm>
            <a:off x="594360" y="5952744"/>
            <a:ext cx="10972800" cy="230123"/>
          </a:xfrm>
          <a:prstGeom prst="rect">
            <a:avLst/>
          </a:prstGeom>
          <a:noFill/>
        </p:spPr>
        <p:txBody>
          <a:bodyPr wrap="none" lIns="0" rIns="0" tIns="0" bIns="0" anchor="t">
            <a:spAutoFit/>
          </a:bodyPr>
          <a:lstStyle/>
          <a:p>
            <a:pPr>
              <a:lnSpc>
                <a:spcPts val="1416"/>
              </a:lnSpc>
              <a:spcBef>
                <a:spcPts val="0"/>
              </a:spcBef>
              <a:spcAft>
                <a:spcPts val="0"/>
              </a:spcAft>
              <a:defRPr sz="1200" b="0">
                <a:solidFill>
                  <a:srgbClr val="234B42"/>
                </a:solidFill>
                <a:latin typeface="Inter"/>
              </a:defRPr>
            </a:pPr>
            <a:r>
              <a:rPr lang="de-DE"/>
              <a:t>10 Minuten Fragen + 5 Minuten Abschluss</a:t>
            </a:r>
          </a:p>
        </p:txBody>
      </p:sp>
    </p:spTree>
  </p:cSld>
  <p:clrMapOvr>
    <a:masterClrMapping/>
  </p:clrMapOvr>
  <p:transition spd="fast" advClick="1">
    <p:fade/>
  </p:transition>
</p:sld>
</file>

<file path=ppt/slides/slide82.xml><?xml version="1.0" encoding="utf-8"?>
<p:sld xmlns:a="http://schemas.openxmlformats.org/drawingml/2006/main" xmlns:p="http://schemas.openxmlformats.org/presentationml/2006/main" xmlns:r="http://schemas.openxmlformats.org/officeDocument/2006/relationships" showMasterSp="1">
  <p:cSld>
    <p:bg>
      <p:bgPr>
        <a:solidFill>
          <a:srgbClr val="F1DFD6"/>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82</a:t>
            </a:r>
          </a:p>
        </p:txBody>
      </p:sp>
      <p:sp>
        <p:nvSpPr>
          <p:cNvPr id="3" name="Text 2"/>
          <p:cNvSpPr txBox="1"/>
          <p:nvPr/>
        </p:nvSpPr>
        <p:spPr>
          <a:xfrm>
            <a:off x="594360" y="393192"/>
            <a:ext cx="8961120" cy="222630"/>
          </a:xfrm>
          <a:prstGeom prst="rect">
            <a:avLst/>
          </a:prstGeom>
          <a:noFill/>
        </p:spPr>
        <p:txBody>
          <a:bodyPr wrap="none" lIns="0" rIns="0" tIns="0" bIns="0" anchor="t">
            <a:spAutoFit/>
          </a:bodyPr>
          <a:lstStyle/>
          <a:p>
            <a:pPr>
              <a:lnSpc>
                <a:spcPts val="1356"/>
              </a:lnSpc>
              <a:spcBef>
                <a:spcPts val="0"/>
              </a:spcBef>
              <a:spcAft>
                <a:spcPts val="0"/>
              </a:spcAft>
              <a:defRPr sz="1150" b="1">
                <a:solidFill>
                  <a:srgbClr val="234B42"/>
                </a:solidFill>
                <a:latin typeface="Inter"/>
              </a:defRPr>
            </a:pPr>
            <a:r>
              <a:rPr lang="de-DE"/>
              <a:t>ABSCHLUSS</a:t>
            </a:r>
          </a:p>
        </p:txBody>
      </p:sp>
      <p:sp>
        <p:nvSpPr>
          <p:cNvPr id="4" name="Text 3"/>
          <p:cNvSpPr txBox="1"/>
          <p:nvPr/>
        </p:nvSpPr>
        <p:spPr>
          <a:xfrm>
            <a:off x="594360" y="804672"/>
            <a:ext cx="10789920" cy="469900"/>
          </a:xfrm>
          <a:prstGeom prst="rect">
            <a:avLst/>
          </a:prstGeom>
          <a:noFill/>
        </p:spPr>
        <p:txBody>
          <a:bodyPr wrap="none" lIns="0" rIns="0" tIns="0" bIns="0" anchor="t">
            <a:spAutoFit/>
          </a:bodyPr>
          <a:lstStyle/>
          <a:p>
            <a:pPr>
              <a:lnSpc>
                <a:spcPts val="3304"/>
              </a:lnSpc>
              <a:spcBef>
                <a:spcPts val="0"/>
              </a:spcBef>
              <a:spcAft>
                <a:spcPts val="0"/>
              </a:spcAft>
              <a:defRPr sz="2800" b="1">
                <a:solidFill>
                  <a:srgbClr val="234B42"/>
                </a:solidFill>
                <a:latin typeface="Manrope"/>
              </a:defRPr>
            </a:pPr>
            <a:r>
              <a:rPr lang="de-DE"/>
              <a:t>Offene Fragen und Abschluss</a:t>
            </a:r>
          </a:p>
        </p:txBody>
      </p:sp>
      <p:sp>
        <p:nvSpPr>
          <p:cNvPr id="5" name="Text 4"/>
          <p:cNvSpPr txBox="1"/>
          <p:nvPr/>
        </p:nvSpPr>
        <p:spPr>
          <a:xfrm>
            <a:off x="658368" y="2048256"/>
            <a:ext cx="1828800" cy="1129284"/>
          </a:xfrm>
          <a:prstGeom prst="rect">
            <a:avLst/>
          </a:prstGeom>
          <a:noFill/>
        </p:spPr>
        <p:txBody>
          <a:bodyPr wrap="none" lIns="0" rIns="0" tIns="0" bIns="0" anchor="t">
            <a:spAutoFit/>
          </a:bodyPr>
          <a:lstStyle/>
          <a:p>
            <a:pPr>
              <a:lnSpc>
                <a:spcPts val="8496"/>
              </a:lnSpc>
              <a:spcBef>
                <a:spcPts val="0"/>
              </a:spcBef>
              <a:spcAft>
                <a:spcPts val="0"/>
              </a:spcAft>
              <a:defRPr sz="7200" b="1">
                <a:solidFill>
                  <a:srgbClr val="D68B73"/>
                </a:solidFill>
                <a:latin typeface="Manrope"/>
              </a:defRPr>
            </a:pPr>
            <a:r>
              <a:rPr lang="de-DE"/>
              <a:t>02</a:t>
            </a:r>
          </a:p>
        </p:txBody>
      </p:sp>
      <p:sp>
        <p:nvSpPr>
          <p:cNvPr id="6" name="Text 5"/>
          <p:cNvSpPr txBox="1"/>
          <p:nvPr/>
        </p:nvSpPr>
        <p:spPr>
          <a:xfrm>
            <a:off x="2788920" y="2084831"/>
            <a:ext cx="8412480" cy="2606040"/>
          </a:xfrm>
          <a:prstGeom prst="rect">
            <a:avLst/>
          </a:prstGeom>
          <a:noFill/>
        </p:spPr>
        <p:txBody>
          <a:bodyPr wrap="none" lIns="0" rIns="0" tIns="0" bIns="0" anchor="t">
            <a:spAutoFit/>
          </a:bodyPr>
          <a:lstStyle/>
          <a:p>
            <a:pPr>
              <a:lnSpc>
                <a:spcPts val="4025"/>
              </a:lnSpc>
              <a:spcBef>
                <a:spcPts val="0"/>
              </a:spcBef>
              <a:spcAft>
                <a:spcPts val="0"/>
              </a:spcAft>
              <a:defRPr sz="3500" b="1">
                <a:solidFill>
                  <a:srgbClr val="234B42"/>
                </a:solidFill>
                <a:latin typeface="Manrope"/>
              </a:defRPr>
            </a:pPr>
            <a:r>
              <a:rPr lang="de-DE"/>
              <a:t>Was verstehe ich jetzt anders?</a:t>
            </a:r>
          </a:p>
        </p:txBody>
      </p:sp>
      <p:sp>
        <p:nvSpPr>
          <p:cNvPr id="7" name="Rectangle 6"/>
          <p:cNvSpPr/>
          <p:nvPr/>
        </p:nvSpPr>
        <p:spPr>
          <a:xfrm>
            <a:off x="2816352" y="5120640"/>
            <a:ext cx="539496" cy="64008"/>
          </a:xfrm>
          <a:prstGeom prst="rect">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547872" y="5120640"/>
            <a:ext cx="539496" cy="64008"/>
          </a:xfrm>
          <a:prstGeom prst="rect">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79392" y="5120640"/>
            <a:ext cx="539496" cy="64008"/>
          </a:xfrm>
          <a:prstGeom prst="rect">
            <a:avLst/>
          </a:prstGeom>
          <a:solidFill>
            <a:srgbClr val="D68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10912" y="5120640"/>
            <a:ext cx="539496" cy="64008"/>
          </a:xfrm>
          <a:prstGeom prst="rect">
            <a:avLst/>
          </a:prstGeom>
          <a:solidFill>
            <a:srgbClr val="D68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10"/>
          <p:cNvSpPr txBox="1"/>
          <p:nvPr/>
        </p:nvSpPr>
        <p:spPr>
          <a:xfrm>
            <a:off x="2788920" y="5449824"/>
            <a:ext cx="7040880" cy="230123"/>
          </a:xfrm>
          <a:prstGeom prst="rect">
            <a:avLst/>
          </a:prstGeom>
          <a:noFill/>
        </p:spPr>
        <p:txBody>
          <a:bodyPr wrap="none" lIns="0" rIns="0" tIns="0" bIns="0" anchor="t">
            <a:spAutoFit/>
          </a:bodyPr>
          <a:lstStyle/>
          <a:p>
            <a:pPr>
              <a:lnSpc>
                <a:spcPts val="1416"/>
              </a:lnSpc>
              <a:spcBef>
                <a:spcPts val="0"/>
              </a:spcBef>
              <a:spcAft>
                <a:spcPts val="0"/>
              </a:spcAft>
              <a:defRPr sz="1200" b="1">
                <a:solidFill>
                  <a:srgbClr val="234B42"/>
                </a:solidFill>
                <a:latin typeface="Inter"/>
              </a:defRPr>
            </a:pPr>
            <a:r>
              <a:rPr lang="de-DE"/>
              <a:t>FRAGE 2 VON 4</a:t>
            </a:r>
          </a:p>
        </p:txBody>
      </p:sp>
      <p:sp>
        <p:nvSpPr>
          <p:cNvPr id="12" name="Text 11"/>
          <p:cNvSpPr txBox="1"/>
          <p:nvPr/>
        </p:nvSpPr>
        <p:spPr>
          <a:xfrm>
            <a:off x="594360" y="5952744"/>
            <a:ext cx="10972800" cy="230123"/>
          </a:xfrm>
          <a:prstGeom prst="rect">
            <a:avLst/>
          </a:prstGeom>
          <a:noFill/>
        </p:spPr>
        <p:txBody>
          <a:bodyPr wrap="none" lIns="0" rIns="0" tIns="0" bIns="0" anchor="t">
            <a:spAutoFit/>
          </a:bodyPr>
          <a:lstStyle/>
          <a:p>
            <a:pPr>
              <a:lnSpc>
                <a:spcPts val="1416"/>
              </a:lnSpc>
              <a:spcBef>
                <a:spcPts val="0"/>
              </a:spcBef>
              <a:spcAft>
                <a:spcPts val="0"/>
              </a:spcAft>
              <a:defRPr sz="1200" b="0">
                <a:solidFill>
                  <a:srgbClr val="234B42"/>
                </a:solidFill>
                <a:latin typeface="Inter"/>
              </a:defRPr>
            </a:pPr>
            <a:r>
              <a:rPr lang="de-DE"/>
              <a:t>10 Minuten Fragen + 5 Minuten Abschluss</a:t>
            </a:r>
          </a:p>
        </p:txBody>
      </p:sp>
    </p:spTree>
  </p:cSld>
  <p:clrMapOvr>
    <a:masterClrMapping/>
  </p:clrMapOvr>
  <p:transition spd="fast" advClick="1">
    <p:fade/>
  </p:transition>
</p:sld>
</file>

<file path=ppt/slides/slide83.xml><?xml version="1.0" encoding="utf-8"?>
<p:sld xmlns:a="http://schemas.openxmlformats.org/drawingml/2006/main" xmlns:p="http://schemas.openxmlformats.org/presentationml/2006/main" xmlns:r="http://schemas.openxmlformats.org/officeDocument/2006/relationships" showMasterSp="1">
  <p:cSld>
    <p:bg>
      <p:bgPr>
        <a:solidFill>
          <a:srgbClr val="F1DFD6"/>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83</a:t>
            </a:r>
          </a:p>
        </p:txBody>
      </p:sp>
      <p:sp>
        <p:nvSpPr>
          <p:cNvPr id="3" name="Text 2"/>
          <p:cNvSpPr txBox="1"/>
          <p:nvPr/>
        </p:nvSpPr>
        <p:spPr>
          <a:xfrm>
            <a:off x="594360" y="393192"/>
            <a:ext cx="8961120" cy="222630"/>
          </a:xfrm>
          <a:prstGeom prst="rect">
            <a:avLst/>
          </a:prstGeom>
          <a:noFill/>
        </p:spPr>
        <p:txBody>
          <a:bodyPr wrap="none" lIns="0" rIns="0" tIns="0" bIns="0" anchor="t">
            <a:spAutoFit/>
          </a:bodyPr>
          <a:lstStyle/>
          <a:p>
            <a:pPr>
              <a:lnSpc>
                <a:spcPts val="1356"/>
              </a:lnSpc>
              <a:spcBef>
                <a:spcPts val="0"/>
              </a:spcBef>
              <a:spcAft>
                <a:spcPts val="0"/>
              </a:spcAft>
              <a:defRPr sz="1150" b="1">
                <a:solidFill>
                  <a:srgbClr val="234B42"/>
                </a:solidFill>
                <a:latin typeface="Inter"/>
              </a:defRPr>
            </a:pPr>
            <a:r>
              <a:rPr lang="de-DE"/>
              <a:t>ABSCHLUSS</a:t>
            </a:r>
          </a:p>
        </p:txBody>
      </p:sp>
      <p:sp>
        <p:nvSpPr>
          <p:cNvPr id="4" name="Text 3"/>
          <p:cNvSpPr txBox="1"/>
          <p:nvPr/>
        </p:nvSpPr>
        <p:spPr>
          <a:xfrm>
            <a:off x="594360" y="804672"/>
            <a:ext cx="10789920" cy="469900"/>
          </a:xfrm>
          <a:prstGeom prst="rect">
            <a:avLst/>
          </a:prstGeom>
          <a:noFill/>
        </p:spPr>
        <p:txBody>
          <a:bodyPr wrap="none" lIns="0" rIns="0" tIns="0" bIns="0" anchor="t">
            <a:spAutoFit/>
          </a:bodyPr>
          <a:lstStyle/>
          <a:p>
            <a:pPr>
              <a:lnSpc>
                <a:spcPts val="3304"/>
              </a:lnSpc>
              <a:spcBef>
                <a:spcPts val="0"/>
              </a:spcBef>
              <a:spcAft>
                <a:spcPts val="0"/>
              </a:spcAft>
              <a:defRPr sz="2800" b="1">
                <a:solidFill>
                  <a:srgbClr val="234B42"/>
                </a:solidFill>
                <a:latin typeface="Manrope"/>
              </a:defRPr>
            </a:pPr>
            <a:r>
              <a:rPr lang="de-DE"/>
              <a:t>Offene Fragen und Abschluss</a:t>
            </a:r>
          </a:p>
        </p:txBody>
      </p:sp>
      <p:sp>
        <p:nvSpPr>
          <p:cNvPr id="5" name="Text 4"/>
          <p:cNvSpPr txBox="1"/>
          <p:nvPr/>
        </p:nvSpPr>
        <p:spPr>
          <a:xfrm>
            <a:off x="658368" y="2048256"/>
            <a:ext cx="1828800" cy="1129284"/>
          </a:xfrm>
          <a:prstGeom prst="rect">
            <a:avLst/>
          </a:prstGeom>
          <a:noFill/>
        </p:spPr>
        <p:txBody>
          <a:bodyPr wrap="none" lIns="0" rIns="0" tIns="0" bIns="0" anchor="t">
            <a:spAutoFit/>
          </a:bodyPr>
          <a:lstStyle/>
          <a:p>
            <a:pPr>
              <a:lnSpc>
                <a:spcPts val="8496"/>
              </a:lnSpc>
              <a:spcBef>
                <a:spcPts val="0"/>
              </a:spcBef>
              <a:spcAft>
                <a:spcPts val="0"/>
              </a:spcAft>
              <a:defRPr sz="7200" b="1">
                <a:solidFill>
                  <a:srgbClr val="D68B73"/>
                </a:solidFill>
                <a:latin typeface="Manrope"/>
              </a:defRPr>
            </a:pPr>
            <a:r>
              <a:rPr lang="de-DE"/>
              <a:t>03</a:t>
            </a:r>
          </a:p>
        </p:txBody>
      </p:sp>
      <p:sp>
        <p:nvSpPr>
          <p:cNvPr id="6" name="Text 5"/>
          <p:cNvSpPr txBox="1"/>
          <p:nvPr/>
        </p:nvSpPr>
        <p:spPr>
          <a:xfrm>
            <a:off x="2788920" y="2084831"/>
            <a:ext cx="8412480" cy="2606040"/>
          </a:xfrm>
          <a:prstGeom prst="rect">
            <a:avLst/>
          </a:prstGeom>
          <a:noFill/>
        </p:spPr>
        <p:txBody>
          <a:bodyPr wrap="none" lIns="0" rIns="0" tIns="0" bIns="0" anchor="t">
            <a:spAutoFit/>
          </a:bodyPr>
          <a:lstStyle/>
          <a:p>
            <a:pPr>
              <a:lnSpc>
                <a:spcPts val="4025"/>
              </a:lnSpc>
              <a:spcBef>
                <a:spcPts val="0"/>
              </a:spcBef>
              <a:spcAft>
                <a:spcPts val="0"/>
              </a:spcAft>
              <a:defRPr sz="3500" b="1">
                <a:solidFill>
                  <a:srgbClr val="234B42"/>
                </a:solidFill>
                <a:latin typeface="Manrope"/>
              </a:defRPr>
            </a:pPr>
            <a:r>
              <a:rPr lang="de-DE"/>
              <a:t>Welche Unterstützungsidee möchte</a:t>
            </a:r>
          </a:p>
          <a:p>
            <a:pPr>
              <a:lnSpc>
                <a:spcPts val="4025"/>
              </a:lnSpc>
              <a:spcBef>
                <a:spcPts val="0"/>
              </a:spcBef>
              <a:spcAft>
                <a:spcPts val="0"/>
              </a:spcAft>
              <a:defRPr sz="3500" b="1">
                <a:solidFill>
                  <a:srgbClr val="234B42"/>
                </a:solidFill>
                <a:latin typeface="Manrope"/>
              </a:defRPr>
            </a:pPr>
            <a:r>
              <a:rPr lang="de-DE"/>
              <a:t>ich erproben?</a:t>
            </a:r>
          </a:p>
        </p:txBody>
      </p:sp>
      <p:sp>
        <p:nvSpPr>
          <p:cNvPr id="7" name="Rectangle 6"/>
          <p:cNvSpPr/>
          <p:nvPr/>
        </p:nvSpPr>
        <p:spPr>
          <a:xfrm>
            <a:off x="2816352" y="5120640"/>
            <a:ext cx="539496" cy="64008"/>
          </a:xfrm>
          <a:prstGeom prst="rect">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547872" y="5120640"/>
            <a:ext cx="539496" cy="64008"/>
          </a:xfrm>
          <a:prstGeom prst="rect">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79392" y="5120640"/>
            <a:ext cx="539496" cy="64008"/>
          </a:xfrm>
          <a:prstGeom prst="rect">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10912" y="5120640"/>
            <a:ext cx="539496" cy="64008"/>
          </a:xfrm>
          <a:prstGeom prst="rect">
            <a:avLst/>
          </a:prstGeom>
          <a:solidFill>
            <a:srgbClr val="D68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10"/>
          <p:cNvSpPr txBox="1"/>
          <p:nvPr/>
        </p:nvSpPr>
        <p:spPr>
          <a:xfrm>
            <a:off x="2788920" y="5449824"/>
            <a:ext cx="7040880" cy="230123"/>
          </a:xfrm>
          <a:prstGeom prst="rect">
            <a:avLst/>
          </a:prstGeom>
          <a:noFill/>
        </p:spPr>
        <p:txBody>
          <a:bodyPr wrap="none" lIns="0" rIns="0" tIns="0" bIns="0" anchor="t">
            <a:spAutoFit/>
          </a:bodyPr>
          <a:lstStyle/>
          <a:p>
            <a:pPr>
              <a:lnSpc>
                <a:spcPts val="1416"/>
              </a:lnSpc>
              <a:spcBef>
                <a:spcPts val="0"/>
              </a:spcBef>
              <a:spcAft>
                <a:spcPts val="0"/>
              </a:spcAft>
              <a:defRPr sz="1200" b="1">
                <a:solidFill>
                  <a:srgbClr val="234B42"/>
                </a:solidFill>
                <a:latin typeface="Inter"/>
              </a:defRPr>
            </a:pPr>
            <a:r>
              <a:rPr lang="de-DE"/>
              <a:t>FRAGE 3 VON 4</a:t>
            </a:r>
          </a:p>
        </p:txBody>
      </p:sp>
      <p:sp>
        <p:nvSpPr>
          <p:cNvPr id="12" name="Text 11"/>
          <p:cNvSpPr txBox="1"/>
          <p:nvPr/>
        </p:nvSpPr>
        <p:spPr>
          <a:xfrm>
            <a:off x="594360" y="5952744"/>
            <a:ext cx="10972800" cy="230123"/>
          </a:xfrm>
          <a:prstGeom prst="rect">
            <a:avLst/>
          </a:prstGeom>
          <a:noFill/>
        </p:spPr>
        <p:txBody>
          <a:bodyPr wrap="none" lIns="0" rIns="0" tIns="0" bIns="0" anchor="t">
            <a:spAutoFit/>
          </a:bodyPr>
          <a:lstStyle/>
          <a:p>
            <a:pPr>
              <a:lnSpc>
                <a:spcPts val="1416"/>
              </a:lnSpc>
              <a:spcBef>
                <a:spcPts val="0"/>
              </a:spcBef>
              <a:spcAft>
                <a:spcPts val="0"/>
              </a:spcAft>
              <a:defRPr sz="1200" b="0">
                <a:solidFill>
                  <a:srgbClr val="234B42"/>
                </a:solidFill>
                <a:latin typeface="Inter"/>
              </a:defRPr>
            </a:pPr>
            <a:r>
              <a:rPr lang="de-DE"/>
              <a:t>10 Minuten Fragen + 5 Minuten Abschluss</a:t>
            </a:r>
          </a:p>
        </p:txBody>
      </p:sp>
    </p:spTree>
  </p:cSld>
  <p:clrMapOvr>
    <a:masterClrMapping/>
  </p:clrMapOvr>
  <p:transition spd="fast" advClick="1">
    <p:fade/>
  </p:transition>
</p:sld>
</file>

<file path=ppt/slides/slide84.xml><?xml version="1.0" encoding="utf-8"?>
<p:sld xmlns:a="http://schemas.openxmlformats.org/drawingml/2006/main" xmlns:p="http://schemas.openxmlformats.org/presentationml/2006/main" xmlns:r="http://schemas.openxmlformats.org/officeDocument/2006/relationships" showMasterSp="1">
  <p:cSld>
    <p:bg>
      <p:bgPr>
        <a:solidFill>
          <a:srgbClr val="F1DFD6"/>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84</a:t>
            </a:r>
          </a:p>
        </p:txBody>
      </p:sp>
      <p:sp>
        <p:nvSpPr>
          <p:cNvPr id="3" name="Text 2"/>
          <p:cNvSpPr txBox="1"/>
          <p:nvPr/>
        </p:nvSpPr>
        <p:spPr>
          <a:xfrm>
            <a:off x="594360" y="393192"/>
            <a:ext cx="8961120" cy="222630"/>
          </a:xfrm>
          <a:prstGeom prst="rect">
            <a:avLst/>
          </a:prstGeom>
          <a:noFill/>
        </p:spPr>
        <p:txBody>
          <a:bodyPr wrap="none" lIns="0" rIns="0" tIns="0" bIns="0" anchor="t">
            <a:spAutoFit/>
          </a:bodyPr>
          <a:lstStyle/>
          <a:p>
            <a:pPr>
              <a:lnSpc>
                <a:spcPts val="1356"/>
              </a:lnSpc>
              <a:spcBef>
                <a:spcPts val="0"/>
              </a:spcBef>
              <a:spcAft>
                <a:spcPts val="0"/>
              </a:spcAft>
              <a:defRPr sz="1150" b="1">
                <a:solidFill>
                  <a:srgbClr val="234B42"/>
                </a:solidFill>
                <a:latin typeface="Inter"/>
              </a:defRPr>
            </a:pPr>
            <a:r>
              <a:rPr lang="de-DE"/>
              <a:t>ABSCHLUSS</a:t>
            </a:r>
          </a:p>
        </p:txBody>
      </p:sp>
      <p:sp>
        <p:nvSpPr>
          <p:cNvPr id="4" name="Text 3"/>
          <p:cNvSpPr txBox="1"/>
          <p:nvPr/>
        </p:nvSpPr>
        <p:spPr>
          <a:xfrm>
            <a:off x="594360" y="804672"/>
            <a:ext cx="10789920" cy="469900"/>
          </a:xfrm>
          <a:prstGeom prst="rect">
            <a:avLst/>
          </a:prstGeom>
          <a:noFill/>
        </p:spPr>
        <p:txBody>
          <a:bodyPr wrap="none" lIns="0" rIns="0" tIns="0" bIns="0" anchor="t">
            <a:spAutoFit/>
          </a:bodyPr>
          <a:lstStyle/>
          <a:p>
            <a:pPr>
              <a:lnSpc>
                <a:spcPts val="3304"/>
              </a:lnSpc>
              <a:spcBef>
                <a:spcPts val="0"/>
              </a:spcBef>
              <a:spcAft>
                <a:spcPts val="0"/>
              </a:spcAft>
              <a:defRPr sz="2800" b="1">
                <a:solidFill>
                  <a:srgbClr val="234B42"/>
                </a:solidFill>
                <a:latin typeface="Manrope"/>
              </a:defRPr>
            </a:pPr>
            <a:r>
              <a:rPr lang="de-DE"/>
              <a:t>Offene Fragen und Abschluss</a:t>
            </a:r>
          </a:p>
        </p:txBody>
      </p:sp>
      <p:sp>
        <p:nvSpPr>
          <p:cNvPr id="5" name="Text 4"/>
          <p:cNvSpPr txBox="1"/>
          <p:nvPr/>
        </p:nvSpPr>
        <p:spPr>
          <a:xfrm>
            <a:off x="658368" y="2048256"/>
            <a:ext cx="1828800" cy="1129284"/>
          </a:xfrm>
          <a:prstGeom prst="rect">
            <a:avLst/>
          </a:prstGeom>
          <a:noFill/>
        </p:spPr>
        <p:txBody>
          <a:bodyPr wrap="none" lIns="0" rIns="0" tIns="0" bIns="0" anchor="t">
            <a:spAutoFit/>
          </a:bodyPr>
          <a:lstStyle/>
          <a:p>
            <a:pPr>
              <a:lnSpc>
                <a:spcPts val="8496"/>
              </a:lnSpc>
              <a:spcBef>
                <a:spcPts val="0"/>
              </a:spcBef>
              <a:spcAft>
                <a:spcPts val="0"/>
              </a:spcAft>
              <a:defRPr sz="7200" b="1">
                <a:solidFill>
                  <a:srgbClr val="D68B73"/>
                </a:solidFill>
                <a:latin typeface="Manrope"/>
              </a:defRPr>
            </a:pPr>
            <a:r>
              <a:rPr lang="de-DE"/>
              <a:t>04</a:t>
            </a:r>
          </a:p>
        </p:txBody>
      </p:sp>
      <p:sp>
        <p:nvSpPr>
          <p:cNvPr id="6" name="Text 5"/>
          <p:cNvSpPr txBox="1"/>
          <p:nvPr/>
        </p:nvSpPr>
        <p:spPr>
          <a:xfrm>
            <a:off x="2788920" y="2084831"/>
            <a:ext cx="8412480" cy="2606040"/>
          </a:xfrm>
          <a:prstGeom prst="rect">
            <a:avLst/>
          </a:prstGeom>
          <a:noFill/>
        </p:spPr>
        <p:txBody>
          <a:bodyPr wrap="none" lIns="0" rIns="0" tIns="0" bIns="0" anchor="t">
            <a:spAutoFit/>
          </a:bodyPr>
          <a:lstStyle/>
          <a:p>
            <a:pPr>
              <a:lnSpc>
                <a:spcPts val="4025"/>
              </a:lnSpc>
              <a:spcBef>
                <a:spcPts val="0"/>
              </a:spcBef>
              <a:spcAft>
                <a:spcPts val="0"/>
              </a:spcAft>
              <a:defRPr sz="3500" b="1">
                <a:solidFill>
                  <a:srgbClr val="234B42"/>
                </a:solidFill>
                <a:latin typeface="Manrope"/>
              </a:defRPr>
            </a:pPr>
            <a:r>
              <a:rPr lang="de-DE"/>
              <a:t>Was brauche ich dafür von meinem</a:t>
            </a:r>
          </a:p>
          <a:p>
            <a:pPr>
              <a:lnSpc>
                <a:spcPts val="4025"/>
              </a:lnSpc>
              <a:spcBef>
                <a:spcPts val="0"/>
              </a:spcBef>
              <a:spcAft>
                <a:spcPts val="0"/>
              </a:spcAft>
              <a:defRPr sz="3500" b="1">
                <a:solidFill>
                  <a:srgbClr val="234B42"/>
                </a:solidFill>
                <a:latin typeface="Manrope"/>
              </a:defRPr>
            </a:pPr>
            <a:r>
              <a:rPr lang="de-DE"/>
              <a:t>Team?</a:t>
            </a:r>
          </a:p>
        </p:txBody>
      </p:sp>
      <p:sp>
        <p:nvSpPr>
          <p:cNvPr id="7" name="Rectangle 6"/>
          <p:cNvSpPr/>
          <p:nvPr/>
        </p:nvSpPr>
        <p:spPr>
          <a:xfrm>
            <a:off x="2816352" y="5120640"/>
            <a:ext cx="539496" cy="64008"/>
          </a:xfrm>
          <a:prstGeom prst="rect">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547872" y="5120640"/>
            <a:ext cx="539496" cy="64008"/>
          </a:xfrm>
          <a:prstGeom prst="rect">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79392" y="5120640"/>
            <a:ext cx="539496" cy="64008"/>
          </a:xfrm>
          <a:prstGeom prst="rect">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10912" y="5120640"/>
            <a:ext cx="539496" cy="64008"/>
          </a:xfrm>
          <a:prstGeom prst="rect">
            <a:avLst/>
          </a:prstGeom>
          <a:solidFill>
            <a:srgbClr val="234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10"/>
          <p:cNvSpPr txBox="1"/>
          <p:nvPr/>
        </p:nvSpPr>
        <p:spPr>
          <a:xfrm>
            <a:off x="2788920" y="5449824"/>
            <a:ext cx="7040880" cy="230123"/>
          </a:xfrm>
          <a:prstGeom prst="rect">
            <a:avLst/>
          </a:prstGeom>
          <a:noFill/>
        </p:spPr>
        <p:txBody>
          <a:bodyPr wrap="none" lIns="0" rIns="0" tIns="0" bIns="0" anchor="t">
            <a:spAutoFit/>
          </a:bodyPr>
          <a:lstStyle/>
          <a:p>
            <a:pPr>
              <a:lnSpc>
                <a:spcPts val="1416"/>
              </a:lnSpc>
              <a:spcBef>
                <a:spcPts val="0"/>
              </a:spcBef>
              <a:spcAft>
                <a:spcPts val="0"/>
              </a:spcAft>
              <a:defRPr sz="1200" b="1">
                <a:solidFill>
                  <a:srgbClr val="234B42"/>
                </a:solidFill>
                <a:latin typeface="Inter"/>
              </a:defRPr>
            </a:pPr>
            <a:r>
              <a:rPr lang="de-DE"/>
              <a:t>FRAGE 4 VON 4</a:t>
            </a:r>
          </a:p>
        </p:txBody>
      </p:sp>
      <p:sp>
        <p:nvSpPr>
          <p:cNvPr id="12" name="Text 11"/>
          <p:cNvSpPr txBox="1"/>
          <p:nvPr/>
        </p:nvSpPr>
        <p:spPr>
          <a:xfrm>
            <a:off x="594360" y="5952744"/>
            <a:ext cx="10972800" cy="230123"/>
          </a:xfrm>
          <a:prstGeom prst="rect">
            <a:avLst/>
          </a:prstGeom>
          <a:noFill/>
        </p:spPr>
        <p:txBody>
          <a:bodyPr wrap="none" lIns="0" rIns="0" tIns="0" bIns="0" anchor="t">
            <a:spAutoFit/>
          </a:bodyPr>
          <a:lstStyle/>
          <a:p>
            <a:pPr>
              <a:lnSpc>
                <a:spcPts val="1416"/>
              </a:lnSpc>
              <a:spcBef>
                <a:spcPts val="0"/>
              </a:spcBef>
              <a:spcAft>
                <a:spcPts val="0"/>
              </a:spcAft>
              <a:defRPr sz="1200" b="0">
                <a:solidFill>
                  <a:srgbClr val="234B42"/>
                </a:solidFill>
                <a:latin typeface="Inter"/>
              </a:defRPr>
            </a:pPr>
            <a:r>
              <a:rPr lang="de-DE"/>
              <a:t>10 Minuten Fragen + 5 Minuten Abschluss</a:t>
            </a:r>
          </a:p>
        </p:txBody>
      </p:sp>
    </p:spTree>
  </p:cSld>
  <p:clrMapOvr>
    <a:masterClrMapping/>
  </p:clrMapOvr>
  <p:transition spd="fast" advClick="1">
    <p:fade/>
  </p:transition>
</p:sld>
</file>

<file path=ppt/slides/slide85.xml><?xml version="1.0" encoding="utf-8"?>
<p:sld xmlns:a="http://schemas.openxmlformats.org/drawingml/2006/main" xmlns:p="http://schemas.openxmlformats.org/presentationml/2006/main" xmlns:r="http://schemas.openxmlformats.org/officeDocument/2006/relationships" showMasterSp="1">
  <p:cSld>
    <p:bg>
      <p:bgPr>
        <a:solidFill>
          <a:srgbClr val="F7F5EF"/>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85</a:t>
            </a:r>
          </a:p>
        </p:txBody>
      </p:sp>
      <p:sp>
        <p:nvSpPr>
          <p:cNvPr id="3" name="Text 2"/>
          <p:cNvSpPr txBox="1"/>
          <p:nvPr/>
        </p:nvSpPr>
        <p:spPr>
          <a:xfrm>
            <a:off x="594360" y="393192"/>
            <a:ext cx="10881360" cy="203644"/>
          </a:xfrm>
          <a:prstGeom prst="rect">
            <a:avLst/>
          </a:prstGeom>
          <a:noFill/>
        </p:spPr>
        <p:txBody>
          <a:bodyPr wrap="none" lIns="0" rIns="0" tIns="0" bIns="0" anchor="t">
            <a:spAutoFit/>
          </a:bodyPr>
          <a:lstStyle/>
          <a:p>
            <a:pPr>
              <a:lnSpc>
                <a:spcPts val="1207"/>
              </a:lnSpc>
              <a:spcBef>
                <a:spcPts val="0"/>
              </a:spcBef>
              <a:spcAft>
                <a:spcPts val="0"/>
              </a:spcAft>
              <a:defRPr sz="1150" b="1">
                <a:solidFill>
                  <a:srgbClr val="234B42"/>
                </a:solidFill>
                <a:latin typeface="Inter"/>
              </a:defRPr>
            </a:pPr>
            <a:r>
              <a:rPr lang="de-DE"/>
              <a:t>QUELLEN · ADHS</a:t>
            </a:r>
          </a:p>
        </p:txBody>
      </p:sp>
      <p:sp>
        <p:nvSpPr>
          <p:cNvPr id="4" name="Text 3"/>
          <p:cNvSpPr txBox="1"/>
          <p:nvPr/>
        </p:nvSpPr>
        <p:spPr>
          <a:xfrm>
            <a:off x="594360" y="804672"/>
            <a:ext cx="10991088"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Deutschsprachige Quellen zu ADHS</a:t>
            </a:r>
          </a:p>
        </p:txBody>
      </p:sp>
      <p:cxnSp>
        <p:nvCxnSpPr>
          <p:cNvPr id="5" name="Connector 4"/>
          <p:cNvCxnSpPr/>
          <p:nvPr/>
        </p:nvCxnSpPr>
        <p:spPr>
          <a:xfrm>
            <a:off x="594360" y="1644396"/>
            <a:ext cx="11000232" cy="0"/>
          </a:xfrm>
          <a:prstGeom prst="line">
            <a:avLst/>
          </a:prstGeom>
          <a:ln w="8890">
            <a:solidFill>
              <a:srgbClr val="D9DFD7"/>
            </a:solidFill>
          </a:ln>
        </p:spPr>
        <p:style>
          <a:lnRef idx="2">
            <a:schemeClr val="accent1"/>
          </a:lnRef>
          <a:fillRef idx="0">
            <a:schemeClr val="accent1"/>
          </a:fillRef>
          <a:effectRef idx="1">
            <a:schemeClr val="accent1"/>
          </a:effectRef>
          <a:fontRef idx="minor">
            <a:schemeClr val="tx1"/>
          </a:fontRef>
        </p:style>
      </p:cxnSp>
      <p:sp>
        <p:nvSpPr>
          <p:cNvPr id="6" name="Text 5"/>
          <p:cNvSpPr txBox="1"/>
          <p:nvPr/>
        </p:nvSpPr>
        <p:spPr>
          <a:xfrm>
            <a:off x="594360" y="1818132"/>
            <a:ext cx="3246120" cy="1051560"/>
          </a:xfrm>
          <a:prstGeom prst="rect">
            <a:avLst/>
          </a:prstGeom>
          <a:noFill/>
        </p:spPr>
        <p:txBody>
          <a:bodyPr wrap="none" lIns="0" rIns="0" tIns="0" bIns="0" anchor="t">
            <a:spAutoFit/>
          </a:bodyPr>
          <a:lstStyle/>
          <a:p>
            <a:pPr>
              <a:lnSpc>
                <a:spcPts val="2124"/>
              </a:lnSpc>
              <a:spcBef>
                <a:spcPts val="0"/>
              </a:spcBef>
              <a:spcAft>
                <a:spcPts val="0"/>
              </a:spcAft>
              <a:defRPr sz="1800" b="1">
                <a:solidFill>
                  <a:srgbClr val="234B42"/>
                </a:solidFill>
                <a:latin typeface="Manrope"/>
              </a:defRPr>
            </a:pPr>
            <a:r>
              <a:rPr lang="de-DE"/>
              <a:t>IQWiG</a:t>
            </a:r>
          </a:p>
        </p:txBody>
      </p:sp>
      <p:sp>
        <p:nvSpPr>
          <p:cNvPr id="7" name="Text 6"/>
          <p:cNvSpPr txBox="1"/>
          <p:nvPr/>
        </p:nvSpPr>
        <p:spPr>
          <a:xfrm>
            <a:off x="4206240" y="1808988"/>
            <a:ext cx="7379208" cy="758952"/>
          </a:xfrm>
          <a:prstGeom prst="rect">
            <a:avLst/>
          </a:prstGeom>
          <a:noFill/>
        </p:spPr>
        <p:txBody>
          <a:bodyPr wrap="none" lIns="0" rIns="0" tIns="0" bIns="0" anchor="t">
            <a:spAutoFit/>
          </a:bodyPr>
          <a:lstStyle/>
          <a:p>
            <a:pPr>
              <a:lnSpc>
                <a:spcPts val="2477"/>
              </a:lnSpc>
              <a:spcBef>
                <a:spcPts val="0"/>
              </a:spcBef>
              <a:spcAft>
                <a:spcPts val="0"/>
              </a:spcAft>
              <a:defRPr sz="2100" b="1">
                <a:solidFill>
                  <a:srgbClr val="234B42"/>
                </a:solidFill>
                <a:latin typeface="Manrope"/>
              </a:defRPr>
            </a:pPr>
            <a:r>
              <a:rPr lang="de-DE"/>
              <a:t>Aufmerksamkeitsdefizit- und Hyperaktivitätsstörung</a:t>
            </a:r>
          </a:p>
          <a:p>
            <a:pPr>
              <a:lnSpc>
                <a:spcPts val="2477"/>
              </a:lnSpc>
              <a:spcBef>
                <a:spcPts val="0"/>
              </a:spcBef>
              <a:spcAft>
                <a:spcPts val="0"/>
              </a:spcAft>
              <a:defRPr sz="2100" b="1">
                <a:solidFill>
                  <a:srgbClr val="234B42"/>
                </a:solidFill>
                <a:latin typeface="Manrope"/>
              </a:defRPr>
            </a:pPr>
            <a:r>
              <a:rPr lang="de-DE"/>
              <a:t>(ADHS)</a:t>
            </a:r>
          </a:p>
        </p:txBody>
      </p:sp>
      <p:sp>
        <p:nvSpPr>
          <p:cNvPr id="8" name="Text 7"/>
          <p:cNvSpPr txBox="1"/>
          <p:nvPr/>
        </p:nvSpPr>
        <p:spPr>
          <a:xfrm>
            <a:off x="4206240" y="2561843"/>
            <a:ext cx="7315200" cy="557784"/>
          </a:xfrm>
          <a:prstGeom prst="rect">
            <a:avLst/>
          </a:prstGeom>
          <a:noFill/>
        </p:spPr>
        <p:txBody>
          <a:bodyPr wrap="none" lIns="0" rIns="0" tIns="0" bIns="0" anchor="t">
            <a:spAutoFit/>
          </a:bodyPr>
          <a:lstStyle/>
          <a:p>
            <a:pPr>
              <a:lnSpc>
                <a:spcPts val="1888"/>
              </a:lnSpc>
              <a:spcBef>
                <a:spcPts val="0"/>
              </a:spcBef>
              <a:spcAft>
                <a:spcPts val="0"/>
              </a:spcAft>
              <a:defRPr sz="1600" b="0">
                <a:solidFill>
                  <a:srgbClr val="63736A"/>
                </a:solidFill>
                <a:latin typeface="Inter"/>
              </a:defRPr>
            </a:pPr>
            <a:r>
              <a:rPr lang="de-DE"/>
              <a:t>Grundlagen und fachliche Abklärung</a:t>
            </a:r>
          </a:p>
        </p:txBody>
      </p:sp>
      <p:sp>
        <p:nvSpPr>
          <p:cNvPr id="9" name="Text 8"/>
          <p:cNvSpPr txBox="1"/>
          <p:nvPr/>
        </p:nvSpPr>
        <p:spPr>
          <a:xfrm>
            <a:off x="4206240" y="2778252"/>
            <a:ext cx="7315200" cy="222630"/>
          </a:xfrm>
          <a:prstGeom prst="rect">
            <a:avLst/>
          </a:prstGeom>
          <a:noFill/>
        </p:spPr>
        <p:txBody>
          <a:bodyPr wrap="none" lIns="0" rIns="0" tIns="0" bIns="0" anchor="t">
            <a:spAutoFit/>
          </a:bodyPr>
          <a:lstStyle/>
          <a:p>
            <a:pPr>
              <a:lnSpc>
                <a:spcPts val="1356"/>
              </a:lnSpc>
              <a:spcBef>
                <a:spcPts val="0"/>
              </a:spcBef>
              <a:spcAft>
                <a:spcPts val="0"/>
              </a:spcAft>
              <a:defRPr sz="1150" b="1">
                <a:solidFill>
                  <a:srgbClr val="234B42"/>
                </a:solidFill>
                <a:latin typeface="Inter"/>
              </a:defRPr>
            </a:pPr>
            <a:r>
              <a:rPr lang="de-DE">
                <a:hlinkClick r:id="rId3"/>
              </a:rPr>
              <a:t>www.gesundheitsinformation.de ↗</a:t>
            </a:r>
          </a:p>
        </p:txBody>
      </p:sp>
      <p:cxnSp>
        <p:nvCxnSpPr>
          <p:cNvPr id="10" name="Connector 9"/>
          <p:cNvCxnSpPr/>
          <p:nvPr/>
        </p:nvCxnSpPr>
        <p:spPr>
          <a:xfrm>
            <a:off x="594360" y="3107436"/>
            <a:ext cx="11000232" cy="0"/>
          </a:xfrm>
          <a:prstGeom prst="line">
            <a:avLst/>
          </a:prstGeom>
          <a:ln w="8890">
            <a:solidFill>
              <a:srgbClr val="D9DFD7"/>
            </a:solidFill>
          </a:ln>
        </p:spPr>
        <p:style>
          <a:lnRef idx="2">
            <a:schemeClr val="accent1"/>
          </a:lnRef>
          <a:fillRef idx="0">
            <a:schemeClr val="accent1"/>
          </a:fillRef>
          <a:effectRef idx="1">
            <a:schemeClr val="accent1"/>
          </a:effectRef>
          <a:fontRef idx="minor">
            <a:schemeClr val="tx1"/>
          </a:fontRef>
        </p:style>
      </p:cxnSp>
      <p:sp>
        <p:nvSpPr>
          <p:cNvPr id="11" name="Text 10"/>
          <p:cNvSpPr txBox="1"/>
          <p:nvPr/>
        </p:nvSpPr>
        <p:spPr>
          <a:xfrm>
            <a:off x="594360" y="3281172"/>
            <a:ext cx="3246120" cy="1051560"/>
          </a:xfrm>
          <a:prstGeom prst="rect">
            <a:avLst/>
          </a:prstGeom>
          <a:noFill/>
        </p:spPr>
        <p:txBody>
          <a:bodyPr wrap="none" lIns="0" rIns="0" tIns="0" bIns="0" anchor="t">
            <a:spAutoFit/>
          </a:bodyPr>
          <a:lstStyle/>
          <a:p>
            <a:pPr>
              <a:lnSpc>
                <a:spcPts val="2124"/>
              </a:lnSpc>
              <a:spcBef>
                <a:spcPts val="0"/>
              </a:spcBef>
              <a:spcAft>
                <a:spcPts val="0"/>
              </a:spcAft>
              <a:defRPr sz="1800" b="1">
                <a:solidFill>
                  <a:srgbClr val="234B42"/>
                </a:solidFill>
                <a:latin typeface="Manrope"/>
              </a:defRPr>
            </a:pPr>
            <a:r>
              <a:rPr lang="de-DE"/>
              <a:t>Zentrales adhs-netz,</a:t>
            </a:r>
          </a:p>
          <a:p>
            <a:pPr>
              <a:lnSpc>
                <a:spcPts val="2124"/>
              </a:lnSpc>
              <a:spcBef>
                <a:spcPts val="0"/>
              </a:spcBef>
              <a:spcAft>
                <a:spcPts val="0"/>
              </a:spcAft>
              <a:defRPr sz="1800" b="1">
                <a:solidFill>
                  <a:srgbClr val="234B42"/>
                </a:solidFill>
                <a:latin typeface="Manrope"/>
              </a:defRPr>
            </a:pPr>
            <a:r>
              <a:rPr lang="de-DE"/>
              <a:t>Universitätsklinikum Köln</a:t>
            </a:r>
          </a:p>
        </p:txBody>
      </p:sp>
      <p:sp>
        <p:nvSpPr>
          <p:cNvPr id="12" name="Text 11"/>
          <p:cNvSpPr txBox="1"/>
          <p:nvPr/>
        </p:nvSpPr>
        <p:spPr>
          <a:xfrm>
            <a:off x="4206240" y="3272028"/>
            <a:ext cx="7379208" cy="758952"/>
          </a:xfrm>
          <a:prstGeom prst="rect">
            <a:avLst/>
          </a:prstGeom>
          <a:noFill/>
        </p:spPr>
        <p:txBody>
          <a:bodyPr wrap="none" lIns="0" rIns="0" tIns="0" bIns="0" anchor="t">
            <a:spAutoFit/>
          </a:bodyPr>
          <a:lstStyle/>
          <a:p>
            <a:pPr>
              <a:lnSpc>
                <a:spcPts val="2477"/>
              </a:lnSpc>
              <a:spcBef>
                <a:spcPts val="0"/>
              </a:spcBef>
              <a:spcAft>
                <a:spcPts val="0"/>
              </a:spcAft>
              <a:defRPr sz="2100" b="1">
                <a:solidFill>
                  <a:srgbClr val="234B42"/>
                </a:solidFill>
                <a:latin typeface="Manrope"/>
              </a:defRPr>
            </a:pPr>
            <a:r>
              <a:rPr lang="de-DE"/>
              <a:t>ADHS im Vorschulalter</a:t>
            </a:r>
          </a:p>
        </p:txBody>
      </p:sp>
      <p:sp>
        <p:nvSpPr>
          <p:cNvPr id="13" name="Text 12"/>
          <p:cNvSpPr txBox="1"/>
          <p:nvPr/>
        </p:nvSpPr>
        <p:spPr>
          <a:xfrm>
            <a:off x="4206240" y="3710178"/>
            <a:ext cx="7315200" cy="557784"/>
          </a:xfrm>
          <a:prstGeom prst="rect">
            <a:avLst/>
          </a:prstGeom>
          <a:noFill/>
        </p:spPr>
        <p:txBody>
          <a:bodyPr wrap="none" lIns="0" rIns="0" tIns="0" bIns="0" anchor="t">
            <a:spAutoFit/>
          </a:bodyPr>
          <a:lstStyle/>
          <a:p>
            <a:pPr>
              <a:lnSpc>
                <a:spcPts val="1888"/>
              </a:lnSpc>
              <a:spcBef>
                <a:spcPts val="0"/>
              </a:spcBef>
              <a:spcAft>
                <a:spcPts val="0"/>
              </a:spcAft>
              <a:defRPr sz="1600" b="0">
                <a:solidFill>
                  <a:srgbClr val="63736A"/>
                </a:solidFill>
                <a:latin typeface="Inter"/>
              </a:defRPr>
            </a:pPr>
            <a:r>
              <a:rPr lang="de-DE"/>
              <a:t>Vorschulalter und pädagogischer Alltag</a:t>
            </a:r>
          </a:p>
        </p:txBody>
      </p:sp>
      <p:sp>
        <p:nvSpPr>
          <p:cNvPr id="14" name="Text 13"/>
          <p:cNvSpPr txBox="1"/>
          <p:nvPr/>
        </p:nvSpPr>
        <p:spPr>
          <a:xfrm>
            <a:off x="4206240" y="4241292"/>
            <a:ext cx="7315200" cy="222630"/>
          </a:xfrm>
          <a:prstGeom prst="rect">
            <a:avLst/>
          </a:prstGeom>
          <a:noFill/>
        </p:spPr>
        <p:txBody>
          <a:bodyPr wrap="none" lIns="0" rIns="0" tIns="0" bIns="0" anchor="t">
            <a:spAutoFit/>
          </a:bodyPr>
          <a:lstStyle/>
          <a:p>
            <a:pPr>
              <a:lnSpc>
                <a:spcPts val="1356"/>
              </a:lnSpc>
              <a:spcBef>
                <a:spcPts val="0"/>
              </a:spcBef>
              <a:spcAft>
                <a:spcPts val="0"/>
              </a:spcAft>
              <a:defRPr sz="1150" b="1">
                <a:solidFill>
                  <a:srgbClr val="234B42"/>
                </a:solidFill>
                <a:latin typeface="Inter"/>
              </a:defRPr>
            </a:pPr>
            <a:r>
              <a:rPr lang="de-DE">
                <a:hlinkClick r:id="rId4"/>
              </a:rPr>
              <a:t>www.zentrales-adhs-netz.de ↗</a:t>
            </a:r>
          </a:p>
        </p:txBody>
      </p:sp>
      <p:cxnSp>
        <p:nvCxnSpPr>
          <p:cNvPr id="15" name="Connector 14"/>
          <p:cNvCxnSpPr/>
          <p:nvPr/>
        </p:nvCxnSpPr>
        <p:spPr>
          <a:xfrm>
            <a:off x="594360" y="4570476"/>
            <a:ext cx="11000232" cy="0"/>
          </a:xfrm>
          <a:prstGeom prst="line">
            <a:avLst/>
          </a:prstGeom>
          <a:ln w="8890">
            <a:solidFill>
              <a:srgbClr val="D9DFD7"/>
            </a:solidFill>
          </a:ln>
        </p:spPr>
        <p:style>
          <a:lnRef idx="2">
            <a:schemeClr val="accent1"/>
          </a:lnRef>
          <a:fillRef idx="0">
            <a:schemeClr val="accent1"/>
          </a:fillRef>
          <a:effectRef idx="1">
            <a:schemeClr val="accent1"/>
          </a:effectRef>
          <a:fontRef idx="minor">
            <a:schemeClr val="tx1"/>
          </a:fontRef>
        </p:style>
      </p:cxnSp>
      <p:sp>
        <p:nvSpPr>
          <p:cNvPr id="16" name="Text 15"/>
          <p:cNvSpPr txBox="1"/>
          <p:nvPr/>
        </p:nvSpPr>
        <p:spPr>
          <a:xfrm>
            <a:off x="594360" y="4744212"/>
            <a:ext cx="3246120" cy="1051560"/>
          </a:xfrm>
          <a:prstGeom prst="rect">
            <a:avLst/>
          </a:prstGeom>
          <a:noFill/>
        </p:spPr>
        <p:txBody>
          <a:bodyPr wrap="none" lIns="0" rIns="0" tIns="0" bIns="0" anchor="t">
            <a:spAutoFit/>
          </a:bodyPr>
          <a:lstStyle/>
          <a:p>
            <a:pPr>
              <a:lnSpc>
                <a:spcPts val="2124"/>
              </a:lnSpc>
              <a:spcBef>
                <a:spcPts val="0"/>
              </a:spcBef>
              <a:spcAft>
                <a:spcPts val="0"/>
              </a:spcAft>
              <a:defRPr sz="1800" b="1">
                <a:solidFill>
                  <a:srgbClr val="234B42"/>
                </a:solidFill>
                <a:latin typeface="Manrope"/>
              </a:defRPr>
            </a:pPr>
            <a:r>
              <a:rPr lang="de-DE"/>
              <a:t>Bundesinstitut für</a:t>
            </a:r>
          </a:p>
          <a:p>
            <a:pPr>
              <a:lnSpc>
                <a:spcPts val="2124"/>
              </a:lnSpc>
              <a:spcBef>
                <a:spcPts val="0"/>
              </a:spcBef>
              <a:spcAft>
                <a:spcPts val="0"/>
              </a:spcAft>
              <a:defRPr sz="1800" b="1">
                <a:solidFill>
                  <a:srgbClr val="234B42"/>
                </a:solidFill>
                <a:latin typeface="Manrope"/>
              </a:defRPr>
            </a:pPr>
            <a:r>
              <a:rPr lang="de-DE"/>
              <a:t>Öffentliche Gesundheit</a:t>
            </a:r>
          </a:p>
        </p:txBody>
      </p:sp>
      <p:sp>
        <p:nvSpPr>
          <p:cNvPr id="17" name="Text 16"/>
          <p:cNvSpPr txBox="1"/>
          <p:nvPr/>
        </p:nvSpPr>
        <p:spPr>
          <a:xfrm>
            <a:off x="4206240" y="4735067"/>
            <a:ext cx="7379208" cy="758952"/>
          </a:xfrm>
          <a:prstGeom prst="rect">
            <a:avLst/>
          </a:prstGeom>
          <a:noFill/>
        </p:spPr>
        <p:txBody>
          <a:bodyPr wrap="none" lIns="0" rIns="0" tIns="0" bIns="0" anchor="t">
            <a:spAutoFit/>
          </a:bodyPr>
          <a:lstStyle/>
          <a:p>
            <a:pPr>
              <a:lnSpc>
                <a:spcPts val="2477"/>
              </a:lnSpc>
              <a:spcBef>
                <a:spcPts val="0"/>
              </a:spcBef>
              <a:spcAft>
                <a:spcPts val="0"/>
              </a:spcAft>
              <a:defRPr sz="2100" b="1">
                <a:solidFill>
                  <a:srgbClr val="234B42"/>
                </a:solidFill>
                <a:latin typeface="Manrope"/>
              </a:defRPr>
            </a:pPr>
            <a:r>
              <a:rPr lang="de-DE"/>
              <a:t>ADHS – Symptome, Diagnose, Behandlung</a:t>
            </a:r>
          </a:p>
        </p:txBody>
      </p:sp>
      <p:sp>
        <p:nvSpPr>
          <p:cNvPr id="18" name="Text 17"/>
          <p:cNvSpPr txBox="1"/>
          <p:nvPr/>
        </p:nvSpPr>
        <p:spPr>
          <a:xfrm>
            <a:off x="4206240" y="5173218"/>
            <a:ext cx="7315200" cy="557784"/>
          </a:xfrm>
          <a:prstGeom prst="rect">
            <a:avLst/>
          </a:prstGeom>
          <a:noFill/>
        </p:spPr>
        <p:txBody>
          <a:bodyPr wrap="none" lIns="0" rIns="0" tIns="0" bIns="0" anchor="t">
            <a:spAutoFit/>
          </a:bodyPr>
          <a:lstStyle/>
          <a:p>
            <a:pPr>
              <a:lnSpc>
                <a:spcPts val="1888"/>
              </a:lnSpc>
              <a:spcBef>
                <a:spcPts val="0"/>
              </a:spcBef>
              <a:spcAft>
                <a:spcPts val="0"/>
              </a:spcAft>
              <a:defRPr sz="1600" b="0">
                <a:solidFill>
                  <a:srgbClr val="63736A"/>
                </a:solidFill>
                <a:latin typeface="Inter"/>
              </a:defRPr>
            </a:pPr>
            <a:r>
              <a:rPr lang="de-DE"/>
              <a:t>Kostenlose Broschüre für Eltern und Fachkräfte</a:t>
            </a:r>
          </a:p>
        </p:txBody>
      </p:sp>
      <p:sp>
        <p:nvSpPr>
          <p:cNvPr id="19" name="Text 18"/>
          <p:cNvSpPr txBox="1"/>
          <p:nvPr/>
        </p:nvSpPr>
        <p:spPr>
          <a:xfrm>
            <a:off x="4206240" y="5704332"/>
            <a:ext cx="7315200" cy="222630"/>
          </a:xfrm>
          <a:prstGeom prst="rect">
            <a:avLst/>
          </a:prstGeom>
          <a:noFill/>
        </p:spPr>
        <p:txBody>
          <a:bodyPr wrap="none" lIns="0" rIns="0" tIns="0" bIns="0" anchor="t">
            <a:spAutoFit/>
          </a:bodyPr>
          <a:lstStyle/>
          <a:p>
            <a:pPr>
              <a:lnSpc>
                <a:spcPts val="1356"/>
              </a:lnSpc>
              <a:spcBef>
                <a:spcPts val="0"/>
              </a:spcBef>
              <a:spcAft>
                <a:spcPts val="0"/>
              </a:spcAft>
              <a:defRPr sz="1150" b="1">
                <a:solidFill>
                  <a:srgbClr val="234B42"/>
                </a:solidFill>
                <a:latin typeface="Inter"/>
              </a:defRPr>
            </a:pPr>
            <a:r>
              <a:rPr lang="de-DE">
                <a:hlinkClick r:id="rId5"/>
              </a:rPr>
              <a:t>shop.bioeg.de ↗</a:t>
            </a:r>
          </a:p>
        </p:txBody>
      </p:sp>
    </p:spTree>
  </p:cSld>
  <p:clrMapOvr>
    <a:masterClrMapping/>
  </p:clrMapOvr>
  <p:transition spd="fast" advClick="1">
    <p:fade/>
  </p:transition>
</p:sld>
</file>

<file path=ppt/slides/slide86.xml><?xml version="1.0" encoding="utf-8"?>
<p:sld xmlns:a="http://schemas.openxmlformats.org/drawingml/2006/main" xmlns:p="http://schemas.openxmlformats.org/presentationml/2006/main" xmlns:r="http://schemas.openxmlformats.org/officeDocument/2006/relationships" showMasterSp="1">
  <p:cSld>
    <p:bg>
      <p:bgPr>
        <a:solidFill>
          <a:srgbClr val="F7F5EF"/>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86</a:t>
            </a:r>
          </a:p>
        </p:txBody>
      </p:sp>
      <p:sp>
        <p:nvSpPr>
          <p:cNvPr id="3" name="Text 2"/>
          <p:cNvSpPr txBox="1"/>
          <p:nvPr/>
        </p:nvSpPr>
        <p:spPr>
          <a:xfrm>
            <a:off x="594360" y="393192"/>
            <a:ext cx="10881360" cy="203644"/>
          </a:xfrm>
          <a:prstGeom prst="rect">
            <a:avLst/>
          </a:prstGeom>
          <a:noFill/>
        </p:spPr>
        <p:txBody>
          <a:bodyPr wrap="none" lIns="0" rIns="0" tIns="0" bIns="0" anchor="t">
            <a:spAutoFit/>
          </a:bodyPr>
          <a:lstStyle/>
          <a:p>
            <a:pPr>
              <a:lnSpc>
                <a:spcPts val="1207"/>
              </a:lnSpc>
              <a:spcBef>
                <a:spcPts val="0"/>
              </a:spcBef>
              <a:spcAft>
                <a:spcPts val="0"/>
              </a:spcAft>
              <a:defRPr sz="1150" b="1">
                <a:solidFill>
                  <a:srgbClr val="234B42"/>
                </a:solidFill>
                <a:latin typeface="Inter"/>
              </a:defRPr>
            </a:pPr>
            <a:r>
              <a:rPr lang="de-DE"/>
              <a:t>QUELLEN · AUTISMUS</a:t>
            </a:r>
          </a:p>
        </p:txBody>
      </p:sp>
      <p:sp>
        <p:nvSpPr>
          <p:cNvPr id="4" name="Text 3"/>
          <p:cNvSpPr txBox="1"/>
          <p:nvPr/>
        </p:nvSpPr>
        <p:spPr>
          <a:xfrm>
            <a:off x="594360" y="804672"/>
            <a:ext cx="10991088"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Deutschsprachige Quellen zu Autismus</a:t>
            </a:r>
          </a:p>
        </p:txBody>
      </p:sp>
      <p:cxnSp>
        <p:nvCxnSpPr>
          <p:cNvPr id="5" name="Connector 4"/>
          <p:cNvCxnSpPr/>
          <p:nvPr/>
        </p:nvCxnSpPr>
        <p:spPr>
          <a:xfrm>
            <a:off x="594360" y="1644396"/>
            <a:ext cx="11000232" cy="0"/>
          </a:xfrm>
          <a:prstGeom prst="line">
            <a:avLst/>
          </a:prstGeom>
          <a:ln w="8890">
            <a:solidFill>
              <a:srgbClr val="D9DFD7"/>
            </a:solidFill>
          </a:ln>
        </p:spPr>
        <p:style>
          <a:lnRef idx="2">
            <a:schemeClr val="accent1"/>
          </a:lnRef>
          <a:fillRef idx="0">
            <a:schemeClr val="accent1"/>
          </a:fillRef>
          <a:effectRef idx="1">
            <a:schemeClr val="accent1"/>
          </a:effectRef>
          <a:fontRef idx="minor">
            <a:schemeClr val="tx1"/>
          </a:fontRef>
        </p:style>
      </p:cxnSp>
      <p:sp>
        <p:nvSpPr>
          <p:cNvPr id="6" name="Text 5"/>
          <p:cNvSpPr txBox="1"/>
          <p:nvPr/>
        </p:nvSpPr>
        <p:spPr>
          <a:xfrm>
            <a:off x="594360" y="1818132"/>
            <a:ext cx="3246120" cy="1051560"/>
          </a:xfrm>
          <a:prstGeom prst="rect">
            <a:avLst/>
          </a:prstGeom>
          <a:noFill/>
        </p:spPr>
        <p:txBody>
          <a:bodyPr wrap="none" lIns="0" rIns="0" tIns="0" bIns="0" anchor="t">
            <a:spAutoFit/>
          </a:bodyPr>
          <a:lstStyle/>
          <a:p>
            <a:pPr>
              <a:lnSpc>
                <a:spcPts val="2124"/>
              </a:lnSpc>
              <a:spcBef>
                <a:spcPts val="0"/>
              </a:spcBef>
              <a:spcAft>
                <a:spcPts val="0"/>
              </a:spcAft>
              <a:defRPr sz="1800" b="1">
                <a:solidFill>
                  <a:srgbClr val="234B42"/>
                </a:solidFill>
                <a:latin typeface="Manrope"/>
              </a:defRPr>
            </a:pPr>
            <a:r>
              <a:rPr lang="de-DE"/>
              <a:t>IQWiG</a:t>
            </a:r>
          </a:p>
        </p:txBody>
      </p:sp>
      <p:sp>
        <p:nvSpPr>
          <p:cNvPr id="7" name="Text 6"/>
          <p:cNvSpPr txBox="1"/>
          <p:nvPr/>
        </p:nvSpPr>
        <p:spPr>
          <a:xfrm>
            <a:off x="4206240" y="1808988"/>
            <a:ext cx="7379208" cy="758952"/>
          </a:xfrm>
          <a:prstGeom prst="rect">
            <a:avLst/>
          </a:prstGeom>
          <a:noFill/>
        </p:spPr>
        <p:txBody>
          <a:bodyPr wrap="none" lIns="0" rIns="0" tIns="0" bIns="0" anchor="t">
            <a:spAutoFit/>
          </a:bodyPr>
          <a:lstStyle/>
          <a:p>
            <a:pPr>
              <a:lnSpc>
                <a:spcPts val="2477"/>
              </a:lnSpc>
              <a:spcBef>
                <a:spcPts val="0"/>
              </a:spcBef>
              <a:spcAft>
                <a:spcPts val="0"/>
              </a:spcAft>
              <a:defRPr sz="2100" b="1">
                <a:solidFill>
                  <a:srgbClr val="234B42"/>
                </a:solidFill>
                <a:latin typeface="Manrope"/>
              </a:defRPr>
            </a:pPr>
            <a:r>
              <a:rPr lang="de-DE"/>
              <a:t>Autismus</a:t>
            </a:r>
          </a:p>
        </p:txBody>
      </p:sp>
      <p:sp>
        <p:nvSpPr>
          <p:cNvPr id="8" name="Text 7"/>
          <p:cNvSpPr txBox="1"/>
          <p:nvPr/>
        </p:nvSpPr>
        <p:spPr>
          <a:xfrm>
            <a:off x="4206240" y="2247137"/>
            <a:ext cx="7315200" cy="557784"/>
          </a:xfrm>
          <a:prstGeom prst="rect">
            <a:avLst/>
          </a:prstGeom>
          <a:noFill/>
        </p:spPr>
        <p:txBody>
          <a:bodyPr wrap="none" lIns="0" rIns="0" tIns="0" bIns="0" anchor="t">
            <a:spAutoFit/>
          </a:bodyPr>
          <a:lstStyle/>
          <a:p>
            <a:pPr>
              <a:lnSpc>
                <a:spcPts val="1888"/>
              </a:lnSpc>
              <a:spcBef>
                <a:spcPts val="0"/>
              </a:spcBef>
              <a:spcAft>
                <a:spcPts val="0"/>
              </a:spcAft>
              <a:defRPr sz="1600" b="0">
                <a:solidFill>
                  <a:srgbClr val="63736A"/>
                </a:solidFill>
                <a:latin typeface="Inter"/>
              </a:defRPr>
            </a:pPr>
            <a:r>
              <a:rPr lang="de-DE"/>
              <a:t>Grundlagen und weiterführende Informationen</a:t>
            </a:r>
          </a:p>
        </p:txBody>
      </p:sp>
      <p:sp>
        <p:nvSpPr>
          <p:cNvPr id="9" name="Text 8"/>
          <p:cNvSpPr txBox="1"/>
          <p:nvPr/>
        </p:nvSpPr>
        <p:spPr>
          <a:xfrm>
            <a:off x="4206240" y="2778252"/>
            <a:ext cx="7315200" cy="222630"/>
          </a:xfrm>
          <a:prstGeom prst="rect">
            <a:avLst/>
          </a:prstGeom>
          <a:noFill/>
        </p:spPr>
        <p:txBody>
          <a:bodyPr wrap="none" lIns="0" rIns="0" tIns="0" bIns="0" anchor="t">
            <a:spAutoFit/>
          </a:bodyPr>
          <a:lstStyle/>
          <a:p>
            <a:pPr>
              <a:lnSpc>
                <a:spcPts val="1356"/>
              </a:lnSpc>
              <a:spcBef>
                <a:spcPts val="0"/>
              </a:spcBef>
              <a:spcAft>
                <a:spcPts val="0"/>
              </a:spcAft>
              <a:defRPr sz="1150" b="1">
                <a:solidFill>
                  <a:srgbClr val="234B42"/>
                </a:solidFill>
                <a:latin typeface="Inter"/>
              </a:defRPr>
            </a:pPr>
            <a:r>
              <a:rPr lang="de-DE">
                <a:hlinkClick r:id="rId3"/>
              </a:rPr>
              <a:t>www.gesundheitsinformation.de ↗</a:t>
            </a:r>
          </a:p>
        </p:txBody>
      </p:sp>
      <p:cxnSp>
        <p:nvCxnSpPr>
          <p:cNvPr id="10" name="Connector 9"/>
          <p:cNvCxnSpPr/>
          <p:nvPr/>
        </p:nvCxnSpPr>
        <p:spPr>
          <a:xfrm>
            <a:off x="594360" y="3107436"/>
            <a:ext cx="11000232" cy="0"/>
          </a:xfrm>
          <a:prstGeom prst="line">
            <a:avLst/>
          </a:prstGeom>
          <a:ln w="8890">
            <a:solidFill>
              <a:srgbClr val="D9DFD7"/>
            </a:solidFill>
          </a:ln>
        </p:spPr>
        <p:style>
          <a:lnRef idx="2">
            <a:schemeClr val="accent1"/>
          </a:lnRef>
          <a:fillRef idx="0">
            <a:schemeClr val="accent1"/>
          </a:fillRef>
          <a:effectRef idx="1">
            <a:schemeClr val="accent1"/>
          </a:effectRef>
          <a:fontRef idx="minor">
            <a:schemeClr val="tx1"/>
          </a:fontRef>
        </p:style>
      </p:cxnSp>
      <p:sp>
        <p:nvSpPr>
          <p:cNvPr id="11" name="Text 10"/>
          <p:cNvSpPr txBox="1"/>
          <p:nvPr/>
        </p:nvSpPr>
        <p:spPr>
          <a:xfrm>
            <a:off x="594360" y="3281172"/>
            <a:ext cx="3246120" cy="1051560"/>
          </a:xfrm>
          <a:prstGeom prst="rect">
            <a:avLst/>
          </a:prstGeom>
          <a:noFill/>
        </p:spPr>
        <p:txBody>
          <a:bodyPr wrap="none" lIns="0" rIns="0" tIns="0" bIns="0" anchor="t">
            <a:spAutoFit/>
          </a:bodyPr>
          <a:lstStyle/>
          <a:p>
            <a:pPr>
              <a:lnSpc>
                <a:spcPts val="2124"/>
              </a:lnSpc>
              <a:spcBef>
                <a:spcPts val="0"/>
              </a:spcBef>
              <a:spcAft>
                <a:spcPts val="0"/>
              </a:spcAft>
              <a:defRPr sz="1800" b="1">
                <a:solidFill>
                  <a:srgbClr val="234B42"/>
                </a:solidFill>
                <a:latin typeface="Manrope"/>
              </a:defRPr>
            </a:pPr>
            <a:r>
              <a:rPr lang="de-DE"/>
              <a:t>autismus Deutschland e. V.</a:t>
            </a:r>
          </a:p>
        </p:txBody>
      </p:sp>
      <p:sp>
        <p:nvSpPr>
          <p:cNvPr id="12" name="Text 11"/>
          <p:cNvSpPr txBox="1"/>
          <p:nvPr/>
        </p:nvSpPr>
        <p:spPr>
          <a:xfrm>
            <a:off x="4206240" y="3272028"/>
            <a:ext cx="7379208" cy="758952"/>
          </a:xfrm>
          <a:prstGeom prst="rect">
            <a:avLst/>
          </a:prstGeom>
          <a:noFill/>
        </p:spPr>
        <p:txBody>
          <a:bodyPr wrap="none" lIns="0" rIns="0" tIns="0" bIns="0" anchor="t">
            <a:spAutoFit/>
          </a:bodyPr>
          <a:lstStyle/>
          <a:p>
            <a:pPr>
              <a:lnSpc>
                <a:spcPts val="2477"/>
              </a:lnSpc>
              <a:spcBef>
                <a:spcPts val="0"/>
              </a:spcBef>
              <a:spcAft>
                <a:spcPts val="0"/>
              </a:spcAft>
              <a:defRPr sz="2100" b="1">
                <a:solidFill>
                  <a:srgbClr val="234B42"/>
                </a:solidFill>
                <a:latin typeface="Manrope"/>
              </a:defRPr>
            </a:pPr>
            <a:r>
              <a:rPr lang="de-DE"/>
              <a:t>KiTa</a:t>
            </a:r>
          </a:p>
        </p:txBody>
      </p:sp>
      <p:sp>
        <p:nvSpPr>
          <p:cNvPr id="13" name="Text 12"/>
          <p:cNvSpPr txBox="1"/>
          <p:nvPr/>
        </p:nvSpPr>
        <p:spPr>
          <a:xfrm>
            <a:off x="4206240" y="3710178"/>
            <a:ext cx="7315200" cy="557784"/>
          </a:xfrm>
          <a:prstGeom prst="rect">
            <a:avLst/>
          </a:prstGeom>
          <a:noFill/>
        </p:spPr>
        <p:txBody>
          <a:bodyPr wrap="none" lIns="0" rIns="0" tIns="0" bIns="0" anchor="t">
            <a:spAutoFit/>
          </a:bodyPr>
          <a:lstStyle/>
          <a:p>
            <a:pPr>
              <a:lnSpc>
                <a:spcPts val="1888"/>
              </a:lnSpc>
              <a:spcBef>
                <a:spcPts val="0"/>
              </a:spcBef>
              <a:spcAft>
                <a:spcPts val="0"/>
              </a:spcAft>
              <a:defRPr sz="1600" b="0">
                <a:solidFill>
                  <a:srgbClr val="63736A"/>
                </a:solidFill>
                <a:latin typeface="Inter"/>
              </a:defRPr>
            </a:pPr>
            <a:r>
              <a:rPr lang="de-DE"/>
              <a:t>Eingewöhnung und Unterstützung in der Kita</a:t>
            </a:r>
          </a:p>
        </p:txBody>
      </p:sp>
      <p:sp>
        <p:nvSpPr>
          <p:cNvPr id="14" name="Text 13"/>
          <p:cNvSpPr txBox="1"/>
          <p:nvPr/>
        </p:nvSpPr>
        <p:spPr>
          <a:xfrm>
            <a:off x="4206240" y="4241292"/>
            <a:ext cx="7315200" cy="222630"/>
          </a:xfrm>
          <a:prstGeom prst="rect">
            <a:avLst/>
          </a:prstGeom>
          <a:noFill/>
        </p:spPr>
        <p:txBody>
          <a:bodyPr wrap="none" lIns="0" rIns="0" tIns="0" bIns="0" anchor="t">
            <a:spAutoFit/>
          </a:bodyPr>
          <a:lstStyle/>
          <a:p>
            <a:pPr>
              <a:lnSpc>
                <a:spcPts val="1356"/>
              </a:lnSpc>
              <a:spcBef>
                <a:spcPts val="0"/>
              </a:spcBef>
              <a:spcAft>
                <a:spcPts val="0"/>
              </a:spcAft>
              <a:defRPr sz="1150" b="1">
                <a:solidFill>
                  <a:srgbClr val="234B42"/>
                </a:solidFill>
                <a:latin typeface="Inter"/>
              </a:defRPr>
            </a:pPr>
            <a:r>
              <a:rPr lang="de-DE">
                <a:hlinkClick r:id="rId4"/>
              </a:rPr>
              <a:t>www.autismus.de ↗</a:t>
            </a:r>
          </a:p>
        </p:txBody>
      </p:sp>
      <p:cxnSp>
        <p:nvCxnSpPr>
          <p:cNvPr id="15" name="Connector 14"/>
          <p:cNvCxnSpPr/>
          <p:nvPr/>
        </p:nvCxnSpPr>
        <p:spPr>
          <a:xfrm>
            <a:off x="594360" y="4570476"/>
            <a:ext cx="11000232" cy="0"/>
          </a:xfrm>
          <a:prstGeom prst="line">
            <a:avLst/>
          </a:prstGeom>
          <a:ln w="8890">
            <a:solidFill>
              <a:srgbClr val="D9DFD7"/>
            </a:solidFill>
          </a:ln>
        </p:spPr>
        <p:style>
          <a:lnRef idx="2">
            <a:schemeClr val="accent1"/>
          </a:lnRef>
          <a:fillRef idx="0">
            <a:schemeClr val="accent1"/>
          </a:fillRef>
          <a:effectRef idx="1">
            <a:schemeClr val="accent1"/>
          </a:effectRef>
          <a:fontRef idx="minor">
            <a:schemeClr val="tx1"/>
          </a:fontRef>
        </p:style>
      </p:cxnSp>
      <p:sp>
        <p:nvSpPr>
          <p:cNvPr id="16" name="Text 15"/>
          <p:cNvSpPr txBox="1"/>
          <p:nvPr/>
        </p:nvSpPr>
        <p:spPr>
          <a:xfrm>
            <a:off x="594360" y="4744212"/>
            <a:ext cx="3246120" cy="1051560"/>
          </a:xfrm>
          <a:prstGeom prst="rect">
            <a:avLst/>
          </a:prstGeom>
          <a:noFill/>
        </p:spPr>
        <p:txBody>
          <a:bodyPr wrap="none" lIns="0" rIns="0" tIns="0" bIns="0" anchor="t">
            <a:spAutoFit/>
          </a:bodyPr>
          <a:lstStyle/>
          <a:p>
            <a:pPr>
              <a:lnSpc>
                <a:spcPts val="2124"/>
              </a:lnSpc>
              <a:spcBef>
                <a:spcPts val="0"/>
              </a:spcBef>
              <a:spcAft>
                <a:spcPts val="0"/>
              </a:spcAft>
              <a:defRPr sz="1800" b="1">
                <a:solidFill>
                  <a:srgbClr val="234B42"/>
                </a:solidFill>
                <a:latin typeface="Manrope"/>
              </a:defRPr>
            </a:pPr>
            <a:r>
              <a:rPr lang="de-DE"/>
              <a:t>autismus Deutschland e. V.</a:t>
            </a:r>
          </a:p>
          <a:p>
            <a:pPr>
              <a:lnSpc>
                <a:spcPts val="2124"/>
              </a:lnSpc>
              <a:spcBef>
                <a:spcPts val="0"/>
              </a:spcBef>
              <a:spcAft>
                <a:spcPts val="0"/>
              </a:spcAft>
              <a:defRPr sz="1800" b="1">
                <a:solidFill>
                  <a:srgbClr val="234B42"/>
                </a:solidFill>
                <a:latin typeface="Manrope"/>
              </a:defRPr>
            </a:pPr>
            <a:r>
              <a:rPr lang="de-DE"/>
              <a:t>(2026)</a:t>
            </a:r>
          </a:p>
        </p:txBody>
      </p:sp>
      <p:sp>
        <p:nvSpPr>
          <p:cNvPr id="17" name="Text 16"/>
          <p:cNvSpPr txBox="1"/>
          <p:nvPr/>
        </p:nvSpPr>
        <p:spPr>
          <a:xfrm>
            <a:off x="4206240" y="4735067"/>
            <a:ext cx="7379208" cy="758952"/>
          </a:xfrm>
          <a:prstGeom prst="rect">
            <a:avLst/>
          </a:prstGeom>
          <a:noFill/>
        </p:spPr>
        <p:txBody>
          <a:bodyPr wrap="none" lIns="0" rIns="0" tIns="0" bIns="0" anchor="t">
            <a:spAutoFit/>
          </a:bodyPr>
          <a:lstStyle/>
          <a:p>
            <a:pPr>
              <a:lnSpc>
                <a:spcPts val="2477"/>
              </a:lnSpc>
              <a:spcBef>
                <a:spcPts val="0"/>
              </a:spcBef>
              <a:spcAft>
                <a:spcPts val="0"/>
              </a:spcAft>
              <a:defRPr sz="2100" b="1">
                <a:solidFill>
                  <a:srgbClr val="234B42"/>
                </a:solidFill>
                <a:latin typeface="Manrope"/>
              </a:defRPr>
            </a:pPr>
            <a:r>
              <a:rPr lang="de-DE"/>
              <a:t>Unterstützte Kommunikation bei Menschen mit</a:t>
            </a:r>
          </a:p>
          <a:p>
            <a:pPr>
              <a:lnSpc>
                <a:spcPts val="2477"/>
              </a:lnSpc>
              <a:spcBef>
                <a:spcPts val="0"/>
              </a:spcBef>
              <a:spcAft>
                <a:spcPts val="0"/>
              </a:spcAft>
              <a:defRPr sz="2100" b="1">
                <a:solidFill>
                  <a:srgbClr val="234B42"/>
                </a:solidFill>
                <a:latin typeface="Manrope"/>
              </a:defRPr>
            </a:pPr>
            <a:r>
              <a:rPr lang="de-DE"/>
              <a:t>Autismus</a:t>
            </a:r>
          </a:p>
        </p:txBody>
      </p:sp>
      <p:sp>
        <p:nvSpPr>
          <p:cNvPr id="18" name="Text 17"/>
          <p:cNvSpPr txBox="1"/>
          <p:nvPr/>
        </p:nvSpPr>
        <p:spPr>
          <a:xfrm>
            <a:off x="4206240" y="5487924"/>
            <a:ext cx="7315200" cy="557784"/>
          </a:xfrm>
          <a:prstGeom prst="rect">
            <a:avLst/>
          </a:prstGeom>
          <a:noFill/>
        </p:spPr>
        <p:txBody>
          <a:bodyPr wrap="none" lIns="0" rIns="0" tIns="0" bIns="0" anchor="t">
            <a:spAutoFit/>
          </a:bodyPr>
          <a:lstStyle/>
          <a:p>
            <a:pPr>
              <a:lnSpc>
                <a:spcPts val="1888"/>
              </a:lnSpc>
              <a:spcBef>
                <a:spcPts val="0"/>
              </a:spcBef>
              <a:spcAft>
                <a:spcPts val="0"/>
              </a:spcAft>
              <a:defRPr sz="1600" b="0">
                <a:solidFill>
                  <a:srgbClr val="63736A"/>
                </a:solidFill>
                <a:latin typeface="Inter"/>
              </a:defRPr>
            </a:pPr>
            <a:r>
              <a:rPr lang="de-DE"/>
              <a:t>Kurzer Einstieg in Unterstützte Kommunikation</a:t>
            </a:r>
          </a:p>
        </p:txBody>
      </p:sp>
      <p:sp>
        <p:nvSpPr>
          <p:cNvPr id="19" name="Text 18"/>
          <p:cNvSpPr txBox="1"/>
          <p:nvPr/>
        </p:nvSpPr>
        <p:spPr>
          <a:xfrm>
            <a:off x="4206240" y="5704332"/>
            <a:ext cx="7315200" cy="222630"/>
          </a:xfrm>
          <a:prstGeom prst="rect">
            <a:avLst/>
          </a:prstGeom>
          <a:noFill/>
        </p:spPr>
        <p:txBody>
          <a:bodyPr wrap="none" lIns="0" rIns="0" tIns="0" bIns="0" anchor="t">
            <a:spAutoFit/>
          </a:bodyPr>
          <a:lstStyle/>
          <a:p>
            <a:pPr>
              <a:lnSpc>
                <a:spcPts val="1356"/>
              </a:lnSpc>
              <a:spcBef>
                <a:spcPts val="0"/>
              </a:spcBef>
              <a:spcAft>
                <a:spcPts val="0"/>
              </a:spcAft>
              <a:defRPr sz="1150" b="1">
                <a:solidFill>
                  <a:srgbClr val="234B42"/>
                </a:solidFill>
                <a:latin typeface="Inter"/>
              </a:defRPr>
            </a:pPr>
            <a:r>
              <a:rPr lang="de-DE">
                <a:hlinkClick r:id="rId5"/>
              </a:rPr>
              <a:t>www.autismus.de ↗</a:t>
            </a:r>
          </a:p>
        </p:txBody>
      </p:sp>
    </p:spTree>
  </p:cSld>
  <p:clrMapOvr>
    <a:masterClrMapping/>
  </p:clrMapOvr>
  <p:transition spd="fast" advClick="1">
    <p:fade/>
  </p:transition>
</p:sld>
</file>

<file path=ppt/slides/slide87.xml><?xml version="1.0" encoding="utf-8"?>
<p:sld xmlns:a="http://schemas.openxmlformats.org/drawingml/2006/main" xmlns:p="http://schemas.openxmlformats.org/presentationml/2006/main" xmlns:r="http://schemas.openxmlformats.org/officeDocument/2006/relationships" showMasterSp="1">
  <p:cSld>
    <p:bg>
      <p:bgPr>
        <a:solidFill>
          <a:srgbClr val="F7F5EF"/>
        </a:solidFill>
        <a:effectLst/>
      </p:bgPr>
    </p:bg>
    <p:spTree>
      <p:nvGrpSpPr>
        <p:cNvPr id="1" name=""/>
        <p:cNvGrpSpPr/>
        <p:nvPr/>
      </p:nvGrpSpPr>
      <p:grpSpPr/>
      <p:sp>
        <p:nvSpPr>
          <p:cNvPr id="2" name="Text 1"/>
          <p:cNvSpPr txBox="1"/>
          <p:nvPr/>
        </p:nvSpPr>
        <p:spPr>
          <a:xfrm>
            <a:off x="10927080" y="6510528"/>
            <a:ext cx="667512" cy="215137"/>
          </a:xfrm>
          <a:prstGeom prst="rect">
            <a:avLst/>
          </a:prstGeom>
          <a:noFill/>
        </p:spPr>
        <p:txBody>
          <a:bodyPr wrap="none" lIns="0" rIns="0" tIns="0" bIns="0" anchor="t">
            <a:spAutoFit/>
          </a:bodyPr>
          <a:lstStyle/>
          <a:p>
            <a:pPr algn="r">
              <a:lnSpc>
                <a:spcPts val="1297"/>
              </a:lnSpc>
              <a:spcBef>
                <a:spcPts val="0"/>
              </a:spcBef>
              <a:spcAft>
                <a:spcPts val="0"/>
              </a:spcAft>
              <a:defRPr sz="1100" b="1">
                <a:solidFill>
                  <a:srgbClr val="63736A"/>
                </a:solidFill>
                <a:latin typeface="Inter"/>
              </a:defRPr>
            </a:pPr>
            <a:r>
              <a:rPr lang="de-DE"/>
              <a:t>87</a:t>
            </a:r>
          </a:p>
        </p:txBody>
      </p:sp>
      <p:sp>
        <p:nvSpPr>
          <p:cNvPr id="3" name="Text 2"/>
          <p:cNvSpPr txBox="1"/>
          <p:nvPr/>
        </p:nvSpPr>
        <p:spPr>
          <a:xfrm>
            <a:off x="594360" y="393192"/>
            <a:ext cx="10881360" cy="203644"/>
          </a:xfrm>
          <a:prstGeom prst="rect">
            <a:avLst/>
          </a:prstGeom>
          <a:noFill/>
        </p:spPr>
        <p:txBody>
          <a:bodyPr wrap="none" lIns="0" rIns="0" tIns="0" bIns="0" anchor="t">
            <a:spAutoFit/>
          </a:bodyPr>
          <a:lstStyle/>
          <a:p>
            <a:pPr>
              <a:lnSpc>
                <a:spcPts val="1207"/>
              </a:lnSpc>
              <a:spcBef>
                <a:spcPts val="0"/>
              </a:spcBef>
              <a:spcAft>
                <a:spcPts val="0"/>
              </a:spcAft>
              <a:defRPr sz="1150" b="1">
                <a:solidFill>
                  <a:srgbClr val="234B42"/>
                </a:solidFill>
                <a:latin typeface="Inter"/>
              </a:defRPr>
            </a:pPr>
            <a:r>
              <a:rPr lang="de-DE"/>
              <a:t>QUELLEN · PERSPEKTIVEN &amp; PRAXIS</a:t>
            </a:r>
          </a:p>
        </p:txBody>
      </p:sp>
      <p:sp>
        <p:nvSpPr>
          <p:cNvPr id="4" name="Text 3"/>
          <p:cNvSpPr txBox="1"/>
          <p:nvPr/>
        </p:nvSpPr>
        <p:spPr>
          <a:xfrm>
            <a:off x="594360" y="804672"/>
            <a:ext cx="10991088" cy="519684"/>
          </a:xfrm>
          <a:prstGeom prst="rect">
            <a:avLst/>
          </a:prstGeom>
          <a:noFill/>
        </p:spPr>
        <p:txBody>
          <a:bodyPr wrap="none" lIns="0" rIns="0" tIns="0" bIns="0" anchor="t">
            <a:spAutoFit/>
          </a:bodyPr>
          <a:lstStyle/>
          <a:p>
            <a:pPr>
              <a:lnSpc>
                <a:spcPts val="3696"/>
              </a:lnSpc>
              <a:spcBef>
                <a:spcPts val="0"/>
              </a:spcBef>
              <a:spcAft>
                <a:spcPts val="0"/>
              </a:spcAft>
              <a:defRPr sz="3300" b="1">
                <a:solidFill>
                  <a:srgbClr val="234B42"/>
                </a:solidFill>
                <a:latin typeface="Manrope"/>
              </a:defRPr>
            </a:pPr>
            <a:r>
              <a:rPr lang="de-DE"/>
              <a:t>Weitere Perspektiven und Praxismaterial</a:t>
            </a:r>
          </a:p>
        </p:txBody>
      </p:sp>
      <p:cxnSp>
        <p:nvCxnSpPr>
          <p:cNvPr id="5" name="Connector 4"/>
          <p:cNvCxnSpPr/>
          <p:nvPr/>
        </p:nvCxnSpPr>
        <p:spPr>
          <a:xfrm>
            <a:off x="594360" y="1644396"/>
            <a:ext cx="11000232" cy="0"/>
          </a:xfrm>
          <a:prstGeom prst="line">
            <a:avLst/>
          </a:prstGeom>
          <a:ln w="8890">
            <a:solidFill>
              <a:srgbClr val="D9DFD7"/>
            </a:solidFill>
          </a:ln>
        </p:spPr>
        <p:style>
          <a:lnRef idx="2">
            <a:schemeClr val="accent1"/>
          </a:lnRef>
          <a:fillRef idx="0">
            <a:schemeClr val="accent1"/>
          </a:fillRef>
          <a:effectRef idx="1">
            <a:schemeClr val="accent1"/>
          </a:effectRef>
          <a:fontRef idx="minor">
            <a:schemeClr val="tx1"/>
          </a:fontRef>
        </p:style>
      </p:cxnSp>
      <p:sp>
        <p:nvSpPr>
          <p:cNvPr id="6" name="Text 5"/>
          <p:cNvSpPr txBox="1"/>
          <p:nvPr/>
        </p:nvSpPr>
        <p:spPr>
          <a:xfrm>
            <a:off x="594360" y="1818132"/>
            <a:ext cx="3246120" cy="1051560"/>
          </a:xfrm>
          <a:prstGeom prst="rect">
            <a:avLst/>
          </a:prstGeom>
          <a:noFill/>
        </p:spPr>
        <p:txBody>
          <a:bodyPr wrap="none" lIns="0" rIns="0" tIns="0" bIns="0" anchor="t">
            <a:spAutoFit/>
          </a:bodyPr>
          <a:lstStyle/>
          <a:p>
            <a:pPr>
              <a:lnSpc>
                <a:spcPts val="2124"/>
              </a:lnSpc>
              <a:spcBef>
                <a:spcPts val="0"/>
              </a:spcBef>
              <a:spcAft>
                <a:spcPts val="0"/>
              </a:spcAft>
              <a:defRPr sz="1800" b="1">
                <a:solidFill>
                  <a:srgbClr val="234B42"/>
                </a:solidFill>
                <a:latin typeface="Manrope"/>
              </a:defRPr>
            </a:pPr>
            <a:r>
              <a:rPr lang="de-DE"/>
              <a:t>Universität Hamburg (2025)</a:t>
            </a:r>
          </a:p>
        </p:txBody>
      </p:sp>
      <p:sp>
        <p:nvSpPr>
          <p:cNvPr id="7" name="Text 6"/>
          <p:cNvSpPr txBox="1"/>
          <p:nvPr/>
        </p:nvSpPr>
        <p:spPr>
          <a:xfrm>
            <a:off x="4206240" y="1808988"/>
            <a:ext cx="7379208" cy="758952"/>
          </a:xfrm>
          <a:prstGeom prst="rect">
            <a:avLst/>
          </a:prstGeom>
          <a:noFill/>
        </p:spPr>
        <p:txBody>
          <a:bodyPr wrap="none" lIns="0" rIns="0" tIns="0" bIns="0" anchor="t">
            <a:spAutoFit/>
          </a:bodyPr>
          <a:lstStyle/>
          <a:p>
            <a:pPr>
              <a:lnSpc>
                <a:spcPts val="2477"/>
              </a:lnSpc>
              <a:spcBef>
                <a:spcPts val="0"/>
              </a:spcBef>
              <a:spcAft>
                <a:spcPts val="0"/>
              </a:spcAft>
              <a:defRPr sz="2100" b="1">
                <a:solidFill>
                  <a:srgbClr val="234B42"/>
                </a:solidFill>
                <a:latin typeface="Manrope"/>
              </a:defRPr>
            </a:pPr>
            <a:r>
              <a:rPr lang="de-DE"/>
              <a:t>Neurodiversität – anders, aber völlig richtig im Kopf</a:t>
            </a:r>
          </a:p>
        </p:txBody>
      </p:sp>
      <p:sp>
        <p:nvSpPr>
          <p:cNvPr id="8" name="Text 7"/>
          <p:cNvSpPr txBox="1"/>
          <p:nvPr/>
        </p:nvSpPr>
        <p:spPr>
          <a:xfrm>
            <a:off x="4206240" y="2247137"/>
            <a:ext cx="7315200" cy="557784"/>
          </a:xfrm>
          <a:prstGeom prst="rect">
            <a:avLst/>
          </a:prstGeom>
          <a:noFill/>
        </p:spPr>
        <p:txBody>
          <a:bodyPr wrap="none" lIns="0" rIns="0" tIns="0" bIns="0" anchor="t">
            <a:spAutoFit/>
          </a:bodyPr>
          <a:lstStyle/>
          <a:p>
            <a:pPr>
              <a:lnSpc>
                <a:spcPts val="1888"/>
              </a:lnSpc>
              <a:spcBef>
                <a:spcPts val="0"/>
              </a:spcBef>
              <a:spcAft>
                <a:spcPts val="0"/>
              </a:spcAft>
              <a:defRPr sz="1600" b="0">
                <a:solidFill>
                  <a:srgbClr val="63736A"/>
                </a:solidFill>
                <a:latin typeface="Inter"/>
              </a:defRPr>
            </a:pPr>
            <a:r>
              <a:rPr lang="de-DE"/>
              <a:t>Vortrag zu Neurodiversität und Bildung</a:t>
            </a:r>
          </a:p>
        </p:txBody>
      </p:sp>
      <p:sp>
        <p:nvSpPr>
          <p:cNvPr id="9" name="Text 8"/>
          <p:cNvSpPr txBox="1"/>
          <p:nvPr/>
        </p:nvSpPr>
        <p:spPr>
          <a:xfrm>
            <a:off x="4206240" y="2778252"/>
            <a:ext cx="7315200" cy="222630"/>
          </a:xfrm>
          <a:prstGeom prst="rect">
            <a:avLst/>
          </a:prstGeom>
          <a:noFill/>
        </p:spPr>
        <p:txBody>
          <a:bodyPr wrap="none" lIns="0" rIns="0" tIns="0" bIns="0" anchor="t">
            <a:spAutoFit/>
          </a:bodyPr>
          <a:lstStyle/>
          <a:p>
            <a:pPr>
              <a:lnSpc>
                <a:spcPts val="1356"/>
              </a:lnSpc>
              <a:spcBef>
                <a:spcPts val="0"/>
              </a:spcBef>
              <a:spcAft>
                <a:spcPts val="0"/>
              </a:spcAft>
              <a:defRPr sz="1150" b="1">
                <a:solidFill>
                  <a:srgbClr val="234B42"/>
                </a:solidFill>
                <a:latin typeface="Inter"/>
              </a:defRPr>
            </a:pPr>
            <a:r>
              <a:rPr lang="de-DE">
                <a:hlinkClick r:id="rId3"/>
              </a:rPr>
              <a:t>www.uni-hamburg.de ↗</a:t>
            </a:r>
          </a:p>
        </p:txBody>
      </p:sp>
      <p:cxnSp>
        <p:nvCxnSpPr>
          <p:cNvPr id="10" name="Connector 9"/>
          <p:cNvCxnSpPr/>
          <p:nvPr/>
        </p:nvCxnSpPr>
        <p:spPr>
          <a:xfrm>
            <a:off x="594360" y="3107436"/>
            <a:ext cx="11000232" cy="0"/>
          </a:xfrm>
          <a:prstGeom prst="line">
            <a:avLst/>
          </a:prstGeom>
          <a:ln w="8890">
            <a:solidFill>
              <a:srgbClr val="D9DFD7"/>
            </a:solidFill>
          </a:ln>
        </p:spPr>
        <p:style>
          <a:lnRef idx="2">
            <a:schemeClr val="accent1"/>
          </a:lnRef>
          <a:fillRef idx="0">
            <a:schemeClr val="accent1"/>
          </a:fillRef>
          <a:effectRef idx="1">
            <a:schemeClr val="accent1"/>
          </a:effectRef>
          <a:fontRef idx="minor">
            <a:schemeClr val="tx1"/>
          </a:fontRef>
        </p:style>
      </p:cxnSp>
      <p:sp>
        <p:nvSpPr>
          <p:cNvPr id="11" name="Text 10"/>
          <p:cNvSpPr txBox="1"/>
          <p:nvPr/>
        </p:nvSpPr>
        <p:spPr>
          <a:xfrm>
            <a:off x="594360" y="3281172"/>
            <a:ext cx="3246120" cy="1051560"/>
          </a:xfrm>
          <a:prstGeom prst="rect">
            <a:avLst/>
          </a:prstGeom>
          <a:noFill/>
        </p:spPr>
        <p:txBody>
          <a:bodyPr wrap="none" lIns="0" rIns="0" tIns="0" bIns="0" anchor="t">
            <a:spAutoFit/>
          </a:bodyPr>
          <a:lstStyle/>
          <a:p>
            <a:pPr>
              <a:lnSpc>
                <a:spcPts val="2124"/>
              </a:lnSpc>
              <a:spcBef>
                <a:spcPts val="0"/>
              </a:spcBef>
              <a:spcAft>
                <a:spcPts val="0"/>
              </a:spcAft>
              <a:defRPr sz="1800" b="1">
                <a:solidFill>
                  <a:srgbClr val="234B42"/>
                </a:solidFill>
                <a:latin typeface="Manrope"/>
              </a:defRPr>
            </a:pPr>
            <a:r>
              <a:rPr lang="de-DE"/>
              <a:t>Universität Jena</a:t>
            </a:r>
          </a:p>
        </p:txBody>
      </p:sp>
      <p:sp>
        <p:nvSpPr>
          <p:cNvPr id="12" name="Text 11"/>
          <p:cNvSpPr txBox="1"/>
          <p:nvPr/>
        </p:nvSpPr>
        <p:spPr>
          <a:xfrm>
            <a:off x="4206240" y="3272028"/>
            <a:ext cx="7379208" cy="758952"/>
          </a:xfrm>
          <a:prstGeom prst="rect">
            <a:avLst/>
          </a:prstGeom>
          <a:noFill/>
        </p:spPr>
        <p:txBody>
          <a:bodyPr wrap="none" lIns="0" rIns="0" tIns="0" bIns="0" anchor="t">
            <a:spAutoFit/>
          </a:bodyPr>
          <a:lstStyle/>
          <a:p>
            <a:pPr>
              <a:lnSpc>
                <a:spcPts val="2477"/>
              </a:lnSpc>
              <a:spcBef>
                <a:spcPts val="0"/>
              </a:spcBef>
              <a:spcAft>
                <a:spcPts val="0"/>
              </a:spcAft>
              <a:defRPr sz="2100" b="1">
                <a:solidFill>
                  <a:srgbClr val="234B42"/>
                </a:solidFill>
                <a:latin typeface="Manrope"/>
              </a:defRPr>
            </a:pPr>
            <a:r>
              <a:rPr lang="de-DE"/>
              <a:t>Autismus – Gut zu wissen!</a:t>
            </a:r>
          </a:p>
        </p:txBody>
      </p:sp>
      <p:sp>
        <p:nvSpPr>
          <p:cNvPr id="13" name="Text 12"/>
          <p:cNvSpPr txBox="1"/>
          <p:nvPr/>
        </p:nvSpPr>
        <p:spPr>
          <a:xfrm>
            <a:off x="4206240" y="3710178"/>
            <a:ext cx="7315200" cy="557784"/>
          </a:xfrm>
          <a:prstGeom prst="rect">
            <a:avLst/>
          </a:prstGeom>
          <a:noFill/>
        </p:spPr>
        <p:txBody>
          <a:bodyPr wrap="none" lIns="0" rIns="0" tIns="0" bIns="0" anchor="t">
            <a:spAutoFit/>
          </a:bodyPr>
          <a:lstStyle/>
          <a:p>
            <a:pPr>
              <a:lnSpc>
                <a:spcPts val="1888"/>
              </a:lnSpc>
              <a:spcBef>
                <a:spcPts val="0"/>
              </a:spcBef>
              <a:spcAft>
                <a:spcPts val="0"/>
              </a:spcAft>
              <a:defRPr sz="1600" b="0">
                <a:solidFill>
                  <a:srgbClr val="63736A"/>
                </a:solidFill>
                <a:latin typeface="Inter"/>
              </a:defRPr>
            </a:pPr>
            <a:r>
              <a:rPr lang="de-DE"/>
              <a:t>Autismus, unterschiedliche Profile und Neurodiversität</a:t>
            </a:r>
          </a:p>
        </p:txBody>
      </p:sp>
      <p:sp>
        <p:nvSpPr>
          <p:cNvPr id="14" name="Text 13"/>
          <p:cNvSpPr txBox="1"/>
          <p:nvPr/>
        </p:nvSpPr>
        <p:spPr>
          <a:xfrm>
            <a:off x="4206240" y="4241292"/>
            <a:ext cx="7315200" cy="222630"/>
          </a:xfrm>
          <a:prstGeom prst="rect">
            <a:avLst/>
          </a:prstGeom>
          <a:noFill/>
        </p:spPr>
        <p:txBody>
          <a:bodyPr wrap="none" lIns="0" rIns="0" tIns="0" bIns="0" anchor="t">
            <a:spAutoFit/>
          </a:bodyPr>
          <a:lstStyle/>
          <a:p>
            <a:pPr>
              <a:lnSpc>
                <a:spcPts val="1356"/>
              </a:lnSpc>
              <a:spcBef>
                <a:spcPts val="0"/>
              </a:spcBef>
              <a:spcAft>
                <a:spcPts val="0"/>
              </a:spcAft>
              <a:defRPr sz="1150" b="1">
                <a:solidFill>
                  <a:srgbClr val="234B42"/>
                </a:solidFill>
                <a:latin typeface="Inter"/>
              </a:defRPr>
            </a:pPr>
            <a:r>
              <a:rPr lang="de-DE">
                <a:hlinkClick r:id="rId4"/>
              </a:rPr>
              <a:t>www.fsv.uni-jena.de ↗</a:t>
            </a:r>
          </a:p>
        </p:txBody>
      </p:sp>
      <p:cxnSp>
        <p:nvCxnSpPr>
          <p:cNvPr id="15" name="Connector 14"/>
          <p:cNvCxnSpPr/>
          <p:nvPr/>
        </p:nvCxnSpPr>
        <p:spPr>
          <a:xfrm>
            <a:off x="594360" y="4570476"/>
            <a:ext cx="11000232" cy="0"/>
          </a:xfrm>
          <a:prstGeom prst="line">
            <a:avLst/>
          </a:prstGeom>
          <a:ln w="8890">
            <a:solidFill>
              <a:srgbClr val="D9DFD7"/>
            </a:solidFill>
          </a:ln>
        </p:spPr>
        <p:style>
          <a:lnRef idx="2">
            <a:schemeClr val="accent1"/>
          </a:lnRef>
          <a:fillRef idx="0">
            <a:schemeClr val="accent1"/>
          </a:fillRef>
          <a:effectRef idx="1">
            <a:schemeClr val="accent1"/>
          </a:effectRef>
          <a:fontRef idx="minor">
            <a:schemeClr val="tx1"/>
          </a:fontRef>
        </p:style>
      </p:cxnSp>
      <p:sp>
        <p:nvSpPr>
          <p:cNvPr id="16" name="Text 15"/>
          <p:cNvSpPr txBox="1"/>
          <p:nvPr/>
        </p:nvSpPr>
        <p:spPr>
          <a:xfrm>
            <a:off x="594360" y="4744212"/>
            <a:ext cx="3246120" cy="1051560"/>
          </a:xfrm>
          <a:prstGeom prst="rect">
            <a:avLst/>
          </a:prstGeom>
          <a:noFill/>
        </p:spPr>
        <p:txBody>
          <a:bodyPr wrap="none" lIns="0" rIns="0" tIns="0" bIns="0" anchor="t">
            <a:spAutoFit/>
          </a:bodyPr>
          <a:lstStyle/>
          <a:p>
            <a:pPr>
              <a:lnSpc>
                <a:spcPts val="2124"/>
              </a:lnSpc>
              <a:spcBef>
                <a:spcPts val="0"/>
              </a:spcBef>
              <a:spcAft>
                <a:spcPts val="0"/>
              </a:spcAft>
              <a:defRPr sz="1800" b="1">
                <a:solidFill>
                  <a:srgbClr val="234B42"/>
                </a:solidFill>
                <a:latin typeface="Manrope"/>
              </a:defRPr>
            </a:pPr>
            <a:r>
              <a:rPr lang="de-DE"/>
              <a:t>ISB Bayern (2023)</a:t>
            </a:r>
          </a:p>
        </p:txBody>
      </p:sp>
      <p:sp>
        <p:nvSpPr>
          <p:cNvPr id="17" name="Text 16"/>
          <p:cNvSpPr txBox="1"/>
          <p:nvPr/>
        </p:nvSpPr>
        <p:spPr>
          <a:xfrm>
            <a:off x="4206240" y="4735067"/>
            <a:ext cx="7379208" cy="758952"/>
          </a:xfrm>
          <a:prstGeom prst="rect">
            <a:avLst/>
          </a:prstGeom>
          <a:noFill/>
        </p:spPr>
        <p:txBody>
          <a:bodyPr wrap="none" lIns="0" rIns="0" tIns="0" bIns="0" anchor="t">
            <a:spAutoFit/>
          </a:bodyPr>
          <a:lstStyle/>
          <a:p>
            <a:pPr>
              <a:lnSpc>
                <a:spcPts val="2477"/>
              </a:lnSpc>
              <a:spcBef>
                <a:spcPts val="0"/>
              </a:spcBef>
              <a:spcAft>
                <a:spcPts val="0"/>
              </a:spcAft>
              <a:defRPr sz="2100" b="1">
                <a:solidFill>
                  <a:srgbClr val="234B42"/>
                </a:solidFill>
                <a:latin typeface="Manrope"/>
              </a:defRPr>
            </a:pPr>
            <a:r>
              <a:rPr lang="de-DE"/>
              <a:t>A4 Individuelle Unterstützungsmöglichkeiten für die</a:t>
            </a:r>
          </a:p>
          <a:p>
            <a:pPr>
              <a:lnSpc>
                <a:spcPts val="2477"/>
              </a:lnSpc>
              <a:spcBef>
                <a:spcPts val="0"/>
              </a:spcBef>
              <a:spcAft>
                <a:spcPts val="0"/>
              </a:spcAft>
              <a:defRPr sz="2100" b="1">
                <a:solidFill>
                  <a:srgbClr val="234B42"/>
                </a:solidFill>
                <a:latin typeface="Manrope"/>
              </a:defRPr>
            </a:pPr>
            <a:r>
              <a:rPr lang="de-DE"/>
              <a:t>pädagogische Praxis</a:t>
            </a:r>
          </a:p>
        </p:txBody>
      </p:sp>
      <p:sp>
        <p:nvSpPr>
          <p:cNvPr id="18" name="Text 17"/>
          <p:cNvSpPr txBox="1"/>
          <p:nvPr/>
        </p:nvSpPr>
        <p:spPr>
          <a:xfrm>
            <a:off x="4206240" y="5487924"/>
            <a:ext cx="7315200" cy="557784"/>
          </a:xfrm>
          <a:prstGeom prst="rect">
            <a:avLst/>
          </a:prstGeom>
          <a:noFill/>
        </p:spPr>
        <p:txBody>
          <a:bodyPr wrap="none" lIns="0" rIns="0" tIns="0" bIns="0" anchor="t">
            <a:spAutoFit/>
          </a:bodyPr>
          <a:lstStyle/>
          <a:p>
            <a:pPr>
              <a:lnSpc>
                <a:spcPts val="1888"/>
              </a:lnSpc>
              <a:spcBef>
                <a:spcPts val="0"/>
              </a:spcBef>
              <a:spcAft>
                <a:spcPts val="0"/>
              </a:spcAft>
              <a:defRPr sz="1600" b="0">
                <a:solidFill>
                  <a:srgbClr val="63736A"/>
                </a:solidFill>
                <a:latin typeface="Inter"/>
              </a:defRPr>
            </a:pPr>
            <a:r>
              <a:rPr lang="de-DE"/>
              <a:t>A4 zur individuellen pädagogischen Unterstützung</a:t>
            </a:r>
          </a:p>
        </p:txBody>
      </p:sp>
      <p:sp>
        <p:nvSpPr>
          <p:cNvPr id="19" name="Text 18"/>
          <p:cNvSpPr txBox="1"/>
          <p:nvPr/>
        </p:nvSpPr>
        <p:spPr>
          <a:xfrm>
            <a:off x="4206240" y="5704332"/>
            <a:ext cx="7315200" cy="222630"/>
          </a:xfrm>
          <a:prstGeom prst="rect">
            <a:avLst/>
          </a:prstGeom>
          <a:noFill/>
        </p:spPr>
        <p:txBody>
          <a:bodyPr wrap="none" lIns="0" rIns="0" tIns="0" bIns="0" anchor="t">
            <a:spAutoFit/>
          </a:bodyPr>
          <a:lstStyle/>
          <a:p>
            <a:pPr>
              <a:lnSpc>
                <a:spcPts val="1356"/>
              </a:lnSpc>
              <a:spcBef>
                <a:spcPts val="0"/>
              </a:spcBef>
              <a:spcAft>
                <a:spcPts val="0"/>
              </a:spcAft>
              <a:defRPr sz="1150" b="1">
                <a:solidFill>
                  <a:srgbClr val="234B42"/>
                </a:solidFill>
                <a:latin typeface="Inter"/>
              </a:defRPr>
            </a:pPr>
            <a:r>
              <a:rPr lang="de-DE">
                <a:hlinkClick r:id="rId5"/>
              </a:rPr>
              <a:t>www.isb.bayern.de ↗</a:t>
            </a:r>
          </a:p>
        </p:txBody>
      </p:sp>
    </p:spTree>
  </p:cSld>
  <p:clrMapOvr>
    <a:masterClrMapping/>
  </p:clrMapOvr>
  <p:transition spd="fast" advClick="1">
    <p:fade/>
  </p:transition>
</p:sld>
</file>

<file path=ppt/theme/theme1.xml><?xml version="1.0" encoding="utf-8"?>
<a:theme xmlns:a="http://schemas.openxmlformats.org/drawingml/2006/main" name="Office Theme">
  <a:themeElements>
    <a:clrScheme name="Office">
      <a:dk1>
        <a:srgbClr val="26332F"/>
      </a:dk1>
      <a:lt1>
        <a:srgbClr val="F7F5EF"/>
      </a:lt1>
      <a:dk2>
        <a:srgbClr val="234B42"/>
      </a:dk2>
      <a:lt2>
        <a:srgbClr val="FFFFFF"/>
      </a:lt2>
      <a:accent1>
        <a:srgbClr val="234B42"/>
      </a:accent1>
      <a:accent2>
        <a:srgbClr val="A8BFA9"/>
      </a:accent2>
      <a:accent3>
        <a:srgbClr val="D68B73"/>
      </a:accent3>
      <a:accent4>
        <a:srgbClr val="E5BD70"/>
      </a:accent4>
      <a:accent5>
        <a:srgbClr val="B9AED4"/>
      </a:accent5>
      <a:accent6>
        <a:srgbClr val="B6D5E5"/>
      </a:accent6>
      <a:hlink>
        <a:srgbClr val="234B42"/>
      </a:hlink>
      <a:folHlink>
        <a:srgbClr val="D68B73"/>
      </a:folHlink>
    </a:clrScheme>
    <a:fontScheme name="Office">
      <a:majorFont>
        <a:latin typeface="Manrope"/>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nter"/>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Neurodiversität · ADHS · Autismus-Spektrum</dc:title>
  <dc:subject>Fortbildung für Mitarbeitende der DRK-Kitas · 02.11.2026</dc:subject>
  <dc:creator>Praxis Schnecke</dc:creator>
  <cp:keywords>Neurodiversität, ADHS, Autismus, Kita, pädagogische Fortbildung</cp:keywords>
  <dc:description>Visuelle Neugestaltung. Alle ursprünglichen Inhalte und Sprechernotizen erhalten. Fachliche Prüfpunkte siehe Begleitdokument.</dc:description>
  <cp:lastModifiedBy>Steve Canny</cp:lastModifiedBy>
  <cp:revision>1</cp:revision>
  <dcterms:created xsi:type="dcterms:W3CDTF">2013-01-27T09:14:16Z</dcterms:created>
  <dcterms:modified xsi:type="dcterms:W3CDTF">2013-01-27T09:15:58Z</dcterms:modified>
  <cp:category/>
</cp:coreProperties>
</file>